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4"/>
  </p:notesMasterIdLst>
  <p:sldIdLst>
    <p:sldId id="305" r:id="rId5"/>
    <p:sldId id="288" r:id="rId6"/>
    <p:sldId id="256" r:id="rId7"/>
    <p:sldId id="306" r:id="rId8"/>
    <p:sldId id="293" r:id="rId9"/>
    <p:sldId id="289" r:id="rId10"/>
    <p:sldId id="294" r:id="rId11"/>
    <p:sldId id="295" r:id="rId12"/>
    <p:sldId id="296" r:id="rId13"/>
    <p:sldId id="297" r:id="rId14"/>
    <p:sldId id="298" r:id="rId15"/>
    <p:sldId id="292" r:id="rId16"/>
    <p:sldId id="299" r:id="rId17"/>
    <p:sldId id="300" r:id="rId18"/>
    <p:sldId id="301" r:id="rId19"/>
    <p:sldId id="302" r:id="rId20"/>
    <p:sldId id="307" r:id="rId21"/>
    <p:sldId id="328" r:id="rId22"/>
    <p:sldId id="287" r:id="rId23"/>
    <p:sldId id="290" r:id="rId24"/>
    <p:sldId id="308" r:id="rId25"/>
    <p:sldId id="329" r:id="rId26"/>
    <p:sldId id="314" r:id="rId27"/>
    <p:sldId id="315" r:id="rId28"/>
    <p:sldId id="291" r:id="rId29"/>
    <p:sldId id="320" r:id="rId30"/>
    <p:sldId id="321" r:id="rId31"/>
    <p:sldId id="322" r:id="rId32"/>
    <p:sldId id="323" r:id="rId33"/>
    <p:sldId id="324" r:id="rId34"/>
    <p:sldId id="330" r:id="rId35"/>
    <p:sldId id="316" r:id="rId36"/>
    <p:sldId id="317" r:id="rId37"/>
    <p:sldId id="318" r:id="rId38"/>
    <p:sldId id="319" r:id="rId39"/>
    <p:sldId id="331" r:id="rId40"/>
    <p:sldId id="278" r:id="rId41"/>
    <p:sldId id="332" r:id="rId42"/>
    <p:sldId id="304" r:id="rId43"/>
    <p:sldId id="333" r:id="rId44"/>
    <p:sldId id="325" r:id="rId45"/>
    <p:sldId id="334" r:id="rId46"/>
    <p:sldId id="326" r:id="rId47"/>
    <p:sldId id="309" r:id="rId48"/>
    <p:sldId id="303" r:id="rId49"/>
    <p:sldId id="310" r:id="rId50"/>
    <p:sldId id="311" r:id="rId51"/>
    <p:sldId id="312" r:id="rId52"/>
    <p:sldId id="313"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20C7B7-CB61-C908-9CB4-6A9799EB79A4}" name="STORY, RAEKO L CIV USAF AFOSI AFOSI/ERA" initials="RS" userId="S::raeko.story.1@us.af.mil::2bb15f88-a0f2-40d6-bd56-5a1c52f6910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NTOS, MARGARET NH-03 USAF AFMC AFTC/PZIE" initials="SMNUAA" lastIdx="1" clrIdx="0">
    <p:extLst>
      <p:ext uri="{19B8F6BF-5375-455C-9EA6-DF929625EA0E}">
        <p15:presenceInfo xmlns:p15="http://schemas.microsoft.com/office/powerpoint/2012/main" userId="S-1-5-21-1271409858-1095883707-2794662393-1239969" providerId="AD"/>
      </p:ext>
    </p:extLst>
  </p:cmAuthor>
  <p:cmAuthor id="2" name="DANITA ELLISON FOULKS" initials="DEF" lastIdx="7" clrIdx="1">
    <p:extLst>
      <p:ext uri="{19B8F6BF-5375-455C-9EA6-DF929625EA0E}">
        <p15:presenceInfo xmlns:p15="http://schemas.microsoft.com/office/powerpoint/2012/main" userId="DANITA ELLISON FOULKS" providerId="None"/>
      </p:ext>
    </p:extLst>
  </p:cmAuthor>
  <p:cmAuthor id="3" name="HARTON, SETTIMA M GG-14 USAF HAF AF/A2/6OR" initials="HSMGUHA" lastIdx="1" clrIdx="2">
    <p:extLst>
      <p:ext uri="{19B8F6BF-5375-455C-9EA6-DF929625EA0E}">
        <p15:presenceInfo xmlns:p15="http://schemas.microsoft.com/office/powerpoint/2012/main" userId="S-1-5-21-1271409858-1095883707-2794662393-948992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266" autoAdjust="0"/>
    <p:restoredTop sz="94660"/>
  </p:normalViewPr>
  <p:slideViewPr>
    <p:cSldViewPr snapToGrid="0">
      <p:cViewPr varScale="1">
        <p:scale>
          <a:sx n="152" d="100"/>
          <a:sy n="152" d="100"/>
        </p:scale>
        <p:origin x="1324" y="10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61" Type="http://schemas.microsoft.com/office/2018/10/relationships/authors" Targe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NYDER, RICHARD J JR Capt USAF AFDW AFDW/PKH" userId="12a18060-a455-435a-9fd6-8aac4c2579b2" providerId="ADAL" clId="{F9434137-3807-4170-AD3F-A4DDF30BB3BB}"/>
    <pc:docChg chg="undo custSel addSld delSld modSld sldOrd">
      <pc:chgData name="SNYDER, RICHARD J JR Capt USAF AFDW AFDW/PKH" userId="12a18060-a455-435a-9fd6-8aac4c2579b2" providerId="ADAL" clId="{F9434137-3807-4170-AD3F-A4DDF30BB3BB}" dt="2025-04-01T16:44:43.092" v="1005" actId="20577"/>
      <pc:docMkLst>
        <pc:docMk/>
      </pc:docMkLst>
      <pc:sldChg chg="modSp mod">
        <pc:chgData name="SNYDER, RICHARD J JR Capt USAF AFDW AFDW/PKH" userId="12a18060-a455-435a-9fd6-8aac4c2579b2" providerId="ADAL" clId="{F9434137-3807-4170-AD3F-A4DDF30BB3BB}" dt="2025-04-01T14:18:43.729" v="121" actId="115"/>
        <pc:sldMkLst>
          <pc:docMk/>
          <pc:sldMk cId="4203585898" sldId="256"/>
        </pc:sldMkLst>
        <pc:spChg chg="mod">
          <ac:chgData name="SNYDER, RICHARD J JR Capt USAF AFDW AFDW/PKH" userId="12a18060-a455-435a-9fd6-8aac4c2579b2" providerId="ADAL" clId="{F9434137-3807-4170-AD3F-A4DDF30BB3BB}" dt="2025-04-01T14:18:43.729" v="121" actId="115"/>
          <ac:spMkLst>
            <pc:docMk/>
            <pc:sldMk cId="4203585898" sldId="256"/>
            <ac:spMk id="9" creationId="{00000000-0000-0000-0000-000000000000}"/>
          </ac:spMkLst>
        </pc:spChg>
      </pc:sldChg>
      <pc:sldChg chg="modSp add mod">
        <pc:chgData name="SNYDER, RICHARD J JR Capt USAF AFDW AFDW/PKH" userId="12a18060-a455-435a-9fd6-8aac4c2579b2" providerId="ADAL" clId="{F9434137-3807-4170-AD3F-A4DDF30BB3BB}" dt="2025-04-01T14:55:21.110" v="617" actId="2711"/>
        <pc:sldMkLst>
          <pc:docMk/>
          <pc:sldMk cId="2757539216" sldId="278"/>
        </pc:sldMkLst>
        <pc:spChg chg="mod">
          <ac:chgData name="SNYDER, RICHARD J JR Capt USAF AFDW AFDW/PKH" userId="12a18060-a455-435a-9fd6-8aac4c2579b2" providerId="ADAL" clId="{F9434137-3807-4170-AD3F-A4DDF30BB3BB}" dt="2025-04-01T14:55:21.110" v="617" actId="2711"/>
          <ac:spMkLst>
            <pc:docMk/>
            <pc:sldMk cId="2757539216" sldId="278"/>
            <ac:spMk id="3" creationId="{00000000-0000-0000-0000-000000000000}"/>
          </ac:spMkLst>
        </pc:spChg>
        <pc:spChg chg="mod">
          <ac:chgData name="SNYDER, RICHARD J JR Capt USAF AFDW AFDW/PKH" userId="12a18060-a455-435a-9fd6-8aac4c2579b2" providerId="ADAL" clId="{F9434137-3807-4170-AD3F-A4DDF30BB3BB}" dt="2025-04-01T14:42:27.785" v="502" actId="113"/>
          <ac:spMkLst>
            <pc:docMk/>
            <pc:sldMk cId="2757539216" sldId="278"/>
            <ac:spMk id="24" creationId="{00000000-0000-0000-0000-000000000000}"/>
          </ac:spMkLst>
        </pc:spChg>
        <pc:spChg chg="mod">
          <ac:chgData name="SNYDER, RICHARD J JR Capt USAF AFDW AFDW/PKH" userId="12a18060-a455-435a-9fd6-8aac4c2579b2" providerId="ADAL" clId="{F9434137-3807-4170-AD3F-A4DDF30BB3BB}" dt="2025-04-01T14:43:01.386" v="516" actId="113"/>
          <ac:spMkLst>
            <pc:docMk/>
            <pc:sldMk cId="2757539216" sldId="278"/>
            <ac:spMk id="26" creationId="{00000000-0000-0000-0000-000000000000}"/>
          </ac:spMkLst>
        </pc:spChg>
      </pc:sldChg>
      <pc:sldChg chg="modSp add mod">
        <pc:chgData name="SNYDER, RICHARD J JR Capt USAF AFDW AFDW/PKH" userId="12a18060-a455-435a-9fd6-8aac4c2579b2" providerId="ADAL" clId="{F9434137-3807-4170-AD3F-A4DDF30BB3BB}" dt="2025-04-01T14:35:23.843" v="329" actId="113"/>
        <pc:sldMkLst>
          <pc:docMk/>
          <pc:sldMk cId="4291360349" sldId="287"/>
        </pc:sldMkLst>
        <pc:spChg chg="mod">
          <ac:chgData name="SNYDER, RICHARD J JR Capt USAF AFDW AFDW/PKH" userId="12a18060-a455-435a-9fd6-8aac4c2579b2" providerId="ADAL" clId="{F9434137-3807-4170-AD3F-A4DDF30BB3BB}" dt="2025-04-01T14:35:23.843" v="329" actId="113"/>
          <ac:spMkLst>
            <pc:docMk/>
            <pc:sldMk cId="4291360349" sldId="287"/>
            <ac:spMk id="3" creationId="{00000000-0000-0000-0000-000000000000}"/>
          </ac:spMkLst>
        </pc:spChg>
      </pc:sldChg>
      <pc:sldChg chg="modSp mod ord">
        <pc:chgData name="SNYDER, RICHARD J JR Capt USAF AFDW AFDW/PKH" userId="12a18060-a455-435a-9fd6-8aac4c2579b2" providerId="ADAL" clId="{F9434137-3807-4170-AD3F-A4DDF30BB3BB}" dt="2025-04-01T16:41:54.982" v="1002" actId="14100"/>
        <pc:sldMkLst>
          <pc:docMk/>
          <pc:sldMk cId="2494037777" sldId="288"/>
        </pc:sldMkLst>
        <pc:spChg chg="mod">
          <ac:chgData name="SNYDER, RICHARD J JR Capt USAF AFDW AFDW/PKH" userId="12a18060-a455-435a-9fd6-8aac4c2579b2" providerId="ADAL" clId="{F9434137-3807-4170-AD3F-A4DDF30BB3BB}" dt="2025-04-01T16:41:54.982" v="1002" actId="14100"/>
          <ac:spMkLst>
            <pc:docMk/>
            <pc:sldMk cId="2494037777" sldId="288"/>
            <ac:spMk id="9" creationId="{AAC704EE-B504-D195-5A0F-2A0778FD538C}"/>
          </ac:spMkLst>
        </pc:spChg>
      </pc:sldChg>
      <pc:sldChg chg="modSp mod">
        <pc:chgData name="SNYDER, RICHARD J JR Capt USAF AFDW AFDW/PKH" userId="12a18060-a455-435a-9fd6-8aac4c2579b2" providerId="ADAL" clId="{F9434137-3807-4170-AD3F-A4DDF30BB3BB}" dt="2025-04-01T14:26:48.999" v="203" actId="207"/>
        <pc:sldMkLst>
          <pc:docMk/>
          <pc:sldMk cId="3880278589" sldId="289"/>
        </pc:sldMkLst>
        <pc:spChg chg="mod">
          <ac:chgData name="SNYDER, RICHARD J JR Capt USAF AFDW AFDW/PKH" userId="12a18060-a455-435a-9fd6-8aac4c2579b2" providerId="ADAL" clId="{F9434137-3807-4170-AD3F-A4DDF30BB3BB}" dt="2025-04-01T14:26:48.999" v="203" actId="207"/>
          <ac:spMkLst>
            <pc:docMk/>
            <pc:sldMk cId="3880278589" sldId="289"/>
            <ac:spMk id="3" creationId="{A8062A59-E186-01A4-631D-7FB42253EED5}"/>
          </ac:spMkLst>
        </pc:spChg>
      </pc:sldChg>
      <pc:sldChg chg="modSp add mod">
        <pc:chgData name="SNYDER, RICHARD J JR Capt USAF AFDW AFDW/PKH" userId="12a18060-a455-435a-9fd6-8aac4c2579b2" providerId="ADAL" clId="{F9434137-3807-4170-AD3F-A4DDF30BB3BB}" dt="2025-04-01T14:35:53.854" v="341" actId="113"/>
        <pc:sldMkLst>
          <pc:docMk/>
          <pc:sldMk cId="1870925950" sldId="290"/>
        </pc:sldMkLst>
        <pc:spChg chg="mod">
          <ac:chgData name="SNYDER, RICHARD J JR Capt USAF AFDW AFDW/PKH" userId="12a18060-a455-435a-9fd6-8aac4c2579b2" providerId="ADAL" clId="{F9434137-3807-4170-AD3F-A4DDF30BB3BB}" dt="2025-04-01T14:35:53.854" v="341" actId="113"/>
          <ac:spMkLst>
            <pc:docMk/>
            <pc:sldMk cId="1870925950" sldId="290"/>
            <ac:spMk id="3" creationId="{D191550C-ACCA-F52D-B142-64DB5DD10ED1}"/>
          </ac:spMkLst>
        </pc:spChg>
      </pc:sldChg>
      <pc:sldChg chg="add del">
        <pc:chgData name="SNYDER, RICHARD J JR Capt USAF AFDW AFDW/PKH" userId="12a18060-a455-435a-9fd6-8aac4c2579b2" providerId="ADAL" clId="{F9434137-3807-4170-AD3F-A4DDF30BB3BB}" dt="2025-03-17T23:15:18.692" v="71" actId="47"/>
        <pc:sldMkLst>
          <pc:docMk/>
          <pc:sldMk cId="642970081" sldId="291"/>
        </pc:sldMkLst>
      </pc:sldChg>
      <pc:sldChg chg="modSp add mod ord">
        <pc:chgData name="SNYDER, RICHARD J JR Capt USAF AFDW AFDW/PKH" userId="12a18060-a455-435a-9fd6-8aac4c2579b2" providerId="ADAL" clId="{F9434137-3807-4170-AD3F-A4DDF30BB3BB}" dt="2025-04-01T14:37:28.300" v="379" actId="113"/>
        <pc:sldMkLst>
          <pc:docMk/>
          <pc:sldMk cId="2438331599" sldId="291"/>
        </pc:sldMkLst>
        <pc:spChg chg="mod">
          <ac:chgData name="SNYDER, RICHARD J JR Capt USAF AFDW AFDW/PKH" userId="12a18060-a455-435a-9fd6-8aac4c2579b2" providerId="ADAL" clId="{F9434137-3807-4170-AD3F-A4DDF30BB3BB}" dt="2025-04-01T14:37:28.300" v="379" actId="113"/>
          <ac:spMkLst>
            <pc:docMk/>
            <pc:sldMk cId="2438331599" sldId="291"/>
            <ac:spMk id="3" creationId="{D6104196-57B2-F532-8B44-AB175719C20B}"/>
          </ac:spMkLst>
        </pc:spChg>
      </pc:sldChg>
      <pc:sldChg chg="modSp mod">
        <pc:chgData name="SNYDER, RICHARD J JR Capt USAF AFDW AFDW/PKH" userId="12a18060-a455-435a-9fd6-8aac4c2579b2" providerId="ADAL" clId="{F9434137-3807-4170-AD3F-A4DDF30BB3BB}" dt="2025-04-01T14:26:24.802" v="197" actId="207"/>
        <pc:sldMkLst>
          <pc:docMk/>
          <pc:sldMk cId="584327815" sldId="292"/>
        </pc:sldMkLst>
        <pc:spChg chg="mod">
          <ac:chgData name="SNYDER, RICHARD J JR Capt USAF AFDW AFDW/PKH" userId="12a18060-a455-435a-9fd6-8aac4c2579b2" providerId="ADAL" clId="{F9434137-3807-4170-AD3F-A4DDF30BB3BB}" dt="2025-04-01T14:26:24.802" v="197" actId="207"/>
          <ac:spMkLst>
            <pc:docMk/>
            <pc:sldMk cId="584327815" sldId="292"/>
            <ac:spMk id="3" creationId="{13BF51E2-E358-E30D-4286-FBA5F86B42F8}"/>
          </ac:spMkLst>
        </pc:spChg>
      </pc:sldChg>
      <pc:sldChg chg="modSp mod">
        <pc:chgData name="SNYDER, RICHARD J JR Capt USAF AFDW AFDW/PKH" userId="12a18060-a455-435a-9fd6-8aac4c2579b2" providerId="ADAL" clId="{F9434137-3807-4170-AD3F-A4DDF30BB3BB}" dt="2025-04-01T14:26:51.371" v="204" actId="207"/>
        <pc:sldMkLst>
          <pc:docMk/>
          <pc:sldMk cId="4162901758" sldId="293"/>
        </pc:sldMkLst>
        <pc:spChg chg="mod">
          <ac:chgData name="SNYDER, RICHARD J JR Capt USAF AFDW AFDW/PKH" userId="12a18060-a455-435a-9fd6-8aac4c2579b2" providerId="ADAL" clId="{F9434137-3807-4170-AD3F-A4DDF30BB3BB}" dt="2025-04-01T14:26:51.371" v="204" actId="207"/>
          <ac:spMkLst>
            <pc:docMk/>
            <pc:sldMk cId="4162901758" sldId="293"/>
            <ac:spMk id="3" creationId="{2161A74E-02D9-CAA5-129B-B6828D1F60C9}"/>
          </ac:spMkLst>
        </pc:spChg>
      </pc:sldChg>
      <pc:sldChg chg="modSp mod">
        <pc:chgData name="SNYDER, RICHARD J JR Capt USAF AFDW AFDW/PKH" userId="12a18060-a455-435a-9fd6-8aac4c2579b2" providerId="ADAL" clId="{F9434137-3807-4170-AD3F-A4DDF30BB3BB}" dt="2025-04-01T16:42:37.186" v="1004" actId="313"/>
        <pc:sldMkLst>
          <pc:docMk/>
          <pc:sldMk cId="370330482" sldId="294"/>
        </pc:sldMkLst>
        <pc:spChg chg="mod">
          <ac:chgData name="SNYDER, RICHARD J JR Capt USAF AFDW AFDW/PKH" userId="12a18060-a455-435a-9fd6-8aac4c2579b2" providerId="ADAL" clId="{F9434137-3807-4170-AD3F-A4DDF30BB3BB}" dt="2025-04-01T16:42:37.186" v="1004" actId="313"/>
          <ac:spMkLst>
            <pc:docMk/>
            <pc:sldMk cId="370330482" sldId="294"/>
            <ac:spMk id="3" creationId="{8D7F43A7-3044-1215-A63A-8D4B79FFFD34}"/>
          </ac:spMkLst>
        </pc:spChg>
      </pc:sldChg>
      <pc:sldChg chg="modSp mod">
        <pc:chgData name="SNYDER, RICHARD J JR Capt USAF AFDW AFDW/PKH" userId="12a18060-a455-435a-9fd6-8aac4c2579b2" providerId="ADAL" clId="{F9434137-3807-4170-AD3F-A4DDF30BB3BB}" dt="2025-04-01T14:26:42.273" v="201" actId="207"/>
        <pc:sldMkLst>
          <pc:docMk/>
          <pc:sldMk cId="839723407" sldId="295"/>
        </pc:sldMkLst>
        <pc:spChg chg="mod">
          <ac:chgData name="SNYDER, RICHARD J JR Capt USAF AFDW AFDW/PKH" userId="12a18060-a455-435a-9fd6-8aac4c2579b2" providerId="ADAL" clId="{F9434137-3807-4170-AD3F-A4DDF30BB3BB}" dt="2025-04-01T14:26:42.273" v="201" actId="207"/>
          <ac:spMkLst>
            <pc:docMk/>
            <pc:sldMk cId="839723407" sldId="295"/>
            <ac:spMk id="3" creationId="{E1784BAB-AB43-D80C-9DCE-24F2B2567A8F}"/>
          </ac:spMkLst>
        </pc:spChg>
      </pc:sldChg>
      <pc:sldChg chg="modSp mod">
        <pc:chgData name="SNYDER, RICHARD J JR Capt USAF AFDW AFDW/PKH" userId="12a18060-a455-435a-9fd6-8aac4c2579b2" providerId="ADAL" clId="{F9434137-3807-4170-AD3F-A4DDF30BB3BB}" dt="2025-04-01T14:26:39.562" v="200" actId="207"/>
        <pc:sldMkLst>
          <pc:docMk/>
          <pc:sldMk cId="503724000" sldId="296"/>
        </pc:sldMkLst>
        <pc:spChg chg="mod">
          <ac:chgData name="SNYDER, RICHARD J JR Capt USAF AFDW AFDW/PKH" userId="12a18060-a455-435a-9fd6-8aac4c2579b2" providerId="ADAL" clId="{F9434137-3807-4170-AD3F-A4DDF30BB3BB}" dt="2025-04-01T14:26:39.562" v="200" actId="207"/>
          <ac:spMkLst>
            <pc:docMk/>
            <pc:sldMk cId="503724000" sldId="296"/>
            <ac:spMk id="3" creationId="{034BCF80-8B31-0123-C6F2-914FA0D15184}"/>
          </ac:spMkLst>
        </pc:spChg>
      </pc:sldChg>
      <pc:sldChg chg="modSp mod">
        <pc:chgData name="SNYDER, RICHARD J JR Capt USAF AFDW AFDW/PKH" userId="12a18060-a455-435a-9fd6-8aac4c2579b2" providerId="ADAL" clId="{F9434137-3807-4170-AD3F-A4DDF30BB3BB}" dt="2025-04-01T14:26:35.356" v="199" actId="207"/>
        <pc:sldMkLst>
          <pc:docMk/>
          <pc:sldMk cId="1267118184" sldId="297"/>
        </pc:sldMkLst>
        <pc:spChg chg="mod">
          <ac:chgData name="SNYDER, RICHARD J JR Capt USAF AFDW AFDW/PKH" userId="12a18060-a455-435a-9fd6-8aac4c2579b2" providerId="ADAL" clId="{F9434137-3807-4170-AD3F-A4DDF30BB3BB}" dt="2025-04-01T14:26:35.356" v="199" actId="207"/>
          <ac:spMkLst>
            <pc:docMk/>
            <pc:sldMk cId="1267118184" sldId="297"/>
            <ac:spMk id="3" creationId="{8F537D08-14AC-8BB6-314D-56572ABBC910}"/>
          </ac:spMkLst>
        </pc:spChg>
      </pc:sldChg>
      <pc:sldChg chg="modSp mod">
        <pc:chgData name="SNYDER, RICHARD J JR Capt USAF AFDW AFDW/PKH" userId="12a18060-a455-435a-9fd6-8aac4c2579b2" providerId="ADAL" clId="{F9434137-3807-4170-AD3F-A4DDF30BB3BB}" dt="2025-04-01T14:26:29.156" v="198" actId="207"/>
        <pc:sldMkLst>
          <pc:docMk/>
          <pc:sldMk cId="1309623954" sldId="298"/>
        </pc:sldMkLst>
        <pc:spChg chg="mod">
          <ac:chgData name="SNYDER, RICHARD J JR Capt USAF AFDW AFDW/PKH" userId="12a18060-a455-435a-9fd6-8aac4c2579b2" providerId="ADAL" clId="{F9434137-3807-4170-AD3F-A4DDF30BB3BB}" dt="2025-04-01T14:26:29.156" v="198" actId="207"/>
          <ac:spMkLst>
            <pc:docMk/>
            <pc:sldMk cId="1309623954" sldId="298"/>
            <ac:spMk id="3" creationId="{51D7FAE3-6097-7009-08DE-7A13E1C09086}"/>
          </ac:spMkLst>
        </pc:spChg>
      </pc:sldChg>
      <pc:sldChg chg="modSp mod">
        <pc:chgData name="SNYDER, RICHARD J JR Capt USAF AFDW AFDW/PKH" userId="12a18060-a455-435a-9fd6-8aac4c2579b2" providerId="ADAL" clId="{F9434137-3807-4170-AD3F-A4DDF30BB3BB}" dt="2025-04-01T14:54:09.194" v="610" actId="207"/>
        <pc:sldMkLst>
          <pc:docMk/>
          <pc:sldMk cId="3586982574" sldId="301"/>
        </pc:sldMkLst>
        <pc:spChg chg="mod">
          <ac:chgData name="SNYDER, RICHARD J JR Capt USAF AFDW AFDW/PKH" userId="12a18060-a455-435a-9fd6-8aac4c2579b2" providerId="ADAL" clId="{F9434137-3807-4170-AD3F-A4DDF30BB3BB}" dt="2025-04-01T14:33:54.841" v="303" actId="113"/>
          <ac:spMkLst>
            <pc:docMk/>
            <pc:sldMk cId="3586982574" sldId="301"/>
            <ac:spMk id="3" creationId="{00000000-0000-0000-0000-000000000000}"/>
          </ac:spMkLst>
        </pc:spChg>
        <pc:spChg chg="mod">
          <ac:chgData name="SNYDER, RICHARD J JR Capt USAF AFDW AFDW/PKH" userId="12a18060-a455-435a-9fd6-8aac4c2579b2" providerId="ADAL" clId="{F9434137-3807-4170-AD3F-A4DDF30BB3BB}" dt="2025-04-01T14:54:09.194" v="610" actId="207"/>
          <ac:spMkLst>
            <pc:docMk/>
            <pc:sldMk cId="3586982574" sldId="301"/>
            <ac:spMk id="9" creationId="{00000000-0000-0000-0000-000000000000}"/>
          </ac:spMkLst>
        </pc:spChg>
      </pc:sldChg>
      <pc:sldChg chg="modSp mod">
        <pc:chgData name="SNYDER, RICHARD J JR Capt USAF AFDW AFDW/PKH" userId="12a18060-a455-435a-9fd6-8aac4c2579b2" providerId="ADAL" clId="{F9434137-3807-4170-AD3F-A4DDF30BB3BB}" dt="2025-04-01T14:56:02.585" v="618" actId="2711"/>
        <pc:sldMkLst>
          <pc:docMk/>
          <pc:sldMk cId="1453581132" sldId="302"/>
        </pc:sldMkLst>
        <pc:spChg chg="mod">
          <ac:chgData name="SNYDER, RICHARD J JR Capt USAF AFDW AFDW/PKH" userId="12a18060-a455-435a-9fd6-8aac4c2579b2" providerId="ADAL" clId="{F9434137-3807-4170-AD3F-A4DDF30BB3BB}" dt="2025-04-01T14:56:02.585" v="618" actId="2711"/>
          <ac:spMkLst>
            <pc:docMk/>
            <pc:sldMk cId="1453581132" sldId="302"/>
            <ac:spMk id="3" creationId="{00000000-0000-0000-0000-000000000000}"/>
          </ac:spMkLst>
        </pc:spChg>
        <pc:spChg chg="mod">
          <ac:chgData name="SNYDER, RICHARD J JR Capt USAF AFDW AFDW/PKH" userId="12a18060-a455-435a-9fd6-8aac4c2579b2" providerId="ADAL" clId="{F9434137-3807-4170-AD3F-A4DDF30BB3BB}" dt="2025-04-01T14:54:13.767" v="611" actId="207"/>
          <ac:spMkLst>
            <pc:docMk/>
            <pc:sldMk cId="1453581132" sldId="302"/>
            <ac:spMk id="9" creationId="{00000000-0000-0000-0000-000000000000}"/>
          </ac:spMkLst>
        </pc:spChg>
      </pc:sldChg>
      <pc:sldChg chg="modSp add mod">
        <pc:chgData name="SNYDER, RICHARD J JR Capt USAF AFDW AFDW/PKH" userId="12a18060-a455-435a-9fd6-8aac4c2579b2" providerId="ADAL" clId="{F9434137-3807-4170-AD3F-A4DDF30BB3BB}" dt="2025-04-01T14:43:51.413" v="538" actId="113"/>
        <pc:sldMkLst>
          <pc:docMk/>
          <pc:sldMk cId="1376348360" sldId="303"/>
        </pc:sldMkLst>
        <pc:spChg chg="mod">
          <ac:chgData name="SNYDER, RICHARD J JR Capt USAF AFDW AFDW/PKH" userId="12a18060-a455-435a-9fd6-8aac4c2579b2" providerId="ADAL" clId="{F9434137-3807-4170-AD3F-A4DDF30BB3BB}" dt="2025-04-01T14:43:51.413" v="538" actId="113"/>
          <ac:spMkLst>
            <pc:docMk/>
            <pc:sldMk cId="1376348360" sldId="303"/>
            <ac:spMk id="3" creationId="{F1374736-355C-5706-E349-826837B78328}"/>
          </ac:spMkLst>
        </pc:spChg>
      </pc:sldChg>
      <pc:sldChg chg="del">
        <pc:chgData name="SNYDER, RICHARD J JR Capt USAF AFDW AFDW/PKH" userId="12a18060-a455-435a-9fd6-8aac4c2579b2" providerId="ADAL" clId="{F9434137-3807-4170-AD3F-A4DDF30BB3BB}" dt="2025-03-17T23:06:27.734" v="34" actId="47"/>
        <pc:sldMkLst>
          <pc:docMk/>
          <pc:sldMk cId="2306177149" sldId="303"/>
        </pc:sldMkLst>
      </pc:sldChg>
      <pc:sldChg chg="modSp add mod">
        <pc:chgData name="SNYDER, RICHARD J JR Capt USAF AFDW AFDW/PKH" userId="12a18060-a455-435a-9fd6-8aac4c2579b2" providerId="ADAL" clId="{F9434137-3807-4170-AD3F-A4DDF30BB3BB}" dt="2025-04-01T14:55:16.148" v="616" actId="2711"/>
        <pc:sldMkLst>
          <pc:docMk/>
          <pc:sldMk cId="76996800" sldId="304"/>
        </pc:sldMkLst>
        <pc:spChg chg="mod">
          <ac:chgData name="SNYDER, RICHARD J JR Capt USAF AFDW AFDW/PKH" userId="12a18060-a455-435a-9fd6-8aac4c2579b2" providerId="ADAL" clId="{F9434137-3807-4170-AD3F-A4DDF30BB3BB}" dt="2025-04-01T14:55:16.148" v="616" actId="2711"/>
          <ac:spMkLst>
            <pc:docMk/>
            <pc:sldMk cId="76996800" sldId="304"/>
            <ac:spMk id="3" creationId="{F53D0F25-07D5-96AA-1143-D076B13A914E}"/>
          </ac:spMkLst>
        </pc:spChg>
        <pc:spChg chg="mod">
          <ac:chgData name="SNYDER, RICHARD J JR Capt USAF AFDW AFDW/PKH" userId="12a18060-a455-435a-9fd6-8aac4c2579b2" providerId="ADAL" clId="{F9434137-3807-4170-AD3F-A4DDF30BB3BB}" dt="2025-04-01T14:42:45.897" v="510" actId="113"/>
          <ac:spMkLst>
            <pc:docMk/>
            <pc:sldMk cId="76996800" sldId="304"/>
            <ac:spMk id="24" creationId="{DB970574-2990-1380-0735-9318ABC1E19E}"/>
          </ac:spMkLst>
        </pc:spChg>
        <pc:spChg chg="mod">
          <ac:chgData name="SNYDER, RICHARD J JR Capt USAF AFDW AFDW/PKH" userId="12a18060-a455-435a-9fd6-8aac4c2579b2" providerId="ADAL" clId="{F9434137-3807-4170-AD3F-A4DDF30BB3BB}" dt="2025-04-01T14:42:47.848" v="511" actId="113"/>
          <ac:spMkLst>
            <pc:docMk/>
            <pc:sldMk cId="76996800" sldId="304"/>
            <ac:spMk id="26" creationId="{7FA09782-95D2-C1F1-EADE-85FBF8831102}"/>
          </ac:spMkLst>
        </pc:spChg>
      </pc:sldChg>
      <pc:sldChg chg="modSp add del mod">
        <pc:chgData name="SNYDER, RICHARD J JR Capt USAF AFDW AFDW/PKH" userId="12a18060-a455-435a-9fd6-8aac4c2579b2" providerId="ADAL" clId="{F9434137-3807-4170-AD3F-A4DDF30BB3BB}" dt="2025-03-17T23:07:04.064" v="38" actId="47"/>
        <pc:sldMkLst>
          <pc:docMk/>
          <pc:sldMk cId="2538537792" sldId="304"/>
        </pc:sldMkLst>
      </pc:sldChg>
      <pc:sldChg chg="modSp add mod">
        <pc:chgData name="SNYDER, RICHARD J JR Capt USAF AFDW AFDW/PKH" userId="12a18060-a455-435a-9fd6-8aac4c2579b2" providerId="ADAL" clId="{F9434137-3807-4170-AD3F-A4DDF30BB3BB}" dt="2025-04-01T16:44:43.092" v="1005" actId="20577"/>
        <pc:sldMkLst>
          <pc:docMk/>
          <pc:sldMk cId="639264830" sldId="305"/>
        </pc:sldMkLst>
        <pc:spChg chg="mod">
          <ac:chgData name="SNYDER, RICHARD J JR Capt USAF AFDW AFDW/PKH" userId="12a18060-a455-435a-9fd6-8aac4c2579b2" providerId="ADAL" clId="{F9434137-3807-4170-AD3F-A4DDF30BB3BB}" dt="2025-04-01T16:44:43.092" v="1005" actId="20577"/>
          <ac:spMkLst>
            <pc:docMk/>
            <pc:sldMk cId="639264830" sldId="305"/>
            <ac:spMk id="9" creationId="{A4B600C8-E585-6E44-8CFF-213CC280BF0F}"/>
          </ac:spMkLst>
        </pc:spChg>
      </pc:sldChg>
      <pc:sldChg chg="add del">
        <pc:chgData name="SNYDER, RICHARD J JR Capt USAF AFDW AFDW/PKH" userId="12a18060-a455-435a-9fd6-8aac4c2579b2" providerId="ADAL" clId="{F9434137-3807-4170-AD3F-A4DDF30BB3BB}" dt="2025-03-17T23:05:07.133" v="9" actId="47"/>
        <pc:sldMkLst>
          <pc:docMk/>
          <pc:sldMk cId="4091416678" sldId="305"/>
        </pc:sldMkLst>
      </pc:sldChg>
      <pc:sldChg chg="modSp add mod">
        <pc:chgData name="SNYDER, RICHARD J JR Capt USAF AFDW AFDW/PKH" userId="12a18060-a455-435a-9fd6-8aac4c2579b2" providerId="ADAL" clId="{F9434137-3807-4170-AD3F-A4DDF30BB3BB}" dt="2025-03-17T23:06:25.193" v="33" actId="20577"/>
        <pc:sldMkLst>
          <pc:docMk/>
          <pc:sldMk cId="3343558089" sldId="306"/>
        </pc:sldMkLst>
        <pc:spChg chg="mod">
          <ac:chgData name="SNYDER, RICHARD J JR Capt USAF AFDW AFDW/PKH" userId="12a18060-a455-435a-9fd6-8aac4c2579b2" providerId="ADAL" clId="{F9434137-3807-4170-AD3F-A4DDF30BB3BB}" dt="2025-03-17T23:06:25.193" v="33" actId="20577"/>
          <ac:spMkLst>
            <pc:docMk/>
            <pc:sldMk cId="3343558089" sldId="306"/>
            <ac:spMk id="9" creationId="{A6DD928A-1DA0-D94E-15BE-8BF85BA3BE0D}"/>
          </ac:spMkLst>
        </pc:spChg>
      </pc:sldChg>
      <pc:sldChg chg="modSp add mod">
        <pc:chgData name="SNYDER, RICHARD J JR Capt USAF AFDW AFDW/PKH" userId="12a18060-a455-435a-9fd6-8aac4c2579b2" providerId="ADAL" clId="{F9434137-3807-4170-AD3F-A4DDF30BB3BB}" dt="2025-04-01T15:06:40.795" v="736" actId="115"/>
        <pc:sldMkLst>
          <pc:docMk/>
          <pc:sldMk cId="907551311" sldId="307"/>
        </pc:sldMkLst>
        <pc:spChg chg="mod">
          <ac:chgData name="SNYDER, RICHARD J JR Capt USAF AFDW AFDW/PKH" userId="12a18060-a455-435a-9fd6-8aac4c2579b2" providerId="ADAL" clId="{F9434137-3807-4170-AD3F-A4DDF30BB3BB}" dt="2025-04-01T15:06:40.795" v="736" actId="115"/>
          <ac:spMkLst>
            <pc:docMk/>
            <pc:sldMk cId="907551311" sldId="307"/>
            <ac:spMk id="9" creationId="{B52CFA44-471D-5B31-88FA-3563BF0E92EC}"/>
          </ac:spMkLst>
        </pc:spChg>
      </pc:sldChg>
      <pc:sldChg chg="modSp add mod">
        <pc:chgData name="SNYDER, RICHARD J JR Capt USAF AFDW AFDW/PKH" userId="12a18060-a455-435a-9fd6-8aac4c2579b2" providerId="ADAL" clId="{F9434137-3807-4170-AD3F-A4DDF30BB3BB}" dt="2025-04-01T15:06:47.353" v="737" actId="115"/>
        <pc:sldMkLst>
          <pc:docMk/>
          <pc:sldMk cId="2273469133" sldId="308"/>
        </pc:sldMkLst>
        <pc:spChg chg="mod">
          <ac:chgData name="SNYDER, RICHARD J JR Capt USAF AFDW AFDW/PKH" userId="12a18060-a455-435a-9fd6-8aac4c2579b2" providerId="ADAL" clId="{F9434137-3807-4170-AD3F-A4DDF30BB3BB}" dt="2025-04-01T15:06:47.353" v="737" actId="115"/>
          <ac:spMkLst>
            <pc:docMk/>
            <pc:sldMk cId="2273469133" sldId="308"/>
            <ac:spMk id="9" creationId="{F1CBCC11-8279-9069-5A0D-4261139AB6A9}"/>
          </ac:spMkLst>
        </pc:spChg>
      </pc:sldChg>
      <pc:sldChg chg="modSp add mod">
        <pc:chgData name="SNYDER, RICHARD J JR Capt USAF AFDW AFDW/PKH" userId="12a18060-a455-435a-9fd6-8aac4c2579b2" providerId="ADAL" clId="{F9434137-3807-4170-AD3F-A4DDF30BB3BB}" dt="2025-04-01T14:19:48.248" v="122" actId="115"/>
        <pc:sldMkLst>
          <pc:docMk/>
          <pc:sldMk cId="831146119" sldId="309"/>
        </pc:sldMkLst>
        <pc:spChg chg="mod">
          <ac:chgData name="SNYDER, RICHARD J JR Capt USAF AFDW AFDW/PKH" userId="12a18060-a455-435a-9fd6-8aac4c2579b2" providerId="ADAL" clId="{F9434137-3807-4170-AD3F-A4DDF30BB3BB}" dt="2025-04-01T14:19:48.248" v="122" actId="115"/>
          <ac:spMkLst>
            <pc:docMk/>
            <pc:sldMk cId="831146119" sldId="309"/>
            <ac:spMk id="9" creationId="{2AD74366-DD10-BF1F-4AD4-47121E5F3327}"/>
          </ac:spMkLst>
        </pc:spChg>
      </pc:sldChg>
      <pc:sldChg chg="modSp add mod">
        <pc:chgData name="SNYDER, RICHARD J JR Capt USAF AFDW AFDW/PKH" userId="12a18060-a455-435a-9fd6-8aac4c2579b2" providerId="ADAL" clId="{F9434137-3807-4170-AD3F-A4DDF30BB3BB}" dt="2025-04-01T14:44:19.763" v="561" actId="113"/>
        <pc:sldMkLst>
          <pc:docMk/>
          <pc:sldMk cId="1907645564" sldId="310"/>
        </pc:sldMkLst>
        <pc:spChg chg="mod">
          <ac:chgData name="SNYDER, RICHARD J JR Capt USAF AFDW AFDW/PKH" userId="12a18060-a455-435a-9fd6-8aac4c2579b2" providerId="ADAL" clId="{F9434137-3807-4170-AD3F-A4DDF30BB3BB}" dt="2025-04-01T14:44:19.763" v="561" actId="113"/>
          <ac:spMkLst>
            <pc:docMk/>
            <pc:sldMk cId="1907645564" sldId="310"/>
            <ac:spMk id="3" creationId="{00000000-0000-0000-0000-000000000000}"/>
          </ac:spMkLst>
        </pc:spChg>
      </pc:sldChg>
      <pc:sldChg chg="modSp add mod">
        <pc:chgData name="SNYDER, RICHARD J JR Capt USAF AFDW AFDW/PKH" userId="12a18060-a455-435a-9fd6-8aac4c2579b2" providerId="ADAL" clId="{F9434137-3807-4170-AD3F-A4DDF30BB3BB}" dt="2025-04-01T14:52:48.351" v="585" actId="113"/>
        <pc:sldMkLst>
          <pc:docMk/>
          <pc:sldMk cId="4274968920" sldId="311"/>
        </pc:sldMkLst>
        <pc:spChg chg="mod">
          <ac:chgData name="SNYDER, RICHARD J JR Capt USAF AFDW AFDW/PKH" userId="12a18060-a455-435a-9fd6-8aac4c2579b2" providerId="ADAL" clId="{F9434137-3807-4170-AD3F-A4DDF30BB3BB}" dt="2025-04-01T14:52:48.351" v="585" actId="113"/>
          <ac:spMkLst>
            <pc:docMk/>
            <pc:sldMk cId="4274968920" sldId="311"/>
            <ac:spMk id="3" creationId="{0304C2D0-10B4-45A6-2990-471456C1441E}"/>
          </ac:spMkLst>
        </pc:spChg>
      </pc:sldChg>
      <pc:sldChg chg="modSp add mod">
        <pc:chgData name="SNYDER, RICHARD J JR Capt USAF AFDW AFDW/PKH" userId="12a18060-a455-435a-9fd6-8aac4c2579b2" providerId="ADAL" clId="{F9434137-3807-4170-AD3F-A4DDF30BB3BB}" dt="2025-04-01T14:53:11.440" v="596" actId="113"/>
        <pc:sldMkLst>
          <pc:docMk/>
          <pc:sldMk cId="1731148820" sldId="312"/>
        </pc:sldMkLst>
        <pc:spChg chg="mod">
          <ac:chgData name="SNYDER, RICHARD J JR Capt USAF AFDW AFDW/PKH" userId="12a18060-a455-435a-9fd6-8aac4c2579b2" providerId="ADAL" clId="{F9434137-3807-4170-AD3F-A4DDF30BB3BB}" dt="2025-04-01T14:53:11.440" v="596" actId="113"/>
          <ac:spMkLst>
            <pc:docMk/>
            <pc:sldMk cId="1731148820" sldId="312"/>
            <ac:spMk id="3" creationId="{84DC880C-D4E7-DEB8-7B01-E7E2F3C24D4F}"/>
          </ac:spMkLst>
        </pc:spChg>
      </pc:sldChg>
      <pc:sldChg chg="modSp add mod">
        <pc:chgData name="SNYDER, RICHARD J JR Capt USAF AFDW AFDW/PKH" userId="12a18060-a455-435a-9fd6-8aac4c2579b2" providerId="ADAL" clId="{F9434137-3807-4170-AD3F-A4DDF30BB3BB}" dt="2025-04-01T14:54:34.488" v="612" actId="2711"/>
        <pc:sldMkLst>
          <pc:docMk/>
          <pc:sldMk cId="2116899605" sldId="313"/>
        </pc:sldMkLst>
        <pc:spChg chg="mod">
          <ac:chgData name="SNYDER, RICHARD J JR Capt USAF AFDW AFDW/PKH" userId="12a18060-a455-435a-9fd6-8aac4c2579b2" providerId="ADAL" clId="{F9434137-3807-4170-AD3F-A4DDF30BB3BB}" dt="2025-04-01T14:54:34.488" v="612" actId="2711"/>
          <ac:spMkLst>
            <pc:docMk/>
            <pc:sldMk cId="2116899605" sldId="313"/>
            <ac:spMk id="3" creationId="{76FBBA51-F80C-1C3B-1322-C289848B1F0A}"/>
          </ac:spMkLst>
        </pc:spChg>
      </pc:sldChg>
      <pc:sldChg chg="modSp add del mod">
        <pc:chgData name="SNYDER, RICHARD J JR Capt USAF AFDW AFDW/PKH" userId="12a18060-a455-435a-9fd6-8aac4c2579b2" providerId="ADAL" clId="{F9434137-3807-4170-AD3F-A4DDF30BB3BB}" dt="2025-04-01T14:36:19.218" v="353" actId="113"/>
        <pc:sldMkLst>
          <pc:docMk/>
          <pc:sldMk cId="2226035654" sldId="314"/>
        </pc:sldMkLst>
        <pc:spChg chg="mod">
          <ac:chgData name="SNYDER, RICHARD J JR Capt USAF AFDW AFDW/PKH" userId="12a18060-a455-435a-9fd6-8aac4c2579b2" providerId="ADAL" clId="{F9434137-3807-4170-AD3F-A4DDF30BB3BB}" dt="2025-04-01T14:36:19.218" v="353" actId="113"/>
          <ac:spMkLst>
            <pc:docMk/>
            <pc:sldMk cId="2226035654" sldId="314"/>
            <ac:spMk id="3" creationId="{2D1CAC67-6839-9D9E-F60D-C588028B9432}"/>
          </ac:spMkLst>
        </pc:spChg>
      </pc:sldChg>
      <pc:sldChg chg="modSp add del mod">
        <pc:chgData name="SNYDER, RICHARD J JR Capt USAF AFDW AFDW/PKH" userId="12a18060-a455-435a-9fd6-8aac4c2579b2" providerId="ADAL" clId="{F9434137-3807-4170-AD3F-A4DDF30BB3BB}" dt="2025-04-01T14:37:05.952" v="367" actId="113"/>
        <pc:sldMkLst>
          <pc:docMk/>
          <pc:sldMk cId="2218316846" sldId="315"/>
        </pc:sldMkLst>
        <pc:spChg chg="mod">
          <ac:chgData name="SNYDER, RICHARD J JR Capt USAF AFDW AFDW/PKH" userId="12a18060-a455-435a-9fd6-8aac4c2579b2" providerId="ADAL" clId="{F9434137-3807-4170-AD3F-A4DDF30BB3BB}" dt="2025-04-01T14:37:05.952" v="367" actId="113"/>
          <ac:spMkLst>
            <pc:docMk/>
            <pc:sldMk cId="2218316846" sldId="315"/>
            <ac:spMk id="3" creationId="{84AB895C-3DDF-9F0D-9D35-1B14BA9F65E5}"/>
          </ac:spMkLst>
        </pc:spChg>
      </pc:sldChg>
      <pc:sldChg chg="modSp add mod">
        <pc:chgData name="SNYDER, RICHARD J JR Capt USAF AFDW AFDW/PKH" userId="12a18060-a455-435a-9fd6-8aac4c2579b2" providerId="ADAL" clId="{F9434137-3807-4170-AD3F-A4DDF30BB3BB}" dt="2025-04-01T14:40:51.163" v="455" actId="113"/>
        <pc:sldMkLst>
          <pc:docMk/>
          <pc:sldMk cId="642970081" sldId="316"/>
        </pc:sldMkLst>
        <pc:spChg chg="mod">
          <ac:chgData name="SNYDER, RICHARD J JR Capt USAF AFDW AFDW/PKH" userId="12a18060-a455-435a-9fd6-8aac4c2579b2" providerId="ADAL" clId="{F9434137-3807-4170-AD3F-A4DDF30BB3BB}" dt="2025-04-01T14:40:51.163" v="455" actId="113"/>
          <ac:spMkLst>
            <pc:docMk/>
            <pc:sldMk cId="642970081" sldId="316"/>
            <ac:spMk id="3" creationId="{3101B7DE-0920-F6B7-EFC6-5B160EF689E0}"/>
          </ac:spMkLst>
        </pc:spChg>
      </pc:sldChg>
      <pc:sldChg chg="add del">
        <pc:chgData name="SNYDER, RICHARD J JR Capt USAF AFDW AFDW/PKH" userId="12a18060-a455-435a-9fd6-8aac4c2579b2" providerId="ADAL" clId="{F9434137-3807-4170-AD3F-A4DDF30BB3BB}" dt="2025-03-17T23:15:18.692" v="71" actId="47"/>
        <pc:sldMkLst>
          <pc:docMk/>
          <pc:sldMk cId="1478540171" sldId="316"/>
        </pc:sldMkLst>
      </pc:sldChg>
      <pc:sldChg chg="add del">
        <pc:chgData name="SNYDER, RICHARD J JR Capt USAF AFDW AFDW/PKH" userId="12a18060-a455-435a-9fd6-8aac4c2579b2" providerId="ADAL" clId="{F9434137-3807-4170-AD3F-A4DDF30BB3BB}" dt="2025-03-17T23:15:18.692" v="71" actId="47"/>
        <pc:sldMkLst>
          <pc:docMk/>
          <pc:sldMk cId="953298358" sldId="317"/>
        </pc:sldMkLst>
      </pc:sldChg>
      <pc:sldChg chg="modSp add mod">
        <pc:chgData name="SNYDER, RICHARD J JR Capt USAF AFDW AFDW/PKH" userId="12a18060-a455-435a-9fd6-8aac4c2579b2" providerId="ADAL" clId="{F9434137-3807-4170-AD3F-A4DDF30BB3BB}" dt="2025-04-01T14:41:13" v="467" actId="113"/>
        <pc:sldMkLst>
          <pc:docMk/>
          <pc:sldMk cId="1478540171" sldId="317"/>
        </pc:sldMkLst>
        <pc:spChg chg="mod">
          <ac:chgData name="SNYDER, RICHARD J JR Capt USAF AFDW AFDW/PKH" userId="12a18060-a455-435a-9fd6-8aac4c2579b2" providerId="ADAL" clId="{F9434137-3807-4170-AD3F-A4DDF30BB3BB}" dt="2025-04-01T14:41:13" v="467" actId="113"/>
          <ac:spMkLst>
            <pc:docMk/>
            <pc:sldMk cId="1478540171" sldId="317"/>
            <ac:spMk id="3" creationId="{15A1A92F-FAFE-87CA-604D-D68A419E2366}"/>
          </ac:spMkLst>
        </pc:spChg>
      </pc:sldChg>
      <pc:sldChg chg="modSp add mod">
        <pc:chgData name="SNYDER, RICHARD J JR Capt USAF AFDW AFDW/PKH" userId="12a18060-a455-435a-9fd6-8aac4c2579b2" providerId="ADAL" clId="{F9434137-3807-4170-AD3F-A4DDF30BB3BB}" dt="2025-04-01T14:41:41.674" v="479" actId="113"/>
        <pc:sldMkLst>
          <pc:docMk/>
          <pc:sldMk cId="953298358" sldId="318"/>
        </pc:sldMkLst>
        <pc:spChg chg="mod">
          <ac:chgData name="SNYDER, RICHARD J JR Capt USAF AFDW AFDW/PKH" userId="12a18060-a455-435a-9fd6-8aac4c2579b2" providerId="ADAL" clId="{F9434137-3807-4170-AD3F-A4DDF30BB3BB}" dt="2025-04-01T14:41:41.674" v="479" actId="113"/>
          <ac:spMkLst>
            <pc:docMk/>
            <pc:sldMk cId="953298358" sldId="318"/>
            <ac:spMk id="3" creationId="{B0A1D695-8949-041F-0E7D-C1697A022E0A}"/>
          </ac:spMkLst>
        </pc:spChg>
      </pc:sldChg>
      <pc:sldChg chg="add del">
        <pc:chgData name="SNYDER, RICHARD J JR Capt USAF AFDW AFDW/PKH" userId="12a18060-a455-435a-9fd6-8aac4c2579b2" providerId="ADAL" clId="{F9434137-3807-4170-AD3F-A4DDF30BB3BB}" dt="2025-03-17T23:15:18.692" v="71" actId="47"/>
        <pc:sldMkLst>
          <pc:docMk/>
          <pc:sldMk cId="3080554479" sldId="318"/>
        </pc:sldMkLst>
      </pc:sldChg>
      <pc:sldChg chg="modSp add mod">
        <pc:chgData name="SNYDER, RICHARD J JR Capt USAF AFDW AFDW/PKH" userId="12a18060-a455-435a-9fd6-8aac4c2579b2" providerId="ADAL" clId="{F9434137-3807-4170-AD3F-A4DDF30BB3BB}" dt="2025-04-01T14:42:07.511" v="493" actId="113"/>
        <pc:sldMkLst>
          <pc:docMk/>
          <pc:sldMk cId="3080554479" sldId="319"/>
        </pc:sldMkLst>
        <pc:spChg chg="mod">
          <ac:chgData name="SNYDER, RICHARD J JR Capt USAF AFDW AFDW/PKH" userId="12a18060-a455-435a-9fd6-8aac4c2579b2" providerId="ADAL" clId="{F9434137-3807-4170-AD3F-A4DDF30BB3BB}" dt="2025-04-01T14:42:07.511" v="493" actId="113"/>
          <ac:spMkLst>
            <pc:docMk/>
            <pc:sldMk cId="3080554479" sldId="319"/>
            <ac:spMk id="3" creationId="{AAB6FB27-A8E3-FBB4-D4C7-C21573379404}"/>
          </ac:spMkLst>
        </pc:spChg>
      </pc:sldChg>
      <pc:sldChg chg="modSp add mod ord">
        <pc:chgData name="SNYDER, RICHARD J JR Capt USAF AFDW AFDW/PKH" userId="12a18060-a455-435a-9fd6-8aac4c2579b2" providerId="ADAL" clId="{F9434137-3807-4170-AD3F-A4DDF30BB3BB}" dt="2025-04-01T14:38:22.910" v="391" actId="113"/>
        <pc:sldMkLst>
          <pc:docMk/>
          <pc:sldMk cId="3112405619" sldId="320"/>
        </pc:sldMkLst>
        <pc:spChg chg="mod">
          <ac:chgData name="SNYDER, RICHARD J JR Capt USAF AFDW AFDW/PKH" userId="12a18060-a455-435a-9fd6-8aac4c2579b2" providerId="ADAL" clId="{F9434137-3807-4170-AD3F-A4DDF30BB3BB}" dt="2025-04-01T14:38:22.910" v="391" actId="113"/>
          <ac:spMkLst>
            <pc:docMk/>
            <pc:sldMk cId="3112405619" sldId="320"/>
            <ac:spMk id="3" creationId="{7B07D0CD-B5A1-08A1-9890-CDC25DC3002B}"/>
          </ac:spMkLst>
        </pc:spChg>
      </pc:sldChg>
      <pc:sldChg chg="modSp add mod ord">
        <pc:chgData name="SNYDER, RICHARD J JR Capt USAF AFDW AFDW/PKH" userId="12a18060-a455-435a-9fd6-8aac4c2579b2" providerId="ADAL" clId="{F9434137-3807-4170-AD3F-A4DDF30BB3BB}" dt="2025-04-01T14:38:47.919" v="403" actId="113"/>
        <pc:sldMkLst>
          <pc:docMk/>
          <pc:sldMk cId="706637477" sldId="321"/>
        </pc:sldMkLst>
        <pc:spChg chg="mod">
          <ac:chgData name="SNYDER, RICHARD J JR Capt USAF AFDW AFDW/PKH" userId="12a18060-a455-435a-9fd6-8aac4c2579b2" providerId="ADAL" clId="{F9434137-3807-4170-AD3F-A4DDF30BB3BB}" dt="2025-04-01T14:38:47.919" v="403" actId="113"/>
          <ac:spMkLst>
            <pc:docMk/>
            <pc:sldMk cId="706637477" sldId="321"/>
            <ac:spMk id="3" creationId="{05F75712-D940-260B-7AC4-604F820F1DC9}"/>
          </ac:spMkLst>
        </pc:spChg>
      </pc:sldChg>
      <pc:sldChg chg="modSp add mod ord">
        <pc:chgData name="SNYDER, RICHARD J JR Capt USAF AFDW AFDW/PKH" userId="12a18060-a455-435a-9fd6-8aac4c2579b2" providerId="ADAL" clId="{F9434137-3807-4170-AD3F-A4DDF30BB3BB}" dt="2025-04-01T14:39:22.799" v="415" actId="113"/>
        <pc:sldMkLst>
          <pc:docMk/>
          <pc:sldMk cId="1455662235" sldId="322"/>
        </pc:sldMkLst>
        <pc:spChg chg="mod">
          <ac:chgData name="SNYDER, RICHARD J JR Capt USAF AFDW AFDW/PKH" userId="12a18060-a455-435a-9fd6-8aac4c2579b2" providerId="ADAL" clId="{F9434137-3807-4170-AD3F-A4DDF30BB3BB}" dt="2025-04-01T14:39:22.799" v="415" actId="113"/>
          <ac:spMkLst>
            <pc:docMk/>
            <pc:sldMk cId="1455662235" sldId="322"/>
            <ac:spMk id="3" creationId="{10C34A7C-D28D-B039-E5E0-002387C040DE}"/>
          </ac:spMkLst>
        </pc:spChg>
      </pc:sldChg>
      <pc:sldChg chg="modSp add mod ord">
        <pc:chgData name="SNYDER, RICHARD J JR Capt USAF AFDW AFDW/PKH" userId="12a18060-a455-435a-9fd6-8aac4c2579b2" providerId="ADAL" clId="{F9434137-3807-4170-AD3F-A4DDF30BB3BB}" dt="2025-04-01T14:39:42.434" v="426" actId="113"/>
        <pc:sldMkLst>
          <pc:docMk/>
          <pc:sldMk cId="930293314" sldId="323"/>
        </pc:sldMkLst>
        <pc:spChg chg="mod">
          <ac:chgData name="SNYDER, RICHARD J JR Capt USAF AFDW AFDW/PKH" userId="12a18060-a455-435a-9fd6-8aac4c2579b2" providerId="ADAL" clId="{F9434137-3807-4170-AD3F-A4DDF30BB3BB}" dt="2025-04-01T14:39:42.434" v="426" actId="113"/>
          <ac:spMkLst>
            <pc:docMk/>
            <pc:sldMk cId="930293314" sldId="323"/>
            <ac:spMk id="3" creationId="{1D74BCF8-A94D-3322-0EAF-E8B3DB664907}"/>
          </ac:spMkLst>
        </pc:spChg>
      </pc:sldChg>
      <pc:sldChg chg="modSp add mod ord">
        <pc:chgData name="SNYDER, RICHARD J JR Capt USAF AFDW AFDW/PKH" userId="12a18060-a455-435a-9fd6-8aac4c2579b2" providerId="ADAL" clId="{F9434137-3807-4170-AD3F-A4DDF30BB3BB}" dt="2025-04-01T14:40:19.635" v="440" actId="113"/>
        <pc:sldMkLst>
          <pc:docMk/>
          <pc:sldMk cId="2556337086" sldId="324"/>
        </pc:sldMkLst>
        <pc:spChg chg="mod">
          <ac:chgData name="SNYDER, RICHARD J JR Capt USAF AFDW AFDW/PKH" userId="12a18060-a455-435a-9fd6-8aac4c2579b2" providerId="ADAL" clId="{F9434137-3807-4170-AD3F-A4DDF30BB3BB}" dt="2025-04-01T14:40:19.635" v="440" actId="113"/>
          <ac:spMkLst>
            <pc:docMk/>
            <pc:sldMk cId="2556337086" sldId="324"/>
            <ac:spMk id="3" creationId="{B13C93F4-DE86-53EC-EA6E-A1037A311FE7}"/>
          </ac:spMkLst>
        </pc:spChg>
      </pc:sldChg>
      <pc:sldChg chg="modSp add mod">
        <pc:chgData name="SNYDER, RICHARD J JR Capt USAF AFDW AFDW/PKH" userId="12a18060-a455-435a-9fd6-8aac4c2579b2" providerId="ADAL" clId="{F9434137-3807-4170-AD3F-A4DDF30BB3BB}" dt="2025-04-01T14:55:09.584" v="615" actId="2711"/>
        <pc:sldMkLst>
          <pc:docMk/>
          <pc:sldMk cId="3579532262" sldId="325"/>
        </pc:sldMkLst>
        <pc:spChg chg="mod">
          <ac:chgData name="SNYDER, RICHARD J JR Capt USAF AFDW AFDW/PKH" userId="12a18060-a455-435a-9fd6-8aac4c2579b2" providerId="ADAL" clId="{F9434137-3807-4170-AD3F-A4DDF30BB3BB}" dt="2025-04-01T14:54:56.919" v="613" actId="2711"/>
          <ac:spMkLst>
            <pc:docMk/>
            <pc:sldMk cId="3579532262" sldId="325"/>
            <ac:spMk id="3" creationId="{C8262731-B2C9-C2EC-E059-6AA00AB70829}"/>
          </ac:spMkLst>
        </pc:spChg>
        <pc:spChg chg="mod">
          <ac:chgData name="SNYDER, RICHARD J JR Capt USAF AFDW AFDW/PKH" userId="12a18060-a455-435a-9fd6-8aac4c2579b2" providerId="ADAL" clId="{F9434137-3807-4170-AD3F-A4DDF30BB3BB}" dt="2025-04-01T14:55:09.584" v="615" actId="2711"/>
          <ac:spMkLst>
            <pc:docMk/>
            <pc:sldMk cId="3579532262" sldId="325"/>
            <ac:spMk id="24" creationId="{9C2CD0E1-6879-6854-F6A0-794A3A9529CF}"/>
          </ac:spMkLst>
        </pc:spChg>
        <pc:spChg chg="mod">
          <ac:chgData name="SNYDER, RICHARD J JR Capt USAF AFDW AFDW/PKH" userId="12a18060-a455-435a-9fd6-8aac4c2579b2" providerId="ADAL" clId="{F9434137-3807-4170-AD3F-A4DDF30BB3BB}" dt="2025-04-01T14:43:11.477" v="519" actId="113"/>
          <ac:spMkLst>
            <pc:docMk/>
            <pc:sldMk cId="3579532262" sldId="325"/>
            <ac:spMk id="26" creationId="{0A4238C5-C1A0-4FE3-74F3-402BBB190C0E}"/>
          </ac:spMkLst>
        </pc:spChg>
      </pc:sldChg>
      <pc:sldChg chg="modSp add mod">
        <pc:chgData name="SNYDER, RICHARD J JR Capt USAF AFDW AFDW/PKH" userId="12a18060-a455-435a-9fd6-8aac4c2579b2" providerId="ADAL" clId="{F9434137-3807-4170-AD3F-A4DDF30BB3BB}" dt="2025-04-01T16:41:27.425" v="974" actId="113"/>
        <pc:sldMkLst>
          <pc:docMk/>
          <pc:sldMk cId="999462416" sldId="326"/>
        </pc:sldMkLst>
        <pc:spChg chg="mod">
          <ac:chgData name="SNYDER, RICHARD J JR Capt USAF AFDW AFDW/PKH" userId="12a18060-a455-435a-9fd6-8aac4c2579b2" providerId="ADAL" clId="{F9434137-3807-4170-AD3F-A4DDF30BB3BB}" dt="2025-04-01T16:41:27.425" v="974" actId="113"/>
          <ac:spMkLst>
            <pc:docMk/>
            <pc:sldMk cId="999462416" sldId="326"/>
            <ac:spMk id="3" creationId="{4AA51651-A4E2-4D41-771E-3363491B16EE}"/>
          </ac:spMkLst>
        </pc:spChg>
        <pc:spChg chg="mod">
          <ac:chgData name="SNYDER, RICHARD J JR Capt USAF AFDW AFDW/PKH" userId="12a18060-a455-435a-9fd6-8aac4c2579b2" providerId="ADAL" clId="{F9434137-3807-4170-AD3F-A4DDF30BB3BB}" dt="2025-04-01T15:07:22.140" v="782" actId="14100"/>
          <ac:spMkLst>
            <pc:docMk/>
            <pc:sldMk cId="999462416" sldId="326"/>
            <ac:spMk id="9" creationId="{6FAB65C1-E125-09FC-287D-D8B66992ABE8}"/>
          </ac:spMkLst>
        </pc:spChg>
      </pc:sldChg>
      <pc:sldChg chg="add del">
        <pc:chgData name="SNYDER, RICHARD J JR Capt USAF AFDW AFDW/PKH" userId="12a18060-a455-435a-9fd6-8aac4c2579b2" providerId="ADAL" clId="{F9434137-3807-4170-AD3F-A4DDF30BB3BB}" dt="2025-03-17T23:20:31.188" v="120" actId="47"/>
        <pc:sldMkLst>
          <pc:docMk/>
          <pc:sldMk cId="3665962697" sldId="327"/>
        </pc:sldMkLst>
      </pc:sldChg>
      <pc:sldChg chg="modSp add mod">
        <pc:chgData name="SNYDER, RICHARD J JR Capt USAF AFDW AFDW/PKH" userId="12a18060-a455-435a-9fd6-8aac4c2579b2" providerId="ADAL" clId="{F9434137-3807-4170-AD3F-A4DDF30BB3BB}" dt="2025-03-17T23:17:53.245" v="87" actId="20577"/>
        <pc:sldMkLst>
          <pc:docMk/>
          <pc:sldMk cId="4092707943" sldId="328"/>
        </pc:sldMkLst>
        <pc:spChg chg="mod">
          <ac:chgData name="SNYDER, RICHARD J JR Capt USAF AFDW AFDW/PKH" userId="12a18060-a455-435a-9fd6-8aac4c2579b2" providerId="ADAL" clId="{F9434137-3807-4170-AD3F-A4DDF30BB3BB}" dt="2025-03-17T23:17:53.245" v="87" actId="20577"/>
          <ac:spMkLst>
            <pc:docMk/>
            <pc:sldMk cId="4092707943" sldId="328"/>
            <ac:spMk id="9" creationId="{7306142B-D9E6-A20D-8650-11052E316D9F}"/>
          </ac:spMkLst>
        </pc:spChg>
      </pc:sldChg>
      <pc:sldChg chg="modSp add mod">
        <pc:chgData name="SNYDER, RICHARD J JR Capt USAF AFDW AFDW/PKH" userId="12a18060-a455-435a-9fd6-8aac4c2579b2" providerId="ADAL" clId="{F9434137-3807-4170-AD3F-A4DDF30BB3BB}" dt="2025-03-17T23:18:05.881" v="90" actId="20577"/>
        <pc:sldMkLst>
          <pc:docMk/>
          <pc:sldMk cId="2680315938" sldId="329"/>
        </pc:sldMkLst>
        <pc:spChg chg="mod">
          <ac:chgData name="SNYDER, RICHARD J JR Capt USAF AFDW AFDW/PKH" userId="12a18060-a455-435a-9fd6-8aac4c2579b2" providerId="ADAL" clId="{F9434137-3807-4170-AD3F-A4DDF30BB3BB}" dt="2025-03-17T23:18:05.881" v="90" actId="20577"/>
          <ac:spMkLst>
            <pc:docMk/>
            <pc:sldMk cId="2680315938" sldId="329"/>
            <ac:spMk id="9" creationId="{B2BDDBC6-25C3-A3B3-8169-6A30EE554CD0}"/>
          </ac:spMkLst>
        </pc:spChg>
      </pc:sldChg>
      <pc:sldChg chg="modSp add mod">
        <pc:chgData name="SNYDER, RICHARD J JR Capt USAF AFDW AFDW/PKH" userId="12a18060-a455-435a-9fd6-8aac4c2579b2" providerId="ADAL" clId="{F9434137-3807-4170-AD3F-A4DDF30BB3BB}" dt="2025-03-17T23:18:27.367" v="92" actId="20577"/>
        <pc:sldMkLst>
          <pc:docMk/>
          <pc:sldMk cId="3228154755" sldId="330"/>
        </pc:sldMkLst>
        <pc:spChg chg="mod">
          <ac:chgData name="SNYDER, RICHARD J JR Capt USAF AFDW AFDW/PKH" userId="12a18060-a455-435a-9fd6-8aac4c2579b2" providerId="ADAL" clId="{F9434137-3807-4170-AD3F-A4DDF30BB3BB}" dt="2025-03-17T23:18:27.367" v="92" actId="20577"/>
          <ac:spMkLst>
            <pc:docMk/>
            <pc:sldMk cId="3228154755" sldId="330"/>
            <ac:spMk id="9" creationId="{99D30E8F-E745-8848-9BE2-98FCFAD1E77F}"/>
          </ac:spMkLst>
        </pc:spChg>
      </pc:sldChg>
      <pc:sldChg chg="modSp add mod">
        <pc:chgData name="SNYDER, RICHARD J JR Capt USAF AFDW AFDW/PKH" userId="12a18060-a455-435a-9fd6-8aac4c2579b2" providerId="ADAL" clId="{F9434137-3807-4170-AD3F-A4DDF30BB3BB}" dt="2025-03-17T23:19:32.915" v="108" actId="20577"/>
        <pc:sldMkLst>
          <pc:docMk/>
          <pc:sldMk cId="1910627784" sldId="331"/>
        </pc:sldMkLst>
        <pc:spChg chg="mod">
          <ac:chgData name="SNYDER, RICHARD J JR Capt USAF AFDW AFDW/PKH" userId="12a18060-a455-435a-9fd6-8aac4c2579b2" providerId="ADAL" clId="{F9434137-3807-4170-AD3F-A4DDF30BB3BB}" dt="2025-03-17T23:19:32.915" v="108" actId="20577"/>
          <ac:spMkLst>
            <pc:docMk/>
            <pc:sldMk cId="1910627784" sldId="331"/>
            <ac:spMk id="9" creationId="{3C51B38D-6B3F-3CE9-657D-A42733BABB2F}"/>
          </ac:spMkLst>
        </pc:spChg>
      </pc:sldChg>
      <pc:sldChg chg="modSp add mod">
        <pc:chgData name="SNYDER, RICHARD J JR Capt USAF AFDW AFDW/PKH" userId="12a18060-a455-435a-9fd6-8aac4c2579b2" providerId="ADAL" clId="{F9434137-3807-4170-AD3F-A4DDF30BB3BB}" dt="2025-03-17T23:19:42.420" v="111" actId="20577"/>
        <pc:sldMkLst>
          <pc:docMk/>
          <pc:sldMk cId="3705550390" sldId="332"/>
        </pc:sldMkLst>
        <pc:spChg chg="mod">
          <ac:chgData name="SNYDER, RICHARD J JR Capt USAF AFDW AFDW/PKH" userId="12a18060-a455-435a-9fd6-8aac4c2579b2" providerId="ADAL" clId="{F9434137-3807-4170-AD3F-A4DDF30BB3BB}" dt="2025-03-17T23:19:42.420" v="111" actId="20577"/>
          <ac:spMkLst>
            <pc:docMk/>
            <pc:sldMk cId="3705550390" sldId="332"/>
            <ac:spMk id="9" creationId="{98116024-10EA-F27F-5B0F-FDD03B7345A7}"/>
          </ac:spMkLst>
        </pc:spChg>
      </pc:sldChg>
      <pc:sldChg chg="modSp add mod">
        <pc:chgData name="SNYDER, RICHARD J JR Capt USAF AFDW AFDW/PKH" userId="12a18060-a455-435a-9fd6-8aac4c2579b2" providerId="ADAL" clId="{F9434137-3807-4170-AD3F-A4DDF30BB3BB}" dt="2025-03-17T23:19:58.469" v="114" actId="20577"/>
        <pc:sldMkLst>
          <pc:docMk/>
          <pc:sldMk cId="2640760461" sldId="333"/>
        </pc:sldMkLst>
        <pc:spChg chg="mod">
          <ac:chgData name="SNYDER, RICHARD J JR Capt USAF AFDW AFDW/PKH" userId="12a18060-a455-435a-9fd6-8aac4c2579b2" providerId="ADAL" clId="{F9434137-3807-4170-AD3F-A4DDF30BB3BB}" dt="2025-03-17T23:19:58.469" v="114" actId="20577"/>
          <ac:spMkLst>
            <pc:docMk/>
            <pc:sldMk cId="2640760461" sldId="333"/>
            <ac:spMk id="9" creationId="{6E800042-449F-6CB2-9B6B-68ECED838F7F}"/>
          </ac:spMkLst>
        </pc:spChg>
      </pc:sldChg>
      <pc:sldChg chg="modSp add mod">
        <pc:chgData name="SNYDER, RICHARD J JR Capt USAF AFDW AFDW/PKH" userId="12a18060-a455-435a-9fd6-8aac4c2579b2" providerId="ADAL" clId="{F9434137-3807-4170-AD3F-A4DDF30BB3BB}" dt="2025-03-17T23:20:14.379" v="119" actId="20577"/>
        <pc:sldMkLst>
          <pc:docMk/>
          <pc:sldMk cId="1376937797" sldId="334"/>
        </pc:sldMkLst>
        <pc:spChg chg="mod">
          <ac:chgData name="SNYDER, RICHARD J JR Capt USAF AFDW AFDW/PKH" userId="12a18060-a455-435a-9fd6-8aac4c2579b2" providerId="ADAL" clId="{F9434137-3807-4170-AD3F-A4DDF30BB3BB}" dt="2025-03-17T23:20:14.379" v="119" actId="20577"/>
          <ac:spMkLst>
            <pc:docMk/>
            <pc:sldMk cId="1376937797" sldId="334"/>
            <ac:spMk id="9" creationId="{98C72963-2A06-859E-54D3-4B3E593B61AF}"/>
          </ac:spMkLst>
        </pc:spChg>
      </pc:sldChg>
    </pc:docChg>
  </pc:docChgLst>
  <pc:docChgLst>
    <pc:chgData name="SNYDER, RICHARD J JR Capt USAF AFDW AFDW/PKH" userId="12a18060-a455-435a-9fd6-8aac4c2579b2" providerId="ADAL" clId="{78451A64-EC2B-4A16-BE3F-BFCD103F041C}"/>
    <pc:docChg chg="custSel modSld">
      <pc:chgData name="SNYDER, RICHARD J JR Capt USAF AFDW AFDW/PKH" userId="12a18060-a455-435a-9fd6-8aac4c2579b2" providerId="ADAL" clId="{78451A64-EC2B-4A16-BE3F-BFCD103F041C}" dt="2025-04-08T11:57:10.763" v="75" actId="20577"/>
      <pc:docMkLst>
        <pc:docMk/>
      </pc:docMkLst>
      <pc:sldChg chg="delSp mod">
        <pc:chgData name="SNYDER, RICHARD J JR Capt USAF AFDW AFDW/PKH" userId="12a18060-a455-435a-9fd6-8aac4c2579b2" providerId="ADAL" clId="{78451A64-EC2B-4A16-BE3F-BFCD103F041C}" dt="2025-04-08T11:54:04.226" v="15" actId="478"/>
        <pc:sldMkLst>
          <pc:docMk/>
          <pc:sldMk cId="4203585898" sldId="256"/>
        </pc:sldMkLst>
        <pc:spChg chg="del">
          <ac:chgData name="SNYDER, RICHARD J JR Capt USAF AFDW AFDW/PKH" userId="12a18060-a455-435a-9fd6-8aac4c2579b2" providerId="ADAL" clId="{78451A64-EC2B-4A16-BE3F-BFCD103F041C}" dt="2025-04-08T11:54:04.226" v="15" actId="478"/>
          <ac:spMkLst>
            <pc:docMk/>
            <pc:sldMk cId="4203585898" sldId="256"/>
            <ac:spMk id="4" creationId="{00000000-0000-0000-0000-000000000000}"/>
          </ac:spMkLst>
        </pc:spChg>
      </pc:sldChg>
      <pc:sldChg chg="modSp mod">
        <pc:chgData name="SNYDER, RICHARD J JR Capt USAF AFDW AFDW/PKH" userId="12a18060-a455-435a-9fd6-8aac4c2579b2" providerId="ADAL" clId="{78451A64-EC2B-4A16-BE3F-BFCD103F041C}" dt="2025-04-08T11:56:28.989" v="63" actId="20577"/>
        <pc:sldMkLst>
          <pc:docMk/>
          <pc:sldMk cId="2757539216" sldId="278"/>
        </pc:sldMkLst>
        <pc:spChg chg="mod">
          <ac:chgData name="SNYDER, RICHARD J JR Capt USAF AFDW AFDW/PKH" userId="12a18060-a455-435a-9fd6-8aac4c2579b2" providerId="ADAL" clId="{78451A64-EC2B-4A16-BE3F-BFCD103F041C}" dt="2025-04-08T11:56:28.989" v="63" actId="20577"/>
          <ac:spMkLst>
            <pc:docMk/>
            <pc:sldMk cId="2757539216" sldId="278"/>
            <ac:spMk id="24" creationId="{00000000-0000-0000-0000-000000000000}"/>
          </ac:spMkLst>
        </pc:spChg>
      </pc:sldChg>
      <pc:sldChg chg="modSp mod">
        <pc:chgData name="SNYDER, RICHARD J JR Capt USAF AFDW AFDW/PKH" userId="12a18060-a455-435a-9fd6-8aac4c2579b2" providerId="ADAL" clId="{78451A64-EC2B-4A16-BE3F-BFCD103F041C}" dt="2025-04-08T11:55:16.567" v="31" actId="20577"/>
        <pc:sldMkLst>
          <pc:docMk/>
          <pc:sldMk cId="4291360349" sldId="287"/>
        </pc:sldMkLst>
        <pc:spChg chg="mod">
          <ac:chgData name="SNYDER, RICHARD J JR Capt USAF AFDW AFDW/PKH" userId="12a18060-a455-435a-9fd6-8aac4c2579b2" providerId="ADAL" clId="{78451A64-EC2B-4A16-BE3F-BFCD103F041C}" dt="2025-04-08T11:55:16.567" v="31" actId="20577"/>
          <ac:spMkLst>
            <pc:docMk/>
            <pc:sldMk cId="4291360349" sldId="287"/>
            <ac:spMk id="3" creationId="{00000000-0000-0000-0000-000000000000}"/>
          </ac:spMkLst>
        </pc:spChg>
      </pc:sldChg>
      <pc:sldChg chg="modSp mod">
        <pc:chgData name="SNYDER, RICHARD J JR Capt USAF AFDW AFDW/PKH" userId="12a18060-a455-435a-9fd6-8aac4c2579b2" providerId="ADAL" clId="{78451A64-EC2B-4A16-BE3F-BFCD103F041C}" dt="2025-04-08T11:53:47.667" v="14" actId="14100"/>
        <pc:sldMkLst>
          <pc:docMk/>
          <pc:sldMk cId="2494037777" sldId="288"/>
        </pc:sldMkLst>
        <pc:spChg chg="mod">
          <ac:chgData name="SNYDER, RICHARD J JR Capt USAF AFDW AFDW/PKH" userId="12a18060-a455-435a-9fd6-8aac4c2579b2" providerId="ADAL" clId="{78451A64-EC2B-4A16-BE3F-BFCD103F041C}" dt="2025-04-08T11:53:47.667" v="14" actId="14100"/>
          <ac:spMkLst>
            <pc:docMk/>
            <pc:sldMk cId="2494037777" sldId="288"/>
            <ac:spMk id="9" creationId="{AAC704EE-B504-D195-5A0F-2A0778FD538C}"/>
          </ac:spMkLst>
        </pc:spChg>
      </pc:sldChg>
      <pc:sldChg chg="modSp mod">
        <pc:chgData name="SNYDER, RICHARD J JR Capt USAF AFDW AFDW/PKH" userId="12a18060-a455-435a-9fd6-8aac4c2579b2" providerId="ADAL" clId="{78451A64-EC2B-4A16-BE3F-BFCD103F041C}" dt="2025-04-08T11:54:26.763" v="18" actId="20577"/>
        <pc:sldMkLst>
          <pc:docMk/>
          <pc:sldMk cId="3880278589" sldId="289"/>
        </pc:sldMkLst>
        <pc:spChg chg="mod">
          <ac:chgData name="SNYDER, RICHARD J JR Capt USAF AFDW AFDW/PKH" userId="12a18060-a455-435a-9fd6-8aac4c2579b2" providerId="ADAL" clId="{78451A64-EC2B-4A16-BE3F-BFCD103F041C}" dt="2025-04-08T11:54:26.763" v="18" actId="20577"/>
          <ac:spMkLst>
            <pc:docMk/>
            <pc:sldMk cId="3880278589" sldId="289"/>
            <ac:spMk id="3" creationId="{A8062A59-E186-01A4-631D-7FB42253EED5}"/>
          </ac:spMkLst>
        </pc:spChg>
      </pc:sldChg>
      <pc:sldChg chg="modSp mod">
        <pc:chgData name="SNYDER, RICHARD J JR Capt USAF AFDW AFDW/PKH" userId="12a18060-a455-435a-9fd6-8aac4c2579b2" providerId="ADAL" clId="{78451A64-EC2B-4A16-BE3F-BFCD103F041C}" dt="2025-04-08T11:55:19.719" v="32" actId="20577"/>
        <pc:sldMkLst>
          <pc:docMk/>
          <pc:sldMk cId="1870925950" sldId="290"/>
        </pc:sldMkLst>
        <pc:spChg chg="mod">
          <ac:chgData name="SNYDER, RICHARD J JR Capt USAF AFDW AFDW/PKH" userId="12a18060-a455-435a-9fd6-8aac4c2579b2" providerId="ADAL" clId="{78451A64-EC2B-4A16-BE3F-BFCD103F041C}" dt="2025-04-08T11:55:19.719" v="32" actId="20577"/>
          <ac:spMkLst>
            <pc:docMk/>
            <pc:sldMk cId="1870925950" sldId="290"/>
            <ac:spMk id="3" creationId="{D191550C-ACCA-F52D-B142-64DB5DD10ED1}"/>
          </ac:spMkLst>
        </pc:spChg>
      </pc:sldChg>
      <pc:sldChg chg="modSp mod">
        <pc:chgData name="SNYDER, RICHARD J JR Capt USAF AFDW AFDW/PKH" userId="12a18060-a455-435a-9fd6-8aac4c2579b2" providerId="ADAL" clId="{78451A64-EC2B-4A16-BE3F-BFCD103F041C}" dt="2025-04-08T11:55:44.983" v="44" actId="20577"/>
        <pc:sldMkLst>
          <pc:docMk/>
          <pc:sldMk cId="2438331599" sldId="291"/>
        </pc:sldMkLst>
        <pc:spChg chg="mod">
          <ac:chgData name="SNYDER, RICHARD J JR Capt USAF AFDW AFDW/PKH" userId="12a18060-a455-435a-9fd6-8aac4c2579b2" providerId="ADAL" clId="{78451A64-EC2B-4A16-BE3F-BFCD103F041C}" dt="2025-04-08T11:55:44.983" v="44" actId="20577"/>
          <ac:spMkLst>
            <pc:docMk/>
            <pc:sldMk cId="2438331599" sldId="291"/>
            <ac:spMk id="3" creationId="{D6104196-57B2-F532-8B44-AB175719C20B}"/>
          </ac:spMkLst>
        </pc:spChg>
      </pc:sldChg>
      <pc:sldChg chg="modSp mod">
        <pc:chgData name="SNYDER, RICHARD J JR Capt USAF AFDW AFDW/PKH" userId="12a18060-a455-435a-9fd6-8aac4c2579b2" providerId="ADAL" clId="{78451A64-EC2B-4A16-BE3F-BFCD103F041C}" dt="2025-04-08T11:54:52.509" v="26" actId="27636"/>
        <pc:sldMkLst>
          <pc:docMk/>
          <pc:sldMk cId="584327815" sldId="292"/>
        </pc:sldMkLst>
        <pc:spChg chg="mod">
          <ac:chgData name="SNYDER, RICHARD J JR Capt USAF AFDW AFDW/PKH" userId="12a18060-a455-435a-9fd6-8aac4c2579b2" providerId="ADAL" clId="{78451A64-EC2B-4A16-BE3F-BFCD103F041C}" dt="2025-04-08T11:54:52.509" v="26" actId="27636"/>
          <ac:spMkLst>
            <pc:docMk/>
            <pc:sldMk cId="584327815" sldId="292"/>
            <ac:spMk id="3" creationId="{13BF51E2-E358-E30D-4286-FBA5F86B42F8}"/>
          </ac:spMkLst>
        </pc:spChg>
      </pc:sldChg>
      <pc:sldChg chg="modSp mod">
        <pc:chgData name="SNYDER, RICHARD J JR Capt USAF AFDW AFDW/PKH" userId="12a18060-a455-435a-9fd6-8aac4c2579b2" providerId="ADAL" clId="{78451A64-EC2B-4A16-BE3F-BFCD103F041C}" dt="2025-04-08T11:54:19.923" v="17" actId="20577"/>
        <pc:sldMkLst>
          <pc:docMk/>
          <pc:sldMk cId="4162901758" sldId="293"/>
        </pc:sldMkLst>
        <pc:spChg chg="mod">
          <ac:chgData name="SNYDER, RICHARD J JR Capt USAF AFDW AFDW/PKH" userId="12a18060-a455-435a-9fd6-8aac4c2579b2" providerId="ADAL" clId="{78451A64-EC2B-4A16-BE3F-BFCD103F041C}" dt="2025-04-08T11:54:19.923" v="17" actId="20577"/>
          <ac:spMkLst>
            <pc:docMk/>
            <pc:sldMk cId="4162901758" sldId="293"/>
            <ac:spMk id="3" creationId="{2161A74E-02D9-CAA5-129B-B6828D1F60C9}"/>
          </ac:spMkLst>
        </pc:spChg>
      </pc:sldChg>
      <pc:sldChg chg="modSp mod">
        <pc:chgData name="SNYDER, RICHARD J JR Capt USAF AFDW AFDW/PKH" userId="12a18060-a455-435a-9fd6-8aac4c2579b2" providerId="ADAL" clId="{78451A64-EC2B-4A16-BE3F-BFCD103F041C}" dt="2025-04-08T11:54:30.059" v="19" actId="20577"/>
        <pc:sldMkLst>
          <pc:docMk/>
          <pc:sldMk cId="370330482" sldId="294"/>
        </pc:sldMkLst>
        <pc:spChg chg="mod">
          <ac:chgData name="SNYDER, RICHARD J JR Capt USAF AFDW AFDW/PKH" userId="12a18060-a455-435a-9fd6-8aac4c2579b2" providerId="ADAL" clId="{78451A64-EC2B-4A16-BE3F-BFCD103F041C}" dt="2025-04-08T11:54:30.059" v="19" actId="20577"/>
          <ac:spMkLst>
            <pc:docMk/>
            <pc:sldMk cId="370330482" sldId="294"/>
            <ac:spMk id="3" creationId="{8D7F43A7-3044-1215-A63A-8D4B79FFFD34}"/>
          </ac:spMkLst>
        </pc:spChg>
      </pc:sldChg>
      <pc:sldChg chg="modSp mod">
        <pc:chgData name="SNYDER, RICHARD J JR Capt USAF AFDW AFDW/PKH" userId="12a18060-a455-435a-9fd6-8aac4c2579b2" providerId="ADAL" clId="{78451A64-EC2B-4A16-BE3F-BFCD103F041C}" dt="2025-04-08T11:54:36.987" v="21" actId="20577"/>
        <pc:sldMkLst>
          <pc:docMk/>
          <pc:sldMk cId="839723407" sldId="295"/>
        </pc:sldMkLst>
        <pc:spChg chg="mod">
          <ac:chgData name="SNYDER, RICHARD J JR Capt USAF AFDW AFDW/PKH" userId="12a18060-a455-435a-9fd6-8aac4c2579b2" providerId="ADAL" clId="{78451A64-EC2B-4A16-BE3F-BFCD103F041C}" dt="2025-04-08T11:54:36.987" v="21" actId="20577"/>
          <ac:spMkLst>
            <pc:docMk/>
            <pc:sldMk cId="839723407" sldId="295"/>
            <ac:spMk id="3" creationId="{E1784BAB-AB43-D80C-9DCE-24F2B2567A8F}"/>
          </ac:spMkLst>
        </pc:spChg>
      </pc:sldChg>
      <pc:sldChg chg="modSp mod">
        <pc:chgData name="SNYDER, RICHARD J JR Capt USAF AFDW AFDW/PKH" userId="12a18060-a455-435a-9fd6-8aac4c2579b2" providerId="ADAL" clId="{78451A64-EC2B-4A16-BE3F-BFCD103F041C}" dt="2025-04-08T11:54:40.170" v="22" actId="20577"/>
        <pc:sldMkLst>
          <pc:docMk/>
          <pc:sldMk cId="503724000" sldId="296"/>
        </pc:sldMkLst>
        <pc:spChg chg="mod">
          <ac:chgData name="SNYDER, RICHARD J JR Capt USAF AFDW AFDW/PKH" userId="12a18060-a455-435a-9fd6-8aac4c2579b2" providerId="ADAL" clId="{78451A64-EC2B-4A16-BE3F-BFCD103F041C}" dt="2025-04-08T11:54:40.170" v="22" actId="20577"/>
          <ac:spMkLst>
            <pc:docMk/>
            <pc:sldMk cId="503724000" sldId="296"/>
            <ac:spMk id="3" creationId="{034BCF80-8B31-0123-C6F2-914FA0D15184}"/>
          </ac:spMkLst>
        </pc:spChg>
      </pc:sldChg>
      <pc:sldChg chg="modSp mod">
        <pc:chgData name="SNYDER, RICHARD J JR Capt USAF AFDW AFDW/PKH" userId="12a18060-a455-435a-9fd6-8aac4c2579b2" providerId="ADAL" clId="{78451A64-EC2B-4A16-BE3F-BFCD103F041C}" dt="2025-04-08T11:54:43.219" v="23" actId="20577"/>
        <pc:sldMkLst>
          <pc:docMk/>
          <pc:sldMk cId="1267118184" sldId="297"/>
        </pc:sldMkLst>
        <pc:spChg chg="mod">
          <ac:chgData name="SNYDER, RICHARD J JR Capt USAF AFDW AFDW/PKH" userId="12a18060-a455-435a-9fd6-8aac4c2579b2" providerId="ADAL" clId="{78451A64-EC2B-4A16-BE3F-BFCD103F041C}" dt="2025-04-08T11:54:43.219" v="23" actId="20577"/>
          <ac:spMkLst>
            <pc:docMk/>
            <pc:sldMk cId="1267118184" sldId="297"/>
            <ac:spMk id="3" creationId="{8F537D08-14AC-8BB6-314D-56572ABBC910}"/>
          </ac:spMkLst>
        </pc:spChg>
      </pc:sldChg>
      <pc:sldChg chg="modSp mod">
        <pc:chgData name="SNYDER, RICHARD J JR Capt USAF AFDW AFDW/PKH" userId="12a18060-a455-435a-9fd6-8aac4c2579b2" providerId="ADAL" clId="{78451A64-EC2B-4A16-BE3F-BFCD103F041C}" dt="2025-04-08T11:54:47.689" v="24" actId="6549"/>
        <pc:sldMkLst>
          <pc:docMk/>
          <pc:sldMk cId="1309623954" sldId="298"/>
        </pc:sldMkLst>
        <pc:spChg chg="mod">
          <ac:chgData name="SNYDER, RICHARD J JR Capt USAF AFDW AFDW/PKH" userId="12a18060-a455-435a-9fd6-8aac4c2579b2" providerId="ADAL" clId="{78451A64-EC2B-4A16-BE3F-BFCD103F041C}" dt="2025-04-08T11:54:47.689" v="24" actId="6549"/>
          <ac:spMkLst>
            <pc:docMk/>
            <pc:sldMk cId="1309623954" sldId="298"/>
            <ac:spMk id="3" creationId="{51D7FAE3-6097-7009-08DE-7A13E1C09086}"/>
          </ac:spMkLst>
        </pc:spChg>
      </pc:sldChg>
      <pc:sldChg chg="delSp mod">
        <pc:chgData name="SNYDER, RICHARD J JR Capt USAF AFDW AFDW/PKH" userId="12a18060-a455-435a-9fd6-8aac4c2579b2" providerId="ADAL" clId="{78451A64-EC2B-4A16-BE3F-BFCD103F041C}" dt="2025-04-08T11:54:56.007" v="27" actId="478"/>
        <pc:sldMkLst>
          <pc:docMk/>
          <pc:sldMk cId="2868383113" sldId="299"/>
        </pc:sldMkLst>
        <pc:spChg chg="del">
          <ac:chgData name="SNYDER, RICHARD J JR Capt USAF AFDW AFDW/PKH" userId="12a18060-a455-435a-9fd6-8aac4c2579b2" providerId="ADAL" clId="{78451A64-EC2B-4A16-BE3F-BFCD103F041C}" dt="2025-04-08T11:54:56.007" v="27" actId="478"/>
          <ac:spMkLst>
            <pc:docMk/>
            <pc:sldMk cId="2868383113" sldId="299"/>
            <ac:spMk id="4" creationId="{00000000-0000-0000-0000-000000000000}"/>
          </ac:spMkLst>
        </pc:spChg>
      </pc:sldChg>
      <pc:sldChg chg="modSp mod">
        <pc:chgData name="SNYDER, RICHARD J JR Capt USAF AFDW AFDW/PKH" userId="12a18060-a455-435a-9fd6-8aac4c2579b2" providerId="ADAL" clId="{78451A64-EC2B-4A16-BE3F-BFCD103F041C}" dt="2025-04-08T11:57:01.907" v="71" actId="20577"/>
        <pc:sldMkLst>
          <pc:docMk/>
          <pc:sldMk cId="1376348360" sldId="303"/>
        </pc:sldMkLst>
        <pc:spChg chg="mod">
          <ac:chgData name="SNYDER, RICHARD J JR Capt USAF AFDW AFDW/PKH" userId="12a18060-a455-435a-9fd6-8aac4c2579b2" providerId="ADAL" clId="{78451A64-EC2B-4A16-BE3F-BFCD103F041C}" dt="2025-04-08T11:57:01.907" v="71" actId="20577"/>
          <ac:spMkLst>
            <pc:docMk/>
            <pc:sldMk cId="1376348360" sldId="303"/>
            <ac:spMk id="3" creationId="{F1374736-355C-5706-E349-826837B78328}"/>
          </ac:spMkLst>
        </pc:spChg>
      </pc:sldChg>
      <pc:sldChg chg="modSp mod">
        <pc:chgData name="SNYDER, RICHARD J JR Capt USAF AFDW AFDW/PKH" userId="12a18060-a455-435a-9fd6-8aac4c2579b2" providerId="ADAL" clId="{78451A64-EC2B-4A16-BE3F-BFCD103F041C}" dt="2025-04-08T11:56:37.755" v="65" actId="20577"/>
        <pc:sldMkLst>
          <pc:docMk/>
          <pc:sldMk cId="76996800" sldId="304"/>
        </pc:sldMkLst>
        <pc:spChg chg="mod">
          <ac:chgData name="SNYDER, RICHARD J JR Capt USAF AFDW AFDW/PKH" userId="12a18060-a455-435a-9fd6-8aac4c2579b2" providerId="ADAL" clId="{78451A64-EC2B-4A16-BE3F-BFCD103F041C}" dt="2025-04-08T11:56:37.755" v="65" actId="20577"/>
          <ac:spMkLst>
            <pc:docMk/>
            <pc:sldMk cId="76996800" sldId="304"/>
            <ac:spMk id="24" creationId="{DB970574-2990-1380-0735-9318ABC1E19E}"/>
          </ac:spMkLst>
        </pc:spChg>
      </pc:sldChg>
      <pc:sldChg chg="delSp mod">
        <pc:chgData name="SNYDER, RICHARD J JR Capt USAF AFDW AFDW/PKH" userId="12a18060-a455-435a-9fd6-8aac4c2579b2" providerId="ADAL" clId="{78451A64-EC2B-4A16-BE3F-BFCD103F041C}" dt="2025-04-08T11:54:07.435" v="16" actId="478"/>
        <pc:sldMkLst>
          <pc:docMk/>
          <pc:sldMk cId="3343558089" sldId="306"/>
        </pc:sldMkLst>
        <pc:spChg chg="del">
          <ac:chgData name="SNYDER, RICHARD J JR Capt USAF AFDW AFDW/PKH" userId="12a18060-a455-435a-9fd6-8aac4c2579b2" providerId="ADAL" clId="{78451A64-EC2B-4A16-BE3F-BFCD103F041C}" dt="2025-04-08T11:54:07.435" v="16" actId="478"/>
          <ac:spMkLst>
            <pc:docMk/>
            <pc:sldMk cId="3343558089" sldId="306"/>
            <ac:spMk id="4" creationId="{0CAB30AD-E156-FBCB-CEE4-218558958F4E}"/>
          </ac:spMkLst>
        </pc:spChg>
      </pc:sldChg>
      <pc:sldChg chg="delSp mod">
        <pc:chgData name="SNYDER, RICHARD J JR Capt USAF AFDW AFDW/PKH" userId="12a18060-a455-435a-9fd6-8aac4c2579b2" providerId="ADAL" clId="{78451A64-EC2B-4A16-BE3F-BFCD103F041C}" dt="2025-04-08T11:55:06.663" v="28" actId="478"/>
        <pc:sldMkLst>
          <pc:docMk/>
          <pc:sldMk cId="907551311" sldId="307"/>
        </pc:sldMkLst>
        <pc:spChg chg="del">
          <ac:chgData name="SNYDER, RICHARD J JR Capt USAF AFDW AFDW/PKH" userId="12a18060-a455-435a-9fd6-8aac4c2579b2" providerId="ADAL" clId="{78451A64-EC2B-4A16-BE3F-BFCD103F041C}" dt="2025-04-08T11:55:06.663" v="28" actId="478"/>
          <ac:spMkLst>
            <pc:docMk/>
            <pc:sldMk cId="907551311" sldId="307"/>
            <ac:spMk id="4" creationId="{91DDA3F2-732F-1F8E-0348-CF5588980F7C}"/>
          </ac:spMkLst>
        </pc:spChg>
      </pc:sldChg>
      <pc:sldChg chg="delSp mod">
        <pc:chgData name="SNYDER, RICHARD J JR Capt USAF AFDW AFDW/PKH" userId="12a18060-a455-435a-9fd6-8aac4c2579b2" providerId="ADAL" clId="{78451A64-EC2B-4A16-BE3F-BFCD103F041C}" dt="2025-04-08T11:55:26.245" v="33" actId="478"/>
        <pc:sldMkLst>
          <pc:docMk/>
          <pc:sldMk cId="2273469133" sldId="308"/>
        </pc:sldMkLst>
        <pc:spChg chg="del">
          <ac:chgData name="SNYDER, RICHARD J JR Capt USAF AFDW AFDW/PKH" userId="12a18060-a455-435a-9fd6-8aac4c2579b2" providerId="ADAL" clId="{78451A64-EC2B-4A16-BE3F-BFCD103F041C}" dt="2025-04-08T11:55:26.245" v="33" actId="478"/>
          <ac:spMkLst>
            <pc:docMk/>
            <pc:sldMk cId="2273469133" sldId="308"/>
            <ac:spMk id="4" creationId="{F32D01A4-BDB1-9BDD-87C5-4280877C565F}"/>
          </ac:spMkLst>
        </pc:spChg>
      </pc:sldChg>
      <pc:sldChg chg="delSp mod">
        <pc:chgData name="SNYDER, RICHARD J JR Capt USAF AFDW AFDW/PKH" userId="12a18060-a455-435a-9fd6-8aac4c2579b2" providerId="ADAL" clId="{78451A64-EC2B-4A16-BE3F-BFCD103F041C}" dt="2025-04-08T11:56:56.091" v="69" actId="478"/>
        <pc:sldMkLst>
          <pc:docMk/>
          <pc:sldMk cId="831146119" sldId="309"/>
        </pc:sldMkLst>
        <pc:spChg chg="del">
          <ac:chgData name="SNYDER, RICHARD J JR Capt USAF AFDW AFDW/PKH" userId="12a18060-a455-435a-9fd6-8aac4c2579b2" providerId="ADAL" clId="{78451A64-EC2B-4A16-BE3F-BFCD103F041C}" dt="2025-04-08T11:56:56.091" v="69" actId="478"/>
          <ac:spMkLst>
            <pc:docMk/>
            <pc:sldMk cId="831146119" sldId="309"/>
            <ac:spMk id="4" creationId="{BEA0DF0C-22EE-B4F3-6988-83B2CEEE3C08}"/>
          </ac:spMkLst>
        </pc:spChg>
      </pc:sldChg>
      <pc:sldChg chg="modSp mod">
        <pc:chgData name="SNYDER, RICHARD J JR Capt USAF AFDW AFDW/PKH" userId="12a18060-a455-435a-9fd6-8aac4c2579b2" providerId="ADAL" clId="{78451A64-EC2B-4A16-BE3F-BFCD103F041C}" dt="2025-04-08T11:57:04.714" v="73" actId="20577"/>
        <pc:sldMkLst>
          <pc:docMk/>
          <pc:sldMk cId="1907645564" sldId="310"/>
        </pc:sldMkLst>
        <pc:spChg chg="mod">
          <ac:chgData name="SNYDER, RICHARD J JR Capt USAF AFDW AFDW/PKH" userId="12a18060-a455-435a-9fd6-8aac4c2579b2" providerId="ADAL" clId="{78451A64-EC2B-4A16-BE3F-BFCD103F041C}" dt="2025-04-08T11:57:04.714" v="73" actId="20577"/>
          <ac:spMkLst>
            <pc:docMk/>
            <pc:sldMk cId="1907645564" sldId="310"/>
            <ac:spMk id="3" creationId="{00000000-0000-0000-0000-000000000000}"/>
          </ac:spMkLst>
        </pc:spChg>
      </pc:sldChg>
      <pc:sldChg chg="modSp mod">
        <pc:chgData name="SNYDER, RICHARD J JR Capt USAF AFDW AFDW/PKH" userId="12a18060-a455-435a-9fd6-8aac4c2579b2" providerId="ADAL" clId="{78451A64-EC2B-4A16-BE3F-BFCD103F041C}" dt="2025-04-08T11:57:08.058" v="74" actId="20577"/>
        <pc:sldMkLst>
          <pc:docMk/>
          <pc:sldMk cId="4274968920" sldId="311"/>
        </pc:sldMkLst>
        <pc:spChg chg="mod">
          <ac:chgData name="SNYDER, RICHARD J JR Capt USAF AFDW AFDW/PKH" userId="12a18060-a455-435a-9fd6-8aac4c2579b2" providerId="ADAL" clId="{78451A64-EC2B-4A16-BE3F-BFCD103F041C}" dt="2025-04-08T11:57:08.058" v="74" actId="20577"/>
          <ac:spMkLst>
            <pc:docMk/>
            <pc:sldMk cId="4274968920" sldId="311"/>
            <ac:spMk id="3" creationId="{0304C2D0-10B4-45A6-2990-471456C1441E}"/>
          </ac:spMkLst>
        </pc:spChg>
      </pc:sldChg>
      <pc:sldChg chg="modSp mod">
        <pc:chgData name="SNYDER, RICHARD J JR Capt USAF AFDW AFDW/PKH" userId="12a18060-a455-435a-9fd6-8aac4c2579b2" providerId="ADAL" clId="{78451A64-EC2B-4A16-BE3F-BFCD103F041C}" dt="2025-04-08T11:57:10.763" v="75" actId="20577"/>
        <pc:sldMkLst>
          <pc:docMk/>
          <pc:sldMk cId="1731148820" sldId="312"/>
        </pc:sldMkLst>
        <pc:spChg chg="mod">
          <ac:chgData name="SNYDER, RICHARD J JR Capt USAF AFDW AFDW/PKH" userId="12a18060-a455-435a-9fd6-8aac4c2579b2" providerId="ADAL" clId="{78451A64-EC2B-4A16-BE3F-BFCD103F041C}" dt="2025-04-08T11:57:10.763" v="75" actId="20577"/>
          <ac:spMkLst>
            <pc:docMk/>
            <pc:sldMk cId="1731148820" sldId="312"/>
            <ac:spMk id="3" creationId="{84DC880C-D4E7-DEB8-7B01-E7E2F3C24D4F}"/>
          </ac:spMkLst>
        </pc:spChg>
      </pc:sldChg>
      <pc:sldChg chg="modSp mod">
        <pc:chgData name="SNYDER, RICHARD J JR Capt USAF AFDW AFDW/PKH" userId="12a18060-a455-435a-9fd6-8aac4c2579b2" providerId="ADAL" clId="{78451A64-EC2B-4A16-BE3F-BFCD103F041C}" dt="2025-04-08T11:55:34.614" v="39" actId="20577"/>
        <pc:sldMkLst>
          <pc:docMk/>
          <pc:sldMk cId="2226035654" sldId="314"/>
        </pc:sldMkLst>
        <pc:spChg chg="mod">
          <ac:chgData name="SNYDER, RICHARD J JR Capt USAF AFDW AFDW/PKH" userId="12a18060-a455-435a-9fd6-8aac4c2579b2" providerId="ADAL" clId="{78451A64-EC2B-4A16-BE3F-BFCD103F041C}" dt="2025-04-08T11:55:34.614" v="39" actId="20577"/>
          <ac:spMkLst>
            <pc:docMk/>
            <pc:sldMk cId="2226035654" sldId="314"/>
            <ac:spMk id="3" creationId="{2D1CAC67-6839-9D9E-F60D-C588028B9432}"/>
          </ac:spMkLst>
        </pc:spChg>
      </pc:sldChg>
      <pc:sldChg chg="modSp mod">
        <pc:chgData name="SNYDER, RICHARD J JR Capt USAF AFDW AFDW/PKH" userId="12a18060-a455-435a-9fd6-8aac4c2579b2" providerId="ADAL" clId="{78451A64-EC2B-4A16-BE3F-BFCD103F041C}" dt="2025-04-08T11:55:41.286" v="43" actId="20577"/>
        <pc:sldMkLst>
          <pc:docMk/>
          <pc:sldMk cId="2218316846" sldId="315"/>
        </pc:sldMkLst>
        <pc:spChg chg="mod">
          <ac:chgData name="SNYDER, RICHARD J JR Capt USAF AFDW AFDW/PKH" userId="12a18060-a455-435a-9fd6-8aac4c2579b2" providerId="ADAL" clId="{78451A64-EC2B-4A16-BE3F-BFCD103F041C}" dt="2025-04-08T11:55:41.286" v="43" actId="20577"/>
          <ac:spMkLst>
            <pc:docMk/>
            <pc:sldMk cId="2218316846" sldId="315"/>
            <ac:spMk id="3" creationId="{84AB895C-3DDF-9F0D-9D35-1B14BA9F65E5}"/>
          </ac:spMkLst>
        </pc:spChg>
      </pc:sldChg>
      <pc:sldChg chg="modSp mod">
        <pc:chgData name="SNYDER, RICHARD J JR Capt USAF AFDW AFDW/PKH" userId="12a18060-a455-435a-9fd6-8aac4c2579b2" providerId="ADAL" clId="{78451A64-EC2B-4A16-BE3F-BFCD103F041C}" dt="2025-04-08T11:56:04.549" v="50" actId="6549"/>
        <pc:sldMkLst>
          <pc:docMk/>
          <pc:sldMk cId="642970081" sldId="316"/>
        </pc:sldMkLst>
        <pc:spChg chg="mod">
          <ac:chgData name="SNYDER, RICHARD J JR Capt USAF AFDW AFDW/PKH" userId="12a18060-a455-435a-9fd6-8aac4c2579b2" providerId="ADAL" clId="{78451A64-EC2B-4A16-BE3F-BFCD103F041C}" dt="2025-04-08T11:56:04.549" v="50" actId="6549"/>
          <ac:spMkLst>
            <pc:docMk/>
            <pc:sldMk cId="642970081" sldId="316"/>
            <ac:spMk id="3" creationId="{3101B7DE-0920-F6B7-EFC6-5B160EF689E0}"/>
          </ac:spMkLst>
        </pc:spChg>
      </pc:sldChg>
      <pc:sldChg chg="modSp mod">
        <pc:chgData name="SNYDER, RICHARD J JR Capt USAF AFDW AFDW/PKH" userId="12a18060-a455-435a-9fd6-8aac4c2579b2" providerId="ADAL" clId="{78451A64-EC2B-4A16-BE3F-BFCD103F041C}" dt="2025-04-08T11:56:11.285" v="53" actId="20577"/>
        <pc:sldMkLst>
          <pc:docMk/>
          <pc:sldMk cId="1478540171" sldId="317"/>
        </pc:sldMkLst>
        <pc:spChg chg="mod">
          <ac:chgData name="SNYDER, RICHARD J JR Capt USAF AFDW AFDW/PKH" userId="12a18060-a455-435a-9fd6-8aac4c2579b2" providerId="ADAL" clId="{78451A64-EC2B-4A16-BE3F-BFCD103F041C}" dt="2025-04-08T11:56:11.285" v="53" actId="20577"/>
          <ac:spMkLst>
            <pc:docMk/>
            <pc:sldMk cId="1478540171" sldId="317"/>
            <ac:spMk id="3" creationId="{15A1A92F-FAFE-87CA-604D-D68A419E2366}"/>
          </ac:spMkLst>
        </pc:spChg>
      </pc:sldChg>
      <pc:sldChg chg="modSp mod">
        <pc:chgData name="SNYDER, RICHARD J JR Capt USAF AFDW AFDW/PKH" userId="12a18060-a455-435a-9fd6-8aac4c2579b2" providerId="ADAL" clId="{78451A64-EC2B-4A16-BE3F-BFCD103F041C}" dt="2025-04-08T11:56:14.493" v="56" actId="20577"/>
        <pc:sldMkLst>
          <pc:docMk/>
          <pc:sldMk cId="953298358" sldId="318"/>
        </pc:sldMkLst>
        <pc:spChg chg="mod">
          <ac:chgData name="SNYDER, RICHARD J JR Capt USAF AFDW AFDW/PKH" userId="12a18060-a455-435a-9fd6-8aac4c2579b2" providerId="ADAL" clId="{78451A64-EC2B-4A16-BE3F-BFCD103F041C}" dt="2025-04-08T11:56:14.493" v="56" actId="20577"/>
          <ac:spMkLst>
            <pc:docMk/>
            <pc:sldMk cId="953298358" sldId="318"/>
            <ac:spMk id="3" creationId="{B0A1D695-8949-041F-0E7D-C1697A022E0A}"/>
          </ac:spMkLst>
        </pc:spChg>
      </pc:sldChg>
      <pc:sldChg chg="modSp mod">
        <pc:chgData name="SNYDER, RICHARD J JR Capt USAF AFDW AFDW/PKH" userId="12a18060-a455-435a-9fd6-8aac4c2579b2" providerId="ADAL" clId="{78451A64-EC2B-4A16-BE3F-BFCD103F041C}" dt="2025-04-08T11:56:19.213" v="61" actId="20577"/>
        <pc:sldMkLst>
          <pc:docMk/>
          <pc:sldMk cId="3080554479" sldId="319"/>
        </pc:sldMkLst>
        <pc:spChg chg="mod">
          <ac:chgData name="SNYDER, RICHARD J JR Capt USAF AFDW AFDW/PKH" userId="12a18060-a455-435a-9fd6-8aac4c2579b2" providerId="ADAL" clId="{78451A64-EC2B-4A16-BE3F-BFCD103F041C}" dt="2025-04-08T11:56:19.213" v="61" actId="20577"/>
          <ac:spMkLst>
            <pc:docMk/>
            <pc:sldMk cId="3080554479" sldId="319"/>
            <ac:spMk id="3" creationId="{AAB6FB27-A8E3-FBB4-D4C7-C21573379404}"/>
          </ac:spMkLst>
        </pc:spChg>
      </pc:sldChg>
      <pc:sldChg chg="modSp mod">
        <pc:chgData name="SNYDER, RICHARD J JR Capt USAF AFDW AFDW/PKH" userId="12a18060-a455-435a-9fd6-8aac4c2579b2" providerId="ADAL" clId="{78451A64-EC2B-4A16-BE3F-BFCD103F041C}" dt="2025-04-08T11:55:56.798" v="46" actId="20577"/>
        <pc:sldMkLst>
          <pc:docMk/>
          <pc:sldMk cId="2556337086" sldId="324"/>
        </pc:sldMkLst>
        <pc:spChg chg="mod">
          <ac:chgData name="SNYDER, RICHARD J JR Capt USAF AFDW AFDW/PKH" userId="12a18060-a455-435a-9fd6-8aac4c2579b2" providerId="ADAL" clId="{78451A64-EC2B-4A16-BE3F-BFCD103F041C}" dt="2025-04-08T11:55:56.798" v="46" actId="20577"/>
          <ac:spMkLst>
            <pc:docMk/>
            <pc:sldMk cId="2556337086" sldId="324"/>
            <ac:spMk id="3" creationId="{B13C93F4-DE86-53EC-EA6E-A1037A311FE7}"/>
          </ac:spMkLst>
        </pc:spChg>
      </pc:sldChg>
      <pc:sldChg chg="modSp mod">
        <pc:chgData name="SNYDER, RICHARD J JR Capt USAF AFDW AFDW/PKH" userId="12a18060-a455-435a-9fd6-8aac4c2579b2" providerId="ADAL" clId="{78451A64-EC2B-4A16-BE3F-BFCD103F041C}" dt="2025-04-08T11:56:45.307" v="67" actId="20577"/>
        <pc:sldMkLst>
          <pc:docMk/>
          <pc:sldMk cId="3579532262" sldId="325"/>
        </pc:sldMkLst>
        <pc:spChg chg="mod">
          <ac:chgData name="SNYDER, RICHARD J JR Capt USAF AFDW AFDW/PKH" userId="12a18060-a455-435a-9fd6-8aac4c2579b2" providerId="ADAL" clId="{78451A64-EC2B-4A16-BE3F-BFCD103F041C}" dt="2025-04-08T11:56:45.307" v="67" actId="20577"/>
          <ac:spMkLst>
            <pc:docMk/>
            <pc:sldMk cId="3579532262" sldId="325"/>
            <ac:spMk id="24" creationId="{9C2CD0E1-6879-6854-F6A0-794A3A9529CF}"/>
          </ac:spMkLst>
        </pc:spChg>
      </pc:sldChg>
      <pc:sldChg chg="delSp mod">
        <pc:chgData name="SNYDER, RICHARD J JR Capt USAF AFDW AFDW/PKH" userId="12a18060-a455-435a-9fd6-8aac4c2579b2" providerId="ADAL" clId="{78451A64-EC2B-4A16-BE3F-BFCD103F041C}" dt="2025-04-08T11:55:09.462" v="29" actId="478"/>
        <pc:sldMkLst>
          <pc:docMk/>
          <pc:sldMk cId="4092707943" sldId="328"/>
        </pc:sldMkLst>
        <pc:spChg chg="del">
          <ac:chgData name="SNYDER, RICHARD J JR Capt USAF AFDW AFDW/PKH" userId="12a18060-a455-435a-9fd6-8aac4c2579b2" providerId="ADAL" clId="{78451A64-EC2B-4A16-BE3F-BFCD103F041C}" dt="2025-04-08T11:55:09.462" v="29" actId="478"/>
          <ac:spMkLst>
            <pc:docMk/>
            <pc:sldMk cId="4092707943" sldId="328"/>
            <ac:spMk id="4" creationId="{869A560F-E34C-5BE6-170C-81271555C881}"/>
          </ac:spMkLst>
        </pc:spChg>
      </pc:sldChg>
      <pc:sldChg chg="delSp mod">
        <pc:chgData name="SNYDER, RICHARD J JR Capt USAF AFDW AFDW/PKH" userId="12a18060-a455-435a-9fd6-8aac4c2579b2" providerId="ADAL" clId="{78451A64-EC2B-4A16-BE3F-BFCD103F041C}" dt="2025-04-08T11:55:29.078" v="34" actId="478"/>
        <pc:sldMkLst>
          <pc:docMk/>
          <pc:sldMk cId="2680315938" sldId="329"/>
        </pc:sldMkLst>
        <pc:spChg chg="del">
          <ac:chgData name="SNYDER, RICHARD J JR Capt USAF AFDW AFDW/PKH" userId="12a18060-a455-435a-9fd6-8aac4c2579b2" providerId="ADAL" clId="{78451A64-EC2B-4A16-BE3F-BFCD103F041C}" dt="2025-04-08T11:55:29.078" v="34" actId="478"/>
          <ac:spMkLst>
            <pc:docMk/>
            <pc:sldMk cId="2680315938" sldId="329"/>
            <ac:spMk id="4" creationId="{68A649F5-E878-436B-FAF6-5F4C775DD429}"/>
          </ac:spMkLst>
        </pc:spChg>
      </pc:sldChg>
      <pc:sldChg chg="delSp mod">
        <pc:chgData name="SNYDER, RICHARD J JR Capt USAF AFDW AFDW/PKH" userId="12a18060-a455-435a-9fd6-8aac4c2579b2" providerId="ADAL" clId="{78451A64-EC2B-4A16-BE3F-BFCD103F041C}" dt="2025-04-08T11:56:00.125" v="47" actId="478"/>
        <pc:sldMkLst>
          <pc:docMk/>
          <pc:sldMk cId="3228154755" sldId="330"/>
        </pc:sldMkLst>
        <pc:spChg chg="del">
          <ac:chgData name="SNYDER, RICHARD J JR Capt USAF AFDW AFDW/PKH" userId="12a18060-a455-435a-9fd6-8aac4c2579b2" providerId="ADAL" clId="{78451A64-EC2B-4A16-BE3F-BFCD103F041C}" dt="2025-04-08T11:56:00.125" v="47" actId="478"/>
          <ac:spMkLst>
            <pc:docMk/>
            <pc:sldMk cId="3228154755" sldId="330"/>
            <ac:spMk id="4" creationId="{D24C4F01-D899-FBC6-BEE3-C7BC73B621E0}"/>
          </ac:spMkLst>
        </pc:spChg>
      </pc:sldChg>
      <pc:sldChg chg="delSp mod">
        <pc:chgData name="SNYDER, RICHARD J JR Capt USAF AFDW AFDW/PKH" userId="12a18060-a455-435a-9fd6-8aac4c2579b2" providerId="ADAL" clId="{78451A64-EC2B-4A16-BE3F-BFCD103F041C}" dt="2025-04-08T11:56:22.132" v="62" actId="478"/>
        <pc:sldMkLst>
          <pc:docMk/>
          <pc:sldMk cId="1910627784" sldId="331"/>
        </pc:sldMkLst>
        <pc:spChg chg="del">
          <ac:chgData name="SNYDER, RICHARD J JR Capt USAF AFDW AFDW/PKH" userId="12a18060-a455-435a-9fd6-8aac4c2579b2" providerId="ADAL" clId="{78451A64-EC2B-4A16-BE3F-BFCD103F041C}" dt="2025-04-08T11:56:22.132" v="62" actId="478"/>
          <ac:spMkLst>
            <pc:docMk/>
            <pc:sldMk cId="1910627784" sldId="331"/>
            <ac:spMk id="4" creationId="{B8941F0B-D6A5-82C7-5D77-4AEF5CCB978E}"/>
          </ac:spMkLst>
        </pc:spChg>
      </pc:sldChg>
      <pc:sldChg chg="delSp mod">
        <pc:chgData name="SNYDER, RICHARD J JR Capt USAF AFDW AFDW/PKH" userId="12a18060-a455-435a-9fd6-8aac4c2579b2" providerId="ADAL" clId="{78451A64-EC2B-4A16-BE3F-BFCD103F041C}" dt="2025-04-08T11:56:34.283" v="64" actId="478"/>
        <pc:sldMkLst>
          <pc:docMk/>
          <pc:sldMk cId="3705550390" sldId="332"/>
        </pc:sldMkLst>
        <pc:spChg chg="del">
          <ac:chgData name="SNYDER, RICHARD J JR Capt USAF AFDW AFDW/PKH" userId="12a18060-a455-435a-9fd6-8aac4c2579b2" providerId="ADAL" clId="{78451A64-EC2B-4A16-BE3F-BFCD103F041C}" dt="2025-04-08T11:56:34.283" v="64" actId="478"/>
          <ac:spMkLst>
            <pc:docMk/>
            <pc:sldMk cId="3705550390" sldId="332"/>
            <ac:spMk id="4" creationId="{5018E793-7292-121D-6E91-BF88711983F0}"/>
          </ac:spMkLst>
        </pc:spChg>
      </pc:sldChg>
      <pc:sldChg chg="delSp mod">
        <pc:chgData name="SNYDER, RICHARD J JR Capt USAF AFDW AFDW/PKH" userId="12a18060-a455-435a-9fd6-8aac4c2579b2" providerId="ADAL" clId="{78451A64-EC2B-4A16-BE3F-BFCD103F041C}" dt="2025-04-08T11:56:41.523" v="66" actId="478"/>
        <pc:sldMkLst>
          <pc:docMk/>
          <pc:sldMk cId="2640760461" sldId="333"/>
        </pc:sldMkLst>
        <pc:spChg chg="del">
          <ac:chgData name="SNYDER, RICHARD J JR Capt USAF AFDW AFDW/PKH" userId="12a18060-a455-435a-9fd6-8aac4c2579b2" providerId="ADAL" clId="{78451A64-EC2B-4A16-BE3F-BFCD103F041C}" dt="2025-04-08T11:56:41.523" v="66" actId="478"/>
          <ac:spMkLst>
            <pc:docMk/>
            <pc:sldMk cId="2640760461" sldId="333"/>
            <ac:spMk id="4" creationId="{F569682E-261F-367A-CA60-32AF2D4B8E79}"/>
          </ac:spMkLst>
        </pc:spChg>
      </pc:sldChg>
      <pc:sldChg chg="delSp mod">
        <pc:chgData name="SNYDER, RICHARD J JR Capt USAF AFDW AFDW/PKH" userId="12a18060-a455-435a-9fd6-8aac4c2579b2" providerId="ADAL" clId="{78451A64-EC2B-4A16-BE3F-BFCD103F041C}" dt="2025-04-08T11:56:49.203" v="68" actId="478"/>
        <pc:sldMkLst>
          <pc:docMk/>
          <pc:sldMk cId="1376937797" sldId="334"/>
        </pc:sldMkLst>
        <pc:spChg chg="del">
          <ac:chgData name="SNYDER, RICHARD J JR Capt USAF AFDW AFDW/PKH" userId="12a18060-a455-435a-9fd6-8aac4c2579b2" providerId="ADAL" clId="{78451A64-EC2B-4A16-BE3F-BFCD103F041C}" dt="2025-04-08T11:56:49.203" v="68" actId="478"/>
          <ac:spMkLst>
            <pc:docMk/>
            <pc:sldMk cId="1376937797" sldId="334"/>
            <ac:spMk id="4" creationId="{EC5AF20B-491E-246F-D8EF-F54C691E521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19EFA2-517B-475F-BACE-C3D89E4E01D0}" type="datetimeFigureOut">
              <a:rPr lang="en-US" smtClean="0"/>
              <a:t>4/8/2025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0B0B82-3CE1-4C77-8538-2CB2B824B7F2}" type="slidenum">
              <a:rPr lang="en-US" smtClean="0"/>
              <a:t>‹#›</a:t>
            </a:fld>
            <a:endParaRPr lang="en-US" dirty="0"/>
          </a:p>
        </p:txBody>
      </p:sp>
    </p:spTree>
    <p:extLst>
      <p:ext uri="{BB962C8B-B14F-4D97-AF65-F5344CB8AC3E}">
        <p14:creationId xmlns:p14="http://schemas.microsoft.com/office/powerpoint/2010/main" val="861258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AAF7F9C-0423-4778-9618-5800B9D9DF85}" type="datetime1">
              <a:rPr lang="en-US" smtClean="0"/>
              <a:t>4/8/2025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786920-98DB-4A6A-8929-FBA7F922885C}" type="slidenum">
              <a:rPr lang="en-US" smtClean="0"/>
              <a:t>‹#›</a:t>
            </a:fld>
            <a:endParaRPr lang="en-US" dirty="0"/>
          </a:p>
        </p:txBody>
      </p:sp>
    </p:spTree>
    <p:extLst>
      <p:ext uri="{BB962C8B-B14F-4D97-AF65-F5344CB8AC3E}">
        <p14:creationId xmlns:p14="http://schemas.microsoft.com/office/powerpoint/2010/main" val="4217027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CE8EB9-8EA6-45B8-B3A2-E1553AB58EBC}" type="datetime1">
              <a:rPr lang="en-US" smtClean="0"/>
              <a:t>4/8/2025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786920-98DB-4A6A-8929-FBA7F922885C}" type="slidenum">
              <a:rPr lang="en-US" smtClean="0"/>
              <a:t>‹#›</a:t>
            </a:fld>
            <a:endParaRPr lang="en-US" dirty="0"/>
          </a:p>
        </p:txBody>
      </p:sp>
    </p:spTree>
    <p:extLst>
      <p:ext uri="{BB962C8B-B14F-4D97-AF65-F5344CB8AC3E}">
        <p14:creationId xmlns:p14="http://schemas.microsoft.com/office/powerpoint/2010/main" val="1985749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74AE684-A125-459B-9F92-63857F480415}" type="datetime1">
              <a:rPr lang="en-US" smtClean="0"/>
              <a:t>4/8/2025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786920-98DB-4A6A-8929-FBA7F922885C}" type="slidenum">
              <a:rPr lang="en-US" smtClean="0"/>
              <a:t>‹#›</a:t>
            </a:fld>
            <a:endParaRPr lang="en-US" dirty="0"/>
          </a:p>
        </p:txBody>
      </p:sp>
    </p:spTree>
    <p:extLst>
      <p:ext uri="{BB962C8B-B14F-4D97-AF65-F5344CB8AC3E}">
        <p14:creationId xmlns:p14="http://schemas.microsoft.com/office/powerpoint/2010/main" val="2507363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119F567-6CBC-42F2-B938-8C467A63221D}" type="datetime1">
              <a:rPr lang="en-US" smtClean="0"/>
              <a:t>4/8/2025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786920-98DB-4A6A-8929-FBA7F922885C}" type="slidenum">
              <a:rPr lang="en-US" smtClean="0"/>
              <a:t>‹#›</a:t>
            </a:fld>
            <a:endParaRPr lang="en-US" dirty="0"/>
          </a:p>
        </p:txBody>
      </p:sp>
    </p:spTree>
    <p:extLst>
      <p:ext uri="{BB962C8B-B14F-4D97-AF65-F5344CB8AC3E}">
        <p14:creationId xmlns:p14="http://schemas.microsoft.com/office/powerpoint/2010/main" val="1357500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33AF17-A3F1-4357-AE6F-8D1B94C8B23F}" type="datetime1">
              <a:rPr lang="en-US" smtClean="0"/>
              <a:t>4/8/2025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E786920-98DB-4A6A-8929-FBA7F922885C}" type="slidenum">
              <a:rPr lang="en-US" smtClean="0"/>
              <a:t>‹#›</a:t>
            </a:fld>
            <a:endParaRPr lang="en-US" dirty="0"/>
          </a:p>
        </p:txBody>
      </p:sp>
    </p:spTree>
    <p:extLst>
      <p:ext uri="{BB962C8B-B14F-4D97-AF65-F5344CB8AC3E}">
        <p14:creationId xmlns:p14="http://schemas.microsoft.com/office/powerpoint/2010/main" val="111762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8020BBC-00B0-4483-9F8F-09AA76EA05FE}" type="datetime1">
              <a:rPr lang="en-US" smtClean="0"/>
              <a:t>4/8/2025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E786920-98DB-4A6A-8929-FBA7F922885C}" type="slidenum">
              <a:rPr lang="en-US" smtClean="0"/>
              <a:t>‹#›</a:t>
            </a:fld>
            <a:endParaRPr lang="en-US" dirty="0"/>
          </a:p>
        </p:txBody>
      </p:sp>
    </p:spTree>
    <p:extLst>
      <p:ext uri="{BB962C8B-B14F-4D97-AF65-F5344CB8AC3E}">
        <p14:creationId xmlns:p14="http://schemas.microsoft.com/office/powerpoint/2010/main" val="1606266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51C1BC-8A29-46DB-A3E2-CDEA19ED844B}" type="datetime1">
              <a:rPr lang="en-US" smtClean="0"/>
              <a:t>4/8/2025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E786920-98DB-4A6A-8929-FBA7F922885C}" type="slidenum">
              <a:rPr lang="en-US" smtClean="0"/>
              <a:t>‹#›</a:t>
            </a:fld>
            <a:endParaRPr lang="en-US" dirty="0"/>
          </a:p>
        </p:txBody>
      </p:sp>
    </p:spTree>
    <p:extLst>
      <p:ext uri="{BB962C8B-B14F-4D97-AF65-F5344CB8AC3E}">
        <p14:creationId xmlns:p14="http://schemas.microsoft.com/office/powerpoint/2010/main" val="1559825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25A3612-59D8-4518-932A-1FA266861095}" type="datetime1">
              <a:rPr lang="en-US" smtClean="0"/>
              <a:t>4/8/2025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786920-98DB-4A6A-8929-FBA7F922885C}" type="slidenum">
              <a:rPr lang="en-US" smtClean="0"/>
              <a:t>‹#›</a:t>
            </a:fld>
            <a:endParaRPr lang="en-US" dirty="0"/>
          </a:p>
        </p:txBody>
      </p:sp>
    </p:spTree>
    <p:extLst>
      <p:ext uri="{BB962C8B-B14F-4D97-AF65-F5344CB8AC3E}">
        <p14:creationId xmlns:p14="http://schemas.microsoft.com/office/powerpoint/2010/main" val="2819980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FEF6811-D690-45AA-8EA1-B962FB3590DB}" type="datetime1">
              <a:rPr lang="en-US" smtClean="0"/>
              <a:t>4/8/2025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786920-98DB-4A6A-8929-FBA7F922885C}" type="slidenum">
              <a:rPr lang="en-US" smtClean="0"/>
              <a:t>‹#›</a:t>
            </a:fld>
            <a:endParaRPr lang="en-US" dirty="0"/>
          </a:p>
        </p:txBody>
      </p:sp>
    </p:spTree>
    <p:extLst>
      <p:ext uri="{BB962C8B-B14F-4D97-AF65-F5344CB8AC3E}">
        <p14:creationId xmlns:p14="http://schemas.microsoft.com/office/powerpoint/2010/main" val="3011495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62B44E-D2DD-4A2D-822F-E534E471213E}" type="datetime1">
              <a:rPr lang="en-US" smtClean="0"/>
              <a:t>4/8/2025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786920-98DB-4A6A-8929-FBA7F922885C}" type="slidenum">
              <a:rPr lang="en-US" smtClean="0"/>
              <a:t>‹#›</a:t>
            </a:fld>
            <a:endParaRPr lang="en-US" dirty="0"/>
          </a:p>
        </p:txBody>
      </p:sp>
    </p:spTree>
    <p:extLst>
      <p:ext uri="{BB962C8B-B14F-4D97-AF65-F5344CB8AC3E}">
        <p14:creationId xmlns:p14="http://schemas.microsoft.com/office/powerpoint/2010/main" val="1804126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B6AB0D-9E14-496D-A2A1-1C7AF817D22C}" type="datetime1">
              <a:rPr lang="en-US" smtClean="0"/>
              <a:t>4/8/2025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786920-98DB-4A6A-8929-FBA7F922885C}" type="slidenum">
              <a:rPr lang="en-US" smtClean="0"/>
              <a:t>‹#›</a:t>
            </a:fld>
            <a:endParaRPr lang="en-US" dirty="0"/>
          </a:p>
        </p:txBody>
      </p:sp>
    </p:spTree>
    <p:extLst>
      <p:ext uri="{BB962C8B-B14F-4D97-AF65-F5344CB8AC3E}">
        <p14:creationId xmlns:p14="http://schemas.microsoft.com/office/powerpoint/2010/main" val="3332997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942B26-5E53-4EEA-9540-4887760AFC5E}" type="datetime1">
              <a:rPr lang="en-US" smtClean="0"/>
              <a:t>4/8/2025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786920-98DB-4A6A-8929-FBA7F922885C}" type="slidenum">
              <a:rPr lang="en-US" smtClean="0"/>
              <a:t>‹#›</a:t>
            </a:fld>
            <a:endParaRPr lang="en-US" dirty="0"/>
          </a:p>
        </p:txBody>
      </p:sp>
    </p:spTree>
    <p:extLst>
      <p:ext uri="{BB962C8B-B14F-4D97-AF65-F5344CB8AC3E}">
        <p14:creationId xmlns:p14="http://schemas.microsoft.com/office/powerpoint/2010/main" val="2206271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715C0-DDD5-F99C-39FF-BEF7F89A1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A38E0-626A-A549-428F-F997F8F9B2C6}"/>
              </a:ext>
            </a:extLst>
          </p:cNvPr>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a:extLst>
              <a:ext uri="{FF2B5EF4-FFF2-40B4-BE49-F238E27FC236}">
                <a16:creationId xmlns:a16="http://schemas.microsoft.com/office/drawing/2014/main" id="{842F5D6F-65DA-EE82-3228-6E0E751B6D00}"/>
              </a:ext>
            </a:extLst>
          </p:cNvPr>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a:extLst>
              <a:ext uri="{FF2B5EF4-FFF2-40B4-BE49-F238E27FC236}">
                <a16:creationId xmlns:a16="http://schemas.microsoft.com/office/drawing/2014/main" id="{9151A3C4-B606-398E-E05A-FFF73AA3B815}"/>
              </a:ext>
            </a:extLst>
          </p:cNvPr>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13" descr="afsymbol">
            <a:extLst>
              <a:ext uri="{FF2B5EF4-FFF2-40B4-BE49-F238E27FC236}">
                <a16:creationId xmlns:a16="http://schemas.microsoft.com/office/drawing/2014/main" id="{DFB53352-2B50-4EB9-AF2E-64D532878B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265" y="3774122"/>
            <a:ext cx="4406900" cy="260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E1F7BBA-FF0A-1FE5-EA71-D9D184D0D27E}"/>
              </a:ext>
            </a:extLst>
          </p:cNvPr>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A4B600C8-E585-6E44-8CFF-213CC280BF0F}"/>
              </a:ext>
            </a:extLst>
          </p:cNvPr>
          <p:cNvSpPr txBox="1"/>
          <p:nvPr/>
        </p:nvSpPr>
        <p:spPr>
          <a:xfrm>
            <a:off x="3287026" y="1680210"/>
            <a:ext cx="7291137" cy="1200329"/>
          </a:xfrm>
          <a:prstGeom prst="rect">
            <a:avLst/>
          </a:prstGeom>
          <a:noFill/>
        </p:spPr>
        <p:txBody>
          <a:bodyPr wrap="square" rtlCol="0">
            <a:spAutoFit/>
          </a:bodyPr>
          <a:lstStyle/>
          <a:p>
            <a:r>
              <a:rPr lang="en-US" sz="3600" b="1" dirty="0">
                <a:solidFill>
                  <a:schemeClr val="accent5">
                    <a:lumMod val="75000"/>
                  </a:schemeClr>
                </a:solidFill>
              </a:rPr>
              <a:t>AFDW FY25 INDUSTRY DAY </a:t>
            </a:r>
            <a:r>
              <a:rPr lang="en-US" sz="3600" b="1">
                <a:solidFill>
                  <a:schemeClr val="accent5">
                    <a:lumMod val="75000"/>
                  </a:schemeClr>
                </a:solidFill>
              </a:rPr>
              <a:t>FORECASTED REQUIREMENTS </a:t>
            </a:r>
            <a:endParaRPr lang="en-US" sz="3600" b="1" dirty="0">
              <a:solidFill>
                <a:schemeClr val="accent5">
                  <a:lumMod val="75000"/>
                </a:schemeClr>
              </a:solidFill>
            </a:endParaRPr>
          </a:p>
        </p:txBody>
      </p:sp>
      <p:sp>
        <p:nvSpPr>
          <p:cNvPr id="4" name="Rectangle 3">
            <a:extLst>
              <a:ext uri="{FF2B5EF4-FFF2-40B4-BE49-F238E27FC236}">
                <a16:creationId xmlns:a16="http://schemas.microsoft.com/office/drawing/2014/main" id="{46473380-19F5-0BCA-4130-B007A48E8007}"/>
              </a:ext>
            </a:extLst>
          </p:cNvPr>
          <p:cNvSpPr/>
          <p:nvPr/>
        </p:nvSpPr>
        <p:spPr>
          <a:xfrm>
            <a:off x="9741312" y="108569"/>
            <a:ext cx="2346385" cy="39525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Releasable to public</a:t>
            </a:r>
          </a:p>
        </p:txBody>
      </p:sp>
    </p:spTree>
    <p:extLst>
      <p:ext uri="{BB962C8B-B14F-4D97-AF65-F5344CB8AC3E}">
        <p14:creationId xmlns:p14="http://schemas.microsoft.com/office/powerpoint/2010/main" val="639264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FC09D-82FE-EB32-D400-704E85A18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88799-0E16-BAA0-02E7-9E0ECB8910BF}"/>
              </a:ext>
            </a:extLst>
          </p:cNvPr>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a:extLst>
              <a:ext uri="{FF2B5EF4-FFF2-40B4-BE49-F238E27FC236}">
                <a16:creationId xmlns:a16="http://schemas.microsoft.com/office/drawing/2014/main" id="{14185E3C-334E-E8A2-E9B1-2F531BC6FCBD}"/>
              </a:ext>
            </a:extLst>
          </p:cNvPr>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a:extLst>
              <a:ext uri="{FF2B5EF4-FFF2-40B4-BE49-F238E27FC236}">
                <a16:creationId xmlns:a16="http://schemas.microsoft.com/office/drawing/2014/main" id="{864AEE81-0E77-5415-12A5-BABA7538276C}"/>
              </a:ext>
            </a:extLst>
          </p:cNvPr>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FF5FA47-0FFF-E74E-4047-2AC6AE74EE56}"/>
              </a:ext>
            </a:extLst>
          </p:cNvPr>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AAC704EE-B504-D195-5A0F-2A0778FD538C}"/>
              </a:ext>
            </a:extLst>
          </p:cNvPr>
          <p:cNvSpPr txBox="1"/>
          <p:nvPr/>
        </p:nvSpPr>
        <p:spPr>
          <a:xfrm>
            <a:off x="2575420" y="2301130"/>
            <a:ext cx="7454103" cy="2677656"/>
          </a:xfrm>
          <a:prstGeom prst="rect">
            <a:avLst/>
          </a:prstGeom>
          <a:noFill/>
        </p:spPr>
        <p:txBody>
          <a:bodyPr wrap="square" rtlCol="0">
            <a:spAutoFit/>
          </a:bodyPr>
          <a:lstStyle/>
          <a:p>
            <a:r>
              <a:rPr lang="en-US" sz="2800" b="1" dirty="0"/>
              <a:t>Note: Any information provided in this slide deck is subject to change</a:t>
            </a:r>
          </a:p>
          <a:p>
            <a:endParaRPr lang="en-US" sz="2800" b="1" dirty="0"/>
          </a:p>
          <a:p>
            <a:r>
              <a:rPr lang="en-US" sz="2800" dirty="0"/>
              <a:t>If you would like to schedule a one-on-one for any of the below requirements, contact SSgt </a:t>
            </a:r>
            <a:r>
              <a:rPr lang="en-US" sz="2800" dirty="0" err="1"/>
              <a:t>Takayla</a:t>
            </a:r>
            <a:r>
              <a:rPr lang="en-US" sz="2800" dirty="0"/>
              <a:t> Isler at afdw.pkafdw.industryweek@us.af.mil</a:t>
            </a:r>
          </a:p>
        </p:txBody>
      </p:sp>
    </p:spTree>
    <p:extLst>
      <p:ext uri="{BB962C8B-B14F-4D97-AF65-F5344CB8AC3E}">
        <p14:creationId xmlns:p14="http://schemas.microsoft.com/office/powerpoint/2010/main" val="2494037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13" descr="afsymb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265" y="3774122"/>
            <a:ext cx="4406900" cy="260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p:cNvSpPr txBox="1"/>
          <p:nvPr/>
        </p:nvSpPr>
        <p:spPr>
          <a:xfrm>
            <a:off x="2450175" y="1793299"/>
            <a:ext cx="7291137" cy="646331"/>
          </a:xfrm>
          <a:prstGeom prst="rect">
            <a:avLst/>
          </a:prstGeom>
          <a:noFill/>
        </p:spPr>
        <p:txBody>
          <a:bodyPr wrap="square" rtlCol="0">
            <a:spAutoFit/>
          </a:bodyPr>
          <a:lstStyle/>
          <a:p>
            <a:pPr algn="ctr"/>
            <a:r>
              <a:rPr lang="en-US" sz="3600" b="1" u="sng" dirty="0">
                <a:solidFill>
                  <a:schemeClr val="accent5">
                    <a:lumMod val="75000"/>
                  </a:schemeClr>
                </a:solidFill>
              </a:rPr>
              <a:t>PKA Division</a:t>
            </a:r>
          </a:p>
        </p:txBody>
      </p:sp>
    </p:spTree>
    <p:extLst>
      <p:ext uri="{BB962C8B-B14F-4D97-AF65-F5344CB8AC3E}">
        <p14:creationId xmlns:p14="http://schemas.microsoft.com/office/powerpoint/2010/main" val="4203585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6D667-7E2F-D67F-6E30-1D51B6FC56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69069-0D69-DA14-B59A-581C6F605345}"/>
              </a:ext>
            </a:extLst>
          </p:cNvPr>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a:extLst>
              <a:ext uri="{FF2B5EF4-FFF2-40B4-BE49-F238E27FC236}">
                <a16:creationId xmlns:a16="http://schemas.microsoft.com/office/drawing/2014/main" id="{E6E7333A-1072-3F34-5B1C-A0982742B8F3}"/>
              </a:ext>
            </a:extLst>
          </p:cNvPr>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a:extLst>
              <a:ext uri="{FF2B5EF4-FFF2-40B4-BE49-F238E27FC236}">
                <a16:creationId xmlns:a16="http://schemas.microsoft.com/office/drawing/2014/main" id="{4D0EEE80-9A62-5BB7-E11D-468626A1BABA}"/>
              </a:ext>
            </a:extLst>
          </p:cNvPr>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13" descr="afsymbol">
            <a:extLst>
              <a:ext uri="{FF2B5EF4-FFF2-40B4-BE49-F238E27FC236}">
                <a16:creationId xmlns:a16="http://schemas.microsoft.com/office/drawing/2014/main" id="{AD52B149-EDFD-0A60-244E-EBDC0AEA132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7426" y="4194810"/>
            <a:ext cx="255425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2A93FDA1-3B62-C1BA-B1AD-B832BAD1F892}"/>
              </a:ext>
            </a:extLst>
          </p:cNvPr>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A6DD928A-1DA0-D94E-15BE-8BF85BA3BE0D}"/>
              </a:ext>
            </a:extLst>
          </p:cNvPr>
          <p:cNvSpPr txBox="1"/>
          <p:nvPr/>
        </p:nvSpPr>
        <p:spPr>
          <a:xfrm>
            <a:off x="2418346" y="2064258"/>
            <a:ext cx="7291137" cy="646331"/>
          </a:xfrm>
          <a:prstGeom prst="rect">
            <a:avLst/>
          </a:prstGeom>
          <a:noFill/>
        </p:spPr>
        <p:txBody>
          <a:bodyPr wrap="square" rtlCol="0">
            <a:spAutoFit/>
          </a:bodyPr>
          <a:lstStyle/>
          <a:p>
            <a:pPr algn="ctr"/>
            <a:r>
              <a:rPr lang="en-US" sz="3600" b="1" dirty="0">
                <a:solidFill>
                  <a:schemeClr val="accent5">
                    <a:lumMod val="75000"/>
                  </a:schemeClr>
                </a:solidFill>
              </a:rPr>
              <a:t>OSI</a:t>
            </a:r>
          </a:p>
        </p:txBody>
      </p:sp>
    </p:spTree>
    <p:extLst>
      <p:ext uri="{BB962C8B-B14F-4D97-AF65-F5344CB8AC3E}">
        <p14:creationId xmlns:p14="http://schemas.microsoft.com/office/powerpoint/2010/main" val="3343558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1C815-50CE-B108-C6BE-1F352F8D4E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61A74E-02D9-CAA5-129B-B6828D1F60C9}"/>
              </a:ext>
            </a:extLst>
          </p:cNvPr>
          <p:cNvSpPr>
            <a:spLocks noGrp="1"/>
          </p:cNvSpPr>
          <p:nvPr>
            <p:ph idx="1"/>
          </p:nvPr>
        </p:nvSpPr>
        <p:spPr>
          <a:xfrm>
            <a:off x="582930" y="1565765"/>
            <a:ext cx="11018520" cy="4508434"/>
          </a:xfrm>
        </p:spPr>
        <p:txBody>
          <a:bodyPr vert="horz" lIns="91440" tIns="45720" rIns="91440" bIns="45720" rtlCol="0" anchor="t">
            <a:noAutofit/>
          </a:bodyPr>
          <a:lstStyle/>
          <a:p>
            <a:pPr marL="0" indent="0">
              <a:buNone/>
            </a:pPr>
            <a:r>
              <a:rPr lang="en-US" sz="1400" b="1" dirty="0">
                <a:solidFill>
                  <a:schemeClr val="accent1">
                    <a:lumMod val="50000"/>
                  </a:schemeClr>
                </a:solidFill>
              </a:rPr>
              <a:t>Mission Owner (A5, A1, SAF/IE, etc.):  </a:t>
            </a:r>
            <a:r>
              <a:rPr lang="en-US" sz="1400" dirty="0">
                <a:solidFill>
                  <a:schemeClr val="accent1">
                    <a:lumMod val="50000"/>
                  </a:schemeClr>
                </a:solidFill>
              </a:rPr>
              <a:t>AFOSI/ERC			</a:t>
            </a:r>
          </a:p>
          <a:p>
            <a:pPr marL="0" indent="0">
              <a:buNone/>
            </a:pPr>
            <a:r>
              <a:rPr lang="en-US" sz="1400" b="1" dirty="0">
                <a:solidFill>
                  <a:schemeClr val="accent1">
                    <a:lumMod val="50000"/>
                  </a:schemeClr>
                </a:solidFill>
                <a:highlight>
                  <a:srgbClr val="FFFFFF"/>
                </a:highlight>
              </a:rPr>
              <a:t>Description (2-3 lines): </a:t>
            </a:r>
            <a:r>
              <a:rPr lang="en-US" sz="1400" dirty="0">
                <a:solidFill>
                  <a:schemeClr val="accent1">
                    <a:lumMod val="50000"/>
                  </a:schemeClr>
                </a:solidFill>
                <a:highlight>
                  <a:srgbClr val="FFFFFF"/>
                </a:highlight>
              </a:rPr>
              <a:t>The Department of the Air Force Office of Special Investigations requires artificial intelligence and machine learning (AI/ML) solutions intended to increase the effectiveness and efficiency of law enforcement, counterintelligence, security and military operations planning, execution and reporting requirements.  DoD law enforcement, counterintelligence and security activities require the accurate, timely and auditable synthesis of large volumes of structured and unstructured data processed into Agency-specific formats.  Considerations will be provided to capabilities that help reliably discern truth; expedite sensemaking; automate workflows; and ensure compliance with policy and legal requirements as implemented within Air Force administered data environments. </a:t>
            </a:r>
            <a:endParaRPr lang="en-US" sz="1400" b="1" dirty="0">
              <a:solidFill>
                <a:schemeClr val="accent1">
                  <a:lumMod val="50000"/>
                </a:schemeClr>
              </a:solidFill>
              <a:highlight>
                <a:srgbClr val="FFFFFF"/>
              </a:highlight>
            </a:endParaRPr>
          </a:p>
          <a:p>
            <a:pPr marL="0" indent="0">
              <a:buNone/>
            </a:pPr>
            <a:r>
              <a:rPr lang="en-US" sz="1400" b="1" dirty="0">
                <a:solidFill>
                  <a:schemeClr val="accent1">
                    <a:lumMod val="50000"/>
                  </a:schemeClr>
                </a:solidFill>
              </a:rPr>
              <a:t>Need Date: </a:t>
            </a:r>
            <a:r>
              <a:rPr lang="en-US" sz="1400" dirty="0">
                <a:solidFill>
                  <a:schemeClr val="accent1">
                    <a:lumMod val="50000"/>
                  </a:schemeClr>
                </a:solidFill>
              </a:rPr>
              <a:t>06/30/2025</a:t>
            </a:r>
            <a:endParaRPr lang="en-US" sz="1400" b="1" dirty="0">
              <a:solidFill>
                <a:schemeClr val="accent1">
                  <a:lumMod val="50000"/>
                </a:schemeClr>
              </a:solidFill>
            </a:endParaRPr>
          </a:p>
          <a:p>
            <a:pPr marL="0" indent="0">
              <a:buNone/>
            </a:pPr>
            <a:r>
              <a:rPr lang="en-US" sz="1400" b="1" dirty="0">
                <a:solidFill>
                  <a:schemeClr val="accent1">
                    <a:lumMod val="50000"/>
                  </a:schemeClr>
                </a:solidFill>
              </a:rPr>
              <a:t>Period of Performance:  </a:t>
            </a:r>
            <a:r>
              <a:rPr lang="en-US" sz="1400" dirty="0">
                <a:solidFill>
                  <a:schemeClr val="accent1">
                    <a:lumMod val="50000"/>
                  </a:schemeClr>
                </a:solidFill>
              </a:rPr>
              <a:t>06/30/2025 – 06/29/2028</a:t>
            </a:r>
            <a:endParaRPr lang="en-US" sz="1400" b="1" dirty="0">
              <a:solidFill>
                <a:schemeClr val="accent1">
                  <a:lumMod val="50000"/>
                </a:schemeClr>
              </a:solidFill>
            </a:endParaRPr>
          </a:p>
          <a:p>
            <a:pPr marL="0" indent="0">
              <a:buNone/>
            </a:pPr>
            <a:r>
              <a:rPr lang="en-US" sz="1400" b="1" dirty="0">
                <a:solidFill>
                  <a:schemeClr val="accent1">
                    <a:lumMod val="50000"/>
                  </a:schemeClr>
                </a:solidFill>
              </a:rPr>
              <a:t>Recompete (provide previous contract number) or New Start: </a:t>
            </a:r>
          </a:p>
          <a:p>
            <a:pPr marL="0" indent="0">
              <a:buNone/>
            </a:pPr>
            <a:r>
              <a:rPr lang="en-US" sz="1400" b="1" dirty="0">
                <a:solidFill>
                  <a:schemeClr val="accent1">
                    <a:lumMod val="50000"/>
                  </a:schemeClr>
                </a:solidFill>
              </a:rPr>
              <a:t>Anticipated RFP/RFQ Release Date/Timeframe: </a:t>
            </a:r>
          </a:p>
          <a:p>
            <a:pPr marL="0" indent="0">
              <a:buNone/>
            </a:pPr>
            <a:r>
              <a:rPr lang="en-US" sz="1400" b="1" dirty="0">
                <a:solidFill>
                  <a:schemeClr val="accent1">
                    <a:lumMod val="50000"/>
                  </a:schemeClr>
                </a:solidFill>
              </a:rPr>
              <a:t>Acquisition Strategy (Full &amp; Open, Small Business Set Aside, etc.): </a:t>
            </a:r>
            <a:r>
              <a:rPr lang="en-US" sz="1400" dirty="0">
                <a:solidFill>
                  <a:schemeClr val="accent1">
                    <a:lumMod val="50000"/>
                  </a:schemeClr>
                </a:solidFill>
              </a:rPr>
              <a:t>Other than Full &amp; Open</a:t>
            </a:r>
            <a:endParaRPr lang="en-US" sz="1400" b="1" dirty="0">
              <a:solidFill>
                <a:schemeClr val="accent1">
                  <a:lumMod val="50000"/>
                </a:schemeClr>
              </a:solidFill>
            </a:endParaRPr>
          </a:p>
          <a:p>
            <a:pPr marL="0" indent="0">
              <a:buNone/>
            </a:pPr>
            <a:r>
              <a:rPr lang="en-US" sz="1400" b="1" dirty="0">
                <a:solidFill>
                  <a:schemeClr val="accent1">
                    <a:lumMod val="50000"/>
                  </a:schemeClr>
                </a:solidFill>
              </a:rPr>
              <a:t>Preliminary Evaluation Criteria (HTRO, Past Performance Tradeoff, etc.): </a:t>
            </a:r>
            <a:r>
              <a:rPr lang="en-US" sz="1400" dirty="0">
                <a:solidFill>
                  <a:schemeClr val="accent1">
                    <a:lumMod val="50000"/>
                  </a:schemeClr>
                </a:solidFill>
              </a:rPr>
              <a:t>TBD</a:t>
            </a:r>
            <a:endParaRPr lang="en-US" sz="1400" b="1" dirty="0">
              <a:solidFill>
                <a:schemeClr val="accent1">
                  <a:lumMod val="50000"/>
                </a:schemeClr>
              </a:solidFill>
            </a:endParaRPr>
          </a:p>
          <a:p>
            <a:pPr marL="0" indent="0">
              <a:buNone/>
            </a:pPr>
            <a:r>
              <a:rPr lang="en-US" sz="1400" b="1" dirty="0">
                <a:solidFill>
                  <a:schemeClr val="accent1">
                    <a:lumMod val="50000"/>
                  </a:schemeClr>
                </a:solidFill>
              </a:rPr>
              <a:t>Contract Vehicle Being Used (NASA SEWP, MAS, OASIS+, etc.), if applicable:</a:t>
            </a:r>
          </a:p>
          <a:p>
            <a:pPr marL="0" indent="0">
              <a:buNone/>
            </a:pPr>
            <a:r>
              <a:rPr lang="en-US" sz="1400" b="1" dirty="0">
                <a:solidFill>
                  <a:schemeClr val="accent1">
                    <a:lumMod val="50000"/>
                  </a:schemeClr>
                </a:solidFill>
              </a:rPr>
              <a:t>NAICS: </a:t>
            </a:r>
            <a:r>
              <a:rPr lang="en-US" sz="1400" dirty="0">
                <a:solidFill>
                  <a:schemeClr val="accent1">
                    <a:lumMod val="50000"/>
                  </a:schemeClr>
                </a:solidFill>
              </a:rPr>
              <a:t>511210 – Software Publishers</a:t>
            </a:r>
          </a:p>
          <a:p>
            <a:pPr marL="0" indent="0">
              <a:buNone/>
            </a:pPr>
            <a:r>
              <a:rPr lang="en-US" sz="1200" dirty="0">
                <a:solidFill>
                  <a:schemeClr val="accent1">
                    <a:lumMod val="50000"/>
                  </a:schemeClr>
                </a:solidFill>
              </a:rPr>
              <a:t>				</a:t>
            </a:r>
          </a:p>
        </p:txBody>
      </p:sp>
      <p:pic>
        <p:nvPicPr>
          <p:cNvPr id="4" name="Picture 13" descr="afsymbol">
            <a:extLst>
              <a:ext uri="{FF2B5EF4-FFF2-40B4-BE49-F238E27FC236}">
                <a16:creationId xmlns:a16="http://schemas.microsoft.com/office/drawing/2014/main" id="{5DD254B7-EF3A-3E10-66F3-3D87F1A559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545A2A51-F9C7-1748-39BF-7B1253B33707}"/>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5CEEE0A-1B8B-6732-9A64-A3E2685C925A}"/>
              </a:ext>
            </a:extLst>
          </p:cNvPr>
          <p:cNvSpPr txBox="1"/>
          <p:nvPr/>
        </p:nvSpPr>
        <p:spPr>
          <a:xfrm>
            <a:off x="2808514" y="231266"/>
            <a:ext cx="8872946" cy="1384995"/>
          </a:xfrm>
          <a:prstGeom prst="rect">
            <a:avLst/>
          </a:prstGeom>
          <a:noFill/>
        </p:spPr>
        <p:txBody>
          <a:bodyPr wrap="square" rtlCol="0">
            <a:spAutoFit/>
          </a:bodyPr>
          <a:lstStyle/>
          <a:p>
            <a:pPr marL="0" marR="0" algn="r"/>
            <a:r>
              <a:rPr lang="en-US" sz="2800" b="1" i="1" dirty="0">
                <a:effectLst/>
                <a:ea typeface="Times New Roman" panose="02020603050405020304" pitchFamily="18" charset="0"/>
              </a:rPr>
              <a:t>ARTIFICIAL INTELLIGENCE/MACHINE LEARNING INTEGRATION, PROCESSING, &amp; SYNTHESIS FOR LAW ENFORCEMENT, COUNTERINTELLIGENCE &amp; SECURITY </a:t>
            </a:r>
            <a:endParaRPr lang="en-US" sz="2800" b="1" i="1" dirty="0">
              <a:highlight>
                <a:srgbClr val="FFFF00"/>
              </a:highlight>
            </a:endParaRPr>
          </a:p>
        </p:txBody>
      </p:sp>
      <p:sp>
        <p:nvSpPr>
          <p:cNvPr id="10" name="Slide Number Placeholder 9">
            <a:extLst>
              <a:ext uri="{FF2B5EF4-FFF2-40B4-BE49-F238E27FC236}">
                <a16:creationId xmlns:a16="http://schemas.microsoft.com/office/drawing/2014/main" id="{83F3A4B7-616E-20FD-607B-F6092A2FEEE8}"/>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5</a:t>
            </a:fld>
            <a:endParaRPr lang="en-US" sz="1600" b="1" dirty="0">
              <a:solidFill>
                <a:schemeClr val="accent5">
                  <a:lumMod val="75000"/>
                </a:schemeClr>
              </a:solidFill>
            </a:endParaRPr>
          </a:p>
        </p:txBody>
      </p:sp>
    </p:spTree>
    <p:extLst>
      <p:ext uri="{BB962C8B-B14F-4D97-AF65-F5344CB8AC3E}">
        <p14:creationId xmlns:p14="http://schemas.microsoft.com/office/powerpoint/2010/main" val="4162901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5A76E-B757-C218-9EBA-3916018443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062A59-E186-01A4-631D-7FB42253EED5}"/>
              </a:ext>
            </a:extLst>
          </p:cNvPr>
          <p:cNvSpPr>
            <a:spLocks noGrp="1"/>
          </p:cNvSpPr>
          <p:nvPr>
            <p:ph idx="1"/>
          </p:nvPr>
        </p:nvSpPr>
        <p:spPr>
          <a:xfrm>
            <a:off x="582930" y="1565765"/>
            <a:ext cx="11018520" cy="4508434"/>
          </a:xfrm>
        </p:spPr>
        <p:txBody>
          <a:bodyPr vert="horz" lIns="91440" tIns="45720" rIns="91440" bIns="45720" rtlCol="0" anchor="t">
            <a:noAutofit/>
          </a:bodyPr>
          <a:lstStyle/>
          <a:p>
            <a:pPr marL="0" indent="0">
              <a:buNone/>
            </a:pPr>
            <a:r>
              <a:rPr lang="en-US" sz="1400" b="1" dirty="0">
                <a:solidFill>
                  <a:schemeClr val="accent1">
                    <a:lumMod val="50000"/>
                  </a:schemeClr>
                </a:solidFill>
              </a:rPr>
              <a:t>Mission Owner (A5, A1, SAF/IE, etc.):  </a:t>
            </a:r>
            <a:r>
              <a:rPr lang="en-US" sz="1400" dirty="0">
                <a:solidFill>
                  <a:schemeClr val="accent1">
                    <a:lumMod val="50000"/>
                  </a:schemeClr>
                </a:solidFill>
              </a:rPr>
              <a:t>AFOSI/ERC			</a:t>
            </a:r>
          </a:p>
          <a:p>
            <a:pPr marL="0" indent="0">
              <a:buNone/>
            </a:pPr>
            <a:r>
              <a:rPr lang="en-US" sz="1400" b="1" dirty="0">
                <a:solidFill>
                  <a:schemeClr val="accent1">
                    <a:lumMod val="50000"/>
                  </a:schemeClr>
                </a:solidFill>
              </a:rPr>
              <a:t>Description (2-3 lines): </a:t>
            </a:r>
            <a:r>
              <a:rPr lang="en-US" sz="1400" dirty="0">
                <a:solidFill>
                  <a:schemeClr val="accent1">
                    <a:lumMod val="50000"/>
                  </a:schemeClr>
                </a:solidFill>
              </a:rPr>
              <a:t>The Department of the Air Force Office of Special Investigations requires the delivery of secure cybersecurity-informed solutions leveraging commercial technologies and products to deliver access to classified information systems via non-standard means.  Proposals must be registered with the National Security Agency’s Commercial Solutions for Classified (CSfC) Program, and capabilities to support/enable mobile access, Campus Wide Local Area Networks (WLAN), and Multi-Site Connectivity. </a:t>
            </a:r>
            <a:endParaRPr lang="en-US" sz="1400" b="1" dirty="0">
              <a:solidFill>
                <a:schemeClr val="accent1">
                  <a:lumMod val="50000"/>
                </a:schemeClr>
              </a:solidFill>
            </a:endParaRPr>
          </a:p>
          <a:p>
            <a:pPr marL="0" indent="0">
              <a:buNone/>
            </a:pPr>
            <a:r>
              <a:rPr lang="en-US" sz="1400" b="1" dirty="0">
                <a:solidFill>
                  <a:schemeClr val="accent1">
                    <a:lumMod val="50000"/>
                  </a:schemeClr>
                </a:solidFill>
              </a:rPr>
              <a:t>Need Date: </a:t>
            </a:r>
            <a:r>
              <a:rPr lang="en-US" sz="1400" dirty="0">
                <a:solidFill>
                  <a:schemeClr val="accent1">
                    <a:lumMod val="50000"/>
                  </a:schemeClr>
                </a:solidFill>
              </a:rPr>
              <a:t>06/30/2025</a:t>
            </a:r>
            <a:endParaRPr lang="en-US" sz="1400" b="1" dirty="0">
              <a:solidFill>
                <a:schemeClr val="accent1">
                  <a:lumMod val="50000"/>
                </a:schemeClr>
              </a:solidFill>
            </a:endParaRPr>
          </a:p>
          <a:p>
            <a:pPr marL="0" indent="0">
              <a:buNone/>
            </a:pPr>
            <a:r>
              <a:rPr lang="en-US" sz="1400" b="1" dirty="0">
                <a:solidFill>
                  <a:schemeClr val="accent1">
                    <a:lumMod val="50000"/>
                  </a:schemeClr>
                </a:solidFill>
              </a:rPr>
              <a:t>Period of Performance:  </a:t>
            </a:r>
            <a:r>
              <a:rPr lang="en-US" sz="1400" dirty="0">
                <a:solidFill>
                  <a:schemeClr val="accent1">
                    <a:lumMod val="50000"/>
                  </a:schemeClr>
                </a:solidFill>
              </a:rPr>
              <a:t>06/30/2025 – 06/29/2028</a:t>
            </a:r>
            <a:endParaRPr lang="en-US" sz="1400" b="1" dirty="0">
              <a:solidFill>
                <a:schemeClr val="accent1">
                  <a:lumMod val="50000"/>
                </a:schemeClr>
              </a:solidFill>
            </a:endParaRPr>
          </a:p>
          <a:p>
            <a:pPr marL="0" indent="0">
              <a:buNone/>
            </a:pPr>
            <a:r>
              <a:rPr lang="en-US" sz="1400" b="1" dirty="0">
                <a:solidFill>
                  <a:schemeClr val="accent1">
                    <a:lumMod val="50000"/>
                  </a:schemeClr>
                </a:solidFill>
              </a:rPr>
              <a:t>Recompete (provide previous contract number) or New Start: </a:t>
            </a:r>
          </a:p>
          <a:p>
            <a:pPr marL="0" indent="0">
              <a:buNone/>
            </a:pPr>
            <a:r>
              <a:rPr lang="en-US" sz="1400" b="1" dirty="0">
                <a:solidFill>
                  <a:schemeClr val="accent1">
                    <a:lumMod val="50000"/>
                  </a:schemeClr>
                </a:solidFill>
              </a:rPr>
              <a:t>Anticipated RFP/RFQ Release Date/Timeframe: </a:t>
            </a:r>
          </a:p>
          <a:p>
            <a:pPr marL="0" indent="0">
              <a:buNone/>
            </a:pPr>
            <a:r>
              <a:rPr lang="en-US" sz="1400" b="1" dirty="0">
                <a:solidFill>
                  <a:schemeClr val="accent1">
                    <a:lumMod val="50000"/>
                  </a:schemeClr>
                </a:solidFill>
              </a:rPr>
              <a:t>Acquisition Strategy (Full &amp; Open, Small Business Set Aside, etc.): </a:t>
            </a:r>
            <a:r>
              <a:rPr lang="en-US" sz="1400" dirty="0">
                <a:solidFill>
                  <a:schemeClr val="accent1">
                    <a:lumMod val="50000"/>
                  </a:schemeClr>
                </a:solidFill>
              </a:rPr>
              <a:t>Other than Full &amp; Open</a:t>
            </a:r>
            <a:endParaRPr lang="en-US" sz="1400" b="1" dirty="0">
              <a:solidFill>
                <a:schemeClr val="accent1">
                  <a:lumMod val="50000"/>
                </a:schemeClr>
              </a:solidFill>
            </a:endParaRPr>
          </a:p>
          <a:p>
            <a:pPr marL="0" indent="0">
              <a:buNone/>
            </a:pPr>
            <a:r>
              <a:rPr lang="en-US" sz="1400" b="1" dirty="0">
                <a:solidFill>
                  <a:schemeClr val="accent1">
                    <a:lumMod val="50000"/>
                  </a:schemeClr>
                </a:solidFill>
              </a:rPr>
              <a:t>Preliminary Evaluation Criteria (HTRO, Past Performance Tradeoff, etc.): </a:t>
            </a:r>
            <a:r>
              <a:rPr lang="en-US" sz="1400" dirty="0">
                <a:solidFill>
                  <a:schemeClr val="accent1">
                    <a:lumMod val="50000"/>
                  </a:schemeClr>
                </a:solidFill>
              </a:rPr>
              <a:t>TBD</a:t>
            </a:r>
            <a:endParaRPr lang="en-US" sz="1400" b="1" dirty="0">
              <a:solidFill>
                <a:schemeClr val="accent1">
                  <a:lumMod val="50000"/>
                </a:schemeClr>
              </a:solidFill>
            </a:endParaRPr>
          </a:p>
          <a:p>
            <a:pPr marL="0" indent="0">
              <a:buNone/>
            </a:pPr>
            <a:r>
              <a:rPr lang="en-US" sz="1400" b="1" dirty="0">
                <a:solidFill>
                  <a:schemeClr val="accent1">
                    <a:lumMod val="50000"/>
                  </a:schemeClr>
                </a:solidFill>
              </a:rPr>
              <a:t>Contract Vehicle Being Used (NASA SEWP, MAS, OASIS+, etc.), if applicable:</a:t>
            </a:r>
          </a:p>
          <a:p>
            <a:pPr marL="0" indent="0">
              <a:buNone/>
            </a:pPr>
            <a:r>
              <a:rPr lang="en-US" sz="1400" b="1" dirty="0">
                <a:solidFill>
                  <a:schemeClr val="accent1">
                    <a:lumMod val="50000"/>
                  </a:schemeClr>
                </a:solidFill>
              </a:rPr>
              <a:t>NAICS: </a:t>
            </a:r>
            <a:r>
              <a:rPr lang="en-US" sz="1400" dirty="0">
                <a:solidFill>
                  <a:schemeClr val="accent1">
                    <a:lumMod val="50000"/>
                  </a:schemeClr>
                </a:solidFill>
              </a:rPr>
              <a:t>511210 – Software Publishers</a:t>
            </a:r>
          </a:p>
          <a:p>
            <a:pPr marL="0" indent="0">
              <a:buNone/>
            </a:pPr>
            <a:r>
              <a:rPr lang="en-US" sz="1200" dirty="0">
                <a:solidFill>
                  <a:schemeClr val="accent1">
                    <a:lumMod val="50000"/>
                  </a:schemeClr>
                </a:solidFill>
              </a:rPr>
              <a:t>				</a:t>
            </a:r>
          </a:p>
        </p:txBody>
      </p:sp>
      <p:pic>
        <p:nvPicPr>
          <p:cNvPr id="4" name="Picture 13" descr="afsymbol">
            <a:extLst>
              <a:ext uri="{FF2B5EF4-FFF2-40B4-BE49-F238E27FC236}">
                <a16:creationId xmlns:a16="http://schemas.microsoft.com/office/drawing/2014/main" id="{EEDC4DE6-D540-ABBC-18C8-0D6FC647862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4B6A9289-4B27-E0B1-0718-E8ED7DDCBD88}"/>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90D91A0-0558-B897-6F18-5D5651627C13}"/>
              </a:ext>
            </a:extLst>
          </p:cNvPr>
          <p:cNvSpPr txBox="1"/>
          <p:nvPr/>
        </p:nvSpPr>
        <p:spPr>
          <a:xfrm>
            <a:off x="2808514" y="611658"/>
            <a:ext cx="8872946" cy="954107"/>
          </a:xfrm>
          <a:prstGeom prst="rect">
            <a:avLst/>
          </a:prstGeom>
          <a:noFill/>
        </p:spPr>
        <p:txBody>
          <a:bodyPr wrap="square" rtlCol="0">
            <a:spAutoFit/>
          </a:bodyPr>
          <a:lstStyle/>
          <a:p>
            <a:pPr marL="0" marR="0" algn="r"/>
            <a:r>
              <a:rPr lang="en-US" sz="2800" b="1" i="1" dirty="0">
                <a:highlight>
                  <a:srgbClr val="FFFFFF"/>
                </a:highlight>
              </a:rPr>
              <a:t>COMMERCIAL SOLUTIONS TO PROVISION ACCESS TO CLASSIFIED INFORMATION SYSTEMS</a:t>
            </a:r>
          </a:p>
        </p:txBody>
      </p:sp>
      <p:sp>
        <p:nvSpPr>
          <p:cNvPr id="10" name="Slide Number Placeholder 9">
            <a:extLst>
              <a:ext uri="{FF2B5EF4-FFF2-40B4-BE49-F238E27FC236}">
                <a16:creationId xmlns:a16="http://schemas.microsoft.com/office/drawing/2014/main" id="{51AEF307-49BF-21B1-DDF0-4958BBEBF874}"/>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6</a:t>
            </a:fld>
            <a:endParaRPr lang="en-US" sz="1600" b="1" dirty="0">
              <a:solidFill>
                <a:schemeClr val="accent5">
                  <a:lumMod val="75000"/>
                </a:schemeClr>
              </a:solidFill>
            </a:endParaRPr>
          </a:p>
        </p:txBody>
      </p:sp>
    </p:spTree>
    <p:extLst>
      <p:ext uri="{BB962C8B-B14F-4D97-AF65-F5344CB8AC3E}">
        <p14:creationId xmlns:p14="http://schemas.microsoft.com/office/powerpoint/2010/main" val="3880278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0F3DC-5F81-F77A-CD50-DD1E50CB500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7F43A7-3044-1215-A63A-8D4B79FFFD34}"/>
              </a:ext>
            </a:extLst>
          </p:cNvPr>
          <p:cNvSpPr>
            <a:spLocks noGrp="1"/>
          </p:cNvSpPr>
          <p:nvPr>
            <p:ph idx="1"/>
          </p:nvPr>
        </p:nvSpPr>
        <p:spPr>
          <a:xfrm>
            <a:off x="582930" y="1565764"/>
            <a:ext cx="11018520" cy="4886459"/>
          </a:xfrm>
        </p:spPr>
        <p:txBody>
          <a:bodyPr vert="horz" lIns="91440" tIns="45720" rIns="91440" bIns="45720" rtlCol="0" anchor="t">
            <a:noAutofit/>
          </a:bodyPr>
          <a:lstStyle/>
          <a:p>
            <a:pPr marL="0" indent="0">
              <a:buNone/>
            </a:pPr>
            <a:r>
              <a:rPr lang="en-US" sz="1400" b="1" dirty="0">
                <a:solidFill>
                  <a:schemeClr val="accent1">
                    <a:lumMod val="50000"/>
                  </a:schemeClr>
                </a:solidFill>
              </a:rPr>
              <a:t>Mission Owner (A5, A1, SAF/IE, etc.):  </a:t>
            </a:r>
            <a:r>
              <a:rPr lang="en-US" sz="1400" dirty="0">
                <a:solidFill>
                  <a:schemeClr val="accent1">
                    <a:lumMod val="50000"/>
                  </a:schemeClr>
                </a:solidFill>
              </a:rPr>
              <a:t>AFOSI/ERC			</a:t>
            </a:r>
          </a:p>
          <a:p>
            <a:pPr marL="0" indent="0">
              <a:buNone/>
            </a:pPr>
            <a:r>
              <a:rPr lang="en-US" sz="1400" b="1" dirty="0">
                <a:solidFill>
                  <a:schemeClr val="accent1">
                    <a:lumMod val="50000"/>
                  </a:schemeClr>
                </a:solidFill>
              </a:rPr>
              <a:t>Description (2-3 lines): </a:t>
            </a:r>
            <a:r>
              <a:rPr lang="en-US" sz="1400" dirty="0">
                <a:solidFill>
                  <a:schemeClr val="accent1">
                    <a:lumMod val="50000"/>
                  </a:schemeClr>
                </a:solidFill>
              </a:rPr>
              <a:t>The Department of the Air Force Office of Special Investigations requires high quality audio and visual recording equipment to record interviews in fixed and mobile setting.  System must be easy to activate with recordings downloadable into standard formats – with no proprietary programming.  Systems must display time and date stamps (time zone appropriate); provide for no-less-than four hours of continuous recording; and be capable of integrating data storage into a cloud-based, multi-security level environment within a single sensor-based package.  Camera must allow for clear &amp; undistorted view of interview(s) capable to capture facial expressions and body language. Microphones must be integrated/synchronized with camera systems with recording quality sufficiently sensitive to record the quietest of whispers.  Wireless systems and time lapse recording solutions will not be considered in support of fixed solution requirements. </a:t>
            </a:r>
            <a:endParaRPr lang="en-US" sz="1400" b="1" dirty="0">
              <a:solidFill>
                <a:schemeClr val="accent1">
                  <a:lumMod val="50000"/>
                </a:schemeClr>
              </a:solidFill>
            </a:endParaRPr>
          </a:p>
          <a:p>
            <a:pPr marL="0" indent="0">
              <a:buNone/>
            </a:pPr>
            <a:r>
              <a:rPr lang="en-US" sz="1400" b="1" dirty="0">
                <a:solidFill>
                  <a:schemeClr val="accent1">
                    <a:lumMod val="50000"/>
                  </a:schemeClr>
                </a:solidFill>
              </a:rPr>
              <a:t>Need Date: </a:t>
            </a:r>
            <a:r>
              <a:rPr lang="en-US" sz="1400" dirty="0">
                <a:solidFill>
                  <a:schemeClr val="accent1">
                    <a:lumMod val="50000"/>
                  </a:schemeClr>
                </a:solidFill>
              </a:rPr>
              <a:t>06/30/2025</a:t>
            </a:r>
            <a:endParaRPr lang="en-US" sz="1400" b="1" dirty="0">
              <a:solidFill>
                <a:schemeClr val="accent1">
                  <a:lumMod val="50000"/>
                </a:schemeClr>
              </a:solidFill>
            </a:endParaRPr>
          </a:p>
          <a:p>
            <a:pPr marL="0" indent="0">
              <a:buNone/>
            </a:pPr>
            <a:r>
              <a:rPr lang="en-US" sz="1400" b="1" dirty="0">
                <a:solidFill>
                  <a:schemeClr val="accent1">
                    <a:lumMod val="50000"/>
                  </a:schemeClr>
                </a:solidFill>
              </a:rPr>
              <a:t>Period of Performance:  </a:t>
            </a:r>
            <a:r>
              <a:rPr lang="en-US" sz="1400" dirty="0">
                <a:solidFill>
                  <a:schemeClr val="accent1">
                    <a:lumMod val="50000"/>
                  </a:schemeClr>
                </a:solidFill>
              </a:rPr>
              <a:t>06/30/2025 – 06/29/2028</a:t>
            </a:r>
            <a:endParaRPr lang="en-US" sz="1400" b="1" dirty="0">
              <a:solidFill>
                <a:schemeClr val="accent1">
                  <a:lumMod val="50000"/>
                </a:schemeClr>
              </a:solidFill>
            </a:endParaRPr>
          </a:p>
          <a:p>
            <a:pPr marL="0" indent="0">
              <a:buNone/>
            </a:pPr>
            <a:r>
              <a:rPr lang="en-US" sz="1400" b="1" dirty="0">
                <a:solidFill>
                  <a:schemeClr val="accent1">
                    <a:lumMod val="50000"/>
                  </a:schemeClr>
                </a:solidFill>
              </a:rPr>
              <a:t>Recompete (provide previous contract number) or New Start: </a:t>
            </a:r>
          </a:p>
          <a:p>
            <a:pPr marL="0" indent="0">
              <a:buNone/>
            </a:pPr>
            <a:r>
              <a:rPr lang="en-US" sz="1400" b="1" dirty="0">
                <a:solidFill>
                  <a:schemeClr val="accent1">
                    <a:lumMod val="50000"/>
                  </a:schemeClr>
                </a:solidFill>
              </a:rPr>
              <a:t>Anticipated RFP/RFQ Release Date/Timeframe: </a:t>
            </a:r>
          </a:p>
          <a:p>
            <a:pPr marL="0" indent="0">
              <a:buNone/>
            </a:pPr>
            <a:r>
              <a:rPr lang="en-US" sz="1400" b="1" dirty="0">
                <a:solidFill>
                  <a:schemeClr val="accent1">
                    <a:lumMod val="50000"/>
                  </a:schemeClr>
                </a:solidFill>
              </a:rPr>
              <a:t>Acquisition Strategy (Full &amp; Open, Small Business Set Aside, etc.): </a:t>
            </a:r>
            <a:r>
              <a:rPr lang="en-US" sz="1400" dirty="0">
                <a:solidFill>
                  <a:schemeClr val="accent1">
                    <a:lumMod val="50000"/>
                  </a:schemeClr>
                </a:solidFill>
              </a:rPr>
              <a:t>Other than Full &amp; Open</a:t>
            </a:r>
            <a:endParaRPr lang="en-US" sz="1400" b="1" dirty="0">
              <a:solidFill>
                <a:schemeClr val="accent1">
                  <a:lumMod val="50000"/>
                </a:schemeClr>
              </a:solidFill>
            </a:endParaRPr>
          </a:p>
          <a:p>
            <a:pPr marL="0" indent="0">
              <a:buNone/>
            </a:pPr>
            <a:r>
              <a:rPr lang="en-US" sz="1400" b="1" dirty="0">
                <a:solidFill>
                  <a:schemeClr val="accent1">
                    <a:lumMod val="50000"/>
                  </a:schemeClr>
                </a:solidFill>
              </a:rPr>
              <a:t>Preliminary Evaluation Criteria (HTRO, Past Performance Tradeoff, etc.): </a:t>
            </a:r>
            <a:r>
              <a:rPr lang="en-US" sz="1400" dirty="0">
                <a:solidFill>
                  <a:schemeClr val="accent1">
                    <a:lumMod val="50000"/>
                  </a:schemeClr>
                </a:solidFill>
              </a:rPr>
              <a:t>TBD</a:t>
            </a:r>
            <a:endParaRPr lang="en-US" sz="1400" b="1" dirty="0">
              <a:solidFill>
                <a:schemeClr val="accent1">
                  <a:lumMod val="50000"/>
                </a:schemeClr>
              </a:solidFill>
            </a:endParaRPr>
          </a:p>
          <a:p>
            <a:pPr marL="0" indent="0">
              <a:buNone/>
            </a:pPr>
            <a:r>
              <a:rPr lang="en-US" sz="1400" b="1" dirty="0">
                <a:solidFill>
                  <a:schemeClr val="accent1">
                    <a:lumMod val="50000"/>
                  </a:schemeClr>
                </a:solidFill>
              </a:rPr>
              <a:t>Contract Vehicle Being Used (NASA SEWP, MAS, OASIS+, etc.), if applicable:</a:t>
            </a:r>
          </a:p>
          <a:p>
            <a:pPr marL="0" indent="0">
              <a:buNone/>
            </a:pPr>
            <a:r>
              <a:rPr lang="en-US" sz="1400" b="1" dirty="0">
                <a:solidFill>
                  <a:schemeClr val="accent1">
                    <a:lumMod val="50000"/>
                  </a:schemeClr>
                </a:solidFill>
              </a:rPr>
              <a:t>NAICS: </a:t>
            </a:r>
            <a:r>
              <a:rPr lang="en-US" sz="1400" dirty="0">
                <a:solidFill>
                  <a:schemeClr val="accent1">
                    <a:lumMod val="50000"/>
                  </a:schemeClr>
                </a:solidFill>
              </a:rPr>
              <a:t>511210 – Software Publishers</a:t>
            </a:r>
          </a:p>
          <a:p>
            <a:pPr marL="0" indent="0">
              <a:buNone/>
            </a:pPr>
            <a:r>
              <a:rPr lang="en-US" sz="1200" dirty="0">
                <a:solidFill>
                  <a:schemeClr val="accent1">
                    <a:lumMod val="50000"/>
                  </a:schemeClr>
                </a:solidFill>
              </a:rPr>
              <a:t>				</a:t>
            </a:r>
          </a:p>
        </p:txBody>
      </p:sp>
      <p:pic>
        <p:nvPicPr>
          <p:cNvPr id="4" name="Picture 13" descr="afsymbol">
            <a:extLst>
              <a:ext uri="{FF2B5EF4-FFF2-40B4-BE49-F238E27FC236}">
                <a16:creationId xmlns:a16="http://schemas.microsoft.com/office/drawing/2014/main" id="{21067547-DEDF-4375-2B27-A2D693D158D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F21EB69D-16CF-34B9-87E3-65C8074FA76F}"/>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BDBF58C-AEC3-5B56-5F6C-4B04D9D1784C}"/>
              </a:ext>
            </a:extLst>
          </p:cNvPr>
          <p:cNvSpPr txBox="1"/>
          <p:nvPr/>
        </p:nvSpPr>
        <p:spPr>
          <a:xfrm>
            <a:off x="2808514" y="1013247"/>
            <a:ext cx="8872946" cy="523220"/>
          </a:xfrm>
          <a:prstGeom prst="rect">
            <a:avLst/>
          </a:prstGeom>
          <a:noFill/>
        </p:spPr>
        <p:txBody>
          <a:bodyPr wrap="square" rtlCol="0">
            <a:spAutoFit/>
          </a:bodyPr>
          <a:lstStyle/>
          <a:p>
            <a:pPr marL="0" marR="0" algn="r"/>
            <a:r>
              <a:rPr lang="en-US" sz="2800" b="1" i="1" dirty="0">
                <a:highlight>
                  <a:srgbClr val="FFFFFF"/>
                </a:highlight>
              </a:rPr>
              <a:t>LAW ENFORCEMENT INTERVIEW RECORDING SYSTEMS</a:t>
            </a:r>
          </a:p>
        </p:txBody>
      </p:sp>
      <p:sp>
        <p:nvSpPr>
          <p:cNvPr id="10" name="Slide Number Placeholder 9">
            <a:extLst>
              <a:ext uri="{FF2B5EF4-FFF2-40B4-BE49-F238E27FC236}">
                <a16:creationId xmlns:a16="http://schemas.microsoft.com/office/drawing/2014/main" id="{29046550-74BD-571B-0BC5-60E0D4FA741D}"/>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7</a:t>
            </a:fld>
            <a:endParaRPr lang="en-US" sz="1600" b="1" dirty="0">
              <a:solidFill>
                <a:schemeClr val="accent5">
                  <a:lumMod val="75000"/>
                </a:schemeClr>
              </a:solidFill>
            </a:endParaRPr>
          </a:p>
        </p:txBody>
      </p:sp>
    </p:spTree>
    <p:extLst>
      <p:ext uri="{BB962C8B-B14F-4D97-AF65-F5344CB8AC3E}">
        <p14:creationId xmlns:p14="http://schemas.microsoft.com/office/powerpoint/2010/main" val="370330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EA398-D349-D67B-E034-8925F73F31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784BAB-AB43-D80C-9DCE-24F2B2567A8F}"/>
              </a:ext>
            </a:extLst>
          </p:cNvPr>
          <p:cNvSpPr>
            <a:spLocks noGrp="1"/>
          </p:cNvSpPr>
          <p:nvPr>
            <p:ph idx="1"/>
          </p:nvPr>
        </p:nvSpPr>
        <p:spPr>
          <a:xfrm>
            <a:off x="582930" y="1565765"/>
            <a:ext cx="11018520" cy="4508434"/>
          </a:xfrm>
        </p:spPr>
        <p:txBody>
          <a:bodyPr vert="horz" lIns="91440" tIns="45720" rIns="91440" bIns="45720" rtlCol="0" anchor="t">
            <a:noAutofit/>
          </a:bodyPr>
          <a:lstStyle/>
          <a:p>
            <a:pPr marL="0" indent="0">
              <a:buNone/>
            </a:pPr>
            <a:r>
              <a:rPr lang="en-US" sz="1200" b="1" dirty="0">
                <a:solidFill>
                  <a:schemeClr val="accent1">
                    <a:lumMod val="50000"/>
                  </a:schemeClr>
                </a:solidFill>
              </a:rPr>
              <a:t>Mission Owner (A5, A1, SAF/IE, etc.):  </a:t>
            </a:r>
            <a:r>
              <a:rPr lang="en-US" sz="1200" dirty="0">
                <a:solidFill>
                  <a:schemeClr val="accent1">
                    <a:lumMod val="50000"/>
                  </a:schemeClr>
                </a:solidFill>
              </a:rPr>
              <a:t>AFOSI/ERC			</a:t>
            </a:r>
          </a:p>
          <a:p>
            <a:pPr marL="0" indent="0">
              <a:buNone/>
            </a:pPr>
            <a:r>
              <a:rPr lang="en-US" sz="1200" b="1" dirty="0">
                <a:solidFill>
                  <a:schemeClr val="accent1">
                    <a:lumMod val="50000"/>
                  </a:schemeClr>
                </a:solidFill>
              </a:rPr>
              <a:t>Description (2-3 lines): </a:t>
            </a:r>
            <a:r>
              <a:rPr lang="en-US" sz="1200" dirty="0">
                <a:solidFill>
                  <a:schemeClr val="accent1">
                    <a:lumMod val="50000"/>
                  </a:schemeClr>
                </a:solidFill>
              </a:rPr>
              <a:t>The Department of the Air Force Office of Special Investigations requires direct commercial support to evaluate the current curriculum and develop curriculum in support of DoD law enforcement, counterintelligence and military operations support to Executive Order 14157, Executive Order 14167 and CDRUSNORTHCOM, CDRUSSOUTHCOM, CDRUSINDOPACOM and CDRUSEUCOM Posture Statements.  Training options must range from basic through advanced development programs that tailor curriculum that incorporates known and anticipated threats encountered by DoD law enforcement, counterintelligence and security Special Agents, while also blending contemporary learning methodologies emphasizing hands-on demonstration of defined learning objectives.  Through the development of tailored mission essential task list(s), provide timely, comprehensive and thorough technical scenario-based training.  Further, training cadre should have practical experience and necessary qualifications to provide mentorship to meet curriculum and learning objectives.  Training areas must include but limited to, ubiquitous technical surveillance; close target/discreet physical surveillance; signature reduction; surveillance detection; safe traveler; mission planning; exercise development and operational rehearsals; logistics; procurement; contingency activities; and integration with Host Nation, U.S. Embassy and Theater Special Operations Command elements.</a:t>
            </a:r>
            <a:endParaRPr lang="en-US" sz="1200" b="1" dirty="0">
              <a:solidFill>
                <a:schemeClr val="accent1">
                  <a:lumMod val="50000"/>
                </a:schemeClr>
              </a:solidFill>
            </a:endParaRPr>
          </a:p>
          <a:p>
            <a:pPr marL="0" indent="0">
              <a:buNone/>
            </a:pPr>
            <a:r>
              <a:rPr lang="en-US" sz="1200" b="1" dirty="0">
                <a:solidFill>
                  <a:schemeClr val="accent1">
                    <a:lumMod val="50000"/>
                  </a:schemeClr>
                </a:solidFill>
              </a:rPr>
              <a:t>Need Date: </a:t>
            </a:r>
            <a:r>
              <a:rPr lang="en-US" sz="1200" dirty="0">
                <a:solidFill>
                  <a:schemeClr val="accent1">
                    <a:lumMod val="50000"/>
                  </a:schemeClr>
                </a:solidFill>
              </a:rPr>
              <a:t>06/30/2025</a:t>
            </a:r>
            <a:endParaRPr lang="en-US" sz="1200" b="1" dirty="0">
              <a:solidFill>
                <a:schemeClr val="accent1">
                  <a:lumMod val="50000"/>
                </a:schemeClr>
              </a:solidFill>
            </a:endParaRPr>
          </a:p>
          <a:p>
            <a:pPr marL="0" indent="0">
              <a:buNone/>
            </a:pPr>
            <a:r>
              <a:rPr lang="en-US" sz="1200" b="1" dirty="0">
                <a:solidFill>
                  <a:schemeClr val="accent1">
                    <a:lumMod val="50000"/>
                  </a:schemeClr>
                </a:solidFill>
              </a:rPr>
              <a:t>Period of Performance:  </a:t>
            </a:r>
            <a:r>
              <a:rPr lang="en-US" sz="1200" dirty="0">
                <a:solidFill>
                  <a:schemeClr val="accent1">
                    <a:lumMod val="50000"/>
                  </a:schemeClr>
                </a:solidFill>
              </a:rPr>
              <a:t>06/30/2025 – 06/29/2028</a:t>
            </a:r>
            <a:endParaRPr lang="en-US" sz="1200" b="1" dirty="0">
              <a:solidFill>
                <a:schemeClr val="accent1">
                  <a:lumMod val="50000"/>
                </a:schemeClr>
              </a:solidFill>
            </a:endParaRPr>
          </a:p>
          <a:p>
            <a:pPr marL="0" indent="0">
              <a:buNone/>
            </a:pPr>
            <a:r>
              <a:rPr lang="en-US" sz="1200" b="1" dirty="0">
                <a:solidFill>
                  <a:schemeClr val="accent1">
                    <a:lumMod val="50000"/>
                  </a:schemeClr>
                </a:solidFill>
              </a:rPr>
              <a:t>Recompete (provide previous contract number) or New Start: </a:t>
            </a:r>
          </a:p>
          <a:p>
            <a:pPr marL="0" indent="0">
              <a:buNone/>
            </a:pPr>
            <a:r>
              <a:rPr lang="en-US" sz="1200" b="1" dirty="0">
                <a:solidFill>
                  <a:schemeClr val="accent1">
                    <a:lumMod val="50000"/>
                  </a:schemeClr>
                </a:solidFill>
              </a:rPr>
              <a:t>Anticipated RFP/RFQ Release Date/Timeframe: </a:t>
            </a:r>
          </a:p>
          <a:p>
            <a:pPr marL="0" indent="0">
              <a:buNone/>
            </a:pPr>
            <a:r>
              <a:rPr lang="en-US" sz="1200" b="1" dirty="0">
                <a:solidFill>
                  <a:schemeClr val="accent1">
                    <a:lumMod val="50000"/>
                  </a:schemeClr>
                </a:solidFill>
              </a:rPr>
              <a:t>Acquisition Strategy (Full &amp; Open, Small Business Set Aside, etc.): </a:t>
            </a:r>
            <a:r>
              <a:rPr lang="en-US" sz="1200" dirty="0">
                <a:solidFill>
                  <a:schemeClr val="accent1">
                    <a:lumMod val="50000"/>
                  </a:schemeClr>
                </a:solidFill>
              </a:rPr>
              <a:t>Other than Full &amp; Open</a:t>
            </a:r>
            <a:endParaRPr lang="en-US" sz="1200" b="1" dirty="0">
              <a:solidFill>
                <a:schemeClr val="accent1">
                  <a:lumMod val="50000"/>
                </a:schemeClr>
              </a:solidFill>
            </a:endParaRPr>
          </a:p>
          <a:p>
            <a:pPr marL="0" indent="0">
              <a:buNone/>
            </a:pPr>
            <a:r>
              <a:rPr lang="en-US" sz="1200" b="1" dirty="0">
                <a:solidFill>
                  <a:schemeClr val="accent1">
                    <a:lumMod val="50000"/>
                  </a:schemeClr>
                </a:solidFill>
              </a:rPr>
              <a:t>Preliminary Evaluation Criteria (HTRO, Past Performance Tradeoff, etc.): </a:t>
            </a:r>
            <a:r>
              <a:rPr lang="en-US" sz="1200" dirty="0">
                <a:solidFill>
                  <a:schemeClr val="accent1">
                    <a:lumMod val="50000"/>
                  </a:schemeClr>
                </a:solidFill>
              </a:rPr>
              <a:t>TBD</a:t>
            </a:r>
            <a:endParaRPr lang="en-US" sz="1200" b="1" dirty="0">
              <a:solidFill>
                <a:schemeClr val="accent1">
                  <a:lumMod val="50000"/>
                </a:schemeClr>
              </a:solidFill>
            </a:endParaRPr>
          </a:p>
          <a:p>
            <a:pPr marL="0" indent="0">
              <a:buNone/>
            </a:pPr>
            <a:r>
              <a:rPr lang="en-US" sz="1200" b="1" dirty="0">
                <a:solidFill>
                  <a:schemeClr val="accent1">
                    <a:lumMod val="50000"/>
                  </a:schemeClr>
                </a:solidFill>
              </a:rPr>
              <a:t>Contract Vehicle Being Used (NASA SEWP, MAS, OASIS+, etc.), if applicable:</a:t>
            </a:r>
          </a:p>
          <a:p>
            <a:pPr marL="0" indent="0">
              <a:buNone/>
            </a:pPr>
            <a:r>
              <a:rPr lang="en-US" sz="1200" b="1" dirty="0">
                <a:solidFill>
                  <a:schemeClr val="accent1">
                    <a:lumMod val="50000"/>
                  </a:schemeClr>
                </a:solidFill>
              </a:rPr>
              <a:t>NAICS: </a:t>
            </a:r>
            <a:r>
              <a:rPr lang="en-US" sz="1200" dirty="0">
                <a:solidFill>
                  <a:schemeClr val="accent1">
                    <a:lumMod val="50000"/>
                  </a:schemeClr>
                </a:solidFill>
              </a:rPr>
              <a:t>511210 – Software Publishers</a:t>
            </a:r>
          </a:p>
          <a:p>
            <a:pPr marL="0" indent="0">
              <a:buNone/>
            </a:pPr>
            <a:r>
              <a:rPr lang="en-US" sz="1200" dirty="0">
                <a:solidFill>
                  <a:schemeClr val="accent1">
                    <a:lumMod val="50000"/>
                  </a:schemeClr>
                </a:solidFill>
              </a:rPr>
              <a:t>				</a:t>
            </a:r>
          </a:p>
        </p:txBody>
      </p:sp>
      <p:pic>
        <p:nvPicPr>
          <p:cNvPr id="4" name="Picture 13" descr="afsymbol">
            <a:extLst>
              <a:ext uri="{FF2B5EF4-FFF2-40B4-BE49-F238E27FC236}">
                <a16:creationId xmlns:a16="http://schemas.microsoft.com/office/drawing/2014/main" id="{88114009-F7FF-FE86-3946-BF43773055D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32ED057D-772E-6CDD-6336-7C4BF212A69F}"/>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577AC25-1266-D836-8E78-E0DECA016C16}"/>
              </a:ext>
            </a:extLst>
          </p:cNvPr>
          <p:cNvSpPr txBox="1"/>
          <p:nvPr/>
        </p:nvSpPr>
        <p:spPr>
          <a:xfrm>
            <a:off x="2808514" y="1037554"/>
            <a:ext cx="8872946" cy="523220"/>
          </a:xfrm>
          <a:prstGeom prst="rect">
            <a:avLst/>
          </a:prstGeom>
          <a:noFill/>
        </p:spPr>
        <p:txBody>
          <a:bodyPr wrap="square" rtlCol="0">
            <a:spAutoFit/>
          </a:bodyPr>
          <a:lstStyle/>
          <a:p>
            <a:pPr marL="0" marR="0" algn="r"/>
            <a:r>
              <a:rPr lang="en-US" sz="2800" b="1" i="1" dirty="0">
                <a:highlight>
                  <a:srgbClr val="FFFFFF"/>
                </a:highlight>
              </a:rPr>
              <a:t>COMMERCIAL MISSION-SPECIFIC TRAINING</a:t>
            </a:r>
          </a:p>
        </p:txBody>
      </p:sp>
      <p:sp>
        <p:nvSpPr>
          <p:cNvPr id="10" name="Slide Number Placeholder 9">
            <a:extLst>
              <a:ext uri="{FF2B5EF4-FFF2-40B4-BE49-F238E27FC236}">
                <a16:creationId xmlns:a16="http://schemas.microsoft.com/office/drawing/2014/main" id="{F2925D59-9B02-7EFF-9D07-0FE9F89616D0}"/>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8</a:t>
            </a:fld>
            <a:endParaRPr lang="en-US" sz="1600" b="1" dirty="0">
              <a:solidFill>
                <a:schemeClr val="accent5">
                  <a:lumMod val="75000"/>
                </a:schemeClr>
              </a:solidFill>
            </a:endParaRPr>
          </a:p>
        </p:txBody>
      </p:sp>
    </p:spTree>
    <p:extLst>
      <p:ext uri="{BB962C8B-B14F-4D97-AF65-F5344CB8AC3E}">
        <p14:creationId xmlns:p14="http://schemas.microsoft.com/office/powerpoint/2010/main" val="839723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0DE76-7953-3A35-860C-DF0DF1491E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4BCF80-8B31-0123-C6F2-914FA0D15184}"/>
              </a:ext>
            </a:extLst>
          </p:cNvPr>
          <p:cNvSpPr>
            <a:spLocks noGrp="1"/>
          </p:cNvSpPr>
          <p:nvPr>
            <p:ph idx="1"/>
          </p:nvPr>
        </p:nvSpPr>
        <p:spPr>
          <a:xfrm>
            <a:off x="582930" y="1565765"/>
            <a:ext cx="11018520" cy="5000288"/>
          </a:xfrm>
        </p:spPr>
        <p:txBody>
          <a:bodyPr vert="horz" lIns="91440" tIns="45720" rIns="91440" bIns="45720" rtlCol="0" anchor="t">
            <a:noAutofit/>
          </a:bodyPr>
          <a:lstStyle/>
          <a:p>
            <a:pPr marL="0" indent="0">
              <a:buNone/>
            </a:pPr>
            <a:r>
              <a:rPr lang="en-US" sz="1400" b="1" dirty="0">
                <a:solidFill>
                  <a:schemeClr val="accent1">
                    <a:lumMod val="50000"/>
                  </a:schemeClr>
                </a:solidFill>
              </a:rPr>
              <a:t>Mission Owner (A5, A1, SAF/IE, etc.):  </a:t>
            </a:r>
            <a:r>
              <a:rPr lang="en-US" sz="1400" dirty="0">
                <a:solidFill>
                  <a:schemeClr val="accent1">
                    <a:lumMod val="50000"/>
                  </a:schemeClr>
                </a:solidFill>
              </a:rPr>
              <a:t>AFOSI/ERC			</a:t>
            </a:r>
          </a:p>
          <a:p>
            <a:pPr marL="0" indent="0">
              <a:buNone/>
            </a:pPr>
            <a:r>
              <a:rPr lang="en-US" sz="1400" b="1" dirty="0">
                <a:solidFill>
                  <a:schemeClr val="accent1">
                    <a:lumMod val="50000"/>
                  </a:schemeClr>
                </a:solidFill>
              </a:rPr>
              <a:t>Description (2-3 lines): </a:t>
            </a:r>
            <a:r>
              <a:rPr lang="en-US" sz="1400" dirty="0">
                <a:solidFill>
                  <a:schemeClr val="accent1">
                    <a:lumMod val="50000"/>
                  </a:schemeClr>
                </a:solidFill>
              </a:rPr>
              <a:t>The Department of the Air Force Office of Special Investigations requires a radio communication system to meet multi-domain requirements through any combination of ground, vehicular, airbourne and/or space systems with ability to simultaneous and independently connect operators through full frequency range of broad portfolio waveforms over multiple channels (two-channel minimum).  Acceptable solutions must include module or integrated hardware interface(s) to allow operators to expediently increase capability to include full motion video capabilities or other emerging technologies; crossbanding data and voice communications must support encryption requirements, allow interoperability through range of security classifications up to and including TOP SECRET.   Specifications must be up to MIL-STD-810H; EMI/RFI to MIL-STD-461F and Sand/Dust/Salt/Fog/Rain to MIL-STD-810H. </a:t>
            </a:r>
            <a:endParaRPr lang="en-US" sz="1400" b="1" dirty="0">
              <a:solidFill>
                <a:schemeClr val="accent1">
                  <a:lumMod val="50000"/>
                </a:schemeClr>
              </a:solidFill>
            </a:endParaRPr>
          </a:p>
          <a:p>
            <a:pPr marL="0" indent="0">
              <a:buNone/>
            </a:pPr>
            <a:r>
              <a:rPr lang="en-US" sz="1400" b="1" dirty="0">
                <a:solidFill>
                  <a:schemeClr val="accent1">
                    <a:lumMod val="50000"/>
                  </a:schemeClr>
                </a:solidFill>
              </a:rPr>
              <a:t>Need Date: </a:t>
            </a:r>
            <a:r>
              <a:rPr lang="en-US" sz="1400" dirty="0">
                <a:solidFill>
                  <a:schemeClr val="accent1">
                    <a:lumMod val="50000"/>
                  </a:schemeClr>
                </a:solidFill>
              </a:rPr>
              <a:t>06/30/2025</a:t>
            </a:r>
            <a:endParaRPr lang="en-US" sz="1400" b="1" dirty="0">
              <a:solidFill>
                <a:schemeClr val="accent1">
                  <a:lumMod val="50000"/>
                </a:schemeClr>
              </a:solidFill>
            </a:endParaRPr>
          </a:p>
          <a:p>
            <a:pPr marL="0" indent="0">
              <a:buNone/>
            </a:pPr>
            <a:r>
              <a:rPr lang="en-US" sz="1400" b="1" dirty="0">
                <a:solidFill>
                  <a:schemeClr val="accent1">
                    <a:lumMod val="50000"/>
                  </a:schemeClr>
                </a:solidFill>
              </a:rPr>
              <a:t>Period of Performance:  </a:t>
            </a:r>
            <a:r>
              <a:rPr lang="en-US" sz="1400" dirty="0">
                <a:solidFill>
                  <a:schemeClr val="accent1">
                    <a:lumMod val="50000"/>
                  </a:schemeClr>
                </a:solidFill>
              </a:rPr>
              <a:t>06/30/2025 – 06/29/2028</a:t>
            </a:r>
            <a:endParaRPr lang="en-US" sz="1400" b="1" dirty="0">
              <a:solidFill>
                <a:schemeClr val="accent1">
                  <a:lumMod val="50000"/>
                </a:schemeClr>
              </a:solidFill>
            </a:endParaRPr>
          </a:p>
          <a:p>
            <a:pPr marL="0" indent="0">
              <a:buNone/>
            </a:pPr>
            <a:r>
              <a:rPr lang="en-US" sz="1400" b="1" dirty="0">
                <a:solidFill>
                  <a:schemeClr val="accent1">
                    <a:lumMod val="50000"/>
                  </a:schemeClr>
                </a:solidFill>
              </a:rPr>
              <a:t>Recompete (provide previous contract number) or New Start: </a:t>
            </a:r>
          </a:p>
          <a:p>
            <a:pPr marL="0" indent="0">
              <a:buNone/>
            </a:pPr>
            <a:r>
              <a:rPr lang="en-US" sz="1400" b="1" dirty="0">
                <a:solidFill>
                  <a:schemeClr val="accent1">
                    <a:lumMod val="50000"/>
                  </a:schemeClr>
                </a:solidFill>
              </a:rPr>
              <a:t>Anticipated RFP/RFQ Release Date/Timeframe: </a:t>
            </a:r>
          </a:p>
          <a:p>
            <a:pPr marL="0" indent="0">
              <a:buNone/>
            </a:pPr>
            <a:r>
              <a:rPr lang="en-US" sz="1400" b="1" dirty="0">
                <a:solidFill>
                  <a:schemeClr val="accent1">
                    <a:lumMod val="50000"/>
                  </a:schemeClr>
                </a:solidFill>
              </a:rPr>
              <a:t>Acquisition Strategy (Full &amp; Open, Small Business Set Aside, etc.): </a:t>
            </a:r>
            <a:r>
              <a:rPr lang="en-US" sz="1400" dirty="0">
                <a:solidFill>
                  <a:schemeClr val="accent1">
                    <a:lumMod val="50000"/>
                  </a:schemeClr>
                </a:solidFill>
              </a:rPr>
              <a:t>Other than Full &amp; Open</a:t>
            </a:r>
            <a:endParaRPr lang="en-US" sz="1400" b="1" dirty="0">
              <a:solidFill>
                <a:schemeClr val="accent1">
                  <a:lumMod val="50000"/>
                </a:schemeClr>
              </a:solidFill>
            </a:endParaRPr>
          </a:p>
          <a:p>
            <a:pPr marL="0" indent="0">
              <a:buNone/>
            </a:pPr>
            <a:r>
              <a:rPr lang="en-US" sz="1400" b="1" dirty="0">
                <a:solidFill>
                  <a:schemeClr val="accent1">
                    <a:lumMod val="50000"/>
                  </a:schemeClr>
                </a:solidFill>
              </a:rPr>
              <a:t>Preliminary Evaluation Criteria (HTRO, Past Performance Tradeoff, etc.): </a:t>
            </a:r>
            <a:r>
              <a:rPr lang="en-US" sz="1400" dirty="0">
                <a:solidFill>
                  <a:schemeClr val="accent1">
                    <a:lumMod val="50000"/>
                  </a:schemeClr>
                </a:solidFill>
              </a:rPr>
              <a:t>TBD</a:t>
            </a:r>
            <a:endParaRPr lang="en-US" sz="1400" b="1" dirty="0">
              <a:solidFill>
                <a:schemeClr val="accent1">
                  <a:lumMod val="50000"/>
                </a:schemeClr>
              </a:solidFill>
            </a:endParaRPr>
          </a:p>
          <a:p>
            <a:pPr marL="0" indent="0">
              <a:buNone/>
            </a:pPr>
            <a:r>
              <a:rPr lang="en-US" sz="1400" b="1" dirty="0">
                <a:solidFill>
                  <a:schemeClr val="accent1">
                    <a:lumMod val="50000"/>
                  </a:schemeClr>
                </a:solidFill>
              </a:rPr>
              <a:t>Contract Vehicle Being Used (NASA SEWP, MAS, OASIS+, etc.), if applicable:</a:t>
            </a:r>
          </a:p>
          <a:p>
            <a:pPr marL="0" indent="0">
              <a:buNone/>
            </a:pPr>
            <a:r>
              <a:rPr lang="en-US" sz="1400" b="1" dirty="0">
                <a:solidFill>
                  <a:schemeClr val="accent1">
                    <a:lumMod val="50000"/>
                  </a:schemeClr>
                </a:solidFill>
              </a:rPr>
              <a:t>NAICS: </a:t>
            </a:r>
            <a:r>
              <a:rPr lang="en-US" sz="1400" dirty="0">
                <a:solidFill>
                  <a:schemeClr val="accent1">
                    <a:lumMod val="50000"/>
                  </a:schemeClr>
                </a:solidFill>
              </a:rPr>
              <a:t>511210 – Software Publishers</a:t>
            </a:r>
          </a:p>
          <a:p>
            <a:pPr marL="0" indent="0">
              <a:buNone/>
            </a:pPr>
            <a:r>
              <a:rPr lang="en-US" sz="1200" dirty="0">
                <a:solidFill>
                  <a:schemeClr val="accent1">
                    <a:lumMod val="50000"/>
                  </a:schemeClr>
                </a:solidFill>
              </a:rPr>
              <a:t>				</a:t>
            </a:r>
          </a:p>
        </p:txBody>
      </p:sp>
      <p:pic>
        <p:nvPicPr>
          <p:cNvPr id="4" name="Picture 13" descr="afsymbol">
            <a:extLst>
              <a:ext uri="{FF2B5EF4-FFF2-40B4-BE49-F238E27FC236}">
                <a16:creationId xmlns:a16="http://schemas.microsoft.com/office/drawing/2014/main" id="{992FA4F4-FCD1-266D-96D7-63B3D49EDA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49534404-C0DC-C0A3-0E37-22159A78A860}"/>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3BC90FC-D501-C960-72D1-47414D3DB410}"/>
              </a:ext>
            </a:extLst>
          </p:cNvPr>
          <p:cNvSpPr txBox="1"/>
          <p:nvPr/>
        </p:nvSpPr>
        <p:spPr>
          <a:xfrm>
            <a:off x="2808514" y="1015520"/>
            <a:ext cx="8872946" cy="523220"/>
          </a:xfrm>
          <a:prstGeom prst="rect">
            <a:avLst/>
          </a:prstGeom>
          <a:noFill/>
        </p:spPr>
        <p:txBody>
          <a:bodyPr wrap="square" rtlCol="0">
            <a:spAutoFit/>
          </a:bodyPr>
          <a:lstStyle/>
          <a:p>
            <a:pPr marL="0" marR="0" algn="r"/>
            <a:r>
              <a:rPr lang="en-US" sz="2800" b="1" i="1" dirty="0">
                <a:highlight>
                  <a:srgbClr val="FFFFFF"/>
                </a:highlight>
              </a:rPr>
              <a:t>SOFTWARE DEFINED RADIOS</a:t>
            </a:r>
          </a:p>
        </p:txBody>
      </p:sp>
      <p:sp>
        <p:nvSpPr>
          <p:cNvPr id="10" name="Slide Number Placeholder 9">
            <a:extLst>
              <a:ext uri="{FF2B5EF4-FFF2-40B4-BE49-F238E27FC236}">
                <a16:creationId xmlns:a16="http://schemas.microsoft.com/office/drawing/2014/main" id="{4D76BC97-36F1-29D7-B136-A191FD9F512C}"/>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9</a:t>
            </a:fld>
            <a:endParaRPr lang="en-US" sz="1600" b="1" dirty="0">
              <a:solidFill>
                <a:schemeClr val="accent5">
                  <a:lumMod val="75000"/>
                </a:schemeClr>
              </a:solidFill>
            </a:endParaRPr>
          </a:p>
        </p:txBody>
      </p:sp>
    </p:spTree>
    <p:extLst>
      <p:ext uri="{BB962C8B-B14F-4D97-AF65-F5344CB8AC3E}">
        <p14:creationId xmlns:p14="http://schemas.microsoft.com/office/powerpoint/2010/main" val="503724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5B3CE-4C8A-DE3F-5725-A3166CD848F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537D08-14AC-8BB6-314D-56572ABBC910}"/>
              </a:ext>
            </a:extLst>
          </p:cNvPr>
          <p:cNvSpPr>
            <a:spLocks noGrp="1"/>
          </p:cNvSpPr>
          <p:nvPr>
            <p:ph idx="1"/>
          </p:nvPr>
        </p:nvSpPr>
        <p:spPr>
          <a:xfrm>
            <a:off x="582930" y="1565764"/>
            <a:ext cx="11018520" cy="4967231"/>
          </a:xfrm>
        </p:spPr>
        <p:txBody>
          <a:bodyPr vert="horz" lIns="91440" tIns="45720" rIns="91440" bIns="45720" rtlCol="0" anchor="t">
            <a:noAutofit/>
          </a:bodyPr>
          <a:lstStyle/>
          <a:p>
            <a:pPr marL="0" indent="0">
              <a:buNone/>
            </a:pPr>
            <a:r>
              <a:rPr lang="en-US" sz="1400" b="1" dirty="0">
                <a:solidFill>
                  <a:schemeClr val="accent1">
                    <a:lumMod val="50000"/>
                  </a:schemeClr>
                </a:solidFill>
              </a:rPr>
              <a:t>Mission Owner (A5, A1, SAF/IE, etc.):  </a:t>
            </a:r>
            <a:r>
              <a:rPr lang="en-US" sz="1400" dirty="0">
                <a:solidFill>
                  <a:schemeClr val="accent1">
                    <a:lumMod val="50000"/>
                  </a:schemeClr>
                </a:solidFill>
              </a:rPr>
              <a:t>AFOSI/ERC			</a:t>
            </a:r>
          </a:p>
          <a:p>
            <a:pPr marL="0" indent="0">
              <a:buNone/>
            </a:pPr>
            <a:r>
              <a:rPr lang="en-US" sz="1400" b="1" dirty="0">
                <a:solidFill>
                  <a:schemeClr val="accent1">
                    <a:lumMod val="50000"/>
                  </a:schemeClr>
                </a:solidFill>
              </a:rPr>
              <a:t>Description (2-3 lines): </a:t>
            </a:r>
            <a:r>
              <a:rPr lang="en-US" sz="1400" dirty="0">
                <a:solidFill>
                  <a:schemeClr val="accent1">
                    <a:lumMod val="50000"/>
                  </a:schemeClr>
                </a:solidFill>
              </a:rPr>
              <a:t>The Department of the Air Force Office of Special Investigations requires stand-alone and/or network capable video recording units with wireless, cellular and/or Bluetooth enabled connectivity.  System must possess long-dwell/extended battery solution(s).  Sensor must be remote programmable for auto-on/off based on Sponsor defined parameters with options for full-motion video, periodic or on-demand/triggered still image capture.  Capabilities with controller/connectivity via TAK interface will be prioritized with ability to provide remote viewing of live/recorded feeds and remote download of recordings.  System must have secure/encrypted geolocation identifier with ability to toggle-off by Sponsor and increased anti-tamper controls/alarms. Specifications must be up to MIL-STD-810H; EMI/RFI to MIL-STD-461F and Sand/Dust/Salt/Fog/Rain to MIL-STD-810H. </a:t>
            </a:r>
            <a:endParaRPr lang="en-US" sz="1400" b="1" dirty="0">
              <a:solidFill>
                <a:schemeClr val="accent1">
                  <a:lumMod val="50000"/>
                </a:schemeClr>
              </a:solidFill>
            </a:endParaRPr>
          </a:p>
          <a:p>
            <a:pPr marL="0" indent="0">
              <a:buNone/>
            </a:pPr>
            <a:r>
              <a:rPr lang="en-US" sz="1400" b="1" dirty="0">
                <a:solidFill>
                  <a:schemeClr val="accent1">
                    <a:lumMod val="50000"/>
                  </a:schemeClr>
                </a:solidFill>
              </a:rPr>
              <a:t>Need Date: </a:t>
            </a:r>
            <a:r>
              <a:rPr lang="en-US" sz="1400" dirty="0">
                <a:solidFill>
                  <a:schemeClr val="accent1">
                    <a:lumMod val="50000"/>
                  </a:schemeClr>
                </a:solidFill>
              </a:rPr>
              <a:t>06/30/2025</a:t>
            </a:r>
            <a:endParaRPr lang="en-US" sz="1400" b="1" dirty="0">
              <a:solidFill>
                <a:schemeClr val="accent1">
                  <a:lumMod val="50000"/>
                </a:schemeClr>
              </a:solidFill>
            </a:endParaRPr>
          </a:p>
          <a:p>
            <a:pPr marL="0" indent="0">
              <a:buNone/>
            </a:pPr>
            <a:r>
              <a:rPr lang="en-US" sz="1400" b="1" dirty="0">
                <a:solidFill>
                  <a:schemeClr val="accent1">
                    <a:lumMod val="50000"/>
                  </a:schemeClr>
                </a:solidFill>
              </a:rPr>
              <a:t>Period of Performance:  </a:t>
            </a:r>
            <a:r>
              <a:rPr lang="en-US" sz="1400" dirty="0">
                <a:solidFill>
                  <a:schemeClr val="accent1">
                    <a:lumMod val="50000"/>
                  </a:schemeClr>
                </a:solidFill>
              </a:rPr>
              <a:t>06/30/2025 – 06/29/2028</a:t>
            </a:r>
            <a:endParaRPr lang="en-US" sz="1400" b="1" dirty="0">
              <a:solidFill>
                <a:schemeClr val="accent1">
                  <a:lumMod val="50000"/>
                </a:schemeClr>
              </a:solidFill>
            </a:endParaRPr>
          </a:p>
          <a:p>
            <a:pPr marL="0" indent="0">
              <a:buNone/>
            </a:pPr>
            <a:r>
              <a:rPr lang="en-US" sz="1400" b="1" dirty="0">
                <a:solidFill>
                  <a:schemeClr val="accent1">
                    <a:lumMod val="50000"/>
                  </a:schemeClr>
                </a:solidFill>
              </a:rPr>
              <a:t>Recompete (provide previous contract number) or New Start: </a:t>
            </a:r>
          </a:p>
          <a:p>
            <a:pPr marL="0" indent="0">
              <a:buNone/>
            </a:pPr>
            <a:r>
              <a:rPr lang="en-US" sz="1400" b="1" dirty="0">
                <a:solidFill>
                  <a:schemeClr val="accent1">
                    <a:lumMod val="50000"/>
                  </a:schemeClr>
                </a:solidFill>
              </a:rPr>
              <a:t>Anticipated RFP/RFQ Release Date/Timeframe: </a:t>
            </a:r>
          </a:p>
          <a:p>
            <a:pPr marL="0" indent="0">
              <a:buNone/>
            </a:pPr>
            <a:r>
              <a:rPr lang="en-US" sz="1400" b="1" dirty="0">
                <a:solidFill>
                  <a:schemeClr val="accent1">
                    <a:lumMod val="50000"/>
                  </a:schemeClr>
                </a:solidFill>
              </a:rPr>
              <a:t>Acquisition Strategy (Full &amp; Open, Small Business Set Aside, etc.): </a:t>
            </a:r>
            <a:r>
              <a:rPr lang="en-US" sz="1400" dirty="0">
                <a:solidFill>
                  <a:schemeClr val="accent1">
                    <a:lumMod val="50000"/>
                  </a:schemeClr>
                </a:solidFill>
              </a:rPr>
              <a:t>Other than Full &amp; Open</a:t>
            </a:r>
            <a:endParaRPr lang="en-US" sz="1400" b="1" dirty="0">
              <a:solidFill>
                <a:schemeClr val="accent1">
                  <a:lumMod val="50000"/>
                </a:schemeClr>
              </a:solidFill>
            </a:endParaRPr>
          </a:p>
          <a:p>
            <a:pPr marL="0" indent="0">
              <a:buNone/>
            </a:pPr>
            <a:r>
              <a:rPr lang="en-US" sz="1400" b="1" dirty="0">
                <a:solidFill>
                  <a:schemeClr val="accent1">
                    <a:lumMod val="50000"/>
                  </a:schemeClr>
                </a:solidFill>
              </a:rPr>
              <a:t>Preliminary Evaluation Criteria (HTRO, Past Performance Tradeoff, etc.): </a:t>
            </a:r>
            <a:r>
              <a:rPr lang="en-US" sz="1400" dirty="0">
                <a:solidFill>
                  <a:schemeClr val="accent1">
                    <a:lumMod val="50000"/>
                  </a:schemeClr>
                </a:solidFill>
              </a:rPr>
              <a:t>TBD</a:t>
            </a:r>
            <a:endParaRPr lang="en-US" sz="1400" b="1" dirty="0">
              <a:solidFill>
                <a:schemeClr val="accent1">
                  <a:lumMod val="50000"/>
                </a:schemeClr>
              </a:solidFill>
            </a:endParaRPr>
          </a:p>
          <a:p>
            <a:pPr marL="0" indent="0">
              <a:buNone/>
            </a:pPr>
            <a:r>
              <a:rPr lang="en-US" sz="1400" b="1" dirty="0">
                <a:solidFill>
                  <a:schemeClr val="accent1">
                    <a:lumMod val="50000"/>
                  </a:schemeClr>
                </a:solidFill>
              </a:rPr>
              <a:t>Contract Vehicle Being Used (NASA SEWP, MAS, OASIS+, etc.), if applicable:</a:t>
            </a:r>
          </a:p>
          <a:p>
            <a:pPr marL="0" indent="0">
              <a:buNone/>
            </a:pPr>
            <a:r>
              <a:rPr lang="en-US" sz="1400" b="1" dirty="0">
                <a:solidFill>
                  <a:schemeClr val="accent1">
                    <a:lumMod val="50000"/>
                  </a:schemeClr>
                </a:solidFill>
              </a:rPr>
              <a:t>NAICS: </a:t>
            </a:r>
            <a:r>
              <a:rPr lang="en-US" sz="1400" dirty="0">
                <a:solidFill>
                  <a:schemeClr val="accent1">
                    <a:lumMod val="50000"/>
                  </a:schemeClr>
                </a:solidFill>
              </a:rPr>
              <a:t>511210 – Software Publishers</a:t>
            </a:r>
          </a:p>
          <a:p>
            <a:pPr marL="0" indent="0">
              <a:buNone/>
            </a:pPr>
            <a:r>
              <a:rPr lang="en-US" sz="1200" dirty="0">
                <a:solidFill>
                  <a:schemeClr val="accent1">
                    <a:lumMod val="50000"/>
                  </a:schemeClr>
                </a:solidFill>
              </a:rPr>
              <a:t>				</a:t>
            </a:r>
          </a:p>
        </p:txBody>
      </p:sp>
      <p:pic>
        <p:nvPicPr>
          <p:cNvPr id="4" name="Picture 13" descr="afsymbol">
            <a:extLst>
              <a:ext uri="{FF2B5EF4-FFF2-40B4-BE49-F238E27FC236}">
                <a16:creationId xmlns:a16="http://schemas.microsoft.com/office/drawing/2014/main" id="{13D9EC21-AC89-DED8-F676-9860932CF2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A7919A90-F686-2D87-8CF7-BDDF49035620}"/>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DE525B6-6731-4AF8-A4AD-A3E083D3616E}"/>
              </a:ext>
            </a:extLst>
          </p:cNvPr>
          <p:cNvSpPr txBox="1"/>
          <p:nvPr/>
        </p:nvSpPr>
        <p:spPr>
          <a:xfrm>
            <a:off x="3624548" y="578679"/>
            <a:ext cx="7976901" cy="954107"/>
          </a:xfrm>
          <a:prstGeom prst="rect">
            <a:avLst/>
          </a:prstGeom>
          <a:noFill/>
        </p:spPr>
        <p:txBody>
          <a:bodyPr wrap="square" rtlCol="0">
            <a:spAutoFit/>
          </a:bodyPr>
          <a:lstStyle/>
          <a:p>
            <a:pPr marL="0" marR="0" algn="r"/>
            <a:r>
              <a:rPr lang="en-US" sz="2800" b="1" i="1" dirty="0">
                <a:highlight>
                  <a:srgbClr val="FFFFFF"/>
                </a:highlight>
              </a:rPr>
              <a:t>COVERT LAW ENFORCEMENT AUDIO AND VIDEO RECORDING SOLUTIONS</a:t>
            </a:r>
          </a:p>
        </p:txBody>
      </p:sp>
      <p:sp>
        <p:nvSpPr>
          <p:cNvPr id="10" name="Slide Number Placeholder 9">
            <a:extLst>
              <a:ext uri="{FF2B5EF4-FFF2-40B4-BE49-F238E27FC236}">
                <a16:creationId xmlns:a16="http://schemas.microsoft.com/office/drawing/2014/main" id="{7D42CD8A-6036-7D0F-C659-8EEDC2883C51}"/>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10</a:t>
            </a:fld>
            <a:endParaRPr lang="en-US" sz="1600" b="1" dirty="0">
              <a:solidFill>
                <a:schemeClr val="accent5">
                  <a:lumMod val="75000"/>
                </a:schemeClr>
              </a:solidFill>
            </a:endParaRPr>
          </a:p>
        </p:txBody>
      </p:sp>
    </p:spTree>
    <p:extLst>
      <p:ext uri="{BB962C8B-B14F-4D97-AF65-F5344CB8AC3E}">
        <p14:creationId xmlns:p14="http://schemas.microsoft.com/office/powerpoint/2010/main" val="1267118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65A62-FD27-6E4A-19BE-86ED79BF802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D7FAE3-6097-7009-08DE-7A13E1C09086}"/>
              </a:ext>
            </a:extLst>
          </p:cNvPr>
          <p:cNvSpPr>
            <a:spLocks noGrp="1"/>
          </p:cNvSpPr>
          <p:nvPr>
            <p:ph idx="1"/>
          </p:nvPr>
        </p:nvSpPr>
        <p:spPr>
          <a:xfrm>
            <a:off x="582930" y="1565765"/>
            <a:ext cx="11018520" cy="4508434"/>
          </a:xfrm>
        </p:spPr>
        <p:txBody>
          <a:bodyPr vert="horz" lIns="91440" tIns="45720" rIns="91440" bIns="45720" rtlCol="0" anchor="t">
            <a:normAutofit/>
          </a:bodyPr>
          <a:lstStyle/>
          <a:p>
            <a:pPr marL="0" indent="0">
              <a:buNone/>
            </a:pPr>
            <a:r>
              <a:rPr lang="en-US" sz="1400" b="1" dirty="0">
                <a:solidFill>
                  <a:schemeClr val="accent1">
                    <a:lumMod val="50000"/>
                  </a:schemeClr>
                </a:solidFill>
              </a:rPr>
              <a:t>Mission Owner (A5, A1, SAF/IE, etc.):  </a:t>
            </a:r>
            <a:r>
              <a:rPr lang="en-US" sz="1400" dirty="0">
                <a:solidFill>
                  <a:schemeClr val="accent1">
                    <a:lumMod val="50000"/>
                  </a:schemeClr>
                </a:solidFill>
              </a:rPr>
              <a:t>AFOSI/XR		</a:t>
            </a:r>
          </a:p>
          <a:p>
            <a:pPr marL="0" indent="0">
              <a:buNone/>
            </a:pPr>
            <a:r>
              <a:rPr lang="en-US" sz="1400" b="1" dirty="0">
                <a:solidFill>
                  <a:schemeClr val="accent1">
                    <a:lumMod val="50000"/>
                  </a:schemeClr>
                </a:solidFill>
              </a:rPr>
              <a:t>Description (2-3 lines</a:t>
            </a:r>
            <a:r>
              <a:rPr lang="en-US" sz="1400" dirty="0">
                <a:solidFill>
                  <a:schemeClr val="accent1">
                    <a:lumMod val="50000"/>
                  </a:schemeClr>
                </a:solidFill>
              </a:rPr>
              <a:t>): The Department of the Air Force Office of Special Investigations requires certified contractor support to administer polygraph examinations.  The contractor shall collaborate, assist, and support AFOSI’s Polygraph Program in scheduling, conducting, and finalizing polygraph examinations.</a:t>
            </a:r>
          </a:p>
          <a:p>
            <a:pPr marL="0" indent="0">
              <a:buNone/>
            </a:pPr>
            <a:r>
              <a:rPr lang="en-US" sz="1400" b="1" dirty="0">
                <a:solidFill>
                  <a:schemeClr val="accent1">
                    <a:lumMod val="50000"/>
                  </a:schemeClr>
                </a:solidFill>
              </a:rPr>
              <a:t>Need Date: </a:t>
            </a:r>
            <a:r>
              <a:rPr lang="en-US" sz="1400" dirty="0">
                <a:solidFill>
                  <a:schemeClr val="accent1">
                    <a:lumMod val="50000"/>
                  </a:schemeClr>
                </a:solidFill>
              </a:rPr>
              <a:t>TBD</a:t>
            </a:r>
            <a:endParaRPr lang="en-US" sz="1400" b="1" dirty="0">
              <a:solidFill>
                <a:schemeClr val="accent1">
                  <a:lumMod val="50000"/>
                </a:schemeClr>
              </a:solidFill>
            </a:endParaRPr>
          </a:p>
          <a:p>
            <a:pPr marL="0" indent="0">
              <a:buNone/>
            </a:pPr>
            <a:r>
              <a:rPr lang="en-US" sz="1400" b="1" dirty="0">
                <a:solidFill>
                  <a:schemeClr val="accent1">
                    <a:lumMod val="50000"/>
                  </a:schemeClr>
                </a:solidFill>
              </a:rPr>
              <a:t>Period of Performance:  </a:t>
            </a:r>
            <a:r>
              <a:rPr lang="en-US" sz="1400" dirty="0">
                <a:solidFill>
                  <a:schemeClr val="accent1">
                    <a:lumMod val="50000"/>
                  </a:schemeClr>
                </a:solidFill>
              </a:rPr>
              <a:t>XX/XX/2025 – XX/XX/2030</a:t>
            </a:r>
            <a:endParaRPr lang="en-US" sz="1400" b="1" dirty="0">
              <a:solidFill>
                <a:schemeClr val="accent1">
                  <a:lumMod val="50000"/>
                </a:schemeClr>
              </a:solidFill>
            </a:endParaRPr>
          </a:p>
          <a:p>
            <a:pPr marL="0" indent="0">
              <a:buNone/>
            </a:pPr>
            <a:r>
              <a:rPr lang="en-US" sz="1400" b="1" dirty="0">
                <a:solidFill>
                  <a:schemeClr val="accent1">
                    <a:lumMod val="50000"/>
                  </a:schemeClr>
                </a:solidFill>
              </a:rPr>
              <a:t>Recompete (provide previous contract number) or New Start: </a:t>
            </a:r>
            <a:r>
              <a:rPr lang="en-US" sz="1400" dirty="0">
                <a:solidFill>
                  <a:schemeClr val="accent1">
                    <a:lumMod val="50000"/>
                  </a:schemeClr>
                </a:solidFill>
              </a:rPr>
              <a:t>Recompete</a:t>
            </a:r>
            <a:endParaRPr lang="en-US" sz="1400" b="1" dirty="0">
              <a:solidFill>
                <a:schemeClr val="accent1">
                  <a:lumMod val="50000"/>
                </a:schemeClr>
              </a:solidFill>
            </a:endParaRPr>
          </a:p>
          <a:p>
            <a:pPr marL="0" indent="0">
              <a:buNone/>
            </a:pPr>
            <a:r>
              <a:rPr lang="en-US" sz="1400" b="1" dirty="0">
                <a:solidFill>
                  <a:schemeClr val="accent1">
                    <a:lumMod val="50000"/>
                  </a:schemeClr>
                </a:solidFill>
              </a:rPr>
              <a:t>Anticipated RFP/RFQ Release Date/Timeframe: </a:t>
            </a:r>
          </a:p>
          <a:p>
            <a:pPr marL="0" indent="0">
              <a:buNone/>
            </a:pPr>
            <a:r>
              <a:rPr lang="en-US" sz="1400" b="1" dirty="0">
                <a:solidFill>
                  <a:schemeClr val="accent1">
                    <a:lumMod val="50000"/>
                  </a:schemeClr>
                </a:solidFill>
              </a:rPr>
              <a:t>Acquisition Strategy (Full &amp; Open, Small Business Set Aside, etc.): </a:t>
            </a:r>
            <a:r>
              <a:rPr lang="en-US" sz="1400" dirty="0">
                <a:solidFill>
                  <a:schemeClr val="accent1">
                    <a:lumMod val="50000"/>
                  </a:schemeClr>
                </a:solidFill>
              </a:rPr>
              <a:t>TBD</a:t>
            </a:r>
            <a:endParaRPr lang="en-US" sz="1400" b="1" dirty="0">
              <a:solidFill>
                <a:schemeClr val="accent1">
                  <a:lumMod val="50000"/>
                </a:schemeClr>
              </a:solidFill>
            </a:endParaRPr>
          </a:p>
          <a:p>
            <a:pPr marL="0" indent="0">
              <a:buNone/>
            </a:pPr>
            <a:r>
              <a:rPr lang="en-US" sz="1400" b="1" dirty="0">
                <a:solidFill>
                  <a:schemeClr val="accent1">
                    <a:lumMod val="50000"/>
                  </a:schemeClr>
                </a:solidFill>
              </a:rPr>
              <a:t>Preliminary Evaluation Criteria (HTRO, Past Performance Tradeoff, etc.): </a:t>
            </a:r>
            <a:r>
              <a:rPr lang="en-US" sz="1400" dirty="0">
                <a:solidFill>
                  <a:schemeClr val="accent1">
                    <a:lumMod val="50000"/>
                  </a:schemeClr>
                </a:solidFill>
              </a:rPr>
              <a:t>TBD</a:t>
            </a:r>
            <a:endParaRPr lang="en-US" sz="1400" b="1" dirty="0">
              <a:solidFill>
                <a:schemeClr val="accent1">
                  <a:lumMod val="50000"/>
                </a:schemeClr>
              </a:solidFill>
            </a:endParaRPr>
          </a:p>
          <a:p>
            <a:pPr marL="0" indent="0">
              <a:buNone/>
            </a:pPr>
            <a:r>
              <a:rPr lang="en-US" sz="1400" b="1" dirty="0">
                <a:solidFill>
                  <a:schemeClr val="accent1">
                    <a:lumMod val="50000"/>
                  </a:schemeClr>
                </a:solidFill>
              </a:rPr>
              <a:t>Contract Vehicle Being Used (NASA SEWP, MAS, OASIS+, etc.), if applicable:</a:t>
            </a:r>
          </a:p>
          <a:p>
            <a:pPr marL="0" indent="0">
              <a:buNone/>
            </a:pPr>
            <a:r>
              <a:rPr lang="en-US" sz="1400" b="1" dirty="0">
                <a:solidFill>
                  <a:schemeClr val="accent1">
                    <a:lumMod val="50000"/>
                  </a:schemeClr>
                </a:solidFill>
              </a:rPr>
              <a:t>NAICS: </a:t>
            </a:r>
            <a:r>
              <a:rPr lang="en-US" sz="1400" dirty="0">
                <a:solidFill>
                  <a:schemeClr val="accent1">
                    <a:lumMod val="50000"/>
                  </a:schemeClr>
                </a:solidFill>
              </a:rPr>
              <a:t>561611 – Investigation and Personal Background Check Services</a:t>
            </a:r>
          </a:p>
          <a:p>
            <a:pPr marL="0" indent="0">
              <a:buNone/>
            </a:pPr>
            <a:r>
              <a:rPr lang="en-US" sz="1400" dirty="0">
                <a:solidFill>
                  <a:schemeClr val="accent1">
                    <a:lumMod val="50000"/>
                  </a:schemeClr>
                </a:solidFill>
              </a:rPr>
              <a:t>	</a:t>
            </a:r>
            <a:r>
              <a:rPr lang="en-US" sz="1600" dirty="0">
                <a:solidFill>
                  <a:schemeClr val="accent1">
                    <a:lumMod val="50000"/>
                  </a:schemeClr>
                </a:solidFill>
              </a:rPr>
              <a:t>			</a:t>
            </a:r>
          </a:p>
        </p:txBody>
      </p:sp>
      <p:pic>
        <p:nvPicPr>
          <p:cNvPr id="4" name="Picture 13" descr="afsymbol">
            <a:extLst>
              <a:ext uri="{FF2B5EF4-FFF2-40B4-BE49-F238E27FC236}">
                <a16:creationId xmlns:a16="http://schemas.microsoft.com/office/drawing/2014/main" id="{C8F90740-80E1-B03D-BCCD-9DA06D05B82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DFC654F3-AD07-E2FE-A9C6-A65D8FA1DF39}"/>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30B22E4-A708-ACE7-FBE7-28DD33F88A79}"/>
              </a:ext>
            </a:extLst>
          </p:cNvPr>
          <p:cNvSpPr txBox="1"/>
          <p:nvPr/>
        </p:nvSpPr>
        <p:spPr>
          <a:xfrm>
            <a:off x="5955030" y="1030304"/>
            <a:ext cx="5733422" cy="52322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1" u="none" strike="noStrike" kern="1200" cap="none" spc="0" normalizeH="0" baseline="0" noProof="0" dirty="0">
                <a:ln>
                  <a:noFill/>
                </a:ln>
                <a:solidFill>
                  <a:prstClr val="black"/>
                </a:solidFill>
                <a:effectLst/>
                <a:uLnTx/>
                <a:uFillTx/>
                <a:latin typeface="Calibri" panose="020F0502020204030204"/>
                <a:ea typeface="+mn-ea"/>
                <a:cs typeface="+mn-cs"/>
              </a:rPr>
              <a:t>POLYGRAPH SUPPORT SERVICES</a:t>
            </a:r>
            <a:endParaRPr kumimoji="0" lang="en-US" sz="2400" b="1"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lide Number Placeholder 9">
            <a:extLst>
              <a:ext uri="{FF2B5EF4-FFF2-40B4-BE49-F238E27FC236}">
                <a16:creationId xmlns:a16="http://schemas.microsoft.com/office/drawing/2014/main" id="{09540ADF-0A9A-8592-812A-1EE36DB2FC4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786920-98DB-4A6A-8929-FBA7F922885C}" type="slidenum">
              <a:rPr kumimoji="0" lang="en-US" sz="1600" b="1" i="0" u="none" strike="noStrike" kern="1200" cap="none" spc="0" normalizeH="0" baseline="0" noProof="0" smtClean="0">
                <a:ln>
                  <a:noFill/>
                </a:ln>
                <a:solidFill>
                  <a:srgbClr val="4472C4">
                    <a:lumMod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1" i="0" u="none" strike="noStrike" kern="1200" cap="none" spc="0" normalizeH="0" baseline="0" noProof="0" dirty="0">
              <a:ln>
                <a:noFill/>
              </a:ln>
              <a:solidFill>
                <a:srgbClr val="4472C4">
                  <a:lumMod val="75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9623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4346A-F125-B755-22FE-140AC68C2DF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BF51E2-E358-E30D-4286-FBA5F86B42F8}"/>
              </a:ext>
            </a:extLst>
          </p:cNvPr>
          <p:cNvSpPr>
            <a:spLocks noGrp="1"/>
          </p:cNvSpPr>
          <p:nvPr>
            <p:ph idx="1"/>
          </p:nvPr>
        </p:nvSpPr>
        <p:spPr>
          <a:xfrm>
            <a:off x="582930" y="1565765"/>
            <a:ext cx="11018520" cy="4508434"/>
          </a:xfrm>
        </p:spPr>
        <p:txBody>
          <a:bodyPr vert="horz" lIns="91440" tIns="45720" rIns="91440" bIns="45720" rtlCol="0" anchor="t">
            <a:normAutofit/>
          </a:bodyPr>
          <a:lstStyle/>
          <a:p>
            <a:pPr marL="0" indent="0">
              <a:buNone/>
            </a:pPr>
            <a:r>
              <a:rPr lang="en-US" sz="1600" b="1" dirty="0">
                <a:solidFill>
                  <a:schemeClr val="accent1">
                    <a:lumMod val="50000"/>
                  </a:schemeClr>
                </a:solidFill>
              </a:rPr>
              <a:t>Mission Owner (A5, A1, SAF/IE, etc.):  </a:t>
            </a:r>
            <a:r>
              <a:rPr lang="en-US" sz="1600" dirty="0">
                <a:solidFill>
                  <a:schemeClr val="accent1">
                    <a:lumMod val="50000"/>
                  </a:schemeClr>
                </a:solidFill>
              </a:rPr>
              <a:t>AFOSI/ERC &amp; AFOSI/XR		</a:t>
            </a:r>
          </a:p>
          <a:p>
            <a:pPr marL="0" indent="0">
              <a:buNone/>
            </a:pPr>
            <a:r>
              <a:rPr lang="en-US" sz="1600" b="1" dirty="0">
                <a:solidFill>
                  <a:schemeClr val="accent1">
                    <a:lumMod val="50000"/>
                  </a:schemeClr>
                </a:solidFill>
              </a:rPr>
              <a:t>Description (2-3 lines): </a:t>
            </a:r>
            <a:r>
              <a:rPr lang="en-US" sz="1600" dirty="0">
                <a:solidFill>
                  <a:schemeClr val="accent1">
                    <a:lumMod val="50000"/>
                  </a:schemeClr>
                </a:solidFill>
              </a:rPr>
              <a:t>The Department of the Air Force Office of Special Investigations (AFOSI) requires a range of technical support services, including research, development, test &amp; evaluation; program integration; strategy, budget and policy development or integration; systems engineering, technical advisory, as well as compliance and analysis support. </a:t>
            </a:r>
          </a:p>
          <a:p>
            <a:pPr marL="0" indent="0">
              <a:buNone/>
            </a:pPr>
            <a:r>
              <a:rPr lang="en-US" sz="1600" b="1" dirty="0">
                <a:solidFill>
                  <a:schemeClr val="accent1">
                    <a:lumMod val="50000"/>
                  </a:schemeClr>
                </a:solidFill>
              </a:rPr>
              <a:t>Need Date: </a:t>
            </a:r>
            <a:r>
              <a:rPr lang="en-US" sz="1600" dirty="0">
                <a:solidFill>
                  <a:schemeClr val="accent1">
                    <a:lumMod val="50000"/>
                  </a:schemeClr>
                </a:solidFill>
              </a:rPr>
              <a:t>TBD</a:t>
            </a:r>
            <a:endParaRPr lang="en-US" sz="1600" b="1" dirty="0">
              <a:solidFill>
                <a:schemeClr val="accent1">
                  <a:lumMod val="50000"/>
                </a:schemeClr>
              </a:solidFill>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03/06/2026 – 03/05/2031</a:t>
            </a:r>
            <a:endParaRPr lang="en-US" sz="1600" b="1" dirty="0">
              <a:solidFill>
                <a:schemeClr val="accent1">
                  <a:lumMod val="50000"/>
                </a:schemeClr>
              </a:solidFill>
            </a:endParaRPr>
          </a:p>
          <a:p>
            <a:pPr marL="0" indent="0">
              <a:buNone/>
            </a:pPr>
            <a:r>
              <a:rPr lang="en-US" sz="1600" b="1" dirty="0">
                <a:solidFill>
                  <a:schemeClr val="accent1">
                    <a:lumMod val="50000"/>
                  </a:schemeClr>
                </a:solidFill>
              </a:rPr>
              <a:t>Recompete (provide previous contract number) or New Start: </a:t>
            </a:r>
            <a:r>
              <a:rPr lang="en-US" sz="1600" dirty="0">
                <a:solidFill>
                  <a:schemeClr val="accent1">
                    <a:lumMod val="50000"/>
                  </a:schemeClr>
                </a:solidFill>
              </a:rPr>
              <a:t>Recompete</a:t>
            </a:r>
            <a:endParaRPr lang="en-US" sz="1600" b="1" dirty="0">
              <a:solidFill>
                <a:schemeClr val="accent1">
                  <a:lumMod val="50000"/>
                </a:schemeClr>
              </a:solidFill>
            </a:endParaRPr>
          </a:p>
          <a:p>
            <a:pPr marL="0" indent="0">
              <a:buNone/>
            </a:pPr>
            <a:r>
              <a:rPr lang="en-US" sz="1600" b="1" dirty="0">
                <a:solidFill>
                  <a:schemeClr val="accent1">
                    <a:lumMod val="50000"/>
                  </a:schemeClr>
                </a:solidFill>
              </a:rPr>
              <a:t>Anticipated RFP/RFQ Release Date/Timeframe: </a:t>
            </a: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Full &amp; Open</a:t>
            </a:r>
          </a:p>
          <a:p>
            <a:pPr marL="0" indent="0">
              <a:buNone/>
            </a:pPr>
            <a:r>
              <a:rPr lang="en-US" sz="1600" b="1" dirty="0">
                <a:solidFill>
                  <a:schemeClr val="accent1">
                    <a:lumMod val="50000"/>
                  </a:schemeClr>
                </a:solidFill>
              </a:rPr>
              <a:t>Preliminary Evaluation Criteria (HTRO, Past Performance Tradeoff, etc.): </a:t>
            </a:r>
            <a:r>
              <a:rPr lang="en-US" sz="1600" dirty="0">
                <a:solidFill>
                  <a:schemeClr val="accent1">
                    <a:lumMod val="50000"/>
                  </a:schemeClr>
                </a:solidFill>
              </a:rPr>
              <a:t>TBD</a:t>
            </a:r>
            <a:endParaRPr lang="en-US" sz="1600" b="1" dirty="0">
              <a:solidFill>
                <a:schemeClr val="accent1">
                  <a:lumMod val="50000"/>
                </a:schemeClr>
              </a:solidFill>
            </a:endParaRPr>
          </a:p>
          <a:p>
            <a:pPr marL="0" indent="0">
              <a:buNone/>
            </a:pPr>
            <a:r>
              <a:rPr lang="en-US" sz="1600" b="1" dirty="0">
                <a:solidFill>
                  <a:schemeClr val="accent1">
                    <a:lumMod val="50000"/>
                  </a:schemeClr>
                </a:solidFill>
              </a:rPr>
              <a:t>Contract Vehicle Being Used (NASA SEWP, MAS, OASIS+, etc.), if applicable:</a:t>
            </a:r>
          </a:p>
          <a:p>
            <a:pPr marL="0" indent="0">
              <a:buNone/>
            </a:pPr>
            <a:r>
              <a:rPr lang="en-US" sz="1600" b="1" dirty="0">
                <a:solidFill>
                  <a:schemeClr val="accent1">
                    <a:lumMod val="50000"/>
                  </a:schemeClr>
                </a:solidFill>
              </a:rPr>
              <a:t>NAICS: </a:t>
            </a:r>
            <a:r>
              <a:rPr lang="en-US" sz="1600" dirty="0">
                <a:solidFill>
                  <a:schemeClr val="accent1">
                    <a:lumMod val="50000"/>
                  </a:schemeClr>
                </a:solidFill>
              </a:rPr>
              <a:t>561611 – Investigation and Personal Background Check Services</a:t>
            </a:r>
          </a:p>
          <a:p>
            <a:pPr marL="0" indent="0">
              <a:buNone/>
            </a:pPr>
            <a:r>
              <a:rPr lang="en-US" sz="1600" dirty="0">
                <a:solidFill>
                  <a:schemeClr val="accent1">
                    <a:lumMod val="50000"/>
                  </a:schemeClr>
                </a:solidFill>
              </a:rPr>
              <a:t>			</a:t>
            </a:r>
          </a:p>
        </p:txBody>
      </p:sp>
      <p:pic>
        <p:nvPicPr>
          <p:cNvPr id="4" name="Picture 13" descr="afsymbol">
            <a:extLst>
              <a:ext uri="{FF2B5EF4-FFF2-40B4-BE49-F238E27FC236}">
                <a16:creationId xmlns:a16="http://schemas.microsoft.com/office/drawing/2014/main" id="{B870683D-A506-74BB-73D5-7FED7869F59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C4E1840D-242D-1F9B-7DE6-3AC83D4F1846}"/>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03A1B70-CEFC-8112-5EA6-56528265907B}"/>
              </a:ext>
            </a:extLst>
          </p:cNvPr>
          <p:cNvSpPr txBox="1"/>
          <p:nvPr/>
        </p:nvSpPr>
        <p:spPr>
          <a:xfrm>
            <a:off x="2566931" y="611658"/>
            <a:ext cx="9121522" cy="95410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1" u="none" strike="noStrike" kern="1200" cap="none" spc="0" normalizeH="0" baseline="0" noProof="0" dirty="0">
                <a:ln>
                  <a:noFill/>
                </a:ln>
                <a:solidFill>
                  <a:prstClr val="black"/>
                </a:solidFill>
                <a:effectLst/>
                <a:uLnTx/>
                <a:uFillTx/>
                <a:latin typeface="Calibri" panose="020F0502020204030204"/>
                <a:ea typeface="+mn-ea"/>
                <a:cs typeface="+mn-cs"/>
              </a:rPr>
              <a:t>SYSTEMS ENGINEERING AND TECHNICAL ADVISORY (SETA)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1" u="none" strike="noStrike" kern="1200" cap="none" spc="0" normalizeH="0" baseline="0" noProof="0" dirty="0">
                <a:ln>
                  <a:noFill/>
                </a:ln>
                <a:solidFill>
                  <a:prstClr val="black"/>
                </a:solidFill>
                <a:effectLst/>
                <a:uLnTx/>
                <a:uFillTx/>
                <a:latin typeface="Calibri" panose="020F0502020204030204"/>
                <a:ea typeface="+mn-ea"/>
                <a:cs typeface="+mn-cs"/>
              </a:rPr>
              <a:t>PROFESSIONAL SUPPORT SERVICES ID/IQ</a:t>
            </a:r>
          </a:p>
        </p:txBody>
      </p:sp>
      <p:sp>
        <p:nvSpPr>
          <p:cNvPr id="10" name="Slide Number Placeholder 9">
            <a:extLst>
              <a:ext uri="{FF2B5EF4-FFF2-40B4-BE49-F238E27FC236}">
                <a16:creationId xmlns:a16="http://schemas.microsoft.com/office/drawing/2014/main" id="{3FE55FED-3847-685B-7502-B392E931BD1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786920-98DB-4A6A-8929-FBA7F922885C}" type="slidenum">
              <a:rPr kumimoji="0" lang="en-US" sz="1600" b="1" i="0" u="none" strike="noStrike" kern="1200" cap="none" spc="0" normalizeH="0" baseline="0" noProof="0" smtClean="0">
                <a:ln>
                  <a:noFill/>
                </a:ln>
                <a:solidFill>
                  <a:srgbClr val="4472C4">
                    <a:lumMod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600" b="1" i="0" u="none" strike="noStrike" kern="1200" cap="none" spc="0" normalizeH="0" baseline="0" noProof="0" dirty="0">
              <a:ln>
                <a:noFill/>
              </a:ln>
              <a:solidFill>
                <a:srgbClr val="4472C4">
                  <a:lumMod val="75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4327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13" descr="afsymbo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7426" y="4194810"/>
            <a:ext cx="255425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p:cNvSpPr txBox="1"/>
          <p:nvPr/>
        </p:nvSpPr>
        <p:spPr>
          <a:xfrm>
            <a:off x="2418346" y="2064258"/>
            <a:ext cx="7291137" cy="646331"/>
          </a:xfrm>
          <a:prstGeom prst="rect">
            <a:avLst/>
          </a:prstGeom>
          <a:noFill/>
        </p:spPr>
        <p:txBody>
          <a:bodyPr wrap="square" rtlCol="0">
            <a:spAutoFit/>
          </a:bodyPr>
          <a:lstStyle/>
          <a:p>
            <a:pPr algn="ctr"/>
            <a:r>
              <a:rPr lang="en-US" sz="3600" b="1" dirty="0">
                <a:solidFill>
                  <a:schemeClr val="accent5">
                    <a:lumMod val="75000"/>
                  </a:schemeClr>
                </a:solidFill>
              </a:rPr>
              <a:t>DC3</a:t>
            </a:r>
          </a:p>
        </p:txBody>
      </p:sp>
    </p:spTree>
    <p:extLst>
      <p:ext uri="{BB962C8B-B14F-4D97-AF65-F5344CB8AC3E}">
        <p14:creationId xmlns:p14="http://schemas.microsoft.com/office/powerpoint/2010/main" val="2868383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FC09D-82FE-EB32-D400-704E85A18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88799-0E16-BAA0-02E7-9E0ECB8910BF}"/>
              </a:ext>
            </a:extLst>
          </p:cNvPr>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a:extLst>
              <a:ext uri="{FF2B5EF4-FFF2-40B4-BE49-F238E27FC236}">
                <a16:creationId xmlns:a16="http://schemas.microsoft.com/office/drawing/2014/main" id="{14185E3C-334E-E8A2-E9B1-2F531BC6FCBD}"/>
              </a:ext>
            </a:extLst>
          </p:cNvPr>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a:extLst>
              <a:ext uri="{FF2B5EF4-FFF2-40B4-BE49-F238E27FC236}">
                <a16:creationId xmlns:a16="http://schemas.microsoft.com/office/drawing/2014/main" id="{864AEE81-0E77-5415-12A5-BABA7538276C}"/>
              </a:ext>
            </a:extLst>
          </p:cNvPr>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FF5FA47-0FFF-E74E-4047-2AC6AE74EE56}"/>
              </a:ext>
            </a:extLst>
          </p:cNvPr>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AAC704EE-B504-D195-5A0F-2A0778FD538C}"/>
              </a:ext>
            </a:extLst>
          </p:cNvPr>
          <p:cNvSpPr txBox="1"/>
          <p:nvPr/>
        </p:nvSpPr>
        <p:spPr>
          <a:xfrm>
            <a:off x="740664" y="6052010"/>
            <a:ext cx="10808208" cy="523220"/>
          </a:xfrm>
          <a:prstGeom prst="rect">
            <a:avLst/>
          </a:prstGeom>
          <a:noFill/>
        </p:spPr>
        <p:txBody>
          <a:bodyPr wrap="square" rtlCol="0">
            <a:spAutoFit/>
          </a:bodyPr>
          <a:lstStyle/>
          <a:p>
            <a:r>
              <a:rPr lang="en-US" sz="2800" b="1" dirty="0"/>
              <a:t>Note: Any information provided in this slide deck is subject to change</a:t>
            </a:r>
          </a:p>
        </p:txBody>
      </p:sp>
      <p:sp>
        <p:nvSpPr>
          <p:cNvPr id="4" name="TextBox 3">
            <a:extLst>
              <a:ext uri="{FF2B5EF4-FFF2-40B4-BE49-F238E27FC236}">
                <a16:creationId xmlns:a16="http://schemas.microsoft.com/office/drawing/2014/main" id="{D343C117-1199-41B6-B8A9-B820955031A3}"/>
              </a:ext>
            </a:extLst>
          </p:cNvPr>
          <p:cNvSpPr txBox="1"/>
          <p:nvPr/>
        </p:nvSpPr>
        <p:spPr>
          <a:xfrm>
            <a:off x="4370832" y="1796860"/>
            <a:ext cx="6839712" cy="4370427"/>
          </a:xfrm>
          <a:prstGeom prst="rect">
            <a:avLst/>
          </a:prstGeom>
          <a:noFill/>
        </p:spPr>
        <p:txBody>
          <a:bodyPr wrap="square" rtlCol="0">
            <a:spAutoFit/>
          </a:bodyPr>
          <a:lstStyle/>
          <a:p>
            <a:pPr algn="l"/>
            <a:r>
              <a:rPr lang="en-US" b="1" i="0" dirty="0">
                <a:solidFill>
                  <a:srgbClr val="323130"/>
                </a:solidFill>
                <a:effectLst/>
                <a:latin typeface="var(--fontFamilyCustomFont1100, var(--fontFamilyBase))"/>
              </a:rPr>
              <a:t>DC3 Mission Overview</a:t>
            </a:r>
          </a:p>
          <a:p>
            <a:pPr algn="l"/>
            <a:endParaRPr lang="en-US" b="1" i="0" dirty="0">
              <a:solidFill>
                <a:srgbClr val="323130"/>
              </a:solidFill>
              <a:effectLst/>
              <a:latin typeface="var(--fontFamilyCustomFont1100, var(--fontFamilyBase))"/>
            </a:endParaRPr>
          </a:p>
          <a:p>
            <a:pPr algn="l"/>
            <a:r>
              <a:rPr lang="en-US" sz="1400" b="0" i="0" dirty="0">
                <a:solidFill>
                  <a:srgbClr val="323130"/>
                </a:solidFill>
                <a:effectLst/>
                <a:latin typeface="Segoe UI" panose="020B0502040204020203" pitchFamily="34" charset="0"/>
              </a:rPr>
              <a:t>The DoD Cyber Crime Center (DC3) provides digital and multimedia (D/MM) forensics, specialized cyber training, technical solutions development, and cyber analytics for the following DoD mission areas: cybersecurity (CS) and critical infrastructure protection (CIP); law enforcement and counterintelligence (LE/CI); document and media exploitation (DOMEX), counterterrorism (CT) and safety inquiries. </a:t>
            </a:r>
            <a:br>
              <a:rPr lang="en-US" sz="1400" b="0" i="0" dirty="0">
                <a:solidFill>
                  <a:srgbClr val="323130"/>
                </a:solidFill>
                <a:effectLst/>
                <a:latin typeface="Segoe UI" panose="020B0502040204020203" pitchFamily="34" charset="0"/>
              </a:rPr>
            </a:br>
            <a:br>
              <a:rPr lang="en-US" sz="1400" b="0" i="0" dirty="0">
                <a:solidFill>
                  <a:srgbClr val="323130"/>
                </a:solidFill>
                <a:effectLst/>
                <a:latin typeface="Segoe UI" panose="020B0502040204020203" pitchFamily="34" charset="0"/>
              </a:rPr>
            </a:br>
            <a:r>
              <a:rPr lang="en-US" sz="1400" b="0" i="0" dirty="0">
                <a:solidFill>
                  <a:srgbClr val="323130"/>
                </a:solidFill>
                <a:effectLst/>
                <a:latin typeface="Segoe UI" panose="020B0502040204020203" pitchFamily="34" charset="0"/>
              </a:rPr>
              <a:t>DC3 is designated as a federal cyber center by National Security Presidential Directive 54/Homeland Security Presidential Directive 23, as a DoD center of excellence for D/MM forensics by DoD Directive 5505.13E, and serves as the operational focal point for DoD’s Defense Industrial Base Cybersecurity Program (DIB CS Program; 32 CFR Part 236). DC3 delivers capability with a team comprised of Department of the Air Force civilians, Air Force and Navy military personnel, and contractors for specialized support.</a:t>
            </a:r>
          </a:p>
          <a:p>
            <a:pPr algn="l"/>
            <a:endParaRPr lang="en-US" sz="1400" dirty="0">
              <a:solidFill>
                <a:srgbClr val="323130"/>
              </a:solidFill>
              <a:latin typeface="Segoe UI" panose="020B0502040204020203" pitchFamily="34" charset="0"/>
            </a:endParaRPr>
          </a:p>
          <a:p>
            <a:pPr algn="l"/>
            <a:r>
              <a:rPr lang="en-US" sz="1400" b="0" i="0" dirty="0">
                <a:solidFill>
                  <a:srgbClr val="323130"/>
                </a:solidFill>
                <a:effectLst/>
                <a:latin typeface="Segoe UI" panose="020B0502040204020203" pitchFamily="34" charset="0"/>
              </a:rPr>
              <a:t>The following are DC3’s anticipated contract requirements for FY25/26:</a:t>
            </a:r>
          </a:p>
          <a:p>
            <a:endParaRPr lang="en-US" dirty="0"/>
          </a:p>
        </p:txBody>
      </p:sp>
      <p:pic>
        <p:nvPicPr>
          <p:cNvPr id="10" name="Picture 9">
            <a:extLst>
              <a:ext uri="{FF2B5EF4-FFF2-40B4-BE49-F238E27FC236}">
                <a16:creationId xmlns:a16="http://schemas.microsoft.com/office/drawing/2014/main" id="{44FBFB9A-B20D-4804-9074-FFBA67785A40}"/>
              </a:ext>
            </a:extLst>
          </p:cNvPr>
          <p:cNvPicPr>
            <a:picLocks noChangeAspect="1"/>
          </p:cNvPicPr>
          <p:nvPr/>
        </p:nvPicPr>
        <p:blipFill>
          <a:blip r:embed="rId2"/>
          <a:stretch>
            <a:fillRect/>
          </a:stretch>
        </p:blipFill>
        <p:spPr>
          <a:xfrm>
            <a:off x="859536" y="2105406"/>
            <a:ext cx="3256105" cy="3217616"/>
          </a:xfrm>
          <a:prstGeom prst="rect">
            <a:avLst/>
          </a:prstGeom>
        </p:spPr>
      </p:pic>
    </p:spTree>
    <p:extLst>
      <p:ext uri="{BB962C8B-B14F-4D97-AF65-F5344CB8AC3E}">
        <p14:creationId xmlns:p14="http://schemas.microsoft.com/office/powerpoint/2010/main" val="11508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2930" y="1730356"/>
            <a:ext cx="11018520" cy="4524137"/>
          </a:xfrm>
        </p:spPr>
        <p:txBody>
          <a:bodyPr vert="horz" lIns="91440" tIns="45720" rIns="91440" bIns="45720" rtlCol="0" anchor="t">
            <a:normAutofit fontScale="92500" lnSpcReduction="20000"/>
          </a:bodyPr>
          <a:lstStyle/>
          <a:p>
            <a:pPr marL="0" indent="0">
              <a:buNone/>
            </a:pPr>
            <a:r>
              <a:rPr lang="en-US" sz="1600" b="1" dirty="0">
                <a:solidFill>
                  <a:schemeClr val="accent1">
                    <a:lumMod val="50000"/>
                  </a:schemeClr>
                </a:solidFill>
              </a:rPr>
              <a:t>Mission Owner:  </a:t>
            </a:r>
            <a:r>
              <a:rPr lang="en-US" sz="1600" dirty="0">
                <a:solidFill>
                  <a:schemeClr val="accent1">
                    <a:lumMod val="50000"/>
                  </a:schemeClr>
                </a:solidFill>
              </a:rPr>
              <a:t>DoD Cyber Crime Center (DC3)  				</a:t>
            </a:r>
          </a:p>
          <a:p>
            <a:pPr marL="0" indent="0">
              <a:buNone/>
            </a:pPr>
            <a:r>
              <a:rPr lang="en-US" sz="1600" b="1" dirty="0">
                <a:solidFill>
                  <a:schemeClr val="accent1">
                    <a:lumMod val="50000"/>
                  </a:schemeClr>
                </a:solidFill>
              </a:rPr>
              <a:t>Description: </a:t>
            </a:r>
            <a:r>
              <a:rPr lang="en-US" altLang="en-US" sz="1600" dirty="0">
                <a:solidFill>
                  <a:schemeClr val="accent1">
                    <a:lumMod val="50000"/>
                  </a:schemeClr>
                </a:solidFill>
                <a:cs typeface="Times New Roman" pitchFamily="18" charset="0"/>
              </a:rPr>
              <a:t>Develop and deliver a Digital Forensics Expert Witness Testimony Training course to establish uniform, consistent training for DoD Law Enforcement Counterintelligence (LE/CI) personnel who perform digital forensics. The course will enable attendees to gain experience in courtroom testimony practices and increases their capability to serve as expert witnesses. Course updates enhance Prosecutor and Expert Witness integration to successfully prosecute sexual assault cases. </a:t>
            </a:r>
          </a:p>
          <a:p>
            <a:pPr marL="0" indent="0">
              <a:buNone/>
            </a:pPr>
            <a:r>
              <a:rPr lang="en-US" sz="1600" b="1" dirty="0">
                <a:solidFill>
                  <a:schemeClr val="accent1">
                    <a:lumMod val="50000"/>
                  </a:schemeClr>
                </a:solidFill>
              </a:rPr>
              <a:t>Need Date: </a:t>
            </a:r>
            <a:r>
              <a:rPr lang="en-US" sz="1600" dirty="0">
                <a:solidFill>
                  <a:schemeClr val="accent1">
                    <a:lumMod val="50000"/>
                  </a:schemeClr>
                </a:solidFill>
              </a:rPr>
              <a:t>September 20, 2027</a:t>
            </a: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9/19/2022 – 9/20/2027</a:t>
            </a:r>
          </a:p>
          <a:p>
            <a:pPr marL="0" indent="0">
              <a:buNone/>
            </a:pPr>
            <a:r>
              <a:rPr lang="en-US" sz="1600" b="1" dirty="0">
                <a:solidFill>
                  <a:schemeClr val="accent1">
                    <a:lumMod val="50000"/>
                  </a:schemeClr>
                </a:solidFill>
              </a:rPr>
              <a:t>Recompete (contract number): </a:t>
            </a:r>
            <a:r>
              <a:rPr lang="en-US" altLang="en-US" sz="1600" dirty="0">
                <a:solidFill>
                  <a:schemeClr val="accent1">
                    <a:lumMod val="50000"/>
                  </a:schemeClr>
                </a:solidFill>
                <a:cs typeface="Times New Roman" pitchFamily="18" charset="0"/>
              </a:rPr>
              <a:t>FA701422A0012</a:t>
            </a:r>
            <a:endParaRPr lang="en-US" sz="1600" dirty="0">
              <a:solidFill>
                <a:schemeClr val="accent1">
                  <a:lumMod val="50000"/>
                </a:schemeClr>
              </a:solidFill>
            </a:endParaRP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May 2027</a:t>
            </a: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Small Business Set-Aside</a:t>
            </a:r>
          </a:p>
          <a:p>
            <a:pPr marL="0" indent="0">
              <a:buNone/>
            </a:pPr>
            <a:r>
              <a:rPr lang="en-US" sz="1600" b="1" dirty="0">
                <a:solidFill>
                  <a:schemeClr val="accent1">
                    <a:lumMod val="50000"/>
                  </a:schemeClr>
                </a:solidFill>
              </a:rPr>
              <a:t>Preliminary Evaluation Criteria (HTRO, Past Performance Tradeoff, etc.): </a:t>
            </a:r>
            <a:r>
              <a:rPr lang="en-US" sz="1600" dirty="0">
                <a:solidFill>
                  <a:schemeClr val="accent1">
                    <a:lumMod val="50000"/>
                  </a:schemeClr>
                </a:solidFill>
              </a:rPr>
              <a:t>Full &amp; Open, trade-off</a:t>
            </a:r>
          </a:p>
          <a:p>
            <a:pPr marL="0" indent="0">
              <a:buNone/>
            </a:pPr>
            <a:r>
              <a:rPr lang="en-US" sz="1600" b="1" dirty="0">
                <a:solidFill>
                  <a:schemeClr val="accent1">
                    <a:lumMod val="50000"/>
                  </a:schemeClr>
                </a:solidFill>
              </a:rPr>
              <a:t>Contract Vehicle Being Used (NASA SEWP, MAS, OASIS+, etc.), if applicable:  </a:t>
            </a:r>
            <a:r>
              <a:rPr lang="en-US" sz="1600" dirty="0">
                <a:solidFill>
                  <a:schemeClr val="accent1">
                    <a:lumMod val="50000"/>
                  </a:schemeClr>
                </a:solidFill>
              </a:rPr>
              <a:t>AFDW/PK, enterprise solution</a:t>
            </a:r>
          </a:p>
          <a:p>
            <a:pPr marL="0" indent="0">
              <a:buNone/>
            </a:pPr>
            <a:r>
              <a:rPr lang="en-US" sz="1600" b="1" dirty="0">
                <a:solidFill>
                  <a:schemeClr val="accent1">
                    <a:lumMod val="50000"/>
                  </a:schemeClr>
                </a:solidFill>
              </a:rPr>
              <a:t>NAICS: </a:t>
            </a:r>
            <a:r>
              <a:rPr lang="en-US" sz="1600" dirty="0">
                <a:solidFill>
                  <a:schemeClr val="accent1">
                    <a:lumMod val="50000"/>
                  </a:schemeClr>
                </a:solidFill>
              </a:rPr>
              <a:t>611430 </a:t>
            </a:r>
          </a:p>
          <a:p>
            <a:pPr marL="0" indent="0">
              <a:buNone/>
            </a:pPr>
            <a:r>
              <a:rPr lang="en-US" sz="1600" b="1" dirty="0">
                <a:solidFill>
                  <a:schemeClr val="accent1">
                    <a:lumMod val="50000"/>
                  </a:schemeClr>
                </a:solidFill>
              </a:rPr>
              <a:t>PSC: </a:t>
            </a:r>
            <a:r>
              <a:rPr lang="en-US" sz="1600" dirty="0">
                <a:solidFill>
                  <a:schemeClr val="accent1">
                    <a:lumMod val="50000"/>
                  </a:schemeClr>
                </a:solidFill>
              </a:rPr>
              <a:t>U008</a:t>
            </a: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Ms. </a:t>
            </a:r>
            <a:r>
              <a:rPr lang="en-US" sz="1600" dirty="0" err="1">
                <a:solidFill>
                  <a:schemeClr val="accent1">
                    <a:lumMod val="50000"/>
                  </a:schemeClr>
                </a:solidFill>
                <a:ea typeface="Times New Roman" panose="02020603050405020304" pitchFamily="18" charset="0"/>
              </a:rPr>
              <a:t>Ulli</a:t>
            </a:r>
            <a:r>
              <a:rPr lang="en-US" sz="1600" dirty="0">
                <a:solidFill>
                  <a:schemeClr val="accent1">
                    <a:lumMod val="50000"/>
                  </a:schemeClr>
                </a:solidFill>
                <a:ea typeface="Times New Roman" panose="02020603050405020304" pitchFamily="18" charset="0"/>
              </a:rPr>
              <a:t> Powell, AFDW/PKA; </a:t>
            </a:r>
          </a:p>
          <a:p>
            <a:pPr marL="0" indent="0">
              <a:buNone/>
            </a:pPr>
            <a:r>
              <a:rPr lang="en-US" sz="1600" b="1" dirty="0">
                <a:solidFill>
                  <a:schemeClr val="accent1">
                    <a:lumMod val="50000"/>
                  </a:schemeClr>
                </a:solidFill>
                <a:effectLst/>
                <a:ea typeface="Times New Roman" panose="02020603050405020304" pitchFamily="18" charset="0"/>
              </a:rPr>
              <a:t>PM/COR:  </a:t>
            </a:r>
            <a:r>
              <a:rPr lang="en-US" sz="1600" dirty="0">
                <a:solidFill>
                  <a:schemeClr val="accent1">
                    <a:lumMod val="50000"/>
                  </a:schemeClr>
                </a:solidFill>
                <a:effectLst/>
                <a:ea typeface="Times New Roman" panose="02020603050405020304" pitchFamily="18" charset="0"/>
              </a:rPr>
              <a:t>Mr. Steve Woolfolk, DC3/ER/CMO; </a:t>
            </a:r>
            <a:r>
              <a:rPr lang="en-US" sz="1600" dirty="0">
                <a:solidFill>
                  <a:schemeClr val="accent1">
                    <a:lumMod val="50000"/>
                  </a:schemeClr>
                </a:solidFill>
              </a:rPr>
              <a:t>				</a:t>
            </a:r>
          </a:p>
        </p:txBody>
      </p:sp>
      <p:pic>
        <p:nvPicPr>
          <p:cNvPr id="4" name="Picture 13" descr="afsymbo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2" y="338331"/>
            <a:ext cx="1420602" cy="1038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11646" y="698856"/>
            <a:ext cx="8789804" cy="646331"/>
          </a:xfrm>
          <a:prstGeom prst="rect">
            <a:avLst/>
          </a:prstGeom>
          <a:noFill/>
        </p:spPr>
        <p:txBody>
          <a:bodyPr wrap="square" rtlCol="0">
            <a:spAutoFit/>
          </a:bodyPr>
          <a:lstStyle/>
          <a:p>
            <a:pPr algn="r"/>
            <a:r>
              <a:rPr lang="en-US" sz="3600" b="1" i="1" dirty="0"/>
              <a:t>Digital Forensics Trial Training</a:t>
            </a:r>
          </a:p>
        </p:txBody>
      </p:sp>
      <p:sp>
        <p:nvSpPr>
          <p:cNvPr id="10" name="Slide Number Placeholder 9"/>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15</a:t>
            </a:fld>
            <a:endParaRPr lang="en-US" sz="1600" b="1" dirty="0">
              <a:solidFill>
                <a:schemeClr val="accent5">
                  <a:lumMod val="75000"/>
                </a:schemeClr>
              </a:solidFill>
            </a:endParaRPr>
          </a:p>
        </p:txBody>
      </p:sp>
    </p:spTree>
    <p:extLst>
      <p:ext uri="{BB962C8B-B14F-4D97-AF65-F5344CB8AC3E}">
        <p14:creationId xmlns:p14="http://schemas.microsoft.com/office/powerpoint/2010/main" val="3586982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2930" y="1675492"/>
            <a:ext cx="11018520" cy="4752740"/>
          </a:xfrm>
        </p:spPr>
        <p:txBody>
          <a:bodyPr vert="horz" lIns="91440" tIns="45720" rIns="91440" bIns="45720" rtlCol="0" anchor="t">
            <a:noAutofit/>
          </a:bodyPr>
          <a:lstStyle/>
          <a:p>
            <a:pPr marL="0" indent="0">
              <a:buNone/>
            </a:pPr>
            <a:r>
              <a:rPr lang="en-US" sz="1100" b="1" dirty="0">
                <a:solidFill>
                  <a:schemeClr val="accent1">
                    <a:lumMod val="50000"/>
                  </a:schemeClr>
                </a:solidFill>
              </a:rPr>
              <a:t>Mission Owner:  </a:t>
            </a:r>
            <a:r>
              <a:rPr lang="en-US" sz="1100" dirty="0">
                <a:solidFill>
                  <a:schemeClr val="accent1">
                    <a:lumMod val="50000"/>
                  </a:schemeClr>
                </a:solidFill>
              </a:rPr>
              <a:t>DoD Cyber Crime Center (DC3)  </a:t>
            </a:r>
            <a:r>
              <a:rPr lang="en-US" sz="1100" b="1" dirty="0">
                <a:solidFill>
                  <a:schemeClr val="accent1">
                    <a:lumMod val="50000"/>
                  </a:schemeClr>
                </a:solidFill>
              </a:rPr>
              <a:t>				</a:t>
            </a:r>
          </a:p>
          <a:p>
            <a:pPr marL="0" indent="0">
              <a:buNone/>
            </a:pPr>
            <a:r>
              <a:rPr lang="en-US" sz="1100" b="1" dirty="0">
                <a:solidFill>
                  <a:schemeClr val="accent1">
                    <a:lumMod val="50000"/>
                  </a:schemeClr>
                </a:solidFill>
              </a:rPr>
              <a:t>Description: </a:t>
            </a:r>
            <a:r>
              <a:rPr lang="en-US" sz="1100" dirty="0">
                <a:solidFill>
                  <a:schemeClr val="accent1">
                    <a:lumMod val="50000"/>
                  </a:schemeClr>
                </a:solidFill>
                <a:effectLst/>
                <a:ea typeface="Arial" panose="020B0604020202020204" pitchFamily="34" charset="0"/>
              </a:rPr>
              <a:t>DC3</a:t>
            </a:r>
            <a:r>
              <a:rPr lang="en-US" sz="1100" spc="14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needs</a:t>
            </a:r>
            <a:r>
              <a:rPr lang="en-US" sz="1100" spc="15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specialized</a:t>
            </a:r>
            <a:r>
              <a:rPr lang="en-US" sz="1100" spc="14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technical</a:t>
            </a:r>
            <a:r>
              <a:rPr lang="en-US" sz="1100" spc="14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support</a:t>
            </a:r>
            <a:r>
              <a:rPr lang="en-US" sz="1100" spc="14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to</a:t>
            </a:r>
            <a:r>
              <a:rPr lang="en-US" sz="1100" spc="14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enhance</a:t>
            </a:r>
            <a:r>
              <a:rPr lang="en-US" sz="1100" spc="14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its</a:t>
            </a:r>
            <a:r>
              <a:rPr lang="en-US" sz="1100" spc="14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ability</a:t>
            </a:r>
            <a:r>
              <a:rPr lang="en-US" sz="1100" spc="14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to</a:t>
            </a:r>
            <a:r>
              <a:rPr lang="en-US" sz="1100" spc="14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investigate</a:t>
            </a:r>
            <a:r>
              <a:rPr lang="en-US" sz="1100" spc="14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and</a:t>
            </a:r>
            <a:r>
              <a:rPr lang="en-US" sz="1100" spc="14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prevent</a:t>
            </a:r>
            <a:r>
              <a:rPr lang="en-US" sz="1100" spc="14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criminal</a:t>
            </a:r>
            <a:r>
              <a:rPr lang="en-US" sz="1100" spc="14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and foreign</a:t>
            </a:r>
            <a:r>
              <a:rPr lang="en-US" sz="1100" spc="195"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malicious</a:t>
            </a:r>
            <a:r>
              <a:rPr lang="en-US" sz="1100" spc="195"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activity,</a:t>
            </a:r>
            <a:r>
              <a:rPr lang="en-US" sz="1100" spc="195"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as</a:t>
            </a:r>
            <a:r>
              <a:rPr lang="en-US" sz="1100" spc="195"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well</a:t>
            </a:r>
            <a:r>
              <a:rPr lang="en-US" sz="1100" spc="195"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as</a:t>
            </a:r>
            <a:r>
              <a:rPr lang="en-US" sz="1100" spc="195"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protect</a:t>
            </a:r>
            <a:r>
              <a:rPr lang="en-US" sz="1100" spc="195"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Department</a:t>
            </a:r>
            <a:r>
              <a:rPr lang="en-US" sz="1100" spc="195"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of</a:t>
            </a:r>
            <a:r>
              <a:rPr lang="en-US" sz="1100" spc="195"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the</a:t>
            </a:r>
            <a:r>
              <a:rPr lang="en-US" sz="1100" spc="195"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Air</a:t>
            </a:r>
            <a:r>
              <a:rPr lang="en-US" sz="1100" spc="195"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Force</a:t>
            </a:r>
            <a:r>
              <a:rPr lang="en-US" sz="1100" spc="195"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resources</a:t>
            </a:r>
            <a:r>
              <a:rPr lang="en-US" sz="1100" spc="195"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and</a:t>
            </a:r>
            <a:r>
              <a:rPr lang="en-US" sz="1100" spc="195"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personnel. The</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growing</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complexity</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of</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modern</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threats</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and</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rapid</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advancements</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in</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technology</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have</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created</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 pressing</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need</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for</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expert</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technical</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assistance</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to</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help</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DC3</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achieve</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its</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mission.</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To</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address</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this</a:t>
            </a:r>
            <a:r>
              <a:rPr lang="en-US" sz="1100" spc="16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need, DC3</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requires</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range</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of</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technical</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support</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services,</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including</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research,</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development,</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test</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&amp; evaluation;</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program</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integration;</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strategy,</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budget</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and</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policy</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development</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or</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integration;</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systems engineering,</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technical</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advisory,</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as</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well</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as</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compliance</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and</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analysis</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support.</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These</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services</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will bolster</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investigative</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capabilities,</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improve</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operational</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efficiency,</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and</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enable</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the</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effective</a:t>
            </a:r>
            <a:r>
              <a:rPr lang="en-US" sz="1100" spc="4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management</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and</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deployment</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of</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advanced</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technologies,</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ultimately</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allowing</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DC3</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to</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support</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the Department</a:t>
            </a:r>
            <a:r>
              <a:rPr lang="en-US" sz="1100" spc="15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of</a:t>
            </a:r>
            <a:r>
              <a:rPr lang="en-US" sz="1100" spc="15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the</a:t>
            </a:r>
            <a:r>
              <a:rPr lang="en-US" sz="1100" spc="15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Air</a:t>
            </a:r>
            <a:r>
              <a:rPr lang="en-US" sz="1100" spc="15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Force's</a:t>
            </a:r>
            <a:r>
              <a:rPr lang="en-US" sz="1100" spc="15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and</a:t>
            </a:r>
            <a:r>
              <a:rPr lang="en-US" sz="1100" spc="15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Department</a:t>
            </a:r>
            <a:r>
              <a:rPr lang="en-US" sz="1100" spc="15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of</a:t>
            </a:r>
            <a:r>
              <a:rPr lang="en-US" sz="1100" spc="15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Defense</a:t>
            </a:r>
            <a:r>
              <a:rPr lang="en-US" sz="1100" spc="15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strategic</a:t>
            </a:r>
            <a:r>
              <a:rPr lang="en-US" sz="1100" spc="15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objectives,</a:t>
            </a:r>
            <a:r>
              <a:rPr lang="en-US" sz="1100" spc="15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including</a:t>
            </a:r>
            <a:r>
              <a:rPr lang="en-US" sz="1100" spc="15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developing</a:t>
            </a:r>
            <a:r>
              <a:rPr lang="en-US" sz="1100" spc="15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 more</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agile</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and</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responsive</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force,</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enhancing</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cybersecurity</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capabilities,</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and</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improving</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overall</a:t>
            </a:r>
            <a:r>
              <a:rPr lang="en-US" sz="1100" spc="200" dirty="0">
                <a:solidFill>
                  <a:schemeClr val="accent1">
                    <a:lumMod val="50000"/>
                  </a:schemeClr>
                </a:solidFill>
                <a:effectLst/>
                <a:ea typeface="Arial" panose="020B0604020202020204" pitchFamily="34" charset="0"/>
              </a:rPr>
              <a:t> </a:t>
            </a:r>
            <a:r>
              <a:rPr lang="en-US" sz="1100" dirty="0">
                <a:solidFill>
                  <a:schemeClr val="accent1">
                    <a:lumMod val="50000"/>
                  </a:schemeClr>
                </a:solidFill>
                <a:effectLst/>
                <a:ea typeface="Arial" panose="020B0604020202020204" pitchFamily="34" charset="0"/>
              </a:rPr>
              <a:t>mission performance.</a:t>
            </a:r>
            <a:endParaRPr lang="en-US" altLang="en-US" sz="1100" dirty="0">
              <a:solidFill>
                <a:schemeClr val="accent1">
                  <a:lumMod val="50000"/>
                </a:schemeClr>
              </a:solidFill>
              <a:cs typeface="Times New Roman" pitchFamily="18" charset="0"/>
            </a:endParaRPr>
          </a:p>
          <a:p>
            <a:pPr marL="0" indent="0">
              <a:buNone/>
            </a:pPr>
            <a:r>
              <a:rPr lang="en-US" sz="1100" b="1" dirty="0">
                <a:solidFill>
                  <a:schemeClr val="accent1">
                    <a:lumMod val="50000"/>
                  </a:schemeClr>
                </a:solidFill>
              </a:rPr>
              <a:t>Need Date: </a:t>
            </a:r>
            <a:r>
              <a:rPr lang="en-US" sz="1100" dirty="0">
                <a:solidFill>
                  <a:schemeClr val="accent1">
                    <a:lumMod val="50000"/>
                  </a:schemeClr>
                </a:solidFill>
              </a:rPr>
              <a:t>March 4, 2026</a:t>
            </a:r>
          </a:p>
          <a:p>
            <a:pPr marL="0" indent="0">
              <a:buNone/>
            </a:pPr>
            <a:r>
              <a:rPr lang="en-US" sz="1100" b="1" dirty="0">
                <a:solidFill>
                  <a:schemeClr val="accent1">
                    <a:lumMod val="50000"/>
                  </a:schemeClr>
                </a:solidFill>
              </a:rPr>
              <a:t>Period of Performance: </a:t>
            </a:r>
            <a:r>
              <a:rPr lang="en-US" sz="1100" dirty="0">
                <a:solidFill>
                  <a:schemeClr val="accent1">
                    <a:lumMod val="50000"/>
                  </a:schemeClr>
                </a:solidFill>
              </a:rPr>
              <a:t>March 4, 2026 – March 5, 2031 (Base + 4 Option Years)</a:t>
            </a:r>
          </a:p>
          <a:p>
            <a:pPr marL="0" indent="0">
              <a:buNone/>
            </a:pPr>
            <a:r>
              <a:rPr lang="en-US" sz="1100" b="1" dirty="0">
                <a:solidFill>
                  <a:schemeClr val="accent1">
                    <a:lumMod val="50000"/>
                  </a:schemeClr>
                </a:solidFill>
              </a:rPr>
              <a:t>New Requirement with AFDW/PKA</a:t>
            </a:r>
          </a:p>
          <a:p>
            <a:pPr marL="0" indent="0">
              <a:buNone/>
            </a:pPr>
            <a:r>
              <a:rPr lang="en-US" sz="1100" b="1" dirty="0">
                <a:solidFill>
                  <a:schemeClr val="accent1">
                    <a:lumMod val="50000"/>
                  </a:schemeClr>
                </a:solidFill>
              </a:rPr>
              <a:t>Anticipated RFP/RFQ Release Date/Timeframe: </a:t>
            </a:r>
            <a:r>
              <a:rPr lang="en-US" sz="1100" dirty="0">
                <a:solidFill>
                  <a:schemeClr val="accent1">
                    <a:lumMod val="50000"/>
                  </a:schemeClr>
                </a:solidFill>
              </a:rPr>
              <a:t>August 2025</a:t>
            </a:r>
          </a:p>
          <a:p>
            <a:pPr marL="0" indent="0">
              <a:buNone/>
            </a:pPr>
            <a:r>
              <a:rPr lang="en-US" sz="1100" b="1" dirty="0">
                <a:solidFill>
                  <a:schemeClr val="accent1">
                    <a:lumMod val="50000"/>
                  </a:schemeClr>
                </a:solidFill>
              </a:rPr>
              <a:t>Acquisition Strategy (Full &amp; Open, Small Business Set Aside, etc.):  </a:t>
            </a:r>
            <a:r>
              <a:rPr lang="en-US" sz="1100" dirty="0">
                <a:solidFill>
                  <a:schemeClr val="accent1">
                    <a:lumMod val="50000"/>
                  </a:schemeClr>
                </a:solidFill>
              </a:rPr>
              <a:t>Full &amp; Open</a:t>
            </a:r>
          </a:p>
          <a:p>
            <a:pPr marL="0" indent="0">
              <a:buNone/>
            </a:pPr>
            <a:r>
              <a:rPr lang="en-US" sz="1100" b="1" dirty="0">
                <a:solidFill>
                  <a:schemeClr val="accent1">
                    <a:lumMod val="50000"/>
                  </a:schemeClr>
                </a:solidFill>
              </a:rPr>
              <a:t>Preliminary Evaluation Criteria (HTRO, Past Performance Tradeoff, etc.): </a:t>
            </a:r>
            <a:r>
              <a:rPr lang="en-US" sz="1100" dirty="0">
                <a:solidFill>
                  <a:schemeClr val="accent1">
                    <a:lumMod val="50000"/>
                  </a:schemeClr>
                </a:solidFill>
              </a:rPr>
              <a:t>Full &amp; Open, HTRO</a:t>
            </a:r>
          </a:p>
          <a:p>
            <a:pPr marL="0" indent="0">
              <a:buNone/>
            </a:pPr>
            <a:r>
              <a:rPr lang="en-US" sz="1100" b="1" dirty="0">
                <a:solidFill>
                  <a:schemeClr val="accent1">
                    <a:lumMod val="50000"/>
                  </a:schemeClr>
                </a:solidFill>
              </a:rPr>
              <a:t>Contract Vehicle Being Used (NASA SEWP, MAS, OASIS+, etc.), if applicable:  </a:t>
            </a:r>
            <a:r>
              <a:rPr lang="en-US" sz="1100" dirty="0">
                <a:solidFill>
                  <a:schemeClr val="accent1">
                    <a:lumMod val="50000"/>
                  </a:schemeClr>
                </a:solidFill>
              </a:rPr>
              <a:t>AFDW/PK, enterprise solution</a:t>
            </a:r>
          </a:p>
          <a:p>
            <a:pPr marL="0" indent="0">
              <a:buNone/>
            </a:pPr>
            <a:r>
              <a:rPr lang="en-US" sz="1100" b="1" dirty="0">
                <a:solidFill>
                  <a:schemeClr val="accent1">
                    <a:lumMod val="50000"/>
                  </a:schemeClr>
                </a:solidFill>
              </a:rPr>
              <a:t>NAICS: </a:t>
            </a:r>
            <a:r>
              <a:rPr lang="en-US" sz="1100" dirty="0">
                <a:solidFill>
                  <a:schemeClr val="accent1">
                    <a:lumMod val="50000"/>
                  </a:schemeClr>
                </a:solidFill>
              </a:rPr>
              <a:t>541690 </a:t>
            </a:r>
          </a:p>
          <a:p>
            <a:pPr marL="0" indent="0">
              <a:buNone/>
            </a:pPr>
            <a:r>
              <a:rPr lang="en-US" sz="1100" b="1" dirty="0">
                <a:solidFill>
                  <a:schemeClr val="accent1">
                    <a:lumMod val="50000"/>
                  </a:schemeClr>
                </a:solidFill>
              </a:rPr>
              <a:t>PSC: </a:t>
            </a:r>
            <a:r>
              <a:rPr lang="en-US" sz="1100" dirty="0">
                <a:solidFill>
                  <a:schemeClr val="accent1">
                    <a:lumMod val="50000"/>
                  </a:schemeClr>
                </a:solidFill>
              </a:rPr>
              <a:t>R425</a:t>
            </a:r>
          </a:p>
          <a:p>
            <a:pPr marL="0" indent="0">
              <a:buNone/>
            </a:pPr>
            <a:r>
              <a:rPr lang="en-US" sz="1100" b="1" dirty="0">
                <a:solidFill>
                  <a:schemeClr val="accent1">
                    <a:lumMod val="50000"/>
                  </a:schemeClr>
                </a:solidFill>
                <a:effectLst/>
                <a:ea typeface="Times New Roman" panose="02020603050405020304" pitchFamily="18" charset="0"/>
              </a:rPr>
              <a:t>CO </a:t>
            </a:r>
            <a:r>
              <a:rPr lang="en-US" sz="1100" b="1" dirty="0">
                <a:solidFill>
                  <a:schemeClr val="accent1">
                    <a:lumMod val="50000"/>
                  </a:schemeClr>
                </a:solidFill>
                <a:ea typeface="Times New Roman" panose="02020603050405020304" pitchFamily="18" charset="0"/>
              </a:rPr>
              <a:t>&amp; Contact Information:  </a:t>
            </a:r>
            <a:r>
              <a:rPr lang="en-US" sz="1100" dirty="0">
                <a:solidFill>
                  <a:schemeClr val="accent1">
                    <a:lumMod val="50000"/>
                  </a:schemeClr>
                </a:solidFill>
                <a:ea typeface="Times New Roman" panose="02020603050405020304" pitchFamily="18" charset="0"/>
              </a:rPr>
              <a:t>Ms. Joycelyn Roux, AFDW/PKA; </a:t>
            </a:r>
          </a:p>
          <a:p>
            <a:pPr marL="0" indent="0">
              <a:buNone/>
            </a:pPr>
            <a:r>
              <a:rPr lang="en-US" sz="1100" b="1" dirty="0">
                <a:solidFill>
                  <a:schemeClr val="accent1">
                    <a:lumMod val="50000"/>
                  </a:schemeClr>
                </a:solidFill>
                <a:effectLst/>
                <a:ea typeface="Times New Roman" panose="02020603050405020304" pitchFamily="18" charset="0"/>
              </a:rPr>
              <a:t>PM/COR:  </a:t>
            </a:r>
            <a:r>
              <a:rPr lang="en-US" sz="1100" dirty="0">
                <a:solidFill>
                  <a:schemeClr val="accent1">
                    <a:lumMod val="50000"/>
                  </a:schemeClr>
                </a:solidFill>
                <a:effectLst/>
                <a:ea typeface="Times New Roman" panose="02020603050405020304" pitchFamily="18" charset="0"/>
              </a:rPr>
              <a:t>Mr. Steve Woolfolk, DC3/ER/CMO; </a:t>
            </a:r>
            <a:r>
              <a:rPr lang="en-US" sz="1200" dirty="0">
                <a:solidFill>
                  <a:schemeClr val="accent1">
                    <a:lumMod val="50000"/>
                  </a:schemeClr>
                </a:solidFill>
              </a:rPr>
              <a:t>				</a:t>
            </a:r>
          </a:p>
        </p:txBody>
      </p:sp>
      <p:pic>
        <p:nvPicPr>
          <p:cNvPr id="4" name="Picture 13" descr="afsymbo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2" y="338331"/>
            <a:ext cx="1420602" cy="1038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11646" y="698856"/>
            <a:ext cx="8789804" cy="584775"/>
          </a:xfrm>
          <a:prstGeom prst="rect">
            <a:avLst/>
          </a:prstGeom>
          <a:noFill/>
        </p:spPr>
        <p:txBody>
          <a:bodyPr wrap="square" rtlCol="0">
            <a:spAutoFit/>
          </a:bodyPr>
          <a:lstStyle/>
          <a:p>
            <a:pPr algn="r"/>
            <a:r>
              <a:rPr lang="en-US" sz="3200" b="1" i="1" dirty="0"/>
              <a:t>DC3 Scientific Engineering &amp; Technical Assistance</a:t>
            </a:r>
          </a:p>
        </p:txBody>
      </p:sp>
      <p:sp>
        <p:nvSpPr>
          <p:cNvPr id="10" name="Slide Number Placeholder 9"/>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16</a:t>
            </a:fld>
            <a:endParaRPr lang="en-US" sz="1600" b="1" dirty="0">
              <a:solidFill>
                <a:schemeClr val="accent5">
                  <a:lumMod val="75000"/>
                </a:schemeClr>
              </a:solidFill>
            </a:endParaRPr>
          </a:p>
        </p:txBody>
      </p:sp>
    </p:spTree>
    <p:extLst>
      <p:ext uri="{BB962C8B-B14F-4D97-AF65-F5344CB8AC3E}">
        <p14:creationId xmlns:p14="http://schemas.microsoft.com/office/powerpoint/2010/main" val="1453581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9B41C-0AAB-2395-2638-496C1CF050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C74D1-912E-5F39-E185-2DD5B03674A1}"/>
              </a:ext>
            </a:extLst>
          </p:cNvPr>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a:extLst>
              <a:ext uri="{FF2B5EF4-FFF2-40B4-BE49-F238E27FC236}">
                <a16:creationId xmlns:a16="http://schemas.microsoft.com/office/drawing/2014/main" id="{521D75A8-4AB9-4452-036A-BCC9F3024AC7}"/>
              </a:ext>
            </a:extLst>
          </p:cNvPr>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a:extLst>
              <a:ext uri="{FF2B5EF4-FFF2-40B4-BE49-F238E27FC236}">
                <a16:creationId xmlns:a16="http://schemas.microsoft.com/office/drawing/2014/main" id="{E6CD3424-21C1-F4F5-26E2-56319C754288}"/>
              </a:ext>
            </a:extLst>
          </p:cNvPr>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13" descr="afsymbol">
            <a:extLst>
              <a:ext uri="{FF2B5EF4-FFF2-40B4-BE49-F238E27FC236}">
                <a16:creationId xmlns:a16="http://schemas.microsoft.com/office/drawing/2014/main" id="{3CCF39A3-7648-62B5-22AB-575AB7AE03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265" y="3774122"/>
            <a:ext cx="4406900" cy="260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095318AC-999F-6009-043A-2ABF91091BF0}"/>
              </a:ext>
            </a:extLst>
          </p:cNvPr>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B52CFA44-471D-5B31-88FA-3563BF0E92EC}"/>
              </a:ext>
            </a:extLst>
          </p:cNvPr>
          <p:cNvSpPr txBox="1"/>
          <p:nvPr/>
        </p:nvSpPr>
        <p:spPr>
          <a:xfrm>
            <a:off x="2450175" y="1793299"/>
            <a:ext cx="7291137" cy="646331"/>
          </a:xfrm>
          <a:prstGeom prst="rect">
            <a:avLst/>
          </a:prstGeom>
          <a:noFill/>
        </p:spPr>
        <p:txBody>
          <a:bodyPr wrap="square" rtlCol="0">
            <a:spAutoFit/>
          </a:bodyPr>
          <a:lstStyle/>
          <a:p>
            <a:pPr algn="ctr"/>
            <a:r>
              <a:rPr lang="en-US" sz="3600" b="1" u="sng" dirty="0">
                <a:solidFill>
                  <a:schemeClr val="accent5">
                    <a:lumMod val="75000"/>
                  </a:schemeClr>
                </a:solidFill>
              </a:rPr>
              <a:t>PKB Division</a:t>
            </a:r>
          </a:p>
        </p:txBody>
      </p:sp>
    </p:spTree>
    <p:extLst>
      <p:ext uri="{BB962C8B-B14F-4D97-AF65-F5344CB8AC3E}">
        <p14:creationId xmlns:p14="http://schemas.microsoft.com/office/powerpoint/2010/main" val="907551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99386-874F-EDA7-1D50-40546E6E8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9A85FE-2224-A067-46D0-99D68A8BAE77}"/>
              </a:ext>
            </a:extLst>
          </p:cNvPr>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a:extLst>
              <a:ext uri="{FF2B5EF4-FFF2-40B4-BE49-F238E27FC236}">
                <a16:creationId xmlns:a16="http://schemas.microsoft.com/office/drawing/2014/main" id="{DE0426EB-0D78-25A2-86A9-E1C94D802B3D}"/>
              </a:ext>
            </a:extLst>
          </p:cNvPr>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a:extLst>
              <a:ext uri="{FF2B5EF4-FFF2-40B4-BE49-F238E27FC236}">
                <a16:creationId xmlns:a16="http://schemas.microsoft.com/office/drawing/2014/main" id="{8D6C5ED3-9811-3A16-DDC2-0FCEE2DF98FC}"/>
              </a:ext>
            </a:extLst>
          </p:cNvPr>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13" descr="afsymbol">
            <a:extLst>
              <a:ext uri="{FF2B5EF4-FFF2-40B4-BE49-F238E27FC236}">
                <a16:creationId xmlns:a16="http://schemas.microsoft.com/office/drawing/2014/main" id="{121F4579-6333-74E7-3C3A-761D5DCA250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7426" y="4194810"/>
            <a:ext cx="255425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15E1CC06-4485-AAF7-4EF2-5BF4B3CDF09E}"/>
              </a:ext>
            </a:extLst>
          </p:cNvPr>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7306142B-D9E6-A20D-8650-11052E316D9F}"/>
              </a:ext>
            </a:extLst>
          </p:cNvPr>
          <p:cNvSpPr txBox="1"/>
          <p:nvPr/>
        </p:nvSpPr>
        <p:spPr>
          <a:xfrm>
            <a:off x="2418346" y="2064258"/>
            <a:ext cx="7291137" cy="646331"/>
          </a:xfrm>
          <a:prstGeom prst="rect">
            <a:avLst/>
          </a:prstGeom>
          <a:noFill/>
        </p:spPr>
        <p:txBody>
          <a:bodyPr wrap="square" rtlCol="0">
            <a:spAutoFit/>
          </a:bodyPr>
          <a:lstStyle/>
          <a:p>
            <a:pPr algn="ctr"/>
            <a:r>
              <a:rPr lang="en-US" sz="3600" b="1" dirty="0">
                <a:solidFill>
                  <a:schemeClr val="accent5">
                    <a:lumMod val="75000"/>
                  </a:schemeClr>
                </a:solidFill>
              </a:rPr>
              <a:t>SAF/AM</a:t>
            </a:r>
          </a:p>
        </p:txBody>
      </p:sp>
    </p:spTree>
    <p:extLst>
      <p:ext uri="{BB962C8B-B14F-4D97-AF65-F5344CB8AC3E}">
        <p14:creationId xmlns:p14="http://schemas.microsoft.com/office/powerpoint/2010/main" val="4092707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2930" y="1565765"/>
            <a:ext cx="11018520" cy="4508434"/>
          </a:xfrm>
        </p:spPr>
        <p:txBody>
          <a:bodyPr vert="horz" lIns="91440" tIns="45720" rIns="91440" bIns="45720" rtlCol="0" anchor="t">
            <a:normAutofit/>
          </a:bodyPr>
          <a:lstStyle/>
          <a:p>
            <a:pPr marL="0" indent="0">
              <a:buNone/>
            </a:pPr>
            <a:r>
              <a:rPr lang="en-US" sz="1600" b="1" dirty="0">
                <a:solidFill>
                  <a:schemeClr val="accent1">
                    <a:lumMod val="50000"/>
                  </a:schemeClr>
                </a:solidFill>
              </a:rPr>
              <a:t>Mission Owner (A5, A1, SAF/IE, etc.):  </a:t>
            </a:r>
            <a:r>
              <a:rPr lang="en-US" sz="1600" dirty="0">
                <a:solidFill>
                  <a:schemeClr val="accent1">
                    <a:lumMod val="50000"/>
                  </a:schemeClr>
                </a:solidFill>
              </a:rPr>
              <a:t>SAF/AM				</a:t>
            </a:r>
          </a:p>
          <a:p>
            <a:pPr marL="0" indent="0">
              <a:buNone/>
            </a:pPr>
            <a:r>
              <a:rPr lang="en-US" sz="1600" b="1" dirty="0">
                <a:solidFill>
                  <a:schemeClr val="accent1">
                    <a:lumMod val="50000"/>
                  </a:schemeClr>
                </a:solidFill>
              </a:rPr>
              <a:t>Description (2-3 lines): </a:t>
            </a:r>
            <a:r>
              <a:rPr lang="en-US" sz="1600" dirty="0">
                <a:solidFill>
                  <a:schemeClr val="accent1">
                    <a:lumMod val="50000"/>
                  </a:schemeClr>
                </a:solidFill>
              </a:rPr>
              <a:t>Provide a full range of administrative functions to support the organization's administrative duties that are required to accomplish the appropriate secretariat, administrative, and acquisition management, and oversight responsibilities.</a:t>
            </a:r>
          </a:p>
          <a:p>
            <a:pPr marL="0" indent="0">
              <a:buNone/>
            </a:pPr>
            <a:r>
              <a:rPr lang="en-US" sz="1600" b="1" dirty="0">
                <a:solidFill>
                  <a:schemeClr val="accent1">
                    <a:lumMod val="50000"/>
                  </a:schemeClr>
                </a:solidFill>
              </a:rPr>
              <a:t>Need Date: </a:t>
            </a:r>
            <a:r>
              <a:rPr lang="en-US" sz="1600" dirty="0">
                <a:solidFill>
                  <a:schemeClr val="accent1">
                    <a:lumMod val="50000"/>
                  </a:schemeClr>
                </a:solidFill>
              </a:rPr>
              <a:t>9 June 2025</a:t>
            </a: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9 June 2025 to 8 June 2030</a:t>
            </a:r>
          </a:p>
          <a:p>
            <a:pPr marL="0" indent="0">
              <a:buNone/>
            </a:pPr>
            <a:r>
              <a:rPr lang="en-US" sz="1600" b="1" dirty="0">
                <a:solidFill>
                  <a:schemeClr val="accent1">
                    <a:lumMod val="50000"/>
                  </a:schemeClr>
                </a:solidFill>
              </a:rPr>
              <a:t>Recompete previous contract numbers: </a:t>
            </a:r>
            <a:r>
              <a:rPr lang="en-US" sz="1600" dirty="0">
                <a:solidFill>
                  <a:schemeClr val="accent1">
                    <a:lumMod val="50000"/>
                  </a:schemeClr>
                </a:solidFill>
              </a:rPr>
              <a:t>Multiple Award BPA - FA701420A0006, FA701420A0007, FA701421A0001, FA701423A0007</a:t>
            </a: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April 2025</a:t>
            </a: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SDVOSB Set-Aside </a:t>
            </a:r>
          </a:p>
          <a:p>
            <a:pPr marL="0" indent="0">
              <a:buNone/>
            </a:pPr>
            <a:r>
              <a:rPr lang="en-US" sz="1600" b="1" dirty="0">
                <a:solidFill>
                  <a:schemeClr val="accent1">
                    <a:lumMod val="50000"/>
                  </a:schemeClr>
                </a:solidFill>
              </a:rPr>
              <a:t>NAICS: </a:t>
            </a:r>
            <a:r>
              <a:rPr lang="en-US" sz="1600" dirty="0">
                <a:solidFill>
                  <a:schemeClr val="accent1">
                    <a:lumMod val="50000"/>
                  </a:schemeClr>
                </a:solidFill>
              </a:rPr>
              <a:t>561110 - Office Administrative Services</a:t>
            </a: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Tyler Bender</a:t>
            </a: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ffectLst/>
                <a:ea typeface="Times New Roman" panose="02020603050405020304" pitchFamily="18" charset="0"/>
              </a:rPr>
              <a:t>April Taylor </a:t>
            </a:r>
          </a:p>
          <a:p>
            <a:pPr marL="0" indent="0">
              <a:buNone/>
            </a:pPr>
            <a:r>
              <a:rPr lang="en-US" sz="1600" dirty="0">
                <a:solidFill>
                  <a:schemeClr val="accent1">
                    <a:lumMod val="50000"/>
                  </a:schemeClr>
                </a:solidFill>
              </a:rPr>
              <a:t>				</a:t>
            </a:r>
          </a:p>
        </p:txBody>
      </p:sp>
      <p:pic>
        <p:nvPicPr>
          <p:cNvPr id="4" name="Picture 13" descr="afsymbo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955030" y="854032"/>
            <a:ext cx="5733422" cy="523220"/>
          </a:xfrm>
          <a:prstGeom prst="rect">
            <a:avLst/>
          </a:prstGeom>
          <a:noFill/>
        </p:spPr>
        <p:txBody>
          <a:bodyPr wrap="square" rtlCol="0">
            <a:spAutoFit/>
          </a:bodyPr>
          <a:lstStyle/>
          <a:p>
            <a:pPr algn="r"/>
            <a:r>
              <a:rPr lang="en-US" sz="2800" b="1" i="1" dirty="0"/>
              <a:t>HAF Administrative Support Services</a:t>
            </a:r>
            <a:endParaRPr lang="en-US" sz="2400" b="1" i="1" dirty="0"/>
          </a:p>
        </p:txBody>
      </p:sp>
      <p:sp>
        <p:nvSpPr>
          <p:cNvPr id="10" name="Slide Number Placeholder 9"/>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19</a:t>
            </a:fld>
            <a:endParaRPr lang="en-US" sz="1600" b="1" dirty="0">
              <a:solidFill>
                <a:schemeClr val="accent5">
                  <a:lumMod val="75000"/>
                </a:schemeClr>
              </a:solidFill>
            </a:endParaRPr>
          </a:p>
        </p:txBody>
      </p:sp>
    </p:spTree>
    <p:extLst>
      <p:ext uri="{BB962C8B-B14F-4D97-AF65-F5344CB8AC3E}">
        <p14:creationId xmlns:p14="http://schemas.microsoft.com/office/powerpoint/2010/main" val="4291360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C1191-EBE4-E4D7-D0F9-430F7AC4A69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91550C-ACCA-F52D-B142-64DB5DD10ED1}"/>
              </a:ext>
            </a:extLst>
          </p:cNvPr>
          <p:cNvSpPr>
            <a:spLocks noGrp="1"/>
          </p:cNvSpPr>
          <p:nvPr>
            <p:ph idx="1"/>
          </p:nvPr>
        </p:nvSpPr>
        <p:spPr>
          <a:xfrm>
            <a:off x="582930" y="1565765"/>
            <a:ext cx="11018520" cy="4508434"/>
          </a:xfrm>
        </p:spPr>
        <p:txBody>
          <a:bodyPr vert="horz" lIns="91440" tIns="45720" rIns="91440" bIns="45720" rtlCol="0" anchor="t">
            <a:normAutofit fontScale="92500" lnSpcReduction="10000"/>
          </a:bodyPr>
          <a:lstStyle/>
          <a:p>
            <a:pPr marL="0" indent="0">
              <a:buNone/>
            </a:pPr>
            <a:r>
              <a:rPr lang="en-US" sz="1600" b="1" dirty="0">
                <a:solidFill>
                  <a:schemeClr val="accent1">
                    <a:lumMod val="50000"/>
                  </a:schemeClr>
                </a:solidFill>
              </a:rPr>
              <a:t>Mission Owner (A5, A1, SAF/IE, etc.): </a:t>
            </a:r>
            <a:r>
              <a:rPr lang="en-US" sz="1600" dirty="0">
                <a:solidFill>
                  <a:schemeClr val="accent1">
                    <a:lumMod val="50000"/>
                  </a:schemeClr>
                </a:solidFill>
              </a:rPr>
              <a:t>SAF/AM 				</a:t>
            </a:r>
          </a:p>
          <a:p>
            <a:pPr marL="0" indent="0">
              <a:buNone/>
            </a:pPr>
            <a:r>
              <a:rPr lang="en-US" sz="1600" b="1" dirty="0">
                <a:solidFill>
                  <a:schemeClr val="accent1">
                    <a:lumMod val="50000"/>
                  </a:schemeClr>
                </a:solidFill>
              </a:rPr>
              <a:t>Description (2-3 lines): </a:t>
            </a:r>
            <a:r>
              <a:rPr lang="en-US" altLang="en-US" sz="1600" dirty="0">
                <a:solidFill>
                  <a:schemeClr val="accent1">
                    <a:lumMod val="50000"/>
                  </a:schemeClr>
                </a:solidFill>
              </a:rPr>
              <a:t>Deliver eLearning courses covering continuous improvement and innovation methodologies and consisting of multiple skill levels of complexity from fundamentals through advanced sensei/black belt/Jonah/innovation mentor skills to globally dispersed Department of the Air Force members using blended learning. </a:t>
            </a:r>
          </a:p>
          <a:p>
            <a:pPr marL="0" indent="0">
              <a:buNone/>
            </a:pPr>
            <a:r>
              <a:rPr lang="en-US" sz="1600" b="1" dirty="0">
                <a:solidFill>
                  <a:schemeClr val="accent1">
                    <a:lumMod val="50000"/>
                  </a:schemeClr>
                </a:solidFill>
              </a:rPr>
              <a:t>Need Date: </a:t>
            </a:r>
            <a:r>
              <a:rPr lang="en-US" sz="1600" dirty="0">
                <a:solidFill>
                  <a:schemeClr val="accent1">
                    <a:lumMod val="50000"/>
                  </a:schemeClr>
                </a:solidFill>
              </a:rPr>
              <a:t>07 Feb 2026</a:t>
            </a: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08 Feb 2026 to 07 Feb 2031</a:t>
            </a:r>
          </a:p>
          <a:p>
            <a:pPr marL="0" indent="0">
              <a:buNone/>
            </a:pPr>
            <a:r>
              <a:rPr lang="en-US" sz="1600" b="1" dirty="0">
                <a:solidFill>
                  <a:schemeClr val="accent1">
                    <a:lumMod val="50000"/>
                  </a:schemeClr>
                </a:solidFill>
              </a:rPr>
              <a:t>Recompete (provide previous contract number): </a:t>
            </a:r>
            <a:r>
              <a:rPr lang="en-US" sz="1600" dirty="0">
                <a:solidFill>
                  <a:schemeClr val="accent1">
                    <a:lumMod val="50000"/>
                  </a:schemeClr>
                </a:solidFill>
              </a:rPr>
              <a:t>FA701422P0005</a:t>
            </a: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TBD</a:t>
            </a: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Small Business Set Aside</a:t>
            </a:r>
          </a:p>
          <a:p>
            <a:pPr marL="0" indent="0">
              <a:buNone/>
            </a:pPr>
            <a:r>
              <a:rPr lang="en-US" sz="1600" b="1" dirty="0">
                <a:solidFill>
                  <a:schemeClr val="accent1">
                    <a:lumMod val="50000"/>
                  </a:schemeClr>
                </a:solidFill>
              </a:rPr>
              <a:t>Preliminary Evaluation Criteria (HTRO, Past Performance Tradeoff, etc.): </a:t>
            </a:r>
            <a:r>
              <a:rPr lang="en-US" sz="1600" dirty="0">
                <a:solidFill>
                  <a:schemeClr val="accent1">
                    <a:lumMod val="50000"/>
                  </a:schemeClr>
                </a:solidFill>
              </a:rPr>
              <a:t>TBD</a:t>
            </a:r>
          </a:p>
          <a:p>
            <a:pPr marL="0" indent="0">
              <a:buNone/>
            </a:pPr>
            <a:r>
              <a:rPr lang="en-US" sz="1600" b="1" dirty="0">
                <a:solidFill>
                  <a:schemeClr val="accent1">
                    <a:lumMod val="50000"/>
                  </a:schemeClr>
                </a:solidFill>
              </a:rPr>
              <a:t>Contract Vehicle Being Used (NASA SEWP, MAS, OASIS+, etc.), if applicable: </a:t>
            </a:r>
            <a:r>
              <a:rPr lang="en-US" sz="1600" dirty="0">
                <a:solidFill>
                  <a:schemeClr val="accent1">
                    <a:lumMod val="50000"/>
                  </a:schemeClr>
                </a:solidFill>
              </a:rPr>
              <a:t>N/A</a:t>
            </a:r>
          </a:p>
          <a:p>
            <a:pPr marL="0" indent="0">
              <a:buNone/>
            </a:pPr>
            <a:r>
              <a:rPr lang="en-US" sz="1600" b="1" dirty="0">
                <a:solidFill>
                  <a:schemeClr val="accent1">
                    <a:lumMod val="50000"/>
                  </a:schemeClr>
                </a:solidFill>
              </a:rPr>
              <a:t>NAICS: </a:t>
            </a:r>
            <a:r>
              <a:rPr lang="en-US" sz="1600" dirty="0">
                <a:solidFill>
                  <a:schemeClr val="accent1">
                    <a:lumMod val="50000"/>
                  </a:schemeClr>
                </a:solidFill>
              </a:rPr>
              <a:t>611430 - Professional and Management Development Training</a:t>
            </a: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Destinee </a:t>
            </a:r>
            <a:r>
              <a:rPr lang="en-US" sz="1600" dirty="0" err="1">
                <a:solidFill>
                  <a:schemeClr val="accent1">
                    <a:lumMod val="50000"/>
                  </a:schemeClr>
                </a:solidFill>
                <a:ea typeface="Times New Roman" panose="02020603050405020304" pitchFamily="18" charset="0"/>
              </a:rPr>
              <a:t>Narak</a:t>
            </a:r>
            <a:r>
              <a:rPr lang="en-US" sz="1600" dirty="0">
                <a:solidFill>
                  <a:schemeClr val="accent1">
                    <a:lumMod val="50000"/>
                  </a:schemeClr>
                </a:solidFill>
                <a:ea typeface="Times New Roman" panose="02020603050405020304" pitchFamily="18" charset="0"/>
              </a:rPr>
              <a:t> </a:t>
            </a: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ffectLst/>
                <a:ea typeface="Times New Roman" panose="02020603050405020304" pitchFamily="18" charset="0"/>
              </a:rPr>
              <a:t>William Gautier </a:t>
            </a:r>
          </a:p>
          <a:p>
            <a:pPr marL="0" indent="0">
              <a:buNone/>
            </a:pPr>
            <a:r>
              <a:rPr lang="en-US" sz="1600" dirty="0">
                <a:solidFill>
                  <a:schemeClr val="accent1">
                    <a:lumMod val="50000"/>
                  </a:schemeClr>
                </a:solidFill>
              </a:rPr>
              <a:t>				</a:t>
            </a:r>
          </a:p>
        </p:txBody>
      </p:sp>
      <p:pic>
        <p:nvPicPr>
          <p:cNvPr id="4" name="Picture 13" descr="afsymbol">
            <a:extLst>
              <a:ext uri="{FF2B5EF4-FFF2-40B4-BE49-F238E27FC236}">
                <a16:creationId xmlns:a16="http://schemas.microsoft.com/office/drawing/2014/main" id="{59707588-8FD5-527A-3140-DCBCC49BDF2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4D7ABEAE-4766-A9A5-96C9-964D97CC46D9}"/>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74AD340-65A5-7CD1-7670-BA8C7EB795F4}"/>
              </a:ext>
            </a:extLst>
          </p:cNvPr>
          <p:cNvSpPr txBox="1"/>
          <p:nvPr/>
        </p:nvSpPr>
        <p:spPr>
          <a:xfrm>
            <a:off x="5955030" y="854032"/>
            <a:ext cx="5733422" cy="523220"/>
          </a:xfrm>
          <a:prstGeom prst="rect">
            <a:avLst/>
          </a:prstGeom>
          <a:noFill/>
        </p:spPr>
        <p:txBody>
          <a:bodyPr wrap="square" rtlCol="0">
            <a:spAutoFit/>
          </a:bodyPr>
          <a:lstStyle/>
          <a:p>
            <a:pPr algn="r"/>
            <a:r>
              <a:rPr lang="en-US" sz="2800" b="1" i="1" dirty="0"/>
              <a:t>E-Learning Follow-on</a:t>
            </a:r>
            <a:endParaRPr lang="en-US" sz="2400" b="1" i="1" dirty="0"/>
          </a:p>
        </p:txBody>
      </p:sp>
      <p:sp>
        <p:nvSpPr>
          <p:cNvPr id="10" name="Slide Number Placeholder 9">
            <a:extLst>
              <a:ext uri="{FF2B5EF4-FFF2-40B4-BE49-F238E27FC236}">
                <a16:creationId xmlns:a16="http://schemas.microsoft.com/office/drawing/2014/main" id="{86560BC6-F453-07EF-759E-79C2A0EE69EF}"/>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20</a:t>
            </a:fld>
            <a:endParaRPr lang="en-US" sz="1600" b="1" dirty="0">
              <a:solidFill>
                <a:schemeClr val="accent5">
                  <a:lumMod val="75000"/>
                </a:schemeClr>
              </a:solidFill>
            </a:endParaRPr>
          </a:p>
        </p:txBody>
      </p:sp>
    </p:spTree>
    <p:extLst>
      <p:ext uri="{BB962C8B-B14F-4D97-AF65-F5344CB8AC3E}">
        <p14:creationId xmlns:p14="http://schemas.microsoft.com/office/powerpoint/2010/main" val="18709259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24F47-C8E1-DE9E-4FDA-C9F13C8FCD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2DB791-87FB-A43D-C80A-B6F8744B5D48}"/>
              </a:ext>
            </a:extLst>
          </p:cNvPr>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a:extLst>
              <a:ext uri="{FF2B5EF4-FFF2-40B4-BE49-F238E27FC236}">
                <a16:creationId xmlns:a16="http://schemas.microsoft.com/office/drawing/2014/main" id="{685E50C9-0C13-ED59-AB40-EFEE26EE6DE8}"/>
              </a:ext>
            </a:extLst>
          </p:cNvPr>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a:extLst>
              <a:ext uri="{FF2B5EF4-FFF2-40B4-BE49-F238E27FC236}">
                <a16:creationId xmlns:a16="http://schemas.microsoft.com/office/drawing/2014/main" id="{33D03A11-D5C0-83AB-E3A6-8F3E076F96AF}"/>
              </a:ext>
            </a:extLst>
          </p:cNvPr>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13" descr="afsymbol">
            <a:extLst>
              <a:ext uri="{FF2B5EF4-FFF2-40B4-BE49-F238E27FC236}">
                <a16:creationId xmlns:a16="http://schemas.microsoft.com/office/drawing/2014/main" id="{B99949DB-31FC-82AC-0967-8E4DB8A4E1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265" y="3774122"/>
            <a:ext cx="4406900" cy="260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E59FB638-AF71-3283-9B30-5AD7CEC0178A}"/>
              </a:ext>
            </a:extLst>
          </p:cNvPr>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F1CBCC11-8279-9069-5A0D-4261139AB6A9}"/>
              </a:ext>
            </a:extLst>
          </p:cNvPr>
          <p:cNvSpPr txBox="1"/>
          <p:nvPr/>
        </p:nvSpPr>
        <p:spPr>
          <a:xfrm>
            <a:off x="2450175" y="1793299"/>
            <a:ext cx="7291137" cy="646331"/>
          </a:xfrm>
          <a:prstGeom prst="rect">
            <a:avLst/>
          </a:prstGeom>
          <a:noFill/>
        </p:spPr>
        <p:txBody>
          <a:bodyPr wrap="square" rtlCol="0">
            <a:spAutoFit/>
          </a:bodyPr>
          <a:lstStyle/>
          <a:p>
            <a:pPr algn="ctr"/>
            <a:r>
              <a:rPr lang="en-US" sz="3600" b="1" u="sng" dirty="0">
                <a:solidFill>
                  <a:schemeClr val="accent5">
                    <a:lumMod val="75000"/>
                  </a:schemeClr>
                </a:solidFill>
              </a:rPr>
              <a:t>PKH Division</a:t>
            </a:r>
          </a:p>
        </p:txBody>
      </p:sp>
    </p:spTree>
    <p:extLst>
      <p:ext uri="{BB962C8B-B14F-4D97-AF65-F5344CB8AC3E}">
        <p14:creationId xmlns:p14="http://schemas.microsoft.com/office/powerpoint/2010/main" val="2273469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A9FBF-C6F1-06AF-6007-F29F1067B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3BFAC-4DBC-3857-299A-7F915C08FF43}"/>
              </a:ext>
            </a:extLst>
          </p:cNvPr>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a:extLst>
              <a:ext uri="{FF2B5EF4-FFF2-40B4-BE49-F238E27FC236}">
                <a16:creationId xmlns:a16="http://schemas.microsoft.com/office/drawing/2014/main" id="{EBF0F5FE-D380-A062-B4F2-BD35DDBFFCE1}"/>
              </a:ext>
            </a:extLst>
          </p:cNvPr>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a:extLst>
              <a:ext uri="{FF2B5EF4-FFF2-40B4-BE49-F238E27FC236}">
                <a16:creationId xmlns:a16="http://schemas.microsoft.com/office/drawing/2014/main" id="{6AB870B0-1EAD-7A2D-C99F-1AD491992654}"/>
              </a:ext>
            </a:extLst>
          </p:cNvPr>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13" descr="afsymbol">
            <a:extLst>
              <a:ext uri="{FF2B5EF4-FFF2-40B4-BE49-F238E27FC236}">
                <a16:creationId xmlns:a16="http://schemas.microsoft.com/office/drawing/2014/main" id="{1857BABA-2AA9-034D-71DD-7DA3C4B7E3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7426" y="4194810"/>
            <a:ext cx="255425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11BFBF87-A41F-B457-4A36-62C56953FF56}"/>
              </a:ext>
            </a:extLst>
          </p:cNvPr>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B2BDDBC6-25C3-A3B3-8169-6A30EE554CD0}"/>
              </a:ext>
            </a:extLst>
          </p:cNvPr>
          <p:cNvSpPr txBox="1"/>
          <p:nvPr/>
        </p:nvSpPr>
        <p:spPr>
          <a:xfrm>
            <a:off x="2418346" y="2064258"/>
            <a:ext cx="7291137" cy="646331"/>
          </a:xfrm>
          <a:prstGeom prst="rect">
            <a:avLst/>
          </a:prstGeom>
          <a:noFill/>
        </p:spPr>
        <p:txBody>
          <a:bodyPr wrap="square" rtlCol="0">
            <a:spAutoFit/>
          </a:bodyPr>
          <a:lstStyle/>
          <a:p>
            <a:pPr algn="ctr"/>
            <a:r>
              <a:rPr lang="en-US" sz="3600" b="1" dirty="0">
                <a:solidFill>
                  <a:schemeClr val="accent5">
                    <a:lumMod val="75000"/>
                  </a:schemeClr>
                </a:solidFill>
              </a:rPr>
              <a:t>A1</a:t>
            </a:r>
          </a:p>
        </p:txBody>
      </p:sp>
    </p:spTree>
    <p:extLst>
      <p:ext uri="{BB962C8B-B14F-4D97-AF65-F5344CB8AC3E}">
        <p14:creationId xmlns:p14="http://schemas.microsoft.com/office/powerpoint/2010/main" val="2680315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DB724-B0EC-9150-0D23-3CA8D342C40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1CAC67-6839-9D9E-F60D-C588028B9432}"/>
              </a:ext>
            </a:extLst>
          </p:cNvPr>
          <p:cNvSpPr>
            <a:spLocks noGrp="1"/>
          </p:cNvSpPr>
          <p:nvPr>
            <p:ph idx="1"/>
          </p:nvPr>
        </p:nvSpPr>
        <p:spPr>
          <a:xfrm>
            <a:off x="582930" y="1628111"/>
            <a:ext cx="11018520" cy="4508434"/>
          </a:xfrm>
        </p:spPr>
        <p:txBody>
          <a:bodyPr vert="horz" lIns="91440" tIns="45720" rIns="91440" bIns="45720" rtlCol="0" anchor="t">
            <a:normAutofit lnSpcReduction="10000"/>
          </a:bodyPr>
          <a:lstStyle/>
          <a:p>
            <a:pPr marL="0" indent="0">
              <a:buNone/>
            </a:pPr>
            <a:r>
              <a:rPr lang="en-US" sz="1600" b="1" dirty="0">
                <a:solidFill>
                  <a:schemeClr val="accent1">
                    <a:lumMod val="50000"/>
                  </a:schemeClr>
                </a:solidFill>
              </a:rPr>
              <a:t>Mission Owner (A5, A1, SAF/IE, etc.):  </a:t>
            </a:r>
            <a:r>
              <a:rPr lang="en-US" sz="1600" dirty="0">
                <a:solidFill>
                  <a:schemeClr val="accent1">
                    <a:lumMod val="50000"/>
                  </a:schemeClr>
                </a:solidFill>
              </a:rPr>
              <a:t>A1/DTA</a:t>
            </a:r>
          </a:p>
          <a:p>
            <a:pPr marL="0" indent="0">
              <a:buNone/>
            </a:pPr>
            <a:r>
              <a:rPr lang="en-US" sz="1600" b="1" dirty="0">
                <a:solidFill>
                  <a:schemeClr val="accent1">
                    <a:lumMod val="50000"/>
                  </a:schemeClr>
                </a:solidFill>
              </a:rPr>
              <a:t>Description (2-3 lines):  </a:t>
            </a:r>
            <a:r>
              <a:rPr lang="en-US" sz="1600" dirty="0">
                <a:solidFill>
                  <a:schemeClr val="accent1">
                    <a:lumMod val="50000"/>
                  </a:schemeClr>
                </a:solidFill>
              </a:rPr>
              <a:t>A1 Salesforce Customer Relationship Management (CRM) Software (SW) and Software as a Service (SaaS) Renewals for FY26</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 FY26 – Quarter 2</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28 February 2026 – 27 February 2027</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(provide previous contract number) or New Start:  </a:t>
            </a:r>
            <a:r>
              <a:rPr lang="en-US" sz="1600" dirty="0">
                <a:solidFill>
                  <a:schemeClr val="accent1">
                    <a:lumMod val="50000"/>
                  </a:schemeClr>
                </a:solidFill>
              </a:rPr>
              <a:t>Follow-On, Previous Contract Number FA7014-25-F-0083</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Mid-October 2025 (FY26 – Quarter 1)</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Fair Opportunity Exception (FOE) for Brand Name/Limited Sources Who are Authorized Govt SW Re-Sellers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(HTRO, Past Performance Tradeoff, etc.):  </a:t>
            </a:r>
            <a:r>
              <a:rPr lang="en-US" sz="1600" dirty="0">
                <a:solidFill>
                  <a:schemeClr val="accent1">
                    <a:lumMod val="50000"/>
                  </a:schemeClr>
                </a:solidFill>
              </a:rPr>
              <a:t>LPTA</a:t>
            </a:r>
          </a:p>
          <a:p>
            <a:pPr marL="0" indent="0">
              <a:buNone/>
            </a:pPr>
            <a:r>
              <a:rPr lang="en-US" sz="1600" b="1" dirty="0">
                <a:solidFill>
                  <a:schemeClr val="accent1">
                    <a:lumMod val="50000"/>
                  </a:schemeClr>
                </a:solidFill>
              </a:rPr>
              <a:t>Contract Vehicle Being Used (NASA SEWP, MAS, OASIS+, etc.), if applicable:  </a:t>
            </a:r>
            <a:r>
              <a:rPr lang="en-US" sz="1600" dirty="0">
                <a:solidFill>
                  <a:schemeClr val="accent1">
                    <a:lumMod val="50000"/>
                  </a:schemeClr>
                </a:solidFill>
              </a:rPr>
              <a:t>To Be Determined/NASA SEWP VI GWAC IDIQs/AF 2GIT BPAs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541519</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Mark R. </a:t>
            </a:r>
            <a:r>
              <a:rPr lang="en-US" sz="1600" dirty="0" err="1">
                <a:solidFill>
                  <a:schemeClr val="accent1">
                    <a:lumMod val="50000"/>
                  </a:schemeClr>
                </a:solidFill>
                <a:ea typeface="Times New Roman" panose="02020603050405020304" pitchFamily="18" charset="0"/>
              </a:rPr>
              <a:t>Luckritz</a:t>
            </a:r>
            <a:r>
              <a:rPr lang="en-US" sz="1600" dirty="0">
                <a:solidFill>
                  <a:schemeClr val="accent1">
                    <a:lumMod val="50000"/>
                  </a:schemeClr>
                </a:solidFill>
                <a:ea typeface="Times New Roman" panose="02020603050405020304" pitchFamily="18" charset="0"/>
              </a:rPr>
              <a:t>, Contracting Officer, AFDW/PKH</a:t>
            </a: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ffectLst/>
                <a:ea typeface="Times New Roman" panose="02020603050405020304" pitchFamily="18" charset="0"/>
              </a:rPr>
              <a:t>Ms. Jaclyn G. Rodriguez, Chief - Contract Program Management Division, A1 DTA</a:t>
            </a: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D31088B7-9AD7-CEC9-A03A-89373FC411E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C72FDBF3-304C-DB82-F4AF-F66A5477E4C1}"/>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32582C8-0F45-D04E-3749-3D1DE3FE3822}"/>
              </a:ext>
            </a:extLst>
          </p:cNvPr>
          <p:cNvSpPr txBox="1"/>
          <p:nvPr/>
        </p:nvSpPr>
        <p:spPr>
          <a:xfrm>
            <a:off x="5955030" y="854032"/>
            <a:ext cx="5733422" cy="523220"/>
          </a:xfrm>
          <a:prstGeom prst="rect">
            <a:avLst/>
          </a:prstGeom>
          <a:noFill/>
        </p:spPr>
        <p:txBody>
          <a:bodyPr wrap="square" rtlCol="0">
            <a:spAutoFit/>
          </a:bodyPr>
          <a:lstStyle/>
          <a:p>
            <a:pPr algn="r"/>
            <a:r>
              <a:rPr lang="en-US" sz="2800" b="1" i="1"/>
              <a:t>A1 FY26 Salesforce CRM Software</a:t>
            </a:r>
            <a:endParaRPr lang="en-US" sz="2400" b="1" i="1"/>
          </a:p>
        </p:txBody>
      </p:sp>
      <p:sp>
        <p:nvSpPr>
          <p:cNvPr id="10" name="Slide Number Placeholder 9">
            <a:extLst>
              <a:ext uri="{FF2B5EF4-FFF2-40B4-BE49-F238E27FC236}">
                <a16:creationId xmlns:a16="http://schemas.microsoft.com/office/drawing/2014/main" id="{A9EB91E4-F9E1-25F0-4E29-A3E4956BCCCB}"/>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23</a:t>
            </a:fld>
            <a:endParaRPr lang="en-US" sz="1600" b="1">
              <a:solidFill>
                <a:schemeClr val="accent5">
                  <a:lumMod val="75000"/>
                </a:schemeClr>
              </a:solidFill>
            </a:endParaRPr>
          </a:p>
        </p:txBody>
      </p:sp>
    </p:spTree>
    <p:extLst>
      <p:ext uri="{BB962C8B-B14F-4D97-AF65-F5344CB8AC3E}">
        <p14:creationId xmlns:p14="http://schemas.microsoft.com/office/powerpoint/2010/main" val="22260356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7A852-F9B1-A7DD-B822-41CDD03E7E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AB895C-3DDF-9F0D-9D35-1B14BA9F65E5}"/>
              </a:ext>
            </a:extLst>
          </p:cNvPr>
          <p:cNvSpPr>
            <a:spLocks noGrp="1"/>
          </p:cNvSpPr>
          <p:nvPr>
            <p:ph idx="1"/>
          </p:nvPr>
        </p:nvSpPr>
        <p:spPr>
          <a:xfrm>
            <a:off x="582930" y="1628111"/>
            <a:ext cx="11018520" cy="4508434"/>
          </a:xfrm>
        </p:spPr>
        <p:txBody>
          <a:bodyPr vert="horz" lIns="91440" tIns="45720" rIns="91440" bIns="45720" rtlCol="0" anchor="t">
            <a:normAutofit fontScale="92500" lnSpcReduction="10000"/>
          </a:bodyPr>
          <a:lstStyle/>
          <a:p>
            <a:pPr marL="0" indent="0">
              <a:buNone/>
            </a:pPr>
            <a:r>
              <a:rPr lang="en-US" sz="1600" b="1" dirty="0">
                <a:solidFill>
                  <a:schemeClr val="accent1">
                    <a:lumMod val="50000"/>
                  </a:schemeClr>
                </a:solidFill>
              </a:rPr>
              <a:t>Mission Owner (A5, A1, SAF/IE, etc.):  </a:t>
            </a:r>
            <a:r>
              <a:rPr lang="en-US" sz="1600" dirty="0">
                <a:solidFill>
                  <a:schemeClr val="accent1">
                    <a:lumMod val="50000"/>
                  </a:schemeClr>
                </a:solidFill>
              </a:rPr>
              <a:t>A1/DTA			</a:t>
            </a:r>
          </a:p>
          <a:p>
            <a:pPr marL="0" indent="0">
              <a:buNone/>
            </a:pPr>
            <a:r>
              <a:rPr lang="en-US" sz="1600" b="1" dirty="0">
                <a:solidFill>
                  <a:schemeClr val="accent1">
                    <a:lumMod val="50000"/>
                  </a:schemeClr>
                </a:solidFill>
              </a:rPr>
              <a:t>Description (2-3 lines):  </a:t>
            </a:r>
            <a:r>
              <a:rPr lang="en-US" sz="1600" dirty="0">
                <a:solidFill>
                  <a:schemeClr val="accent1">
                    <a:lumMod val="50000"/>
                  </a:schemeClr>
                </a:solidFill>
              </a:rPr>
              <a:t>A1 Long-Term Solution Customer Relationship Management (CRM) Software (SW), Software as a Service (SaaS), Information as a Service (IaaS), Platform as a Service (PaaS), and Related SW Professional Services/Support for Salesforce, ServiceNow, </a:t>
            </a:r>
            <a:r>
              <a:rPr lang="en-US" sz="1600" dirty="0" err="1">
                <a:solidFill>
                  <a:schemeClr val="accent1">
                    <a:lumMod val="50000"/>
                  </a:schemeClr>
                </a:solidFill>
              </a:rPr>
              <a:t>Outsystems</a:t>
            </a:r>
            <a:r>
              <a:rPr lang="en-US" sz="1600" dirty="0">
                <a:solidFill>
                  <a:schemeClr val="accent1">
                    <a:lumMod val="50000"/>
                  </a:schemeClr>
                </a:solidFill>
              </a:rPr>
              <a:t>, Informatica, </a:t>
            </a:r>
            <a:r>
              <a:rPr lang="en-US" sz="1600" dirty="0" err="1">
                <a:solidFill>
                  <a:schemeClr val="accent1">
                    <a:lumMod val="50000"/>
                  </a:schemeClr>
                </a:solidFill>
              </a:rPr>
              <a:t>Advana</a:t>
            </a:r>
            <a:r>
              <a:rPr lang="en-US" sz="1600" dirty="0">
                <a:solidFill>
                  <a:schemeClr val="accent1">
                    <a:lumMod val="50000"/>
                  </a:schemeClr>
                </a:solidFill>
              </a:rPr>
              <a:t>, and Other Similar Existing or New Commercially-Available SW tools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FY27 – Quarter 1 and/or Quarter 2</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1 December 2026 – 1 May 2032</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(provide previous contract number) or New Start:  </a:t>
            </a:r>
            <a:r>
              <a:rPr lang="en-US" sz="1600" dirty="0">
                <a:solidFill>
                  <a:schemeClr val="accent1">
                    <a:lumMod val="50000"/>
                  </a:schemeClr>
                </a:solidFill>
              </a:rPr>
              <a:t>New Start</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FY26 – Quarter 2</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TBD</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(HTRO, Past Performance Tradeoff, etc.):  </a:t>
            </a:r>
            <a:r>
              <a:rPr lang="en-US" sz="1600" dirty="0">
                <a:solidFill>
                  <a:schemeClr val="accent1">
                    <a:lumMod val="50000"/>
                  </a:schemeClr>
                </a:solidFill>
              </a:rPr>
              <a:t>Technical Over Price Tradeoff</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Contract Vehicle Being Used (NASA SEWP, MAS, OASIS+, etc.), if applicable:  </a:t>
            </a:r>
            <a:r>
              <a:rPr lang="en-US" sz="1600" dirty="0">
                <a:solidFill>
                  <a:schemeClr val="accent1">
                    <a:lumMod val="50000"/>
                  </a:schemeClr>
                </a:solidFill>
              </a:rPr>
              <a:t>To Be Determined (initial preference is to rely upon existing Air Force, DoD, and Federal Procurement Vehicles, Agreements, BPAs, GWAC IDIQs, Federal Supply Schedules, etc.)</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To Be Determined/541519</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Mark R. </a:t>
            </a:r>
            <a:r>
              <a:rPr lang="en-US" sz="1600" dirty="0" err="1">
                <a:solidFill>
                  <a:schemeClr val="accent1">
                    <a:lumMod val="50000"/>
                  </a:schemeClr>
                </a:solidFill>
                <a:ea typeface="Times New Roman" panose="02020603050405020304" pitchFamily="18" charset="0"/>
              </a:rPr>
              <a:t>Luckritz</a:t>
            </a:r>
            <a:r>
              <a:rPr lang="en-US" sz="1600" dirty="0">
                <a:solidFill>
                  <a:schemeClr val="accent1">
                    <a:lumMod val="50000"/>
                  </a:schemeClr>
                </a:solidFill>
                <a:ea typeface="Times New Roman" panose="02020603050405020304" pitchFamily="18" charset="0"/>
              </a:rPr>
              <a:t>, Contracting Officer, AFDW/PKH</a:t>
            </a: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ffectLst/>
                <a:ea typeface="Times New Roman" panose="02020603050405020304" pitchFamily="18" charset="0"/>
              </a:rPr>
              <a:t>Ms. Jaclyn G. Rodriguez, Chief - Contract Program Management Division, A1 DTA</a:t>
            </a: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C88D3DCE-DE3B-6C18-F735-3D56436B473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86CFC9DE-C992-481B-BB33-9E4553C54AF8}"/>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A145587-0927-3C17-662E-0242E60EF8BE}"/>
              </a:ext>
            </a:extLst>
          </p:cNvPr>
          <p:cNvSpPr txBox="1"/>
          <p:nvPr/>
        </p:nvSpPr>
        <p:spPr>
          <a:xfrm>
            <a:off x="2514601" y="854032"/>
            <a:ext cx="9173852" cy="523220"/>
          </a:xfrm>
          <a:prstGeom prst="rect">
            <a:avLst/>
          </a:prstGeom>
          <a:noFill/>
        </p:spPr>
        <p:txBody>
          <a:bodyPr wrap="square" rtlCol="0">
            <a:spAutoFit/>
          </a:bodyPr>
          <a:lstStyle/>
          <a:p>
            <a:pPr algn="r"/>
            <a:r>
              <a:rPr lang="en-US" sz="2800" b="1" i="1"/>
              <a:t>A1 Long-Term Solution for CRM Software/SaaS/PaaS/IaaS</a:t>
            </a:r>
            <a:endParaRPr lang="en-US" sz="2400" b="1" i="1"/>
          </a:p>
        </p:txBody>
      </p:sp>
      <p:sp>
        <p:nvSpPr>
          <p:cNvPr id="10" name="Slide Number Placeholder 9">
            <a:extLst>
              <a:ext uri="{FF2B5EF4-FFF2-40B4-BE49-F238E27FC236}">
                <a16:creationId xmlns:a16="http://schemas.microsoft.com/office/drawing/2014/main" id="{A8EA98DA-A2F2-3B27-8470-5F59E850DA7C}"/>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24</a:t>
            </a:fld>
            <a:endParaRPr lang="en-US" sz="1600" b="1">
              <a:solidFill>
                <a:schemeClr val="accent5">
                  <a:lumMod val="75000"/>
                </a:schemeClr>
              </a:solidFill>
            </a:endParaRPr>
          </a:p>
        </p:txBody>
      </p:sp>
    </p:spTree>
    <p:extLst>
      <p:ext uri="{BB962C8B-B14F-4D97-AF65-F5344CB8AC3E}">
        <p14:creationId xmlns:p14="http://schemas.microsoft.com/office/powerpoint/2010/main" val="2218316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3B8BD-96CB-6711-82D8-FEBC589C079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104196-57B2-F532-8B44-AB175719C20B}"/>
              </a:ext>
            </a:extLst>
          </p:cNvPr>
          <p:cNvSpPr>
            <a:spLocks noGrp="1"/>
          </p:cNvSpPr>
          <p:nvPr>
            <p:ph idx="1"/>
          </p:nvPr>
        </p:nvSpPr>
        <p:spPr>
          <a:xfrm>
            <a:off x="587722" y="1714331"/>
            <a:ext cx="11018520" cy="4508434"/>
          </a:xfrm>
        </p:spPr>
        <p:txBody>
          <a:bodyPr vert="horz" lIns="91440" tIns="45720" rIns="91440" bIns="45720" rtlCol="0" anchor="t">
            <a:normAutofit fontScale="92500"/>
          </a:bodyPr>
          <a:lstStyle/>
          <a:p>
            <a:pPr marL="0" indent="0">
              <a:buNone/>
            </a:pPr>
            <a:r>
              <a:rPr lang="en-US" sz="1600" b="1" dirty="0">
                <a:solidFill>
                  <a:schemeClr val="accent1">
                    <a:lumMod val="50000"/>
                  </a:schemeClr>
                </a:solidFill>
              </a:rPr>
              <a:t>Mission Owner:</a:t>
            </a:r>
            <a:r>
              <a:rPr lang="en-US" sz="1600" dirty="0">
                <a:solidFill>
                  <a:schemeClr val="accent1">
                    <a:lumMod val="50000"/>
                  </a:schemeClr>
                </a:solidFill>
              </a:rPr>
              <a:t> A1 				</a:t>
            </a:r>
          </a:p>
          <a:p>
            <a:pPr marL="0" indent="0">
              <a:buNone/>
            </a:pPr>
            <a:r>
              <a:rPr lang="en-US" sz="1600" b="1" dirty="0">
                <a:solidFill>
                  <a:schemeClr val="accent1">
                    <a:lumMod val="50000"/>
                  </a:schemeClr>
                </a:solidFill>
              </a:rPr>
              <a:t>Description: </a:t>
            </a:r>
            <a:r>
              <a:rPr lang="en-US" sz="1600" dirty="0">
                <a:solidFill>
                  <a:schemeClr val="accent1">
                    <a:lumMod val="50000"/>
                  </a:schemeClr>
                </a:solidFill>
              </a:rPr>
              <a:t>Acquisition of design software licenses and associated human centered design (HCD) support. Ability to build, deploy, and implement a suite of agile development tools and templates for HR which incorporate Human Centered Design (HCD) best practices.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28 Sep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29 Sep 2025 – 28 Sep 2026 plus 4 Option Periods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a:t>
            </a:r>
            <a:r>
              <a:rPr lang="en-US" sz="1600" dirty="0">
                <a:solidFill>
                  <a:schemeClr val="accent1">
                    <a:lumMod val="50000"/>
                  </a:schemeClr>
                </a:solidFill>
              </a:rPr>
              <a:t>FA701420F0259</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5 May 2024</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a:t>
            </a:r>
            <a:r>
              <a:rPr lang="en-US" sz="1600" dirty="0">
                <a:solidFill>
                  <a:schemeClr val="accent1">
                    <a:lumMod val="50000"/>
                  </a:schemeClr>
                </a:solidFill>
              </a:rPr>
              <a:t>Small Business Set Aside</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a:t>
            </a:r>
            <a:r>
              <a:rPr lang="en-US" sz="1600" dirty="0">
                <a:solidFill>
                  <a:schemeClr val="accent1">
                    <a:lumMod val="50000"/>
                  </a:schemeClr>
                </a:solidFill>
              </a:rPr>
              <a:t>Tradeoff</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Contract Vehicle Being Used: </a:t>
            </a:r>
            <a:r>
              <a:rPr lang="en-US" sz="1600" dirty="0">
                <a:solidFill>
                  <a:schemeClr val="accent1">
                    <a:lumMod val="50000"/>
                  </a:schemeClr>
                </a:solidFill>
              </a:rPr>
              <a:t>GSA MAS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541511</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Tiffany Young </a:t>
            </a: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ffectLst/>
                <a:ea typeface="Times New Roman" panose="02020603050405020304" pitchFamily="18" charset="0"/>
              </a:rPr>
              <a:t>Kimberly Russo</a:t>
            </a:r>
          </a:p>
          <a:p>
            <a:pPr marL="0" indent="0">
              <a:buNone/>
            </a:pP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144F4BD1-45EC-FE1F-399E-B8F3DE282C1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4EBC2B4E-959C-27E5-1635-DE6DE7A81369}"/>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A164A38-0F0C-CF86-5501-F608B623EAF1}"/>
              </a:ext>
            </a:extLst>
          </p:cNvPr>
          <p:cNvSpPr txBox="1"/>
          <p:nvPr/>
        </p:nvSpPr>
        <p:spPr>
          <a:xfrm>
            <a:off x="3149256" y="854032"/>
            <a:ext cx="8534150" cy="523220"/>
          </a:xfrm>
          <a:prstGeom prst="rect">
            <a:avLst/>
          </a:prstGeom>
          <a:noFill/>
        </p:spPr>
        <p:txBody>
          <a:bodyPr wrap="square" lIns="91440" tIns="45720" rIns="91440" bIns="45720" rtlCol="0" anchor="t">
            <a:spAutoFit/>
          </a:bodyPr>
          <a:lstStyle/>
          <a:p>
            <a:pPr algn="r"/>
            <a:r>
              <a:rPr lang="en-US" sz="2800" b="1" i="1">
                <a:solidFill>
                  <a:srgbClr val="000000"/>
                </a:solidFill>
              </a:rPr>
              <a:t>Human Centered Design (HCD)</a:t>
            </a:r>
            <a:endParaRPr lang="en-US" sz="2400" b="1" i="1">
              <a:ea typeface="Calibri"/>
              <a:cs typeface="Calibri"/>
            </a:endParaRPr>
          </a:p>
        </p:txBody>
      </p:sp>
      <p:sp>
        <p:nvSpPr>
          <p:cNvPr id="10" name="Slide Number Placeholder 9">
            <a:extLst>
              <a:ext uri="{FF2B5EF4-FFF2-40B4-BE49-F238E27FC236}">
                <a16:creationId xmlns:a16="http://schemas.microsoft.com/office/drawing/2014/main" id="{D0FBAFB5-EB69-96BF-D5D5-2605E3BB5B03}"/>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25</a:t>
            </a:fld>
            <a:endParaRPr lang="en-US" sz="1600" b="1">
              <a:solidFill>
                <a:schemeClr val="accent5">
                  <a:lumMod val="75000"/>
                </a:schemeClr>
              </a:solidFill>
            </a:endParaRPr>
          </a:p>
        </p:txBody>
      </p:sp>
    </p:spTree>
    <p:extLst>
      <p:ext uri="{BB962C8B-B14F-4D97-AF65-F5344CB8AC3E}">
        <p14:creationId xmlns:p14="http://schemas.microsoft.com/office/powerpoint/2010/main" val="2438331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4BF61-A502-E592-F710-C0774A3EA04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07D0CD-B5A1-08A1-9890-CDC25DC3002B}"/>
              </a:ext>
            </a:extLst>
          </p:cNvPr>
          <p:cNvSpPr>
            <a:spLocks noGrp="1"/>
          </p:cNvSpPr>
          <p:nvPr>
            <p:ph idx="1"/>
          </p:nvPr>
        </p:nvSpPr>
        <p:spPr>
          <a:xfrm>
            <a:off x="582930" y="1853312"/>
            <a:ext cx="11018520" cy="4508434"/>
          </a:xfrm>
        </p:spPr>
        <p:txBody>
          <a:bodyPr vert="horz" lIns="91440" tIns="45720" rIns="91440" bIns="45720" rtlCol="0" anchor="t">
            <a:normAutofit fontScale="92500" lnSpcReduction="20000"/>
          </a:bodyPr>
          <a:lstStyle/>
          <a:p>
            <a:pPr marL="0" indent="0">
              <a:buNone/>
            </a:pPr>
            <a:r>
              <a:rPr lang="en-US" sz="1600" b="1" dirty="0">
                <a:solidFill>
                  <a:schemeClr val="accent1">
                    <a:lumMod val="50000"/>
                  </a:schemeClr>
                </a:solidFill>
              </a:rPr>
              <a:t>Mission Owner:  </a:t>
            </a:r>
            <a:r>
              <a:rPr lang="en-US" sz="1600" dirty="0">
                <a:solidFill>
                  <a:schemeClr val="accent1">
                    <a:lumMod val="50000"/>
                  </a:schemeClr>
                </a:solidFill>
              </a:rPr>
              <a:t>A1				</a:t>
            </a:r>
          </a:p>
          <a:p>
            <a:pPr marL="0" indent="0">
              <a:buNone/>
            </a:pPr>
            <a:r>
              <a:rPr lang="en-US" sz="1600" b="1" dirty="0">
                <a:solidFill>
                  <a:schemeClr val="accent1">
                    <a:lumMod val="50000"/>
                  </a:schemeClr>
                </a:solidFill>
              </a:rPr>
              <a:t>Description: </a:t>
            </a:r>
            <a:r>
              <a:rPr lang="en-US" sz="1600" dirty="0">
                <a:solidFill>
                  <a:schemeClr val="accent1">
                    <a:lumMod val="50000"/>
                  </a:schemeClr>
                </a:solidFill>
              </a:rPr>
              <a:t>Developmental experiences and education for Total Force (Active Duty AF, Space Force, Reserve and Guard) senior officers, enlisted, and civilian leaders. Educational opportunities are provided, collectively known as the Senior Leader Development (SLD) Program Portfolio, and available to General Officers, Senior Executive Service (SES) members, Colonels, GS-15 employees and Chief Master Sergeants, to meet DAF needs.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16 Aug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16 Aug 2025- 17 Aug 2030</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a:t>
            </a:r>
            <a:r>
              <a:rPr lang="en-US" sz="1600" dirty="0">
                <a:solidFill>
                  <a:schemeClr val="accent1">
                    <a:lumMod val="50000"/>
                  </a:schemeClr>
                </a:solidFill>
              </a:rPr>
              <a:t>FA701425D0009</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07 May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SDVOSB</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(HTRO, Past Performance Tradeoff, etc.): </a:t>
            </a:r>
            <a:r>
              <a:rPr lang="en-US" sz="1600" dirty="0">
                <a:solidFill>
                  <a:schemeClr val="accent1">
                    <a:lumMod val="50000"/>
                  </a:schemeClr>
                </a:solidFill>
              </a:rPr>
              <a:t>Tradeoff</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Contract Vehicle Being Used (NASA SEWP, MAS, OASIS+, etc.), if applicable: </a:t>
            </a:r>
            <a:r>
              <a:rPr lang="en-US" sz="1600" dirty="0">
                <a:solidFill>
                  <a:schemeClr val="accent1">
                    <a:lumMod val="50000"/>
                  </a:schemeClr>
                </a:solidFill>
              </a:rPr>
              <a:t>GSA MAS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541611</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Ashley Raymond</a:t>
            </a: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a typeface="Times New Roman" panose="02020603050405020304" pitchFamily="18" charset="0"/>
              </a:rPr>
              <a:t>Melissa Mattis</a:t>
            </a:r>
            <a:endParaRPr lang="en-US" sz="1600" dirty="0">
              <a:solidFill>
                <a:schemeClr val="accent1">
                  <a:lumMod val="50000"/>
                </a:schemeClr>
              </a:solidFill>
              <a:effectLst/>
              <a:ea typeface="Times New Roman" panose="02020603050405020304" pitchFamily="18" charset="0"/>
              <a:cs typeface="Calibri"/>
            </a:endParaRPr>
          </a:p>
          <a:p>
            <a:pPr marL="0" indent="0">
              <a:buNone/>
            </a:pP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5D98B0A0-45DE-3BDC-605D-30FBA23E2ED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19E48991-7453-4FCF-CD80-C0DBA47193D4}"/>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1935574-8EE2-17D9-DEDC-89F185BBD0AF}"/>
              </a:ext>
            </a:extLst>
          </p:cNvPr>
          <p:cNvSpPr txBox="1"/>
          <p:nvPr/>
        </p:nvSpPr>
        <p:spPr>
          <a:xfrm>
            <a:off x="2573425" y="589385"/>
            <a:ext cx="9183472" cy="967795"/>
          </a:xfrm>
          <a:prstGeom prst="rect">
            <a:avLst/>
          </a:prstGeom>
          <a:noFill/>
        </p:spPr>
        <p:txBody>
          <a:bodyPr wrap="square" lIns="91440" tIns="45720" rIns="91440" bIns="45720" rtlCol="0" anchor="t">
            <a:spAutoFit/>
          </a:bodyPr>
          <a:lstStyle/>
          <a:p>
            <a:pPr algn="r"/>
            <a:r>
              <a:rPr lang="en-US" sz="2800" b="1"/>
              <a:t>Department of the Air Force Senior Leader Development Program (DAFSLDP)</a:t>
            </a:r>
            <a:endParaRPr lang="en-US" sz="2400" b="1" i="1">
              <a:ea typeface="Calibri"/>
              <a:cs typeface="Calibri"/>
            </a:endParaRPr>
          </a:p>
        </p:txBody>
      </p:sp>
      <p:sp>
        <p:nvSpPr>
          <p:cNvPr id="10" name="Slide Number Placeholder 9">
            <a:extLst>
              <a:ext uri="{FF2B5EF4-FFF2-40B4-BE49-F238E27FC236}">
                <a16:creationId xmlns:a16="http://schemas.microsoft.com/office/drawing/2014/main" id="{29C543A8-D411-780D-9131-2FA813B45F24}"/>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26</a:t>
            </a:fld>
            <a:endParaRPr lang="en-US" sz="1600" b="1">
              <a:solidFill>
                <a:schemeClr val="accent5">
                  <a:lumMod val="75000"/>
                </a:schemeClr>
              </a:solidFill>
            </a:endParaRPr>
          </a:p>
        </p:txBody>
      </p:sp>
    </p:spTree>
    <p:extLst>
      <p:ext uri="{BB962C8B-B14F-4D97-AF65-F5344CB8AC3E}">
        <p14:creationId xmlns:p14="http://schemas.microsoft.com/office/powerpoint/2010/main" val="31124056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98105-2A62-71F3-F741-6D9ABDA388D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F75712-D940-260B-7AC4-604F820F1DC9}"/>
              </a:ext>
            </a:extLst>
          </p:cNvPr>
          <p:cNvSpPr>
            <a:spLocks noGrp="1"/>
          </p:cNvSpPr>
          <p:nvPr>
            <p:ph idx="1"/>
          </p:nvPr>
        </p:nvSpPr>
        <p:spPr>
          <a:xfrm>
            <a:off x="582930" y="1714331"/>
            <a:ext cx="11018520" cy="4508434"/>
          </a:xfrm>
        </p:spPr>
        <p:txBody>
          <a:bodyPr vert="horz" lIns="91440" tIns="45720" rIns="91440" bIns="45720" rtlCol="0" anchor="t">
            <a:normAutofit fontScale="77500" lnSpcReduction="20000"/>
          </a:bodyPr>
          <a:lstStyle/>
          <a:p>
            <a:pPr marL="0" indent="0">
              <a:buNone/>
            </a:pPr>
            <a:r>
              <a:rPr lang="en-US" sz="1600" b="1" dirty="0">
                <a:solidFill>
                  <a:schemeClr val="accent1">
                    <a:lumMod val="50000"/>
                  </a:schemeClr>
                </a:solidFill>
              </a:rPr>
              <a:t>Mission Owner:  </a:t>
            </a:r>
            <a:r>
              <a:rPr lang="en-US" sz="1600" dirty="0">
                <a:solidFill>
                  <a:schemeClr val="accent1">
                    <a:lumMod val="50000"/>
                  </a:schemeClr>
                </a:solidFill>
              </a:rPr>
              <a:t>A1				</a:t>
            </a:r>
          </a:p>
          <a:p>
            <a:pPr marL="0" indent="0">
              <a:buNone/>
            </a:pPr>
            <a:r>
              <a:rPr lang="en-US" sz="1600" b="1" dirty="0">
                <a:solidFill>
                  <a:schemeClr val="accent1">
                    <a:lumMod val="50000"/>
                  </a:schemeClr>
                </a:solidFill>
              </a:rPr>
              <a:t>Description: </a:t>
            </a:r>
            <a:r>
              <a:rPr lang="en-US" sz="1600" dirty="0">
                <a:solidFill>
                  <a:schemeClr val="accent1">
                    <a:lumMod val="50000"/>
                  </a:schemeClr>
                </a:solidFill>
              </a:rPr>
              <a:t>The purpose of the requirement is to provide contracted services to support, develop, test, maintain and sustain the Manpower Programming and Execution System (MPES)-NIPR/SIPR applications. The government requires the contractor to provide all personnel, equipment, tools, materials, supervision and other items and services necessary for the ongoing help desk support, development, testing, production, maintenance, and sustainment services of the M4S web-based application to include the following activities: • Requirements definition and analysis • Software enhancement • Software maintenance • Configuration management • Database management and administration • Software quality assurance/testing/review • Software implementation • Feasibility studies • System analysis/assessment • Help desk and user training • Hardware/software evaluations • System administration • Code/system/database performance analysis/code review • Problem analysis and resolution • Restore the maintained software to normal operation when normal operation has been interrupted • Restore damaged production and test databases/environments • Enhance and maintain system/user</a:t>
            </a:r>
            <a:r>
              <a:rPr lang="en-US" sz="1100" dirty="0">
                <a:solidFill>
                  <a:schemeClr val="accent1">
                    <a:lumMod val="50000"/>
                  </a:schemeClr>
                </a:solidFill>
                <a:ea typeface="+mn-lt"/>
                <a:cs typeface="+mn-lt"/>
              </a:rPr>
              <a:t> </a:t>
            </a:r>
            <a:r>
              <a:rPr lang="en-US" sz="1600" dirty="0">
                <a:solidFill>
                  <a:schemeClr val="accent1">
                    <a:lumMod val="50000"/>
                  </a:schemeClr>
                </a:solidFill>
              </a:rPr>
              <a:t>documentation • Certification and Accreditation support (aka Assessment and Authorization)</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1 Oct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1 Oct 2025 – 30 Sep 2030</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a:t>
            </a:r>
            <a:r>
              <a:rPr lang="en-US" sz="1600" dirty="0">
                <a:solidFill>
                  <a:schemeClr val="accent1">
                    <a:lumMod val="50000"/>
                  </a:schemeClr>
                </a:solidFill>
              </a:rPr>
              <a:t>FA701424F0121</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18 Apr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Full and Open </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(HTRO, Past Performance Tradeoff, etc.): </a:t>
            </a:r>
            <a:r>
              <a:rPr lang="en-US" sz="1600" dirty="0">
                <a:solidFill>
                  <a:schemeClr val="accent1">
                    <a:lumMod val="50000"/>
                  </a:schemeClr>
                </a:solidFill>
              </a:rPr>
              <a:t>Tradeoff</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Contract Vehicle Being Used (NASA SEWP, MAS, OASIS+, etc.), if applicable: </a:t>
            </a:r>
            <a:r>
              <a:rPr lang="en-US" sz="1600" dirty="0">
                <a:solidFill>
                  <a:schemeClr val="accent1">
                    <a:lumMod val="50000"/>
                  </a:schemeClr>
                </a:solidFill>
              </a:rPr>
              <a:t>GSA MAS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518210</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Ashley Raymond</a:t>
            </a:r>
            <a:endParaRPr lang="en-US" sz="1600" dirty="0">
              <a:solidFill>
                <a:schemeClr val="accent1">
                  <a:lumMod val="50000"/>
                </a:schemeClr>
              </a:solidFill>
              <a:ea typeface="Times New Roman" panose="02020603050405020304" pitchFamily="18" charset="0"/>
              <a:cs typeface="Calibri"/>
            </a:endParaRP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a typeface="Times New Roman" panose="02020603050405020304" pitchFamily="18" charset="0"/>
              </a:rPr>
              <a:t>Shiri Avnet</a:t>
            </a:r>
            <a:endParaRPr lang="en-US" sz="1600" dirty="0">
              <a:solidFill>
                <a:schemeClr val="accent1">
                  <a:lumMod val="50000"/>
                </a:schemeClr>
              </a:solidFill>
              <a:effectLst/>
              <a:ea typeface="Times New Roman" panose="02020603050405020304" pitchFamily="18" charset="0"/>
              <a:cs typeface="Calibri"/>
            </a:endParaRPr>
          </a:p>
          <a:p>
            <a:pPr marL="0" indent="0">
              <a:buNone/>
            </a:pP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DC30C64C-F4D6-E9ED-DCE8-260408EAA3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E5B17569-A2BC-0607-5533-A1735CAF625D}"/>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B4A416C-A069-CB2A-F1DC-C1B149A639C3}"/>
              </a:ext>
            </a:extLst>
          </p:cNvPr>
          <p:cNvSpPr txBox="1"/>
          <p:nvPr/>
        </p:nvSpPr>
        <p:spPr>
          <a:xfrm>
            <a:off x="2724000" y="854032"/>
            <a:ext cx="8955328" cy="523220"/>
          </a:xfrm>
          <a:prstGeom prst="rect">
            <a:avLst/>
          </a:prstGeom>
          <a:noFill/>
        </p:spPr>
        <p:txBody>
          <a:bodyPr wrap="square" lIns="91440" tIns="45720" rIns="91440" bIns="45720" rtlCol="0" anchor="t">
            <a:spAutoFit/>
          </a:bodyPr>
          <a:lstStyle/>
          <a:p>
            <a:pPr algn="r"/>
            <a:r>
              <a:rPr lang="en-US" sz="2800" b="1">
                <a:solidFill>
                  <a:schemeClr val="accent5">
                    <a:lumMod val="75000"/>
                  </a:schemeClr>
                </a:solidFill>
              </a:rPr>
              <a:t> </a:t>
            </a:r>
            <a:r>
              <a:rPr lang="en-US" sz="2800" b="1"/>
              <a:t>Manpower Programming and Execution System (MPES)</a:t>
            </a:r>
            <a:r>
              <a:rPr lang="en-US" sz="2800" b="1">
                <a:solidFill>
                  <a:schemeClr val="accent5">
                    <a:lumMod val="75000"/>
                  </a:schemeClr>
                </a:solidFill>
              </a:rPr>
              <a:t> </a:t>
            </a:r>
            <a:endParaRPr lang="en-US" sz="2400" b="1" i="1">
              <a:solidFill>
                <a:schemeClr val="accent5">
                  <a:lumMod val="75000"/>
                </a:schemeClr>
              </a:solidFill>
            </a:endParaRPr>
          </a:p>
        </p:txBody>
      </p:sp>
      <p:sp>
        <p:nvSpPr>
          <p:cNvPr id="10" name="Slide Number Placeholder 9">
            <a:extLst>
              <a:ext uri="{FF2B5EF4-FFF2-40B4-BE49-F238E27FC236}">
                <a16:creationId xmlns:a16="http://schemas.microsoft.com/office/drawing/2014/main" id="{CD025A0C-174A-6E2E-3105-32143431BEC4}"/>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27</a:t>
            </a:fld>
            <a:endParaRPr lang="en-US" sz="1600" b="1">
              <a:solidFill>
                <a:schemeClr val="accent5">
                  <a:lumMod val="75000"/>
                </a:schemeClr>
              </a:solidFill>
            </a:endParaRPr>
          </a:p>
        </p:txBody>
      </p:sp>
    </p:spTree>
    <p:extLst>
      <p:ext uri="{BB962C8B-B14F-4D97-AF65-F5344CB8AC3E}">
        <p14:creationId xmlns:p14="http://schemas.microsoft.com/office/powerpoint/2010/main" val="706637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4CBC6-B087-8A63-C45D-1C7FF988E1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C34A7C-D28D-B039-E5E0-002387C040DE}"/>
              </a:ext>
            </a:extLst>
          </p:cNvPr>
          <p:cNvSpPr>
            <a:spLocks noGrp="1"/>
          </p:cNvSpPr>
          <p:nvPr>
            <p:ph idx="1"/>
          </p:nvPr>
        </p:nvSpPr>
        <p:spPr>
          <a:xfrm>
            <a:off x="582930" y="1565765"/>
            <a:ext cx="11018520" cy="4508434"/>
          </a:xfrm>
        </p:spPr>
        <p:txBody>
          <a:bodyPr vert="horz" lIns="91440" tIns="45720" rIns="91440" bIns="45720" rtlCol="0" anchor="t">
            <a:normAutofit fontScale="92500" lnSpcReduction="10000"/>
          </a:bodyPr>
          <a:lstStyle/>
          <a:p>
            <a:pPr marL="0" indent="0">
              <a:buNone/>
            </a:pPr>
            <a:r>
              <a:rPr lang="en-US" sz="1600" b="1" dirty="0">
                <a:solidFill>
                  <a:schemeClr val="accent1">
                    <a:lumMod val="50000"/>
                  </a:schemeClr>
                </a:solidFill>
              </a:rPr>
              <a:t>Mission Owner: </a:t>
            </a:r>
            <a:r>
              <a:rPr lang="en-US" sz="1600" dirty="0">
                <a:solidFill>
                  <a:schemeClr val="accent1">
                    <a:lumMod val="50000"/>
                  </a:schemeClr>
                </a:solidFill>
              </a:rPr>
              <a:t> A1				</a:t>
            </a:r>
          </a:p>
          <a:p>
            <a:pPr marL="0" indent="0">
              <a:buNone/>
            </a:pPr>
            <a:r>
              <a:rPr lang="en-US" sz="1600" b="1" dirty="0">
                <a:solidFill>
                  <a:schemeClr val="accent1">
                    <a:lumMod val="50000"/>
                  </a:schemeClr>
                </a:solidFill>
              </a:rPr>
              <a:t>Description: </a:t>
            </a:r>
            <a:r>
              <a:rPr lang="en-US" sz="1600" dirty="0">
                <a:solidFill>
                  <a:schemeClr val="accent1">
                    <a:lumMod val="50000"/>
                  </a:schemeClr>
                </a:solidFill>
              </a:rPr>
              <a:t>Air Force A1 (Manpower &amp; Personnel) is seeking a long-term follow-on contract to the existing ICAM (Identity Credential &amp; Access Management) Support contract. The new follow-on contract will provide prolonged support for IT Infrastructure Management, which shall include activities like ICAM, SIEM and CMBD.</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26 Sep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27 Sep 2025 -26 Sep 2030</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a:t>
            </a:r>
            <a:r>
              <a:rPr lang="en-US" sz="1600" dirty="0">
                <a:solidFill>
                  <a:schemeClr val="accent1">
                    <a:lumMod val="50000"/>
                  </a:schemeClr>
                </a:solidFill>
              </a:rPr>
              <a:t>FA701422F0263</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11 June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Small Disadvantaged Business 8(a)</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(HTRO, Past Performance Tradeoff, etc.): </a:t>
            </a:r>
            <a:r>
              <a:rPr lang="en-US" sz="1600" dirty="0">
                <a:solidFill>
                  <a:schemeClr val="accent1">
                    <a:lumMod val="50000"/>
                  </a:schemeClr>
                </a:solidFill>
              </a:rPr>
              <a:t>Tradeoff</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Contract Vehicle Being Used (NASA SEWP, MAS, OASIS+, etc.), if applicable: </a:t>
            </a:r>
            <a:r>
              <a:rPr lang="en-US" sz="1600" dirty="0">
                <a:solidFill>
                  <a:schemeClr val="accent1">
                    <a:lumMod val="50000"/>
                  </a:schemeClr>
                </a:solidFill>
              </a:rPr>
              <a:t>TBD</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TBD</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Tiffany Young,</a:t>
            </a:r>
            <a:endParaRPr lang="en-US" sz="1600" dirty="0">
              <a:solidFill>
                <a:schemeClr val="accent1">
                  <a:lumMod val="50000"/>
                </a:schemeClr>
              </a:solidFill>
              <a:ea typeface="Times New Roman" panose="02020603050405020304" pitchFamily="18" charset="0"/>
              <a:cs typeface="Calibri"/>
            </a:endParaRP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ffectLst/>
                <a:ea typeface="Times New Roman" panose="02020603050405020304" pitchFamily="18" charset="0"/>
              </a:rPr>
              <a:t>Richard </a:t>
            </a:r>
            <a:r>
              <a:rPr lang="en-US" sz="1600" dirty="0" err="1">
                <a:solidFill>
                  <a:schemeClr val="accent1">
                    <a:lumMod val="50000"/>
                  </a:schemeClr>
                </a:solidFill>
                <a:effectLst/>
                <a:ea typeface="Times New Roman" panose="02020603050405020304" pitchFamily="18" charset="0"/>
              </a:rPr>
              <a:t>Thiebauth</a:t>
            </a:r>
            <a:endParaRPr lang="en-US" sz="1600" dirty="0">
              <a:solidFill>
                <a:schemeClr val="accent1">
                  <a:lumMod val="50000"/>
                </a:schemeClr>
              </a:solidFill>
              <a:effectLst/>
              <a:ea typeface="Times New Roman" panose="02020603050405020304" pitchFamily="18" charset="0"/>
            </a:endParaRPr>
          </a:p>
          <a:p>
            <a:pPr marL="0" indent="0">
              <a:buNone/>
            </a:pP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06D5804F-C072-FEAB-3417-41592DFEAF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0C26906D-4A34-A7EF-8AD7-0DA6DF5E2084}"/>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D54AAFA-D0D8-3DEC-6ED3-0054BA9BE9C6}"/>
              </a:ext>
            </a:extLst>
          </p:cNvPr>
          <p:cNvSpPr txBox="1"/>
          <p:nvPr/>
        </p:nvSpPr>
        <p:spPr>
          <a:xfrm>
            <a:off x="3946849" y="854032"/>
            <a:ext cx="7741603" cy="523220"/>
          </a:xfrm>
          <a:prstGeom prst="rect">
            <a:avLst/>
          </a:prstGeom>
          <a:noFill/>
        </p:spPr>
        <p:txBody>
          <a:bodyPr wrap="square" lIns="91440" tIns="45720" rIns="91440" bIns="45720" rtlCol="0" anchor="t">
            <a:spAutoFit/>
          </a:bodyPr>
          <a:lstStyle/>
          <a:p>
            <a:pPr algn="r"/>
            <a:r>
              <a:rPr lang="en-US" sz="2800" b="1"/>
              <a:t>Identity Credential &amp; Access Management (ICAM) </a:t>
            </a:r>
            <a:endParaRPr lang="en-US" sz="2400" b="1" i="1">
              <a:ea typeface="Calibri"/>
              <a:cs typeface="Calibri"/>
            </a:endParaRPr>
          </a:p>
        </p:txBody>
      </p:sp>
      <p:sp>
        <p:nvSpPr>
          <p:cNvPr id="10" name="Slide Number Placeholder 9">
            <a:extLst>
              <a:ext uri="{FF2B5EF4-FFF2-40B4-BE49-F238E27FC236}">
                <a16:creationId xmlns:a16="http://schemas.microsoft.com/office/drawing/2014/main" id="{F9DDC4B7-F838-7407-1589-E1BE06DBDBD9}"/>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28</a:t>
            </a:fld>
            <a:endParaRPr lang="en-US" sz="1600" b="1">
              <a:solidFill>
                <a:schemeClr val="accent5">
                  <a:lumMod val="75000"/>
                </a:schemeClr>
              </a:solidFill>
            </a:endParaRPr>
          </a:p>
        </p:txBody>
      </p:sp>
    </p:spTree>
    <p:extLst>
      <p:ext uri="{BB962C8B-B14F-4D97-AF65-F5344CB8AC3E}">
        <p14:creationId xmlns:p14="http://schemas.microsoft.com/office/powerpoint/2010/main" val="1455662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5F4C4-626A-551D-D69D-7F0B567CC9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74BCF8-A94D-3322-0EAF-E8B3DB664907}"/>
              </a:ext>
            </a:extLst>
          </p:cNvPr>
          <p:cNvSpPr>
            <a:spLocks noGrp="1"/>
          </p:cNvSpPr>
          <p:nvPr>
            <p:ph idx="1"/>
          </p:nvPr>
        </p:nvSpPr>
        <p:spPr>
          <a:xfrm>
            <a:off x="582930" y="1565765"/>
            <a:ext cx="11018520" cy="4508434"/>
          </a:xfrm>
        </p:spPr>
        <p:txBody>
          <a:bodyPr vert="horz" lIns="91440" tIns="45720" rIns="91440" bIns="45720" rtlCol="0" anchor="t">
            <a:normAutofit fontScale="92500" lnSpcReduction="10000"/>
          </a:bodyPr>
          <a:lstStyle/>
          <a:p>
            <a:pPr marL="0" indent="0">
              <a:buNone/>
            </a:pPr>
            <a:r>
              <a:rPr lang="en-US" sz="1600" b="1" dirty="0">
                <a:solidFill>
                  <a:schemeClr val="accent1">
                    <a:lumMod val="50000"/>
                  </a:schemeClr>
                </a:solidFill>
              </a:rPr>
              <a:t>Mission Owner:  </a:t>
            </a:r>
            <a:r>
              <a:rPr lang="en-US" sz="1600" dirty="0">
                <a:solidFill>
                  <a:schemeClr val="accent1">
                    <a:lumMod val="50000"/>
                  </a:schemeClr>
                </a:solidFill>
              </a:rPr>
              <a:t>A1				</a:t>
            </a:r>
          </a:p>
          <a:p>
            <a:pPr marL="0" indent="0">
              <a:buNone/>
            </a:pPr>
            <a:r>
              <a:rPr lang="en-US" sz="1600" b="1" dirty="0">
                <a:solidFill>
                  <a:schemeClr val="accent1">
                    <a:lumMod val="50000"/>
                  </a:schemeClr>
                </a:solidFill>
              </a:rPr>
              <a:t>Description: </a:t>
            </a:r>
            <a:r>
              <a:rPr lang="en-US" sz="1600" dirty="0">
                <a:solidFill>
                  <a:schemeClr val="accent1">
                    <a:lumMod val="50000"/>
                  </a:schemeClr>
                </a:solidFill>
              </a:rPr>
              <a:t>Air Force A1 (Manpower &amp; Personnel) is seeking a long-term follow-on contract to the existing ICAM (Identity Credential &amp; Access Management) Support contract. The new follow-on contract will provide prolonged support for IT Infrastructure Management, which shall include activities like ICAM, SIEM and CMBD.</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26 Sep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27 Sep 2025 -26 Sep 2030</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a:t>
            </a:r>
            <a:r>
              <a:rPr lang="en-US" sz="1600" dirty="0">
                <a:solidFill>
                  <a:schemeClr val="accent1">
                    <a:lumMod val="50000"/>
                  </a:schemeClr>
                </a:solidFill>
              </a:rPr>
              <a:t>N/A</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30 May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TBD</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(HTRO, Past Performance Tradeoff, etc.): </a:t>
            </a:r>
            <a:r>
              <a:rPr lang="en-US" sz="1600" dirty="0">
                <a:solidFill>
                  <a:schemeClr val="accent1">
                    <a:lumMod val="50000"/>
                  </a:schemeClr>
                </a:solidFill>
              </a:rPr>
              <a:t>Tradeoff</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Contract Vehicle Being Used (NASA SEWP, MAS, OASIS+, etc.), if applicable: </a:t>
            </a:r>
            <a:r>
              <a:rPr lang="en-US" sz="1600" dirty="0">
                <a:solidFill>
                  <a:schemeClr val="accent1">
                    <a:lumMod val="50000"/>
                  </a:schemeClr>
                </a:solidFill>
              </a:rPr>
              <a:t>TBD</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ea typeface="+mn-lt"/>
                <a:cs typeface="+mn-lt"/>
              </a:rPr>
              <a:t>624190</a:t>
            </a: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Ashley Raymond</a:t>
            </a:r>
            <a:endParaRPr lang="en-US" sz="1600" dirty="0">
              <a:solidFill>
                <a:schemeClr val="accent1">
                  <a:lumMod val="50000"/>
                </a:schemeClr>
              </a:solidFill>
              <a:ea typeface="Times New Roman" panose="02020603050405020304" pitchFamily="18" charset="0"/>
              <a:cs typeface="Calibri"/>
            </a:endParaRP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a typeface="Times New Roman" panose="02020603050405020304" pitchFamily="18" charset="0"/>
              </a:rPr>
              <a:t>Sharon Thompson</a:t>
            </a:r>
            <a:endParaRPr lang="en-US" sz="1600" dirty="0">
              <a:solidFill>
                <a:schemeClr val="accent1">
                  <a:lumMod val="50000"/>
                </a:schemeClr>
              </a:solidFill>
              <a:effectLst/>
              <a:ea typeface="Times New Roman" panose="02020603050405020304" pitchFamily="18" charset="0"/>
              <a:cs typeface="Calibri"/>
            </a:endParaRPr>
          </a:p>
          <a:p>
            <a:pPr marL="0" indent="0">
              <a:buNone/>
            </a:pP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B4739474-83C1-549D-6FFC-B93017015D2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B714EE02-AC4A-A268-854C-421E3F4DCDF8}"/>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2738279-7AFD-B427-9C94-8F085ADDA418}"/>
              </a:ext>
            </a:extLst>
          </p:cNvPr>
          <p:cNvSpPr txBox="1"/>
          <p:nvPr/>
        </p:nvSpPr>
        <p:spPr>
          <a:xfrm>
            <a:off x="3946849" y="854032"/>
            <a:ext cx="7741603" cy="523220"/>
          </a:xfrm>
          <a:prstGeom prst="rect">
            <a:avLst/>
          </a:prstGeom>
          <a:noFill/>
        </p:spPr>
        <p:txBody>
          <a:bodyPr wrap="square" lIns="91440" tIns="45720" rIns="91440" bIns="45720" rtlCol="0" anchor="t">
            <a:spAutoFit/>
          </a:bodyPr>
          <a:lstStyle/>
          <a:p>
            <a:pPr algn="r"/>
            <a:r>
              <a:rPr lang="en-US" sz="2800" b="1"/>
              <a:t>Adult Respite Care </a:t>
            </a:r>
            <a:endParaRPr lang="en-US"/>
          </a:p>
        </p:txBody>
      </p:sp>
      <p:sp>
        <p:nvSpPr>
          <p:cNvPr id="10" name="Slide Number Placeholder 9">
            <a:extLst>
              <a:ext uri="{FF2B5EF4-FFF2-40B4-BE49-F238E27FC236}">
                <a16:creationId xmlns:a16="http://schemas.microsoft.com/office/drawing/2014/main" id="{9C03576E-AFD9-49E2-81BC-1FD817DF1EB8}"/>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29</a:t>
            </a:fld>
            <a:endParaRPr lang="en-US" sz="1600" b="1">
              <a:solidFill>
                <a:schemeClr val="accent5">
                  <a:lumMod val="75000"/>
                </a:schemeClr>
              </a:solidFill>
            </a:endParaRPr>
          </a:p>
        </p:txBody>
      </p:sp>
    </p:spTree>
    <p:extLst>
      <p:ext uri="{BB962C8B-B14F-4D97-AF65-F5344CB8AC3E}">
        <p14:creationId xmlns:p14="http://schemas.microsoft.com/office/powerpoint/2010/main" val="930293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FB7B4-72C5-8C18-31CD-AD827FAAA6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3C93F4-DE86-53EC-EA6E-A1037A311FE7}"/>
              </a:ext>
            </a:extLst>
          </p:cNvPr>
          <p:cNvSpPr>
            <a:spLocks noGrp="1"/>
          </p:cNvSpPr>
          <p:nvPr>
            <p:ph idx="1"/>
          </p:nvPr>
        </p:nvSpPr>
        <p:spPr>
          <a:xfrm>
            <a:off x="582930" y="1565909"/>
            <a:ext cx="11018520" cy="4508434"/>
          </a:xfrm>
        </p:spPr>
        <p:txBody>
          <a:bodyPr vert="horz" lIns="91440" tIns="45720" rIns="91440" bIns="45720" rtlCol="0" anchor="t">
            <a:normAutofit fontScale="92500" lnSpcReduction="10000"/>
          </a:bodyPr>
          <a:lstStyle/>
          <a:p>
            <a:pPr marL="0" indent="0">
              <a:buNone/>
            </a:pPr>
            <a:r>
              <a:rPr lang="en-US" sz="1600" b="1" dirty="0">
                <a:solidFill>
                  <a:schemeClr val="accent1">
                    <a:lumMod val="50000"/>
                  </a:schemeClr>
                </a:solidFill>
              </a:rPr>
              <a:t>Mission Owner: </a:t>
            </a:r>
            <a:r>
              <a:rPr lang="en-US" sz="1600" dirty="0">
                <a:solidFill>
                  <a:schemeClr val="accent1">
                    <a:lumMod val="50000"/>
                  </a:schemeClr>
                </a:solidFill>
              </a:rPr>
              <a:t>A1 				</a:t>
            </a:r>
          </a:p>
          <a:p>
            <a:pPr marL="0" indent="0">
              <a:buNone/>
            </a:pPr>
            <a:r>
              <a:rPr lang="en-US" sz="1600" b="1" dirty="0">
                <a:solidFill>
                  <a:schemeClr val="accent1">
                    <a:lumMod val="50000"/>
                  </a:schemeClr>
                </a:solidFill>
              </a:rPr>
              <a:t>Description: </a:t>
            </a:r>
            <a:r>
              <a:rPr lang="en-US" sz="1600" dirty="0">
                <a:solidFill>
                  <a:schemeClr val="accent1">
                    <a:lumMod val="50000"/>
                  </a:schemeClr>
                </a:solidFill>
              </a:rPr>
              <a:t>Provide the "single source of truth" that enables decision makers to render timely, accurate data-driven decisions regarding our Total Force Airmen and reduce the time these decision makers spend wrangling data from disparate systems with a degree of less than quality data.</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29 Sep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30 Sep 2025 – 29 Sep 2030</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a:t>
            </a:r>
            <a:r>
              <a:rPr lang="en-US" sz="1600" dirty="0">
                <a:solidFill>
                  <a:schemeClr val="accent1">
                    <a:lumMod val="50000"/>
                  </a:schemeClr>
                </a:solidFill>
              </a:rPr>
              <a:t>FA701422F0101</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17 June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a:t>
            </a:r>
            <a:r>
              <a:rPr lang="en-US" sz="1600" dirty="0">
                <a:solidFill>
                  <a:schemeClr val="accent1">
                    <a:lumMod val="50000"/>
                  </a:schemeClr>
                </a:solidFill>
              </a:rPr>
              <a:t>Small Business Set Aside</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a:t>
            </a:r>
            <a:r>
              <a:rPr lang="en-US" sz="1600" dirty="0">
                <a:solidFill>
                  <a:schemeClr val="accent1">
                    <a:lumMod val="50000"/>
                  </a:schemeClr>
                </a:solidFill>
              </a:rPr>
              <a:t>Tradeoff</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Contract Vehicle Being Used: </a:t>
            </a:r>
            <a:r>
              <a:rPr lang="en-US" sz="1600" dirty="0">
                <a:solidFill>
                  <a:schemeClr val="accent1">
                    <a:lumMod val="50000"/>
                  </a:schemeClr>
                </a:solidFill>
              </a:rPr>
              <a:t>NASA SEWP</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541519</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Tiffany Young</a:t>
            </a: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ffectLst/>
                <a:ea typeface="Times New Roman" panose="02020603050405020304" pitchFamily="18" charset="0"/>
              </a:rPr>
              <a:t>Gayle Trotman</a:t>
            </a:r>
          </a:p>
          <a:p>
            <a:pPr marL="0" indent="0">
              <a:buNone/>
            </a:pP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5A815145-1F36-6A78-B3FF-C5608920FA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8D10B9EE-E0B9-8572-BB67-0C2BF262076C}"/>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1D4AE25-7B1D-BA65-B430-BECA7E17D596}"/>
              </a:ext>
            </a:extLst>
          </p:cNvPr>
          <p:cNvSpPr txBox="1"/>
          <p:nvPr/>
        </p:nvSpPr>
        <p:spPr>
          <a:xfrm>
            <a:off x="5955030" y="854032"/>
            <a:ext cx="5733422" cy="523220"/>
          </a:xfrm>
          <a:prstGeom prst="rect">
            <a:avLst/>
          </a:prstGeom>
          <a:noFill/>
        </p:spPr>
        <p:txBody>
          <a:bodyPr wrap="square" lIns="91440" tIns="45720" rIns="91440" bIns="45720" rtlCol="0" anchor="t">
            <a:spAutoFit/>
          </a:bodyPr>
          <a:lstStyle/>
          <a:p>
            <a:pPr algn="r"/>
            <a:r>
              <a:rPr lang="en-US" sz="2800" b="1" i="1"/>
              <a:t>Informatica Software</a:t>
            </a:r>
            <a:endParaRPr lang="en-US" sz="2400" b="1" i="1"/>
          </a:p>
        </p:txBody>
      </p:sp>
      <p:sp>
        <p:nvSpPr>
          <p:cNvPr id="10" name="Slide Number Placeholder 9">
            <a:extLst>
              <a:ext uri="{FF2B5EF4-FFF2-40B4-BE49-F238E27FC236}">
                <a16:creationId xmlns:a16="http://schemas.microsoft.com/office/drawing/2014/main" id="{5309838F-DC3F-7811-2123-F9868BAAD65D}"/>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30</a:t>
            </a:fld>
            <a:endParaRPr lang="en-US" sz="1600" b="1">
              <a:solidFill>
                <a:schemeClr val="accent5">
                  <a:lumMod val="75000"/>
                </a:schemeClr>
              </a:solidFill>
            </a:endParaRPr>
          </a:p>
        </p:txBody>
      </p:sp>
    </p:spTree>
    <p:extLst>
      <p:ext uri="{BB962C8B-B14F-4D97-AF65-F5344CB8AC3E}">
        <p14:creationId xmlns:p14="http://schemas.microsoft.com/office/powerpoint/2010/main" val="25563370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E407B-7B0E-EF9A-4F5A-2B3E71E99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136D8-666B-C946-A1DC-FA38FAB3E5F1}"/>
              </a:ext>
            </a:extLst>
          </p:cNvPr>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a:extLst>
              <a:ext uri="{FF2B5EF4-FFF2-40B4-BE49-F238E27FC236}">
                <a16:creationId xmlns:a16="http://schemas.microsoft.com/office/drawing/2014/main" id="{496282EB-1144-8725-20D0-2FE3B0BBE91F}"/>
              </a:ext>
            </a:extLst>
          </p:cNvPr>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a:extLst>
              <a:ext uri="{FF2B5EF4-FFF2-40B4-BE49-F238E27FC236}">
                <a16:creationId xmlns:a16="http://schemas.microsoft.com/office/drawing/2014/main" id="{3DBF4EB8-AEFA-2AAA-40C0-F8C260A90BA9}"/>
              </a:ext>
            </a:extLst>
          </p:cNvPr>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13" descr="afsymbol">
            <a:extLst>
              <a:ext uri="{FF2B5EF4-FFF2-40B4-BE49-F238E27FC236}">
                <a16:creationId xmlns:a16="http://schemas.microsoft.com/office/drawing/2014/main" id="{B73A8588-9B54-286C-0F16-8F60D35CAE7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7426" y="4194810"/>
            <a:ext cx="255425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02584182-743D-F38E-545A-ABDD2BD621FB}"/>
              </a:ext>
            </a:extLst>
          </p:cNvPr>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99D30E8F-E745-8848-9BE2-98FCFAD1E77F}"/>
              </a:ext>
            </a:extLst>
          </p:cNvPr>
          <p:cNvSpPr txBox="1"/>
          <p:nvPr/>
        </p:nvSpPr>
        <p:spPr>
          <a:xfrm>
            <a:off x="2418346" y="2064258"/>
            <a:ext cx="7291137" cy="646331"/>
          </a:xfrm>
          <a:prstGeom prst="rect">
            <a:avLst/>
          </a:prstGeom>
          <a:noFill/>
        </p:spPr>
        <p:txBody>
          <a:bodyPr wrap="square" rtlCol="0">
            <a:spAutoFit/>
          </a:bodyPr>
          <a:lstStyle/>
          <a:p>
            <a:pPr algn="ctr"/>
            <a:r>
              <a:rPr lang="en-US" sz="3600" b="1" dirty="0">
                <a:solidFill>
                  <a:schemeClr val="accent5">
                    <a:lumMod val="75000"/>
                  </a:schemeClr>
                </a:solidFill>
              </a:rPr>
              <a:t>A3</a:t>
            </a:r>
          </a:p>
        </p:txBody>
      </p:sp>
    </p:spTree>
    <p:extLst>
      <p:ext uri="{BB962C8B-B14F-4D97-AF65-F5344CB8AC3E}">
        <p14:creationId xmlns:p14="http://schemas.microsoft.com/office/powerpoint/2010/main" val="32281547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43AE1-3C03-CAB5-1907-BD263D2797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01B7DE-0920-F6B7-EFC6-5B160EF689E0}"/>
              </a:ext>
            </a:extLst>
          </p:cNvPr>
          <p:cNvSpPr>
            <a:spLocks noGrp="1"/>
          </p:cNvSpPr>
          <p:nvPr>
            <p:ph idx="1"/>
          </p:nvPr>
        </p:nvSpPr>
        <p:spPr>
          <a:xfrm>
            <a:off x="582930" y="1628111"/>
            <a:ext cx="11018520" cy="4508434"/>
          </a:xfrm>
        </p:spPr>
        <p:txBody>
          <a:bodyPr vert="horz" lIns="91440" tIns="45720" rIns="91440" bIns="45720" rtlCol="0" anchor="t">
            <a:normAutofit fontScale="92500" lnSpcReduction="20000"/>
          </a:bodyPr>
          <a:lstStyle/>
          <a:p>
            <a:pPr marL="0" indent="0">
              <a:buNone/>
            </a:pPr>
            <a:r>
              <a:rPr lang="en-US" sz="1600" b="1" dirty="0">
                <a:solidFill>
                  <a:schemeClr val="accent1">
                    <a:lumMod val="50000"/>
                  </a:schemeClr>
                </a:solidFill>
              </a:rPr>
              <a:t>Mission Owner (A5, A1, SAF/IE, etc.):   </a:t>
            </a:r>
            <a:r>
              <a:rPr lang="en-US" sz="1600" dirty="0">
                <a:solidFill>
                  <a:schemeClr val="accent1">
                    <a:lumMod val="50000"/>
                  </a:schemeClr>
                </a:solidFill>
              </a:rPr>
              <a:t>A3</a:t>
            </a:r>
            <a:r>
              <a:rPr lang="en-US" sz="1600" b="1" dirty="0">
                <a:solidFill>
                  <a:schemeClr val="accent1">
                    <a:lumMod val="50000"/>
                  </a:schemeClr>
                </a:solidFill>
              </a:rPr>
              <a:t> </a:t>
            </a:r>
            <a:r>
              <a:rPr lang="en-US" sz="1600" dirty="0">
                <a:solidFill>
                  <a:schemeClr val="accent1">
                    <a:lumMod val="50000"/>
                  </a:schemeClr>
                </a:solidFill>
              </a:rPr>
              <a:t>			</a:t>
            </a:r>
          </a:p>
          <a:p>
            <a:pPr marL="0" indent="0">
              <a:buNone/>
            </a:pPr>
            <a:r>
              <a:rPr lang="en-US" sz="1600" b="1" dirty="0">
                <a:solidFill>
                  <a:schemeClr val="accent1">
                    <a:lumMod val="50000"/>
                  </a:schemeClr>
                </a:solidFill>
              </a:rPr>
              <a:t>Description (2-3 lines):  </a:t>
            </a:r>
            <a:r>
              <a:rPr lang="en-US" sz="1600" dirty="0">
                <a:solidFill>
                  <a:schemeClr val="accent1">
                    <a:lumMod val="50000"/>
                  </a:schemeClr>
                </a:solidFill>
              </a:rPr>
              <a:t>A3TR Air Force Readiness Analysis and Decision Support (AFRADS)  --  Performance of Professional Services and Air Force Readiness Analysis Support that includes resources to maintain, modify, and sustain an enterprise of linked readiness reporting systems and decision support tools which provide near real-time information on the current readiness status of assigned forces and links readiness outcomes to potential programming actions using predictive analysis on Air Force units to meet Air Force, Joint Staff, Office of the Secretary of Defense, and Congressional readiness reporting requirements.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18 November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17 October 2025 – 17 April 2026</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(provide previous contract number) or New Start:  </a:t>
            </a:r>
            <a:r>
              <a:rPr lang="en-US" sz="1600" dirty="0">
                <a:solidFill>
                  <a:schemeClr val="accent1">
                    <a:lumMod val="50000"/>
                  </a:schemeClr>
                </a:solidFill>
              </a:rPr>
              <a:t>Re-Compete, Previous Contract Number FA7014-23-F-0145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25 July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Fair Opportunity/Competitive Full &amp; Open, Set-Aside TBD</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(HTRO, Past Performance Tradeoff, etc.):  </a:t>
            </a:r>
            <a:r>
              <a:rPr lang="en-US" sz="1600" dirty="0">
                <a:solidFill>
                  <a:schemeClr val="accent1">
                    <a:lumMod val="50000"/>
                  </a:schemeClr>
                </a:solidFill>
              </a:rPr>
              <a:t>Technical Over Price Tradeoff </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Contract Vehicle Being Used (NASA SEWP, MAS, OASIS+, etc.), if applicable:  </a:t>
            </a:r>
            <a:r>
              <a:rPr lang="en-US" sz="1600" dirty="0">
                <a:solidFill>
                  <a:schemeClr val="accent1">
                    <a:lumMod val="50000"/>
                  </a:schemeClr>
                </a:solidFill>
              </a:rPr>
              <a:t>To Be Determined (initial preference is to rely upon existing Air Force, DoD, and Federal Procurement Vehicles, Agreements, BPAs, GWAC IDIQs, Federal Supply Schedules, etc.)  </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To Be Determined/541519</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Mark R. </a:t>
            </a:r>
            <a:r>
              <a:rPr lang="en-US" sz="1600" dirty="0" err="1">
                <a:solidFill>
                  <a:schemeClr val="accent1">
                    <a:lumMod val="50000"/>
                  </a:schemeClr>
                </a:solidFill>
                <a:ea typeface="Times New Roman" panose="02020603050405020304" pitchFamily="18" charset="0"/>
              </a:rPr>
              <a:t>Luckritz</a:t>
            </a:r>
            <a:r>
              <a:rPr lang="en-US" sz="1600" dirty="0">
                <a:solidFill>
                  <a:schemeClr val="accent1">
                    <a:lumMod val="50000"/>
                  </a:schemeClr>
                </a:solidFill>
                <a:ea typeface="Times New Roman" panose="02020603050405020304" pitchFamily="18" charset="0"/>
              </a:rPr>
              <a:t>, Contracting Officer, AFDW/PKH </a:t>
            </a: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ffectLst/>
                <a:ea typeface="Times New Roman" panose="02020603050405020304" pitchFamily="18" charset="0"/>
              </a:rPr>
              <a:t>Mr. John P. </a:t>
            </a:r>
            <a:r>
              <a:rPr lang="en-US" sz="1600" dirty="0" err="1">
                <a:solidFill>
                  <a:schemeClr val="accent1">
                    <a:lumMod val="50000"/>
                  </a:schemeClr>
                </a:solidFill>
                <a:effectLst/>
                <a:ea typeface="Times New Roman" panose="02020603050405020304" pitchFamily="18" charset="0"/>
              </a:rPr>
              <a:t>Visina</a:t>
            </a:r>
            <a:r>
              <a:rPr lang="en-US" sz="1600" dirty="0">
                <a:solidFill>
                  <a:schemeClr val="accent1">
                    <a:lumMod val="50000"/>
                  </a:schemeClr>
                </a:solidFill>
                <a:effectLst/>
                <a:ea typeface="Times New Roman" panose="02020603050405020304" pitchFamily="18" charset="0"/>
              </a:rPr>
              <a:t>, Resource/Program Advisor, A3 A3DR</a:t>
            </a: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CB1FFC34-9324-A4D7-07B7-6B17926B27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B3FD76D1-B6B1-915B-BE62-3443989B89FC}"/>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4E5F042-A548-E51A-4F06-6C3EC45A510C}"/>
              </a:ext>
            </a:extLst>
          </p:cNvPr>
          <p:cNvSpPr txBox="1"/>
          <p:nvPr/>
        </p:nvSpPr>
        <p:spPr>
          <a:xfrm>
            <a:off x="2493818" y="854032"/>
            <a:ext cx="9194634" cy="523220"/>
          </a:xfrm>
          <a:prstGeom prst="rect">
            <a:avLst/>
          </a:prstGeom>
          <a:noFill/>
        </p:spPr>
        <p:txBody>
          <a:bodyPr wrap="square" rtlCol="0">
            <a:spAutoFit/>
          </a:bodyPr>
          <a:lstStyle/>
          <a:p>
            <a:pPr algn="r"/>
            <a:r>
              <a:rPr lang="en-US" sz="2800" b="1" i="1"/>
              <a:t>A3TR Air Force Readiness Analysis and Decision Support</a:t>
            </a:r>
            <a:endParaRPr lang="en-US" sz="2400" b="1" i="1"/>
          </a:p>
        </p:txBody>
      </p:sp>
      <p:sp>
        <p:nvSpPr>
          <p:cNvPr id="10" name="Slide Number Placeholder 9">
            <a:extLst>
              <a:ext uri="{FF2B5EF4-FFF2-40B4-BE49-F238E27FC236}">
                <a16:creationId xmlns:a16="http://schemas.microsoft.com/office/drawing/2014/main" id="{2285C200-B5EC-BEA2-EC68-45A169A053A2}"/>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32</a:t>
            </a:fld>
            <a:endParaRPr lang="en-US" sz="1600" b="1">
              <a:solidFill>
                <a:schemeClr val="accent5">
                  <a:lumMod val="75000"/>
                </a:schemeClr>
              </a:solidFill>
            </a:endParaRPr>
          </a:p>
        </p:txBody>
      </p:sp>
    </p:spTree>
    <p:extLst>
      <p:ext uri="{BB962C8B-B14F-4D97-AF65-F5344CB8AC3E}">
        <p14:creationId xmlns:p14="http://schemas.microsoft.com/office/powerpoint/2010/main" val="6429700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3B4B6-9857-802F-2287-24397AE6EE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A1A92F-FAFE-87CA-604D-D68A419E2366}"/>
              </a:ext>
            </a:extLst>
          </p:cNvPr>
          <p:cNvSpPr>
            <a:spLocks noGrp="1"/>
          </p:cNvSpPr>
          <p:nvPr>
            <p:ph idx="1"/>
          </p:nvPr>
        </p:nvSpPr>
        <p:spPr>
          <a:xfrm>
            <a:off x="582930" y="1628111"/>
            <a:ext cx="11018520" cy="4508434"/>
          </a:xfrm>
          <a:solidFill>
            <a:schemeClr val="bg1"/>
          </a:solidFill>
        </p:spPr>
        <p:txBody>
          <a:bodyPr vert="horz" lIns="91440" tIns="45720" rIns="91440" bIns="45720" rtlCol="0" anchor="t">
            <a:normAutofit fontScale="92500" lnSpcReduction="10000"/>
          </a:bodyPr>
          <a:lstStyle/>
          <a:p>
            <a:pPr marL="0" indent="0">
              <a:buNone/>
            </a:pPr>
            <a:r>
              <a:rPr lang="en-US" sz="1600" b="1" dirty="0">
                <a:solidFill>
                  <a:schemeClr val="accent1">
                    <a:lumMod val="50000"/>
                  </a:schemeClr>
                </a:solidFill>
              </a:rPr>
              <a:t>Mission Owner (A5, A1, SAF/IE, etc.):   </a:t>
            </a:r>
            <a:r>
              <a:rPr lang="en-US" sz="1600" dirty="0">
                <a:solidFill>
                  <a:schemeClr val="accent1">
                    <a:lumMod val="50000"/>
                  </a:schemeClr>
                </a:solidFill>
              </a:rPr>
              <a:t>A3 			</a:t>
            </a:r>
          </a:p>
          <a:p>
            <a:pPr marL="0" indent="0">
              <a:buNone/>
            </a:pPr>
            <a:r>
              <a:rPr lang="en-US" sz="1600" b="1" dirty="0">
                <a:solidFill>
                  <a:schemeClr val="accent1">
                    <a:lumMod val="50000"/>
                  </a:schemeClr>
                </a:solidFill>
              </a:rPr>
              <a:t>Description (2-3 lines):  </a:t>
            </a:r>
            <a:r>
              <a:rPr lang="en-US" sz="1600" dirty="0">
                <a:solidFill>
                  <a:schemeClr val="accent1">
                    <a:lumMod val="50000"/>
                  </a:schemeClr>
                </a:solidFill>
              </a:rPr>
              <a:t>A3OB Mission Assurance Assessment (MAA)  --  Professional Services to perform and support a three-phased approach for the Air Force as outlined in DoD Instruction 3020.45 (Mission Assurance Construct) and CJCSI 3209.01A Mission Assurance Construct Implementation, spanning the Pre-Assessment Phase: Mission analysis and pre-site survey; the Assessment Phase: Vulnerability/risk assessment; and the Post-Assessment Phase: Post analysis and report</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12 January 2026</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12 January 2026 – 12 July 2031</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(provide previous contract number) or New Start:  </a:t>
            </a:r>
            <a:r>
              <a:rPr lang="en-US" sz="1600" dirty="0">
                <a:solidFill>
                  <a:schemeClr val="accent1">
                    <a:lumMod val="50000"/>
                  </a:schemeClr>
                </a:solidFill>
              </a:rPr>
              <a:t>Re-Compete</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FY25 – Quarter 3</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Fair Opportunity/Competitive Full &amp; Open, Set-Aside TBD</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(HTRO, Past Performance Tradeoff, etc.):  </a:t>
            </a:r>
            <a:r>
              <a:rPr lang="en-US" sz="1600" dirty="0">
                <a:solidFill>
                  <a:schemeClr val="accent1">
                    <a:lumMod val="50000"/>
                  </a:schemeClr>
                </a:solidFill>
              </a:rPr>
              <a:t>Technical Over Price Tradeoff </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Contract Vehicle Being Used (NASA SEWP, MAS, OASIS+, etc.), if applicable:  </a:t>
            </a:r>
            <a:r>
              <a:rPr lang="en-US" sz="1600" dirty="0">
                <a:solidFill>
                  <a:schemeClr val="accent1">
                    <a:lumMod val="50000"/>
                  </a:schemeClr>
                </a:solidFill>
              </a:rPr>
              <a:t>To Be Determined (initial preference is to rely upon existing Air Force, DoD, and Federal Procurement Vehicles, Agreements, BPAs, GWAC IDIQs, Federal Supply Schedules, etc.)  </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To Be Determined/541519</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Mark R. </a:t>
            </a:r>
            <a:r>
              <a:rPr lang="en-US" sz="1600" dirty="0" err="1">
                <a:solidFill>
                  <a:schemeClr val="accent1">
                    <a:lumMod val="50000"/>
                  </a:schemeClr>
                </a:solidFill>
                <a:ea typeface="Times New Roman" panose="02020603050405020304" pitchFamily="18" charset="0"/>
              </a:rPr>
              <a:t>Luckritz</a:t>
            </a:r>
            <a:r>
              <a:rPr lang="en-US" sz="1600" dirty="0">
                <a:solidFill>
                  <a:schemeClr val="accent1">
                    <a:lumMod val="50000"/>
                  </a:schemeClr>
                </a:solidFill>
                <a:ea typeface="Times New Roman" panose="02020603050405020304" pitchFamily="18" charset="0"/>
              </a:rPr>
              <a:t>, Contracting Officer, AFDW/PKH</a:t>
            </a: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ffectLst/>
                <a:ea typeface="Times New Roman" panose="02020603050405020304" pitchFamily="18" charset="0"/>
              </a:rPr>
              <a:t>Mr. John P. </a:t>
            </a:r>
            <a:r>
              <a:rPr lang="en-US" sz="1600" dirty="0" err="1">
                <a:solidFill>
                  <a:schemeClr val="accent1">
                    <a:lumMod val="50000"/>
                  </a:schemeClr>
                </a:solidFill>
                <a:effectLst/>
                <a:ea typeface="Times New Roman" panose="02020603050405020304" pitchFamily="18" charset="0"/>
              </a:rPr>
              <a:t>Visina</a:t>
            </a:r>
            <a:r>
              <a:rPr lang="en-US" sz="1600" dirty="0">
                <a:solidFill>
                  <a:schemeClr val="accent1">
                    <a:lumMod val="50000"/>
                  </a:schemeClr>
                </a:solidFill>
                <a:effectLst/>
                <a:ea typeface="Times New Roman" panose="02020603050405020304" pitchFamily="18" charset="0"/>
              </a:rPr>
              <a:t>, Resource/Program Advisor, A3 A3DR </a:t>
            </a:r>
            <a:r>
              <a:rPr lang="en-US" sz="1600" dirty="0">
                <a:solidFill>
                  <a:schemeClr val="accent1">
                    <a:lumMod val="50000"/>
                  </a:schemeClr>
                </a:solidFill>
              </a:rPr>
              <a:t>				</a:t>
            </a:r>
          </a:p>
        </p:txBody>
      </p:sp>
      <p:pic>
        <p:nvPicPr>
          <p:cNvPr id="4" name="Picture 13" descr="afsymbol">
            <a:extLst>
              <a:ext uri="{FF2B5EF4-FFF2-40B4-BE49-F238E27FC236}">
                <a16:creationId xmlns:a16="http://schemas.microsoft.com/office/drawing/2014/main" id="{0B7E8DEB-33CD-C996-C616-360FA79C49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ACFFE303-8653-5FF9-8F46-F3D385865603}"/>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C959311-5D48-DAB6-77E7-C16A207EEBD2}"/>
              </a:ext>
            </a:extLst>
          </p:cNvPr>
          <p:cNvSpPr txBox="1"/>
          <p:nvPr/>
        </p:nvSpPr>
        <p:spPr>
          <a:xfrm>
            <a:off x="2493818" y="854032"/>
            <a:ext cx="9194634" cy="523220"/>
          </a:xfrm>
          <a:prstGeom prst="rect">
            <a:avLst/>
          </a:prstGeom>
          <a:solidFill>
            <a:schemeClr val="bg1"/>
          </a:solidFill>
        </p:spPr>
        <p:txBody>
          <a:bodyPr wrap="square" rtlCol="0">
            <a:spAutoFit/>
          </a:bodyPr>
          <a:lstStyle/>
          <a:p>
            <a:pPr algn="r"/>
            <a:r>
              <a:rPr lang="en-US" sz="2800" b="1" i="1"/>
              <a:t>A3OB Mission Assurance Assessment</a:t>
            </a:r>
            <a:endParaRPr lang="en-US" sz="2400" b="1" i="1"/>
          </a:p>
        </p:txBody>
      </p:sp>
      <p:sp>
        <p:nvSpPr>
          <p:cNvPr id="10" name="Slide Number Placeholder 9">
            <a:extLst>
              <a:ext uri="{FF2B5EF4-FFF2-40B4-BE49-F238E27FC236}">
                <a16:creationId xmlns:a16="http://schemas.microsoft.com/office/drawing/2014/main" id="{CA633D3A-D0CC-3CD5-4F2E-8384B4FF4E47}"/>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33</a:t>
            </a:fld>
            <a:endParaRPr lang="en-US" sz="1600" b="1">
              <a:solidFill>
                <a:schemeClr val="accent5">
                  <a:lumMod val="75000"/>
                </a:schemeClr>
              </a:solidFill>
            </a:endParaRPr>
          </a:p>
        </p:txBody>
      </p:sp>
    </p:spTree>
    <p:extLst>
      <p:ext uri="{BB962C8B-B14F-4D97-AF65-F5344CB8AC3E}">
        <p14:creationId xmlns:p14="http://schemas.microsoft.com/office/powerpoint/2010/main" val="14785401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FAC18-38E0-D215-5D3B-B09E3A5E51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A1D695-8949-041F-0E7D-C1697A022E0A}"/>
              </a:ext>
            </a:extLst>
          </p:cNvPr>
          <p:cNvSpPr>
            <a:spLocks noGrp="1"/>
          </p:cNvSpPr>
          <p:nvPr>
            <p:ph idx="1"/>
          </p:nvPr>
        </p:nvSpPr>
        <p:spPr>
          <a:xfrm>
            <a:off x="582930" y="1628111"/>
            <a:ext cx="11018520" cy="4508434"/>
          </a:xfrm>
          <a:solidFill>
            <a:schemeClr val="bg1"/>
          </a:solidFill>
        </p:spPr>
        <p:txBody>
          <a:bodyPr vert="horz" lIns="91440" tIns="45720" rIns="91440" bIns="45720" rtlCol="0" anchor="t">
            <a:normAutofit fontScale="92500" lnSpcReduction="10000"/>
          </a:bodyPr>
          <a:lstStyle/>
          <a:p>
            <a:pPr marL="0" indent="0">
              <a:buNone/>
            </a:pPr>
            <a:r>
              <a:rPr lang="en-US" sz="1600" b="1" dirty="0">
                <a:solidFill>
                  <a:schemeClr val="accent1">
                    <a:lumMod val="50000"/>
                  </a:schemeClr>
                </a:solidFill>
              </a:rPr>
              <a:t>Mission Owner (A5, A1, SAF/IE, etc.):   </a:t>
            </a:r>
            <a:r>
              <a:rPr lang="en-US" sz="1600" dirty="0">
                <a:solidFill>
                  <a:schemeClr val="accent1">
                    <a:lumMod val="50000"/>
                  </a:schemeClr>
                </a:solidFill>
              </a:rPr>
              <a:t>A3 			</a:t>
            </a:r>
          </a:p>
          <a:p>
            <a:pPr marL="0" indent="0">
              <a:buNone/>
            </a:pPr>
            <a:r>
              <a:rPr lang="en-US" sz="1600" b="1" dirty="0">
                <a:solidFill>
                  <a:schemeClr val="accent1">
                    <a:lumMod val="50000"/>
                  </a:schemeClr>
                </a:solidFill>
              </a:rPr>
              <a:t>Description (2-3 lines):  </a:t>
            </a:r>
            <a:r>
              <a:rPr lang="en-US" sz="1600" dirty="0">
                <a:solidFill>
                  <a:schemeClr val="accent1">
                    <a:lumMod val="50000"/>
                  </a:schemeClr>
                </a:solidFill>
              </a:rPr>
              <a:t>A3CO Information Operations Support--  Professional Services to support transformation and innovation efforts in the Information Operations (IO) Division, ensuring the integration of IO, Military Information Support Operations (MISO), Operations Security (OPSEC), and Deception Activities (DA) into all operations, activities, and investments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2 February 2026</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2 February 2026 – 2 August 2031</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(provide previous contract number) or New Start:  </a:t>
            </a:r>
            <a:r>
              <a:rPr lang="en-US" sz="1600" dirty="0">
                <a:solidFill>
                  <a:schemeClr val="accent1">
                    <a:lumMod val="50000"/>
                  </a:schemeClr>
                </a:solidFill>
              </a:rPr>
              <a:t>Re-Compete</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FY25 – Quarter 3</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Fair Opportunity/Competitive Full &amp; Open, Set-Aside TBD</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(HTRO, Past Performance Tradeoff, etc.):  </a:t>
            </a:r>
            <a:r>
              <a:rPr lang="en-US" sz="1600" dirty="0">
                <a:solidFill>
                  <a:schemeClr val="accent1">
                    <a:lumMod val="50000"/>
                  </a:schemeClr>
                </a:solidFill>
              </a:rPr>
              <a:t>Technical Over Price Tradeoff </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Contract Vehicle Being Used (NASA SEWP, MAS, OASIS+, etc.), if applicable:  </a:t>
            </a:r>
            <a:r>
              <a:rPr lang="en-US" sz="1600" dirty="0">
                <a:solidFill>
                  <a:schemeClr val="accent1">
                    <a:lumMod val="50000"/>
                  </a:schemeClr>
                </a:solidFill>
              </a:rPr>
              <a:t>To Be Determined (initial preference is to rely upon existing Air Force, DoD, and Federal Procurement Vehicles, Agreements, BPAs, GWAC IDIQs, Federal Supply Schedules, etc.)  </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To Be Determined/541519</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Mark R. </a:t>
            </a:r>
            <a:r>
              <a:rPr lang="en-US" sz="1600" dirty="0" err="1">
                <a:solidFill>
                  <a:schemeClr val="accent1">
                    <a:lumMod val="50000"/>
                  </a:schemeClr>
                </a:solidFill>
                <a:ea typeface="Times New Roman" panose="02020603050405020304" pitchFamily="18" charset="0"/>
              </a:rPr>
              <a:t>Luckritz</a:t>
            </a:r>
            <a:r>
              <a:rPr lang="en-US" sz="1600" dirty="0">
                <a:solidFill>
                  <a:schemeClr val="accent1">
                    <a:lumMod val="50000"/>
                  </a:schemeClr>
                </a:solidFill>
                <a:ea typeface="Times New Roman" panose="02020603050405020304" pitchFamily="18" charset="0"/>
              </a:rPr>
              <a:t>, Contracting Officer, AFDW/PKH </a:t>
            </a: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ffectLst/>
                <a:ea typeface="Times New Roman" panose="02020603050405020304" pitchFamily="18" charset="0"/>
              </a:rPr>
              <a:t>Mr. John P. </a:t>
            </a:r>
            <a:r>
              <a:rPr lang="en-US" sz="1600" dirty="0" err="1">
                <a:solidFill>
                  <a:schemeClr val="accent1">
                    <a:lumMod val="50000"/>
                  </a:schemeClr>
                </a:solidFill>
                <a:effectLst/>
                <a:ea typeface="Times New Roman" panose="02020603050405020304" pitchFamily="18" charset="0"/>
              </a:rPr>
              <a:t>Visina</a:t>
            </a:r>
            <a:r>
              <a:rPr lang="en-US" sz="1600" dirty="0">
                <a:solidFill>
                  <a:schemeClr val="accent1">
                    <a:lumMod val="50000"/>
                  </a:schemeClr>
                </a:solidFill>
                <a:effectLst/>
                <a:ea typeface="Times New Roman" panose="02020603050405020304" pitchFamily="18" charset="0"/>
              </a:rPr>
              <a:t>, Resource/Program Advisor, A3 A3DR</a:t>
            </a: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7BB9E177-2C4D-1478-4185-26C4333810B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23957558-63E4-893B-BEF2-3DEB4E67B75A}"/>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46D3D21-B35B-4E1E-08D1-E3370A523615}"/>
              </a:ext>
            </a:extLst>
          </p:cNvPr>
          <p:cNvSpPr txBox="1"/>
          <p:nvPr/>
        </p:nvSpPr>
        <p:spPr>
          <a:xfrm>
            <a:off x="2493818" y="854032"/>
            <a:ext cx="9194634" cy="523220"/>
          </a:xfrm>
          <a:prstGeom prst="rect">
            <a:avLst/>
          </a:prstGeom>
          <a:solidFill>
            <a:schemeClr val="bg1"/>
          </a:solidFill>
        </p:spPr>
        <p:txBody>
          <a:bodyPr wrap="square" rtlCol="0">
            <a:spAutoFit/>
          </a:bodyPr>
          <a:lstStyle/>
          <a:p>
            <a:pPr algn="r"/>
            <a:r>
              <a:rPr lang="en-US" sz="2800" b="1" i="1"/>
              <a:t>A3CO Information Operations Support</a:t>
            </a:r>
            <a:endParaRPr lang="en-US" sz="2400" b="1" i="1"/>
          </a:p>
        </p:txBody>
      </p:sp>
      <p:sp>
        <p:nvSpPr>
          <p:cNvPr id="10" name="Slide Number Placeholder 9">
            <a:extLst>
              <a:ext uri="{FF2B5EF4-FFF2-40B4-BE49-F238E27FC236}">
                <a16:creationId xmlns:a16="http://schemas.microsoft.com/office/drawing/2014/main" id="{B8531047-F454-2784-9DCD-BD67F88FDEAD}"/>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34</a:t>
            </a:fld>
            <a:endParaRPr lang="en-US" sz="1600" b="1">
              <a:solidFill>
                <a:schemeClr val="accent5">
                  <a:lumMod val="75000"/>
                </a:schemeClr>
              </a:solidFill>
            </a:endParaRPr>
          </a:p>
        </p:txBody>
      </p:sp>
    </p:spTree>
    <p:extLst>
      <p:ext uri="{BB962C8B-B14F-4D97-AF65-F5344CB8AC3E}">
        <p14:creationId xmlns:p14="http://schemas.microsoft.com/office/powerpoint/2010/main" val="953298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E5C5C-1773-422D-B7EB-6D05B416163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B6FB27-A8E3-FBB4-D4C7-C21573379404}"/>
              </a:ext>
            </a:extLst>
          </p:cNvPr>
          <p:cNvSpPr>
            <a:spLocks noGrp="1"/>
          </p:cNvSpPr>
          <p:nvPr>
            <p:ph idx="1"/>
          </p:nvPr>
        </p:nvSpPr>
        <p:spPr>
          <a:xfrm>
            <a:off x="582930" y="1628111"/>
            <a:ext cx="11018520" cy="4508434"/>
          </a:xfrm>
        </p:spPr>
        <p:txBody>
          <a:bodyPr vert="horz" lIns="91440" tIns="45720" rIns="91440" bIns="45720" rtlCol="0" anchor="t">
            <a:normAutofit lnSpcReduction="10000"/>
          </a:bodyPr>
          <a:lstStyle/>
          <a:p>
            <a:pPr marL="0" indent="0">
              <a:buNone/>
            </a:pPr>
            <a:r>
              <a:rPr lang="en-US" sz="1600" b="1" dirty="0">
                <a:solidFill>
                  <a:schemeClr val="accent1">
                    <a:lumMod val="50000"/>
                  </a:schemeClr>
                </a:solidFill>
              </a:rPr>
              <a:t>Mission Owner (A5, A1, SAF/IE, etc.):  </a:t>
            </a:r>
            <a:r>
              <a:rPr lang="en-US" sz="1600" dirty="0">
                <a:solidFill>
                  <a:schemeClr val="accent1">
                    <a:lumMod val="50000"/>
                  </a:schemeClr>
                </a:solidFill>
              </a:rPr>
              <a:t>A3</a:t>
            </a:r>
          </a:p>
          <a:p>
            <a:pPr marL="0" indent="0">
              <a:buNone/>
            </a:pPr>
            <a:r>
              <a:rPr lang="en-US" sz="1600" b="1" dirty="0">
                <a:solidFill>
                  <a:schemeClr val="accent1">
                    <a:lumMod val="50000"/>
                  </a:schemeClr>
                </a:solidFill>
              </a:rPr>
              <a:t>Description (2-3 lines):  </a:t>
            </a:r>
            <a:r>
              <a:rPr lang="en-US" sz="1600" dirty="0">
                <a:solidFill>
                  <a:schemeClr val="accent1">
                    <a:lumMod val="50000"/>
                  </a:schemeClr>
                </a:solidFill>
              </a:rPr>
              <a:t>A3 Salesforce Customer Relationship Management (CRM) Software (SW) and Software as a Service (SaaS) Renewals for FY26</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FY26 – Quarter 2</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28 February 2026 – 27 February 2027</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(provide previous contract number) or New Start:  </a:t>
            </a:r>
            <a:r>
              <a:rPr lang="en-US" sz="1600" dirty="0">
                <a:solidFill>
                  <a:schemeClr val="accent1">
                    <a:lumMod val="50000"/>
                  </a:schemeClr>
                </a:solidFill>
              </a:rPr>
              <a:t>Follow-On, Previous Contract Number FA7014-25-F-0082</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Mid-October 2025 (FY26 – Quarter 1)</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Fair Opportunity Exception (FOE) for Brand Name/Limited Sources Who are Authorized Govt SW Re-Sellers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(HTRO, Past Performance Tradeoff, etc.):  </a:t>
            </a:r>
            <a:r>
              <a:rPr lang="en-US" sz="1600" dirty="0">
                <a:solidFill>
                  <a:schemeClr val="accent1">
                    <a:lumMod val="50000"/>
                  </a:schemeClr>
                </a:solidFill>
              </a:rPr>
              <a:t>LPTA</a:t>
            </a:r>
          </a:p>
          <a:p>
            <a:pPr marL="0" indent="0">
              <a:buNone/>
            </a:pPr>
            <a:r>
              <a:rPr lang="en-US" sz="1600" b="1" dirty="0">
                <a:solidFill>
                  <a:schemeClr val="accent1">
                    <a:lumMod val="50000"/>
                  </a:schemeClr>
                </a:solidFill>
              </a:rPr>
              <a:t>Contract Vehicle Being Used (NASA SEWP, MAS, OASIS+, etc.), if applicable:  </a:t>
            </a:r>
            <a:r>
              <a:rPr lang="en-US" sz="1600" dirty="0">
                <a:solidFill>
                  <a:schemeClr val="accent1">
                    <a:lumMod val="50000"/>
                  </a:schemeClr>
                </a:solidFill>
              </a:rPr>
              <a:t>To Be Determined/NASA SEWP VI GWAC IDIQs/AF 2GIT BPAs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541519</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Mark R. </a:t>
            </a:r>
            <a:r>
              <a:rPr lang="en-US" sz="1600" dirty="0" err="1">
                <a:solidFill>
                  <a:schemeClr val="accent1">
                    <a:lumMod val="50000"/>
                  </a:schemeClr>
                </a:solidFill>
                <a:ea typeface="Times New Roman" panose="02020603050405020304" pitchFamily="18" charset="0"/>
              </a:rPr>
              <a:t>Luckritz</a:t>
            </a:r>
            <a:r>
              <a:rPr lang="en-US" sz="1600" dirty="0">
                <a:solidFill>
                  <a:schemeClr val="accent1">
                    <a:lumMod val="50000"/>
                  </a:schemeClr>
                </a:solidFill>
                <a:ea typeface="Times New Roman" panose="02020603050405020304" pitchFamily="18" charset="0"/>
              </a:rPr>
              <a:t>, Contracting Officer, AFDW/PKH</a:t>
            </a: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ffectLst/>
                <a:ea typeface="Times New Roman" panose="02020603050405020304" pitchFamily="18" charset="0"/>
              </a:rPr>
              <a:t>Mr. John P. </a:t>
            </a:r>
            <a:r>
              <a:rPr lang="en-US" sz="1600" dirty="0" err="1">
                <a:solidFill>
                  <a:schemeClr val="accent1">
                    <a:lumMod val="50000"/>
                  </a:schemeClr>
                </a:solidFill>
                <a:effectLst/>
                <a:ea typeface="Times New Roman" panose="02020603050405020304" pitchFamily="18" charset="0"/>
              </a:rPr>
              <a:t>Visina</a:t>
            </a:r>
            <a:r>
              <a:rPr lang="en-US" sz="1600" dirty="0">
                <a:solidFill>
                  <a:schemeClr val="accent1">
                    <a:lumMod val="50000"/>
                  </a:schemeClr>
                </a:solidFill>
                <a:effectLst/>
                <a:ea typeface="Times New Roman" panose="02020603050405020304" pitchFamily="18" charset="0"/>
              </a:rPr>
              <a:t>, Resource/Program Advisor, A3 A3DR</a:t>
            </a: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0D37AFB1-359C-62CA-B7B0-79F76FC1F43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6B4BD22B-6211-58EC-0271-CEFEDE84422C}"/>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5D7610A-6C11-713B-E42D-5265CDEC40EF}"/>
              </a:ext>
            </a:extLst>
          </p:cNvPr>
          <p:cNvSpPr txBox="1"/>
          <p:nvPr/>
        </p:nvSpPr>
        <p:spPr>
          <a:xfrm>
            <a:off x="5955030" y="854032"/>
            <a:ext cx="5733422" cy="523220"/>
          </a:xfrm>
          <a:prstGeom prst="rect">
            <a:avLst/>
          </a:prstGeom>
          <a:noFill/>
        </p:spPr>
        <p:txBody>
          <a:bodyPr wrap="square" rtlCol="0">
            <a:spAutoFit/>
          </a:bodyPr>
          <a:lstStyle/>
          <a:p>
            <a:pPr algn="r"/>
            <a:r>
              <a:rPr lang="en-US" sz="2800" b="1" i="1"/>
              <a:t>A3 FY26 Salesforce CRM Software</a:t>
            </a:r>
            <a:endParaRPr lang="en-US" sz="2400" b="1" i="1"/>
          </a:p>
        </p:txBody>
      </p:sp>
      <p:sp>
        <p:nvSpPr>
          <p:cNvPr id="10" name="Slide Number Placeholder 9">
            <a:extLst>
              <a:ext uri="{FF2B5EF4-FFF2-40B4-BE49-F238E27FC236}">
                <a16:creationId xmlns:a16="http://schemas.microsoft.com/office/drawing/2014/main" id="{E5FB7242-C767-60F2-1694-1B8684CF9EFF}"/>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35</a:t>
            </a:fld>
            <a:endParaRPr lang="en-US" sz="1600" b="1">
              <a:solidFill>
                <a:schemeClr val="accent5">
                  <a:lumMod val="75000"/>
                </a:schemeClr>
              </a:solidFill>
            </a:endParaRPr>
          </a:p>
        </p:txBody>
      </p:sp>
    </p:spTree>
    <p:extLst>
      <p:ext uri="{BB962C8B-B14F-4D97-AF65-F5344CB8AC3E}">
        <p14:creationId xmlns:p14="http://schemas.microsoft.com/office/powerpoint/2010/main" val="30805544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287F6-C714-F3A1-A46A-95F79C13A1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FECE89-AA14-B15B-FCDB-E315BCDA2895}"/>
              </a:ext>
            </a:extLst>
          </p:cNvPr>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a:extLst>
              <a:ext uri="{FF2B5EF4-FFF2-40B4-BE49-F238E27FC236}">
                <a16:creationId xmlns:a16="http://schemas.microsoft.com/office/drawing/2014/main" id="{DB84A3C9-9BEB-2EAA-E634-33A3A7F3FF76}"/>
              </a:ext>
            </a:extLst>
          </p:cNvPr>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a:extLst>
              <a:ext uri="{FF2B5EF4-FFF2-40B4-BE49-F238E27FC236}">
                <a16:creationId xmlns:a16="http://schemas.microsoft.com/office/drawing/2014/main" id="{A6F7BF11-5EE9-1FB7-A764-A773C4B541E6}"/>
              </a:ext>
            </a:extLst>
          </p:cNvPr>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13" descr="afsymbol">
            <a:extLst>
              <a:ext uri="{FF2B5EF4-FFF2-40B4-BE49-F238E27FC236}">
                <a16:creationId xmlns:a16="http://schemas.microsoft.com/office/drawing/2014/main" id="{BC555C78-A46B-EA9B-438A-847A2F39074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7426" y="4194810"/>
            <a:ext cx="255425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7F815849-AF13-BD07-588E-43E8E5661B50}"/>
              </a:ext>
            </a:extLst>
          </p:cNvPr>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3C51B38D-6B3F-3CE9-657D-A42733BABB2F}"/>
              </a:ext>
            </a:extLst>
          </p:cNvPr>
          <p:cNvSpPr txBox="1"/>
          <p:nvPr/>
        </p:nvSpPr>
        <p:spPr>
          <a:xfrm>
            <a:off x="2418346" y="2064258"/>
            <a:ext cx="7291137" cy="646331"/>
          </a:xfrm>
          <a:prstGeom prst="rect">
            <a:avLst/>
          </a:prstGeom>
          <a:noFill/>
        </p:spPr>
        <p:txBody>
          <a:bodyPr wrap="square" rtlCol="0">
            <a:spAutoFit/>
          </a:bodyPr>
          <a:lstStyle/>
          <a:p>
            <a:pPr algn="ctr"/>
            <a:r>
              <a:rPr lang="en-US" sz="3600" b="1" dirty="0">
                <a:solidFill>
                  <a:schemeClr val="accent5">
                    <a:lumMod val="75000"/>
                  </a:schemeClr>
                </a:solidFill>
              </a:rPr>
              <a:t>A10</a:t>
            </a:r>
          </a:p>
        </p:txBody>
      </p:sp>
    </p:spTree>
    <p:extLst>
      <p:ext uri="{BB962C8B-B14F-4D97-AF65-F5344CB8AC3E}">
        <p14:creationId xmlns:p14="http://schemas.microsoft.com/office/powerpoint/2010/main" val="19106277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2930" y="1614772"/>
            <a:ext cx="11098530" cy="4790585"/>
          </a:xfrm>
        </p:spPr>
        <p:txBody>
          <a:bodyPr vert="horz" lIns="91440" tIns="45720" rIns="91440" bIns="45720" rtlCol="0" anchor="t">
            <a:normAutofit/>
          </a:bodyPr>
          <a:lstStyle/>
          <a:p>
            <a:pPr marL="0" indent="0">
              <a:buNone/>
            </a:pPr>
            <a:r>
              <a:rPr lang="en-US" sz="1600" b="1" dirty="0">
                <a:solidFill>
                  <a:schemeClr val="accent1">
                    <a:lumMod val="50000"/>
                  </a:schemeClr>
                </a:solidFill>
                <a:ea typeface="Cambria"/>
              </a:rPr>
              <a:t>Mission Owner:  </a:t>
            </a:r>
            <a:r>
              <a:rPr lang="en-US" sz="1600" dirty="0">
                <a:solidFill>
                  <a:schemeClr val="accent1">
                    <a:lumMod val="50000"/>
                  </a:schemeClr>
                </a:solidFill>
                <a:ea typeface="Cambria"/>
              </a:rPr>
              <a:t>AF/A10</a:t>
            </a:r>
            <a:r>
              <a:rPr lang="en-US" sz="1600" b="1" dirty="0">
                <a:solidFill>
                  <a:schemeClr val="accent1">
                    <a:lumMod val="50000"/>
                  </a:schemeClr>
                </a:solidFill>
                <a:ea typeface="Cambria"/>
              </a:rPr>
              <a:t>						</a:t>
            </a:r>
          </a:p>
          <a:p>
            <a:pPr marL="0" indent="0">
              <a:buNone/>
            </a:pPr>
            <a:r>
              <a:rPr lang="en-US" sz="1600" b="1" dirty="0">
                <a:solidFill>
                  <a:schemeClr val="accent1">
                    <a:lumMod val="50000"/>
                  </a:schemeClr>
                </a:solidFill>
                <a:ea typeface="Cambria"/>
              </a:rPr>
              <a:t>SCOPE:</a:t>
            </a:r>
            <a:r>
              <a:rPr lang="en-US" sz="1600" dirty="0">
                <a:solidFill>
                  <a:schemeClr val="accent1">
                    <a:lumMod val="50000"/>
                  </a:schemeClr>
                </a:solidFill>
                <a:ea typeface="Cambria"/>
              </a:rPr>
              <a:t>  </a:t>
            </a:r>
            <a:r>
              <a:rPr lang="en-US" sz="1600" b="0" i="0" u="none" strike="noStrike" baseline="0" dirty="0">
                <a:solidFill>
                  <a:schemeClr val="accent1">
                    <a:lumMod val="50000"/>
                  </a:schemeClr>
                </a:solidFill>
                <a:ea typeface="Cambria"/>
              </a:rPr>
              <a:t>Headquarters United States Air Force (AF/A10) provides Strategic Deterrence and Nuclear Integration. The purpose of this effort is to provide technical, analytical, operational, programmatic, and planning subject matter expertise support for AF/A10, and its component divisions. Supports AF national security strategic plans and policies, concepts, and initiatives. </a:t>
            </a:r>
          </a:p>
          <a:p>
            <a:pPr marL="0" indent="0" algn="l">
              <a:lnSpc>
                <a:spcPct val="100000"/>
              </a:lnSpc>
              <a:spcBef>
                <a:spcPts val="0"/>
              </a:spcBef>
              <a:buNone/>
            </a:pPr>
            <a:r>
              <a:rPr lang="en-US" sz="1600" b="0" i="0" u="none" strike="noStrike" baseline="0" dirty="0">
                <a:solidFill>
                  <a:schemeClr val="accent1">
                    <a:lumMod val="50000"/>
                  </a:schemeClr>
                </a:solidFill>
                <a:ea typeface="Cambria"/>
              </a:rPr>
              <a:t>Tasks include: International Treaties and Agreements, the Foreign Clearance Program (FCP), Countering Weapons of Mass Destruction (CWMD), Nuclear Stockpile Management, Nuclear Enterprise Group Management, Missile Defense, Nuclear Deterrence Research and Education, Strategic Policy, Ancillary Information Technology Support and Program Management.</a:t>
            </a:r>
            <a:r>
              <a:rPr lang="en-US" sz="1600" dirty="0">
                <a:solidFill>
                  <a:schemeClr val="accent1">
                    <a:lumMod val="50000"/>
                  </a:schemeClr>
                </a:solidFill>
                <a:ea typeface="Cambria"/>
              </a:rPr>
              <a:t>					</a:t>
            </a:r>
          </a:p>
        </p:txBody>
      </p:sp>
      <p:pic>
        <p:nvPicPr>
          <p:cNvPr id="4" name="Picture 13" descr="afsymbo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429581" y="385291"/>
            <a:ext cx="8211874" cy="830997"/>
          </a:xfrm>
          <a:prstGeom prst="rect">
            <a:avLst/>
          </a:prstGeom>
          <a:noFill/>
        </p:spPr>
        <p:txBody>
          <a:bodyPr wrap="square" lIns="91440" tIns="45720" rIns="91440" bIns="45720" rtlCol="0" anchor="t">
            <a:spAutoFit/>
          </a:bodyPr>
          <a:lstStyle/>
          <a:p>
            <a:pPr marL="0" marR="0" algn="r">
              <a:spcBef>
                <a:spcPts val="0"/>
              </a:spcBef>
              <a:spcAft>
                <a:spcPts val="0"/>
              </a:spcAft>
              <a:tabLst>
                <a:tab pos="571500" algn="l"/>
              </a:tabLst>
            </a:pPr>
            <a:r>
              <a:rPr lang="en-US" sz="2400" b="1">
                <a:effectLst/>
                <a:latin typeface="Cambria"/>
                <a:ea typeface="Cambria"/>
              </a:rPr>
              <a:t>AF/A10 </a:t>
            </a:r>
            <a:r>
              <a:rPr lang="en-US" sz="2400" b="1" i="0" u="none" strike="noStrike" baseline="0">
                <a:latin typeface="Cambria"/>
                <a:ea typeface="Cambria"/>
              </a:rPr>
              <a:t>Strategic Plans and Policy Support Services</a:t>
            </a:r>
            <a:endParaRPr lang="en-US" sz="2400">
              <a:effectLst/>
              <a:latin typeface="Cambria"/>
              <a:ea typeface="Cambria"/>
            </a:endParaRPr>
          </a:p>
          <a:p>
            <a:pPr algn="r"/>
            <a:r>
              <a:rPr lang="en-US" sz="2400" b="1" i="1">
                <a:latin typeface="Cambria"/>
                <a:ea typeface="Cambria"/>
              </a:rPr>
              <a:t>FY26</a:t>
            </a:r>
          </a:p>
        </p:txBody>
      </p:sp>
      <p:sp>
        <p:nvSpPr>
          <p:cNvPr id="10" name="Slide Number Placeholder 9"/>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37</a:t>
            </a:fld>
            <a:endParaRPr lang="en-US" sz="1600" b="1">
              <a:solidFill>
                <a:schemeClr val="accent5">
                  <a:lumMod val="75000"/>
                </a:schemeClr>
              </a:solidFill>
            </a:endParaRPr>
          </a:p>
        </p:txBody>
      </p:sp>
      <p:cxnSp>
        <p:nvCxnSpPr>
          <p:cNvPr id="22" name="Straight Connector 21"/>
          <p:cNvCxnSpPr/>
          <p:nvPr/>
        </p:nvCxnSpPr>
        <p:spPr>
          <a:xfrm>
            <a:off x="622935" y="4031008"/>
            <a:ext cx="1101852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491490" y="4109265"/>
            <a:ext cx="11018520" cy="1954381"/>
          </a:xfrm>
          <a:prstGeom prst="rect">
            <a:avLst/>
          </a:prstGeom>
          <a:noFill/>
        </p:spPr>
        <p:txBody>
          <a:bodyPr wrap="square" rtlCol="0">
            <a:spAutoFit/>
          </a:bodyPr>
          <a:lstStyle/>
          <a:p>
            <a:pPr marL="0" marR="0">
              <a:spcBef>
                <a:spcPts val="600"/>
              </a:spcBef>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Need Date: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June 2026 </a:t>
            </a: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			Period of Performance: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June 2026 – June 2031</a:t>
            </a:r>
          </a:p>
          <a:p>
            <a:pPr marL="0" marR="0">
              <a:spcBef>
                <a:spcPts val="600"/>
              </a:spcBef>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Recompete: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FA7014-21-F-0108 </a:t>
            </a: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		Anticipated RFP/RFQ Release Date/Timeframe: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March 2026</a:t>
            </a:r>
          </a:p>
          <a:p>
            <a:pPr marL="0" marR="0">
              <a:spcBef>
                <a:spcPts val="600"/>
              </a:spcBef>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Acquisition Strategy (Full &amp; Open, Small Business Set Aside, etc.):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TBD</a:t>
            </a:r>
          </a:p>
          <a:p>
            <a:pPr marL="0" marR="0">
              <a:spcBef>
                <a:spcPts val="600"/>
              </a:spcBef>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Preliminary Evaluation Criteria (HTRO, Past Performance Tradeoff, etc.):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TBD</a:t>
            </a:r>
            <a:endPar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endParaRPr>
          </a:p>
          <a:p>
            <a:pPr fontAlgn="base">
              <a:spcBef>
                <a:spcPts val="600"/>
              </a:spcBef>
              <a:buSzPct val="110000"/>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Interested Contract Vehicle: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OASIS+/GSA MAS</a:t>
            </a:r>
          </a:p>
          <a:p>
            <a:pPr fontAlgn="base">
              <a:spcBef>
                <a:spcPts val="600"/>
              </a:spcBef>
              <a:spcAft>
                <a:spcPct val="0"/>
              </a:spcAft>
              <a:buSzPct val="110000"/>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CO &amp; Contact Information: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Margaret S</a:t>
            </a:r>
            <a:r>
              <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rPr>
              <a:t>antos,</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 T</a:t>
            </a:r>
            <a:r>
              <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rPr>
              <a:t>i</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mothy </a:t>
            </a:r>
            <a:r>
              <a:rPr lang="en-US" sz="1600" kern="100" dirty="0" err="1">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Prymak</a:t>
            </a:r>
            <a:endParaRPr lang="en-US" sz="1600"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26" name="TextBox 25"/>
          <p:cNvSpPr txBox="1"/>
          <p:nvPr/>
        </p:nvSpPr>
        <p:spPr>
          <a:xfrm>
            <a:off x="582930" y="3429000"/>
            <a:ext cx="10927080" cy="338554"/>
          </a:xfrm>
          <a:prstGeom prst="rect">
            <a:avLst/>
          </a:prstGeom>
          <a:noFill/>
        </p:spPr>
        <p:txBody>
          <a:bodyPr wrap="square" rtlCol="0">
            <a:spAutoFit/>
          </a:bodyPr>
          <a:lstStyle/>
          <a:p>
            <a:r>
              <a:rPr lang="en-US" sz="1600" b="1" dirty="0">
                <a:solidFill>
                  <a:schemeClr val="accent5">
                    <a:lumMod val="75000"/>
                  </a:schemeClr>
                </a:solidFill>
              </a:rPr>
              <a:t>NAICS/PSC: </a:t>
            </a:r>
            <a:r>
              <a:rPr lang="en-US" sz="1600" dirty="0">
                <a:solidFill>
                  <a:schemeClr val="accent5">
                    <a:lumMod val="75000"/>
                  </a:schemeClr>
                </a:solidFill>
              </a:rPr>
              <a:t>541330/ R499</a:t>
            </a:r>
            <a:r>
              <a:rPr lang="en-US" sz="1600" b="1" dirty="0">
                <a:solidFill>
                  <a:schemeClr val="accent5">
                    <a:lumMod val="75000"/>
                  </a:schemeClr>
                </a:solidFill>
              </a:rPr>
              <a:t>				                               </a:t>
            </a:r>
            <a:r>
              <a:rPr lang="en-US" sz="1600" dirty="0">
                <a:solidFill>
                  <a:schemeClr val="accent5">
                    <a:lumMod val="75000"/>
                  </a:schemeClr>
                </a:solidFill>
              </a:rPr>
              <a:t>	                     </a:t>
            </a:r>
            <a:r>
              <a:rPr lang="en-US" sz="1600" b="1" dirty="0">
                <a:solidFill>
                  <a:schemeClr val="accent5">
                    <a:lumMod val="75000"/>
                  </a:schemeClr>
                </a:solidFill>
              </a:rPr>
              <a:t>Estimated FTEs/yr</a:t>
            </a:r>
            <a:r>
              <a:rPr lang="en-US" sz="1600" dirty="0">
                <a:solidFill>
                  <a:schemeClr val="accent5">
                    <a:lumMod val="75000"/>
                  </a:schemeClr>
                </a:solidFill>
              </a:rPr>
              <a:t>.:  80+</a:t>
            </a:r>
          </a:p>
        </p:txBody>
      </p:sp>
    </p:spTree>
    <p:extLst>
      <p:ext uri="{BB962C8B-B14F-4D97-AF65-F5344CB8AC3E}">
        <p14:creationId xmlns:p14="http://schemas.microsoft.com/office/powerpoint/2010/main" val="27575392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23181-06FF-5A2B-C34A-55B0F0680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F920D-DABB-2C90-93FA-B9C9E746DD9F}"/>
              </a:ext>
            </a:extLst>
          </p:cNvPr>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a:extLst>
              <a:ext uri="{FF2B5EF4-FFF2-40B4-BE49-F238E27FC236}">
                <a16:creationId xmlns:a16="http://schemas.microsoft.com/office/drawing/2014/main" id="{899CE5B3-8B57-E7C7-4E55-81E83E37B3F8}"/>
              </a:ext>
            </a:extLst>
          </p:cNvPr>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a:extLst>
              <a:ext uri="{FF2B5EF4-FFF2-40B4-BE49-F238E27FC236}">
                <a16:creationId xmlns:a16="http://schemas.microsoft.com/office/drawing/2014/main" id="{3D654ABB-8633-C6C2-FEEF-5F5F0211E213}"/>
              </a:ext>
            </a:extLst>
          </p:cNvPr>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13" descr="afsymbol">
            <a:extLst>
              <a:ext uri="{FF2B5EF4-FFF2-40B4-BE49-F238E27FC236}">
                <a16:creationId xmlns:a16="http://schemas.microsoft.com/office/drawing/2014/main" id="{B8261000-DB08-EA71-ED1F-DFC1D73B84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7426" y="4194810"/>
            <a:ext cx="255425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39BB0770-AAE4-2980-A7B7-64E9799CA661}"/>
              </a:ext>
            </a:extLst>
          </p:cNvPr>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98116024-10EA-F27F-5B0F-FDD03B7345A7}"/>
              </a:ext>
            </a:extLst>
          </p:cNvPr>
          <p:cNvSpPr txBox="1"/>
          <p:nvPr/>
        </p:nvSpPr>
        <p:spPr>
          <a:xfrm>
            <a:off x="2418346" y="2064258"/>
            <a:ext cx="7291137" cy="646331"/>
          </a:xfrm>
          <a:prstGeom prst="rect">
            <a:avLst/>
          </a:prstGeom>
          <a:noFill/>
        </p:spPr>
        <p:txBody>
          <a:bodyPr wrap="square" rtlCol="0">
            <a:spAutoFit/>
          </a:bodyPr>
          <a:lstStyle/>
          <a:p>
            <a:pPr algn="ctr"/>
            <a:r>
              <a:rPr lang="en-US" sz="3600" b="1" dirty="0">
                <a:solidFill>
                  <a:schemeClr val="accent5">
                    <a:lumMod val="75000"/>
                  </a:schemeClr>
                </a:solidFill>
              </a:rPr>
              <a:t>A4</a:t>
            </a:r>
          </a:p>
        </p:txBody>
      </p:sp>
    </p:spTree>
    <p:extLst>
      <p:ext uri="{BB962C8B-B14F-4D97-AF65-F5344CB8AC3E}">
        <p14:creationId xmlns:p14="http://schemas.microsoft.com/office/powerpoint/2010/main" val="37055503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A5534-4580-90E8-3CBF-B8F2AEEF126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3D0F25-07D5-96AA-1143-D076B13A914E}"/>
              </a:ext>
            </a:extLst>
          </p:cNvPr>
          <p:cNvSpPr>
            <a:spLocks noGrp="1"/>
          </p:cNvSpPr>
          <p:nvPr>
            <p:ph idx="1"/>
          </p:nvPr>
        </p:nvSpPr>
        <p:spPr>
          <a:xfrm>
            <a:off x="502920" y="1661652"/>
            <a:ext cx="11098530" cy="4790585"/>
          </a:xfrm>
        </p:spPr>
        <p:txBody>
          <a:bodyPr vert="horz" lIns="91440" tIns="45720" rIns="91440" bIns="45720" rtlCol="0" anchor="t">
            <a:normAutofit/>
          </a:bodyPr>
          <a:lstStyle/>
          <a:p>
            <a:pPr marL="0" indent="0">
              <a:buNone/>
            </a:pPr>
            <a:r>
              <a:rPr lang="en-US" sz="1600" b="1" dirty="0">
                <a:solidFill>
                  <a:schemeClr val="accent1">
                    <a:lumMod val="50000"/>
                  </a:schemeClr>
                </a:solidFill>
                <a:ea typeface="Cambria"/>
              </a:rPr>
              <a:t>Mission Owner:  </a:t>
            </a:r>
            <a:r>
              <a:rPr lang="en-US" sz="1600" dirty="0">
                <a:solidFill>
                  <a:schemeClr val="accent1">
                    <a:lumMod val="50000"/>
                  </a:schemeClr>
                </a:solidFill>
                <a:ea typeface="Cambria"/>
              </a:rPr>
              <a:t>AF/A4</a:t>
            </a:r>
            <a:r>
              <a:rPr lang="en-US" sz="1600" b="1" dirty="0">
                <a:solidFill>
                  <a:schemeClr val="accent1">
                    <a:lumMod val="50000"/>
                  </a:schemeClr>
                </a:solidFill>
                <a:ea typeface="Cambria"/>
              </a:rPr>
              <a:t>						</a:t>
            </a:r>
          </a:p>
          <a:p>
            <a:pPr marL="0" indent="0">
              <a:buNone/>
            </a:pPr>
            <a:r>
              <a:rPr lang="en-US" sz="1600" b="1" dirty="0">
                <a:solidFill>
                  <a:schemeClr val="accent1">
                    <a:lumMod val="50000"/>
                  </a:schemeClr>
                </a:solidFill>
                <a:ea typeface="Cambria"/>
              </a:rPr>
              <a:t>SCOPE:</a:t>
            </a:r>
            <a:r>
              <a:rPr lang="en-US" sz="1600" dirty="0">
                <a:solidFill>
                  <a:schemeClr val="accent1">
                    <a:lumMod val="50000"/>
                  </a:schemeClr>
                </a:solidFill>
                <a:ea typeface="Cambria"/>
              </a:rPr>
              <a:t> </a:t>
            </a:r>
            <a:r>
              <a:rPr lang="en-US" sz="1600" dirty="0">
                <a:solidFill>
                  <a:schemeClr val="accent1">
                    <a:lumMod val="50000"/>
                  </a:schemeClr>
                </a:solidFill>
                <a:effectLst/>
                <a:ea typeface="Cambria"/>
              </a:rPr>
              <a:t>Air Force Director of Force Protection, HAF/A4S, develops Security Forces (SF) policy and has oversight for protecting USAF resources from terrorism, criminal acts, sabotage, acts of war and ensuring SF are trained, equipped and ready to support contingency and exercise plans.  </a:t>
            </a:r>
          </a:p>
          <a:p>
            <a:pPr marL="0" indent="0">
              <a:buNone/>
            </a:pPr>
            <a:r>
              <a:rPr lang="en-US" sz="1600" dirty="0">
                <a:solidFill>
                  <a:schemeClr val="accent1">
                    <a:lumMod val="50000"/>
                  </a:schemeClr>
                </a:solidFill>
                <a:effectLst/>
                <a:ea typeface="Cambria"/>
              </a:rPr>
              <a:t>The contractor shall maintain and support the existing </a:t>
            </a:r>
            <a:r>
              <a:rPr lang="en-US" sz="1600" dirty="0" err="1">
                <a:solidFill>
                  <a:schemeClr val="accent1">
                    <a:lumMod val="50000"/>
                  </a:schemeClr>
                </a:solidFill>
                <a:effectLst/>
                <a:ea typeface="Cambria"/>
              </a:rPr>
              <a:t>Entellitrak</a:t>
            </a:r>
            <a:r>
              <a:rPr lang="en-US" sz="1600" dirty="0">
                <a:solidFill>
                  <a:schemeClr val="accent1">
                    <a:lumMod val="50000"/>
                  </a:schemeClr>
                </a:solidFill>
                <a:effectLst/>
                <a:ea typeface="Cambria"/>
              </a:rPr>
              <a:t>-based Air Force Justice Information System (AFJIS) with corrective and adaptive maintenance, enterprise license support, maintain the existing training site that mirrors the production and pre-production sites to ensure continued user hands-on training, and assist with all phases of project management and provide support of the AFJIS data migration to a joint Case Management System (CMS) currently being developed between SF and USAF Office of Special Investigations (OSI).</a:t>
            </a:r>
          </a:p>
          <a:p>
            <a:pPr marL="0" marR="0" indent="0">
              <a:buNone/>
            </a:pPr>
            <a:r>
              <a:rPr lang="en-US" sz="1600" dirty="0">
                <a:solidFill>
                  <a:schemeClr val="accent1">
                    <a:lumMod val="50000"/>
                  </a:schemeClr>
                </a:solidFill>
                <a:ea typeface="Cambria"/>
              </a:rPr>
              <a:t>					</a:t>
            </a:r>
          </a:p>
        </p:txBody>
      </p:sp>
      <p:pic>
        <p:nvPicPr>
          <p:cNvPr id="4" name="Picture 13" descr="afsymbol">
            <a:extLst>
              <a:ext uri="{FF2B5EF4-FFF2-40B4-BE49-F238E27FC236}">
                <a16:creationId xmlns:a16="http://schemas.microsoft.com/office/drawing/2014/main" id="{1297CA24-E6D0-CC08-59E9-6917C483918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066FE993-D4F1-3048-BC11-1A5569639C8A}"/>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AE8FFADC-99D6-1F40-0294-30C5F5593F1F}"/>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39</a:t>
            </a:fld>
            <a:endParaRPr lang="en-US" sz="1600" b="1">
              <a:solidFill>
                <a:schemeClr val="accent5">
                  <a:lumMod val="75000"/>
                </a:schemeClr>
              </a:solidFill>
            </a:endParaRPr>
          </a:p>
        </p:txBody>
      </p:sp>
      <p:cxnSp>
        <p:nvCxnSpPr>
          <p:cNvPr id="22" name="Straight Connector 21">
            <a:extLst>
              <a:ext uri="{FF2B5EF4-FFF2-40B4-BE49-F238E27FC236}">
                <a16:creationId xmlns:a16="http://schemas.microsoft.com/office/drawing/2014/main" id="{AAFC5F23-0E81-1D39-DD16-F0E3152B9AB3}"/>
              </a:ext>
            </a:extLst>
          </p:cNvPr>
          <p:cNvCxnSpPr/>
          <p:nvPr/>
        </p:nvCxnSpPr>
        <p:spPr>
          <a:xfrm>
            <a:off x="622935" y="4277044"/>
            <a:ext cx="1101852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B970574-2990-1380-0735-9318ABC1E19E}"/>
              </a:ext>
            </a:extLst>
          </p:cNvPr>
          <p:cNvSpPr txBox="1"/>
          <p:nvPr/>
        </p:nvSpPr>
        <p:spPr>
          <a:xfrm>
            <a:off x="582930" y="4303686"/>
            <a:ext cx="11018520" cy="1954381"/>
          </a:xfrm>
          <a:prstGeom prst="rect">
            <a:avLst/>
          </a:prstGeom>
          <a:noFill/>
        </p:spPr>
        <p:txBody>
          <a:bodyPr wrap="square" rtlCol="0">
            <a:spAutoFit/>
          </a:bodyPr>
          <a:lstStyle/>
          <a:p>
            <a:pPr marL="0" marR="0">
              <a:spcBef>
                <a:spcPts val="600"/>
              </a:spcBef>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Need Date:  </a:t>
            </a:r>
            <a:r>
              <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rPr>
              <a:t>October 2</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025 </a:t>
            </a: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			Period of Performance: </a:t>
            </a:r>
            <a:r>
              <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rPr>
              <a:t>October</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 2025 – </a:t>
            </a:r>
            <a:r>
              <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rPr>
              <a:t>October</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 2030</a:t>
            </a:r>
          </a:p>
          <a:p>
            <a:pPr marL="0" marR="0">
              <a:spcBef>
                <a:spcPts val="600"/>
              </a:spcBef>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Recompete: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FA7014-22-C-0024 </a:t>
            </a: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		Anticipated RFP/RFQ Release Date/Timeframe:</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 Jun 2025</a:t>
            </a:r>
          </a:p>
          <a:p>
            <a:pPr marL="0" marR="0">
              <a:spcBef>
                <a:spcPts val="600"/>
              </a:spcBef>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Acquisition Strategy (Full &amp; Open, Small Business Set Aside, etc.):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TBD</a:t>
            </a:r>
          </a:p>
          <a:p>
            <a:pPr marL="0" marR="0">
              <a:spcBef>
                <a:spcPts val="600"/>
              </a:spcBef>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Preliminary Evaluation Criteria (HTRO, Past Performance Tradeoff, etc.):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TBD</a:t>
            </a:r>
            <a:endPar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endParaRPr>
          </a:p>
          <a:p>
            <a:pPr fontAlgn="base">
              <a:spcBef>
                <a:spcPts val="600"/>
              </a:spcBef>
              <a:spcAft>
                <a:spcPct val="0"/>
              </a:spcAft>
              <a:buSzPct val="110000"/>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Interested Contract Vehicle: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OASIS+/GSA MAS</a:t>
            </a:r>
            <a:endPar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endParaRPr>
          </a:p>
          <a:p>
            <a:pPr fontAlgn="base">
              <a:spcBef>
                <a:spcPts val="600"/>
              </a:spcBef>
              <a:spcAft>
                <a:spcPct val="0"/>
              </a:spcAft>
              <a:buSzPct val="110000"/>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CO &amp; Contact Information: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Margaret S</a:t>
            </a:r>
            <a:r>
              <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rPr>
              <a:t>antos,</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 T</a:t>
            </a:r>
            <a:r>
              <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rPr>
              <a:t>i</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mothy </a:t>
            </a:r>
            <a:r>
              <a:rPr lang="en-US" sz="1600" kern="100" dirty="0" err="1">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Prymak</a:t>
            </a:r>
            <a:endParaRPr lang="en-US" sz="1600"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7FA09782-95D2-C1F1-EADE-85FBF8831102}"/>
              </a:ext>
            </a:extLst>
          </p:cNvPr>
          <p:cNvSpPr txBox="1"/>
          <p:nvPr/>
        </p:nvSpPr>
        <p:spPr>
          <a:xfrm>
            <a:off x="510540" y="3889628"/>
            <a:ext cx="10927080" cy="338554"/>
          </a:xfrm>
          <a:prstGeom prst="rect">
            <a:avLst/>
          </a:prstGeom>
          <a:noFill/>
        </p:spPr>
        <p:txBody>
          <a:bodyPr wrap="square" rtlCol="0">
            <a:spAutoFit/>
          </a:bodyPr>
          <a:lstStyle/>
          <a:p>
            <a:r>
              <a:rPr lang="en-US" sz="1600" b="1" dirty="0">
                <a:solidFill>
                  <a:schemeClr val="accent5">
                    <a:lumMod val="75000"/>
                  </a:schemeClr>
                </a:solidFill>
              </a:rPr>
              <a:t>NAICS/PSC: </a:t>
            </a:r>
            <a:r>
              <a:rPr lang="en-US" sz="1600" dirty="0">
                <a:solidFill>
                  <a:schemeClr val="accent5">
                    <a:lumMod val="75000"/>
                  </a:schemeClr>
                </a:solidFill>
              </a:rPr>
              <a:t>541511/R799</a:t>
            </a:r>
            <a:r>
              <a:rPr lang="en-US" sz="1600" b="1" dirty="0">
                <a:solidFill>
                  <a:schemeClr val="accent5">
                    <a:lumMod val="75000"/>
                  </a:schemeClr>
                </a:solidFill>
              </a:rPr>
              <a:t>				                               </a:t>
            </a:r>
            <a:r>
              <a:rPr lang="en-US" sz="1600" dirty="0">
                <a:solidFill>
                  <a:schemeClr val="accent5">
                    <a:lumMod val="75000"/>
                  </a:schemeClr>
                </a:solidFill>
              </a:rPr>
              <a:t>	                     </a:t>
            </a:r>
            <a:r>
              <a:rPr lang="en-US" sz="1600" b="1" dirty="0">
                <a:solidFill>
                  <a:schemeClr val="accent5">
                    <a:lumMod val="75000"/>
                  </a:schemeClr>
                </a:solidFill>
              </a:rPr>
              <a:t>Estimated FTEs/yr</a:t>
            </a:r>
            <a:r>
              <a:rPr lang="en-US" sz="1600" dirty="0">
                <a:solidFill>
                  <a:schemeClr val="accent5">
                    <a:lumMod val="75000"/>
                  </a:schemeClr>
                </a:solidFill>
              </a:rPr>
              <a:t>.:  2</a:t>
            </a:r>
          </a:p>
        </p:txBody>
      </p:sp>
      <p:sp>
        <p:nvSpPr>
          <p:cNvPr id="2" name="TextBox 1">
            <a:extLst>
              <a:ext uri="{FF2B5EF4-FFF2-40B4-BE49-F238E27FC236}">
                <a16:creationId xmlns:a16="http://schemas.microsoft.com/office/drawing/2014/main" id="{FB24A03E-4C0B-C516-254B-2131E5B3A847}"/>
              </a:ext>
            </a:extLst>
          </p:cNvPr>
          <p:cNvSpPr txBox="1"/>
          <p:nvPr/>
        </p:nvSpPr>
        <p:spPr>
          <a:xfrm>
            <a:off x="3429581" y="385291"/>
            <a:ext cx="8211874" cy="830997"/>
          </a:xfrm>
          <a:prstGeom prst="rect">
            <a:avLst/>
          </a:prstGeom>
          <a:noFill/>
        </p:spPr>
        <p:txBody>
          <a:bodyPr wrap="square" lIns="91440" tIns="45720" rIns="91440" bIns="45720" rtlCol="0" anchor="t">
            <a:spAutoFit/>
          </a:bodyPr>
          <a:lstStyle/>
          <a:p>
            <a:pPr marL="0" marR="0" algn="r">
              <a:spcBef>
                <a:spcPts val="0"/>
              </a:spcBef>
              <a:spcAft>
                <a:spcPts val="0"/>
              </a:spcAft>
              <a:tabLst>
                <a:tab pos="571500" algn="l"/>
              </a:tabLst>
            </a:pPr>
            <a:r>
              <a:rPr lang="en-US" sz="2400" b="1">
                <a:effectLst/>
                <a:latin typeface="Cambria"/>
                <a:ea typeface="Cambria"/>
              </a:rPr>
              <a:t>AF/A4 Air Force Justice Information Support Services</a:t>
            </a:r>
          </a:p>
          <a:p>
            <a:pPr marL="0" marR="0" algn="r">
              <a:spcBef>
                <a:spcPts val="0"/>
              </a:spcBef>
              <a:spcAft>
                <a:spcPts val="0"/>
              </a:spcAft>
              <a:tabLst>
                <a:tab pos="571500" algn="l"/>
              </a:tabLst>
            </a:pPr>
            <a:r>
              <a:rPr lang="en-US" sz="2400" b="1" i="1">
                <a:latin typeface="Cambria"/>
                <a:ea typeface="Cambria"/>
              </a:rPr>
              <a:t>FY25</a:t>
            </a:r>
          </a:p>
        </p:txBody>
      </p:sp>
    </p:spTree>
    <p:extLst>
      <p:ext uri="{BB962C8B-B14F-4D97-AF65-F5344CB8AC3E}">
        <p14:creationId xmlns:p14="http://schemas.microsoft.com/office/powerpoint/2010/main" val="769968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09297-2D4B-8160-7151-A61D48D3E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8E7BD0-357D-A3EA-6CAA-BAD67EBD3341}"/>
              </a:ext>
            </a:extLst>
          </p:cNvPr>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a:extLst>
              <a:ext uri="{FF2B5EF4-FFF2-40B4-BE49-F238E27FC236}">
                <a16:creationId xmlns:a16="http://schemas.microsoft.com/office/drawing/2014/main" id="{5E038B5A-9F74-3531-6DA7-06480BC4DB9E}"/>
              </a:ext>
            </a:extLst>
          </p:cNvPr>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a:extLst>
              <a:ext uri="{FF2B5EF4-FFF2-40B4-BE49-F238E27FC236}">
                <a16:creationId xmlns:a16="http://schemas.microsoft.com/office/drawing/2014/main" id="{89E12801-9C75-4688-52D2-F687099E3A20}"/>
              </a:ext>
            </a:extLst>
          </p:cNvPr>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13" descr="afsymbol">
            <a:extLst>
              <a:ext uri="{FF2B5EF4-FFF2-40B4-BE49-F238E27FC236}">
                <a16:creationId xmlns:a16="http://schemas.microsoft.com/office/drawing/2014/main" id="{9964869B-0ABD-6950-624E-1994BCC1BF3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7426" y="4194810"/>
            <a:ext cx="255425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F802D27C-2B79-E475-E3A5-D3E3AA862808}"/>
              </a:ext>
            </a:extLst>
          </p:cNvPr>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6E800042-449F-6CB2-9B6B-68ECED838F7F}"/>
              </a:ext>
            </a:extLst>
          </p:cNvPr>
          <p:cNvSpPr txBox="1"/>
          <p:nvPr/>
        </p:nvSpPr>
        <p:spPr>
          <a:xfrm>
            <a:off x="2418346" y="2064258"/>
            <a:ext cx="7291137" cy="646331"/>
          </a:xfrm>
          <a:prstGeom prst="rect">
            <a:avLst/>
          </a:prstGeom>
          <a:noFill/>
        </p:spPr>
        <p:txBody>
          <a:bodyPr wrap="square" rtlCol="0">
            <a:spAutoFit/>
          </a:bodyPr>
          <a:lstStyle/>
          <a:p>
            <a:pPr algn="ctr"/>
            <a:r>
              <a:rPr lang="en-US" sz="3600" b="1" dirty="0">
                <a:solidFill>
                  <a:schemeClr val="accent5">
                    <a:lumMod val="75000"/>
                  </a:schemeClr>
                </a:solidFill>
              </a:rPr>
              <a:t>DS</a:t>
            </a:r>
          </a:p>
        </p:txBody>
      </p:sp>
    </p:spTree>
    <p:extLst>
      <p:ext uri="{BB962C8B-B14F-4D97-AF65-F5344CB8AC3E}">
        <p14:creationId xmlns:p14="http://schemas.microsoft.com/office/powerpoint/2010/main" val="26407604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DA96C-DC2D-F152-4495-0BE69FE885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262731-B2C9-C2EC-E059-6AA00AB70829}"/>
              </a:ext>
            </a:extLst>
          </p:cNvPr>
          <p:cNvSpPr>
            <a:spLocks noGrp="1"/>
          </p:cNvSpPr>
          <p:nvPr>
            <p:ph idx="1"/>
          </p:nvPr>
        </p:nvSpPr>
        <p:spPr>
          <a:xfrm>
            <a:off x="582930" y="1614772"/>
            <a:ext cx="11098530" cy="4790585"/>
          </a:xfrm>
        </p:spPr>
        <p:txBody>
          <a:bodyPr vert="horz" lIns="91440" tIns="45720" rIns="91440" bIns="45720" rtlCol="0" anchor="t">
            <a:normAutofit/>
          </a:bodyPr>
          <a:lstStyle/>
          <a:p>
            <a:pPr marL="0" indent="0">
              <a:buNone/>
            </a:pPr>
            <a:r>
              <a:rPr lang="en-US" sz="1600" b="1" dirty="0">
                <a:solidFill>
                  <a:schemeClr val="accent1">
                    <a:lumMod val="50000"/>
                  </a:schemeClr>
                </a:solidFill>
                <a:ea typeface="Cambria"/>
              </a:rPr>
              <a:t>Mission Owner:  </a:t>
            </a:r>
            <a:r>
              <a:rPr lang="en-US" sz="1600" dirty="0">
                <a:solidFill>
                  <a:schemeClr val="accent1">
                    <a:lumMod val="50000"/>
                  </a:schemeClr>
                </a:solidFill>
                <a:ea typeface="Cambria"/>
              </a:rPr>
              <a:t>AF/DS</a:t>
            </a:r>
            <a:r>
              <a:rPr lang="en-US" sz="1600" b="1" dirty="0">
                <a:solidFill>
                  <a:schemeClr val="accent1">
                    <a:lumMod val="50000"/>
                  </a:schemeClr>
                </a:solidFill>
                <a:ea typeface="Cambria"/>
              </a:rPr>
              <a:t>						</a:t>
            </a:r>
          </a:p>
          <a:p>
            <a:pPr marL="0" marR="0" indent="0">
              <a:lnSpc>
                <a:spcPct val="100000"/>
              </a:lnSpc>
              <a:spcBef>
                <a:spcPts val="0"/>
              </a:spcBef>
              <a:buNone/>
            </a:pPr>
            <a:r>
              <a:rPr lang="en-US" sz="1600" b="1" dirty="0">
                <a:solidFill>
                  <a:schemeClr val="accent1">
                    <a:lumMod val="50000"/>
                  </a:schemeClr>
                </a:solidFill>
                <a:ea typeface="Cambria"/>
              </a:rPr>
              <a:t>SCOPE: </a:t>
            </a:r>
            <a:r>
              <a:rPr lang="en-US" sz="1600" dirty="0">
                <a:solidFill>
                  <a:schemeClr val="accent1">
                    <a:lumMod val="50000"/>
                  </a:schemeClr>
                </a:solidFill>
                <a:effectLst/>
                <a:ea typeface="Cambria"/>
              </a:rPr>
              <a:t>Executive and Administrative Services (E&amp;AS) are required to support </a:t>
            </a:r>
            <a:r>
              <a:rPr lang="en-US" sz="1600" dirty="0" err="1">
                <a:solidFill>
                  <a:schemeClr val="accent1">
                    <a:lumMod val="50000"/>
                  </a:schemeClr>
                </a:solidFill>
                <a:effectLst/>
                <a:ea typeface="Cambria"/>
              </a:rPr>
              <a:t>SecAF</a:t>
            </a:r>
            <a:r>
              <a:rPr lang="en-US" sz="1600" dirty="0">
                <a:solidFill>
                  <a:schemeClr val="accent1">
                    <a:lumMod val="50000"/>
                  </a:schemeClr>
                </a:solidFill>
                <a:effectLst/>
                <a:ea typeface="Cambria"/>
              </a:rPr>
              <a:t>, </a:t>
            </a:r>
            <a:r>
              <a:rPr lang="en-US" sz="1600" dirty="0" err="1">
                <a:solidFill>
                  <a:schemeClr val="accent1">
                    <a:lumMod val="50000"/>
                  </a:schemeClr>
                </a:solidFill>
                <a:effectLst/>
                <a:ea typeface="Cambria"/>
              </a:rPr>
              <a:t>USecAF</a:t>
            </a:r>
            <a:r>
              <a:rPr lang="en-US" sz="1600" dirty="0">
                <a:solidFill>
                  <a:schemeClr val="accent1">
                    <a:lumMod val="50000"/>
                  </a:schemeClr>
                </a:solidFill>
                <a:effectLst/>
                <a:ea typeface="Cambria"/>
              </a:rPr>
              <a:t>, CSAF, VCSAF, VCSO and CMSAF offices in executing the Air Force mission areas; linking results to the strategy, planning, and programming process human capital, and budgeting study excursions; supporting Air Force initiatives.  </a:t>
            </a:r>
          </a:p>
          <a:p>
            <a:pPr marL="0" marR="0" indent="0">
              <a:lnSpc>
                <a:spcPct val="100000"/>
              </a:lnSpc>
              <a:spcBef>
                <a:spcPts val="0"/>
              </a:spcBef>
              <a:buNone/>
            </a:pPr>
            <a:r>
              <a:rPr lang="en-US" sz="1600" dirty="0">
                <a:solidFill>
                  <a:schemeClr val="accent1">
                    <a:lumMod val="50000"/>
                  </a:schemeClr>
                </a:solidFill>
                <a:ea typeface="Cambria"/>
              </a:rPr>
              <a:t>Tasks include</a:t>
            </a:r>
            <a:r>
              <a:rPr lang="en-US" sz="1600" dirty="0">
                <a:solidFill>
                  <a:schemeClr val="accent1">
                    <a:lumMod val="50000"/>
                  </a:schemeClr>
                </a:solidFill>
                <a:effectLst/>
                <a:ea typeface="Cambria"/>
              </a:rPr>
              <a:t>:</a:t>
            </a:r>
          </a:p>
          <a:p>
            <a:pPr marL="342900" marR="0" lvl="0" indent="-342900">
              <a:lnSpc>
                <a:spcPct val="100000"/>
              </a:lnSpc>
              <a:spcBef>
                <a:spcPts val="0"/>
              </a:spcBef>
              <a:buSzPts val="1000"/>
              <a:buFont typeface="Symbol" panose="05050102010706020507" pitchFamily="18" charset="2"/>
              <a:buChar char=""/>
              <a:tabLst>
                <a:tab pos="457200" algn="l"/>
              </a:tabLst>
            </a:pPr>
            <a:r>
              <a:rPr lang="en-US" sz="1600" dirty="0">
                <a:solidFill>
                  <a:schemeClr val="accent1">
                    <a:lumMod val="50000"/>
                  </a:schemeClr>
                </a:solidFill>
                <a:effectLst/>
                <a:ea typeface="Cambria"/>
              </a:rPr>
              <a:t>Strategic initiative tracking and implementation</a:t>
            </a:r>
          </a:p>
          <a:p>
            <a:pPr marL="342900" marR="0" lvl="0" indent="-342900">
              <a:lnSpc>
                <a:spcPct val="100000"/>
              </a:lnSpc>
              <a:spcBef>
                <a:spcPts val="0"/>
              </a:spcBef>
              <a:buSzPts val="1000"/>
              <a:buFont typeface="Symbol" panose="05050102010706020507" pitchFamily="18" charset="2"/>
              <a:buChar char=""/>
              <a:tabLst>
                <a:tab pos="457200" algn="l"/>
              </a:tabLst>
            </a:pPr>
            <a:r>
              <a:rPr lang="en-US" sz="1600" dirty="0">
                <a:solidFill>
                  <a:schemeClr val="accent1">
                    <a:lumMod val="50000"/>
                  </a:schemeClr>
                </a:solidFill>
                <a:effectLst/>
                <a:ea typeface="Cambria"/>
              </a:rPr>
              <a:t>Cross-functional program management and coordination, including activities</a:t>
            </a:r>
          </a:p>
          <a:p>
            <a:pPr marL="342900" marR="0" lvl="0" indent="-342900">
              <a:lnSpc>
                <a:spcPct val="100000"/>
              </a:lnSpc>
              <a:spcBef>
                <a:spcPts val="0"/>
              </a:spcBef>
              <a:buSzPts val="1000"/>
              <a:buFont typeface="Symbol" panose="05050102010706020507" pitchFamily="18" charset="2"/>
              <a:buChar char=""/>
              <a:tabLst>
                <a:tab pos="457200" algn="l"/>
              </a:tabLst>
            </a:pPr>
            <a:r>
              <a:rPr lang="en-US" sz="1600" dirty="0">
                <a:solidFill>
                  <a:schemeClr val="accent1">
                    <a:lumMod val="50000"/>
                  </a:schemeClr>
                </a:solidFill>
                <a:effectLst/>
                <a:ea typeface="Cambria"/>
              </a:rPr>
              <a:t>Knowledge management and information flow optimization</a:t>
            </a:r>
          </a:p>
          <a:p>
            <a:pPr marL="342900" marR="0" lvl="0" indent="-342900">
              <a:lnSpc>
                <a:spcPct val="100000"/>
              </a:lnSpc>
              <a:spcBef>
                <a:spcPts val="0"/>
              </a:spcBef>
              <a:buSzPts val="1000"/>
              <a:buFont typeface="Symbol" panose="05050102010706020507" pitchFamily="18" charset="2"/>
              <a:buChar char=""/>
              <a:tabLst>
                <a:tab pos="457200" algn="l"/>
              </a:tabLst>
            </a:pPr>
            <a:r>
              <a:rPr lang="en-US" sz="1600" dirty="0">
                <a:solidFill>
                  <a:schemeClr val="accent1">
                    <a:lumMod val="50000"/>
                  </a:schemeClr>
                </a:solidFill>
                <a:effectLst/>
                <a:ea typeface="Cambria"/>
              </a:rPr>
              <a:t>Time-sensitive deliverable preparation and quality control</a:t>
            </a:r>
          </a:p>
          <a:p>
            <a:pPr marL="342900" marR="0" lvl="0" indent="-342900">
              <a:lnSpc>
                <a:spcPct val="100000"/>
              </a:lnSpc>
              <a:spcBef>
                <a:spcPts val="0"/>
              </a:spcBef>
              <a:buSzPts val="1000"/>
              <a:buFont typeface="Symbol" panose="05050102010706020507" pitchFamily="18" charset="2"/>
              <a:buChar char=""/>
              <a:tabLst>
                <a:tab pos="457200" algn="l"/>
              </a:tabLst>
            </a:pPr>
            <a:r>
              <a:rPr lang="en-US" sz="1600" dirty="0">
                <a:solidFill>
                  <a:schemeClr val="accent1">
                    <a:lumMod val="50000"/>
                  </a:schemeClr>
                </a:solidFill>
                <a:effectLst/>
                <a:ea typeface="Cambria"/>
              </a:rPr>
              <a:t>Multi-domain administrative support (classified and unclassified)</a:t>
            </a:r>
            <a:endParaRPr lang="en-US" sz="1600" dirty="0">
              <a:solidFill>
                <a:schemeClr val="accent1">
                  <a:lumMod val="50000"/>
                </a:schemeClr>
              </a:solidFill>
              <a:ea typeface="Cambria"/>
            </a:endParaRPr>
          </a:p>
        </p:txBody>
      </p:sp>
      <p:pic>
        <p:nvPicPr>
          <p:cNvPr id="4" name="Picture 13" descr="afsymbol">
            <a:extLst>
              <a:ext uri="{FF2B5EF4-FFF2-40B4-BE49-F238E27FC236}">
                <a16:creationId xmlns:a16="http://schemas.microsoft.com/office/drawing/2014/main" id="{973851F4-ECC1-B89F-B02F-6AFB97F56E7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4DC2B953-FAC4-EDE6-D4AF-32C477344BA2}"/>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4ACBE020-D7B4-6219-E29A-20BA3C6640A9}"/>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41</a:t>
            </a:fld>
            <a:endParaRPr lang="en-US" sz="1600" b="1">
              <a:solidFill>
                <a:schemeClr val="accent5">
                  <a:lumMod val="75000"/>
                </a:schemeClr>
              </a:solidFill>
            </a:endParaRPr>
          </a:p>
        </p:txBody>
      </p:sp>
      <p:cxnSp>
        <p:nvCxnSpPr>
          <p:cNvPr id="22" name="Straight Connector 21">
            <a:extLst>
              <a:ext uri="{FF2B5EF4-FFF2-40B4-BE49-F238E27FC236}">
                <a16:creationId xmlns:a16="http://schemas.microsoft.com/office/drawing/2014/main" id="{3D2BF599-3753-80EA-D979-4EC72DE636EB}"/>
              </a:ext>
            </a:extLst>
          </p:cNvPr>
          <p:cNvCxnSpPr/>
          <p:nvPr/>
        </p:nvCxnSpPr>
        <p:spPr>
          <a:xfrm>
            <a:off x="510540" y="4470898"/>
            <a:ext cx="1101852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2CD0E1-6879-6854-F6A0-794A3A9529CF}"/>
              </a:ext>
            </a:extLst>
          </p:cNvPr>
          <p:cNvSpPr txBox="1"/>
          <p:nvPr/>
        </p:nvSpPr>
        <p:spPr>
          <a:xfrm>
            <a:off x="510540" y="4514394"/>
            <a:ext cx="11018520" cy="1954381"/>
          </a:xfrm>
          <a:prstGeom prst="rect">
            <a:avLst/>
          </a:prstGeom>
          <a:noFill/>
        </p:spPr>
        <p:txBody>
          <a:bodyPr wrap="square" rtlCol="0">
            <a:spAutoFit/>
          </a:bodyPr>
          <a:lstStyle/>
          <a:p>
            <a:pPr marL="0" marR="0">
              <a:spcBef>
                <a:spcPts val="600"/>
              </a:spcBef>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Need Date:  </a:t>
            </a:r>
            <a:r>
              <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rPr>
              <a:t>July 2</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025 </a:t>
            </a: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			Period of Performance: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July 2025 – </a:t>
            </a:r>
            <a:r>
              <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rPr>
              <a:t>July</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 2030</a:t>
            </a:r>
          </a:p>
          <a:p>
            <a:pPr marL="0" marR="0">
              <a:spcBef>
                <a:spcPts val="600"/>
              </a:spcBef>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R</a:t>
            </a:r>
            <a:r>
              <a:rPr lang="en-US" sz="1600" b="1"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rPr>
              <a:t>ecompete</a:t>
            </a: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New Requirement  </a:t>
            </a: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		Anticipated RFP/RFQ Release Date/Timeframe: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Jun 2025</a:t>
            </a:r>
          </a:p>
          <a:p>
            <a:pPr marL="0" marR="0">
              <a:spcBef>
                <a:spcPts val="600"/>
              </a:spcBef>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Acquisition Strategy (Full &amp; Open, Small Business Set Aside, etc.):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TBD</a:t>
            </a:r>
          </a:p>
          <a:p>
            <a:pPr marL="0" marR="0">
              <a:spcBef>
                <a:spcPts val="600"/>
              </a:spcBef>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Preliminary Evaluation Criteria (HTRO, Past Performance Tradeoff, etc.):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TBD</a:t>
            </a:r>
            <a:endPar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endParaRPr>
          </a:p>
          <a:p>
            <a:pPr fontAlgn="base">
              <a:spcBef>
                <a:spcPts val="600"/>
              </a:spcBef>
              <a:buSzPct val="110000"/>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Interested Contract Vehicle: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OASIS+/GSA MAS</a:t>
            </a:r>
          </a:p>
          <a:p>
            <a:pPr fontAlgn="base">
              <a:spcBef>
                <a:spcPts val="600"/>
              </a:spcBef>
              <a:buSzPct val="110000"/>
            </a:pPr>
            <a:r>
              <a:rPr lang="en-US" sz="1600" b="1"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CO &amp; Contact Information: </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Margaret S</a:t>
            </a:r>
            <a:r>
              <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rPr>
              <a:t>antos,</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 T</a:t>
            </a:r>
            <a:r>
              <a:rPr lang="en-US" sz="1600" kern="100" dirty="0">
                <a:solidFill>
                  <a:schemeClr val="accent1">
                    <a:lumMod val="50000"/>
                  </a:schemeClr>
                </a:solidFill>
                <a:latin typeface="Cambria" panose="02040503050406030204" pitchFamily="18" charset="0"/>
                <a:ea typeface="Cambria" panose="02040503050406030204" pitchFamily="18" charset="0"/>
                <a:cs typeface="Arial" panose="020B0604020202020204" pitchFamily="34" charset="0"/>
              </a:rPr>
              <a:t>i</a:t>
            </a:r>
            <a:r>
              <a:rPr lang="en-US" sz="1600" kern="100" dirty="0">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mothy </a:t>
            </a:r>
            <a:r>
              <a:rPr lang="en-US" sz="1600" kern="100" dirty="0" err="1">
                <a:solidFill>
                  <a:schemeClr val="accent1">
                    <a:lumMod val="50000"/>
                  </a:schemeClr>
                </a:solidFill>
                <a:effectLst/>
                <a:latin typeface="Cambria" panose="02040503050406030204" pitchFamily="18" charset="0"/>
                <a:ea typeface="Cambria" panose="02040503050406030204" pitchFamily="18" charset="0"/>
                <a:cs typeface="Arial" panose="020B0604020202020204" pitchFamily="34" charset="0"/>
              </a:rPr>
              <a:t>Prymak</a:t>
            </a:r>
            <a:endParaRPr lang="en-US" sz="1600"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0A4238C5-C1A0-4FE3-74F3-402BBB190C0E}"/>
              </a:ext>
            </a:extLst>
          </p:cNvPr>
          <p:cNvSpPr txBox="1"/>
          <p:nvPr/>
        </p:nvSpPr>
        <p:spPr>
          <a:xfrm>
            <a:off x="510540" y="4175840"/>
            <a:ext cx="10927080" cy="338554"/>
          </a:xfrm>
          <a:prstGeom prst="rect">
            <a:avLst/>
          </a:prstGeom>
          <a:noFill/>
        </p:spPr>
        <p:txBody>
          <a:bodyPr wrap="square" rtlCol="0">
            <a:spAutoFit/>
          </a:bodyPr>
          <a:lstStyle/>
          <a:p>
            <a:r>
              <a:rPr lang="en-US" sz="1600" b="1" dirty="0">
                <a:solidFill>
                  <a:srgbClr val="003399"/>
                </a:solidFill>
                <a:latin typeface="Cambria" panose="02040503050406030204" pitchFamily="18" charset="0"/>
                <a:ea typeface="Cambria" panose="02040503050406030204" pitchFamily="18" charset="0"/>
              </a:rPr>
              <a:t>NAICS/PSC: </a:t>
            </a:r>
            <a:r>
              <a:rPr lang="en-US" sz="1600" dirty="0">
                <a:latin typeface="Cambria" panose="02040503050406030204" pitchFamily="18" charset="0"/>
                <a:ea typeface="Cambria" panose="02040503050406030204" pitchFamily="18" charset="0"/>
              </a:rPr>
              <a:t>541511/R799	</a:t>
            </a:r>
            <a:r>
              <a:rPr lang="en-US" sz="1600" b="1" dirty="0">
                <a:solidFill>
                  <a:schemeClr val="accent5">
                    <a:lumMod val="75000"/>
                  </a:schemeClr>
                </a:solidFill>
                <a:latin typeface="Cambria" panose="02040503050406030204" pitchFamily="18" charset="0"/>
                <a:ea typeface="Cambria" panose="02040503050406030204" pitchFamily="18" charset="0"/>
              </a:rPr>
              <a:t>			                               </a:t>
            </a:r>
            <a:r>
              <a:rPr lang="en-US" sz="1600" dirty="0">
                <a:solidFill>
                  <a:schemeClr val="accent5">
                    <a:lumMod val="75000"/>
                  </a:schemeClr>
                </a:solidFill>
                <a:latin typeface="Cambria" panose="02040503050406030204" pitchFamily="18" charset="0"/>
                <a:ea typeface="Cambria" panose="02040503050406030204" pitchFamily="18" charset="0"/>
              </a:rPr>
              <a:t>	                     </a:t>
            </a:r>
            <a:r>
              <a:rPr lang="en-US" sz="1600" b="1" dirty="0">
                <a:solidFill>
                  <a:srgbClr val="003399"/>
                </a:solidFill>
                <a:latin typeface="Cambria" panose="02040503050406030204" pitchFamily="18" charset="0"/>
                <a:ea typeface="Cambria" panose="02040503050406030204" pitchFamily="18" charset="0"/>
              </a:rPr>
              <a:t>Estimated FTEs/yr</a:t>
            </a:r>
            <a:r>
              <a:rPr lang="en-US" sz="1600" dirty="0">
                <a:solidFill>
                  <a:srgbClr val="003399"/>
                </a:solidFill>
                <a:latin typeface="Cambria" panose="02040503050406030204" pitchFamily="18" charset="0"/>
                <a:ea typeface="Cambria" panose="02040503050406030204" pitchFamily="18" charset="0"/>
              </a:rPr>
              <a:t>.:  </a:t>
            </a:r>
            <a:r>
              <a:rPr lang="en-US" sz="1600" dirty="0">
                <a:latin typeface="Cambria" panose="02040503050406030204" pitchFamily="18" charset="0"/>
                <a:ea typeface="Cambria" panose="02040503050406030204" pitchFamily="18" charset="0"/>
              </a:rPr>
              <a:t>9</a:t>
            </a:r>
          </a:p>
        </p:txBody>
      </p:sp>
      <p:sp>
        <p:nvSpPr>
          <p:cNvPr id="2" name="TextBox 1">
            <a:extLst>
              <a:ext uri="{FF2B5EF4-FFF2-40B4-BE49-F238E27FC236}">
                <a16:creationId xmlns:a16="http://schemas.microsoft.com/office/drawing/2014/main" id="{61A49E6E-90CE-6E0D-6A28-F8C827838268}"/>
              </a:ext>
            </a:extLst>
          </p:cNvPr>
          <p:cNvSpPr txBox="1"/>
          <p:nvPr/>
        </p:nvSpPr>
        <p:spPr>
          <a:xfrm>
            <a:off x="3429581" y="385291"/>
            <a:ext cx="8211874" cy="830997"/>
          </a:xfrm>
          <a:prstGeom prst="rect">
            <a:avLst/>
          </a:prstGeom>
          <a:noFill/>
        </p:spPr>
        <p:txBody>
          <a:bodyPr wrap="square" lIns="91440" tIns="45720" rIns="91440" bIns="45720" rtlCol="0" anchor="t">
            <a:spAutoFit/>
          </a:bodyPr>
          <a:lstStyle/>
          <a:p>
            <a:pPr marL="0" marR="0" algn="r"/>
            <a:r>
              <a:rPr lang="en-US" sz="2400" b="1">
                <a:latin typeface="Cambria"/>
                <a:ea typeface="Cambria"/>
              </a:rPr>
              <a:t>AF/DS </a:t>
            </a:r>
            <a:r>
              <a:rPr lang="en-US" sz="2400" b="1" kern="1200">
                <a:effectLst/>
                <a:latin typeface="Cambria"/>
                <a:ea typeface="Cambria"/>
              </a:rPr>
              <a:t>DIRECTOR OF STAFF OFFICE SUPPORT SERVICES </a:t>
            </a:r>
            <a:endParaRPr lang="en-US" sz="2400" b="1" kern="1200">
              <a:latin typeface="Cambria"/>
              <a:ea typeface="Cambria"/>
            </a:endParaRPr>
          </a:p>
          <a:p>
            <a:pPr marL="0" marR="0" algn="r"/>
            <a:r>
              <a:rPr lang="en-US" sz="2400" b="1" i="1">
                <a:latin typeface="Cambria"/>
                <a:ea typeface="Cambria"/>
              </a:rPr>
              <a:t>FY25</a:t>
            </a:r>
          </a:p>
        </p:txBody>
      </p:sp>
    </p:spTree>
    <p:extLst>
      <p:ext uri="{BB962C8B-B14F-4D97-AF65-F5344CB8AC3E}">
        <p14:creationId xmlns:p14="http://schemas.microsoft.com/office/powerpoint/2010/main" val="35795322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8BF18-D378-C5D3-C0D7-F5F66ED61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E66A9-5698-F9B9-9107-80F5954FF088}"/>
              </a:ext>
            </a:extLst>
          </p:cNvPr>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a:extLst>
              <a:ext uri="{FF2B5EF4-FFF2-40B4-BE49-F238E27FC236}">
                <a16:creationId xmlns:a16="http://schemas.microsoft.com/office/drawing/2014/main" id="{7E29BED9-D4B6-CCD8-B2ED-16ABF886CD9F}"/>
              </a:ext>
            </a:extLst>
          </p:cNvPr>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a:extLst>
              <a:ext uri="{FF2B5EF4-FFF2-40B4-BE49-F238E27FC236}">
                <a16:creationId xmlns:a16="http://schemas.microsoft.com/office/drawing/2014/main" id="{6153C640-1734-6FB2-18D3-274AFD76350C}"/>
              </a:ext>
            </a:extLst>
          </p:cNvPr>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13" descr="afsymbol">
            <a:extLst>
              <a:ext uri="{FF2B5EF4-FFF2-40B4-BE49-F238E27FC236}">
                <a16:creationId xmlns:a16="http://schemas.microsoft.com/office/drawing/2014/main" id="{132DA25B-50C3-D750-579E-6A56414481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7426" y="4194810"/>
            <a:ext cx="255425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2F958D5A-186F-3205-9C93-C135B4219201}"/>
              </a:ext>
            </a:extLst>
          </p:cNvPr>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98C72963-2A06-859E-54D3-4B3E593B61AF}"/>
              </a:ext>
            </a:extLst>
          </p:cNvPr>
          <p:cNvSpPr txBox="1"/>
          <p:nvPr/>
        </p:nvSpPr>
        <p:spPr>
          <a:xfrm>
            <a:off x="2418346" y="2064258"/>
            <a:ext cx="7291137" cy="646331"/>
          </a:xfrm>
          <a:prstGeom prst="rect">
            <a:avLst/>
          </a:prstGeom>
          <a:noFill/>
        </p:spPr>
        <p:txBody>
          <a:bodyPr wrap="square" rtlCol="0">
            <a:spAutoFit/>
          </a:bodyPr>
          <a:lstStyle/>
          <a:p>
            <a:pPr algn="ctr"/>
            <a:r>
              <a:rPr lang="en-US" sz="3600" b="1" dirty="0">
                <a:solidFill>
                  <a:schemeClr val="accent5">
                    <a:lumMod val="75000"/>
                  </a:schemeClr>
                </a:solidFill>
              </a:rPr>
              <a:t>A2-6</a:t>
            </a:r>
          </a:p>
        </p:txBody>
      </p:sp>
    </p:spTree>
    <p:extLst>
      <p:ext uri="{BB962C8B-B14F-4D97-AF65-F5344CB8AC3E}">
        <p14:creationId xmlns:p14="http://schemas.microsoft.com/office/powerpoint/2010/main" val="13769377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9C027-F74C-D555-DBEF-351165E6929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A51651-A4E2-4D41-771E-3363491B16EE}"/>
              </a:ext>
            </a:extLst>
          </p:cNvPr>
          <p:cNvSpPr>
            <a:spLocks noGrp="1"/>
          </p:cNvSpPr>
          <p:nvPr>
            <p:ph idx="1"/>
          </p:nvPr>
        </p:nvSpPr>
        <p:spPr>
          <a:xfrm>
            <a:off x="582930" y="1565765"/>
            <a:ext cx="11018520" cy="4508434"/>
          </a:xfrm>
        </p:spPr>
        <p:txBody>
          <a:bodyPr vert="horz" lIns="91440" tIns="45720" rIns="91440" bIns="45720" rtlCol="0" anchor="t">
            <a:normAutofit fontScale="92500" lnSpcReduction="10000"/>
          </a:bodyPr>
          <a:lstStyle/>
          <a:p>
            <a:pPr marL="0" indent="0">
              <a:buNone/>
            </a:pPr>
            <a:r>
              <a:rPr lang="en-US" sz="1600" b="1" dirty="0">
                <a:solidFill>
                  <a:schemeClr val="accent1">
                    <a:lumMod val="50000"/>
                  </a:schemeClr>
                </a:solidFill>
              </a:rPr>
              <a:t>Mission Owner (A5, A1, SAF/IE, etc.):  </a:t>
            </a:r>
            <a:r>
              <a:rPr lang="en-US" sz="1600" dirty="0">
                <a:solidFill>
                  <a:schemeClr val="accent1">
                    <a:lumMod val="50000"/>
                  </a:schemeClr>
                </a:solidFill>
              </a:rPr>
              <a:t>A26</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Description (2-3 lines): </a:t>
            </a:r>
            <a:r>
              <a:rPr lang="en-US" sz="1600" dirty="0">
                <a:solidFill>
                  <a:schemeClr val="accent1">
                    <a:lumMod val="50000"/>
                  </a:schemeClr>
                </a:solidFill>
              </a:rPr>
              <a:t>The commercially-available license subscription should leverage a variety of publicly available information sources, evaluate content to detect emerging events as they are developing, and push alerts to users based on user-defined areas and topics of interest.</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April 2026</a:t>
            </a:r>
            <a:endParaRPr lang="en-US" sz="1600" b="1"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June 2026 – June 2031</a:t>
            </a:r>
            <a:endParaRPr lang="en-US" sz="1600" b="1"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(provide previous contract number) or New Start: </a:t>
            </a:r>
            <a:r>
              <a:rPr lang="en-US" sz="1600" dirty="0">
                <a:solidFill>
                  <a:schemeClr val="accent1">
                    <a:lumMod val="50000"/>
                  </a:schemeClr>
                </a:solidFill>
              </a:rPr>
              <a:t>Recompete, FA701421C0024</a:t>
            </a:r>
            <a:endParaRPr lang="en-US" sz="1600" b="1"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Fall 2025</a:t>
            </a:r>
            <a:endParaRPr lang="en-US" sz="1600" b="1"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(Full &amp; Open, Small Business Set Aside, etc.): </a:t>
            </a:r>
            <a:r>
              <a:rPr lang="en-US" sz="1600" dirty="0">
                <a:solidFill>
                  <a:schemeClr val="accent1">
                    <a:lumMod val="50000"/>
                  </a:schemeClr>
                </a:solidFill>
              </a:rPr>
              <a:t>TBD</a:t>
            </a:r>
            <a:endParaRPr lang="en-US" sz="1600" b="1"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(HTRO, Past Performance Tradeoff, etc.): </a:t>
            </a:r>
            <a:r>
              <a:rPr lang="en-US" sz="1600" dirty="0">
                <a:solidFill>
                  <a:schemeClr val="accent1">
                    <a:lumMod val="50000"/>
                  </a:schemeClr>
                </a:solidFill>
              </a:rPr>
              <a:t>Technical over price</a:t>
            </a:r>
            <a:endParaRPr lang="en-US" sz="1600" b="1"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Contract Vehicle Being Used (NASA SEWP, MAS, OASIS+, etc.), if applicable: </a:t>
            </a:r>
            <a:r>
              <a:rPr lang="en-US" sz="1600" dirty="0">
                <a:solidFill>
                  <a:schemeClr val="accent1">
                    <a:lumMod val="50000"/>
                  </a:schemeClr>
                </a:solidFill>
              </a:rPr>
              <a:t>TBD, anticipated SAM.gov</a:t>
            </a:r>
            <a:endParaRPr lang="en-US" sz="1600" b="1"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518210 Computing Infrastructure Providers, Data Processing, Web Hosting, and Related Services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dirty="0">
                <a:solidFill>
                  <a:schemeClr val="accent1">
                    <a:lumMod val="50000"/>
                  </a:schemeClr>
                </a:solidFill>
                <a:ea typeface="Times New Roman" panose="02020603050405020304" pitchFamily="18" charset="0"/>
              </a:rPr>
              <a:t>Capt Richard Snyder</a:t>
            </a:r>
            <a:endParaRPr lang="en-US" sz="1600" b="1" dirty="0">
              <a:solidFill>
                <a:schemeClr val="accent1">
                  <a:lumMod val="50000"/>
                </a:schemeClr>
              </a:solidFill>
              <a:ea typeface="Times New Roman" panose="02020603050405020304" pitchFamily="18" charset="0"/>
              <a:cs typeface="Calibri"/>
            </a:endParaRPr>
          </a:p>
          <a:p>
            <a:pPr marL="0" indent="0">
              <a:buNone/>
            </a:pPr>
            <a:r>
              <a:rPr lang="en-US" sz="1600" b="1" dirty="0">
                <a:solidFill>
                  <a:schemeClr val="accent1">
                    <a:lumMod val="50000"/>
                  </a:schemeClr>
                </a:solidFill>
                <a:effectLst/>
                <a:ea typeface="Times New Roman" panose="02020603050405020304" pitchFamily="18" charset="0"/>
              </a:rPr>
              <a:t>PM: </a:t>
            </a:r>
            <a:r>
              <a:rPr lang="en-US" sz="1600" dirty="0">
                <a:solidFill>
                  <a:schemeClr val="accent1">
                    <a:lumMod val="50000"/>
                  </a:schemeClr>
                </a:solidFill>
                <a:effectLst/>
                <a:ea typeface="Times New Roman" panose="02020603050405020304" pitchFamily="18" charset="0"/>
              </a:rPr>
              <a:t>Mr. Colin Collins</a:t>
            </a:r>
          </a:p>
          <a:p>
            <a:pPr marL="0" indent="0">
              <a:buNone/>
            </a:pP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B49B1F5A-82FD-80B3-FB13-89AEFD45C74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8E61D596-2A8D-480F-A23B-5E91F6D82479}"/>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FAB65C1-E125-09FC-287D-D8B66992ABE8}"/>
              </a:ext>
            </a:extLst>
          </p:cNvPr>
          <p:cNvSpPr txBox="1"/>
          <p:nvPr/>
        </p:nvSpPr>
        <p:spPr>
          <a:xfrm>
            <a:off x="4620126" y="854032"/>
            <a:ext cx="7068326" cy="523220"/>
          </a:xfrm>
          <a:prstGeom prst="rect">
            <a:avLst/>
          </a:prstGeom>
          <a:noFill/>
        </p:spPr>
        <p:txBody>
          <a:bodyPr wrap="square" rtlCol="0">
            <a:spAutoFit/>
          </a:bodyPr>
          <a:lstStyle/>
          <a:p>
            <a:pPr algn="r"/>
            <a:r>
              <a:rPr lang="en-US" sz="2800" b="1" i="1" dirty="0"/>
              <a:t>Publicly Available Information Alerting Tool</a:t>
            </a:r>
            <a:endParaRPr lang="en-US" sz="2400" b="1" i="1" dirty="0"/>
          </a:p>
        </p:txBody>
      </p:sp>
      <p:sp>
        <p:nvSpPr>
          <p:cNvPr id="10" name="Slide Number Placeholder 9">
            <a:extLst>
              <a:ext uri="{FF2B5EF4-FFF2-40B4-BE49-F238E27FC236}">
                <a16:creationId xmlns:a16="http://schemas.microsoft.com/office/drawing/2014/main" id="{87E33FAB-A21C-997E-D8FC-F3F6EA9B4093}"/>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43</a:t>
            </a:fld>
            <a:endParaRPr lang="en-US" sz="1600" b="1">
              <a:solidFill>
                <a:schemeClr val="accent5">
                  <a:lumMod val="75000"/>
                </a:schemeClr>
              </a:solidFill>
            </a:endParaRPr>
          </a:p>
        </p:txBody>
      </p:sp>
    </p:spTree>
    <p:extLst>
      <p:ext uri="{BB962C8B-B14F-4D97-AF65-F5344CB8AC3E}">
        <p14:creationId xmlns:p14="http://schemas.microsoft.com/office/powerpoint/2010/main" val="9994624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99009-827C-4F39-35EF-0EED2EB3C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7828E-A0E2-58A6-54F9-DE1D2978612C}"/>
              </a:ext>
            </a:extLst>
          </p:cNvPr>
          <p:cNvSpPr>
            <a:spLocks noGrp="1"/>
          </p:cNvSpPr>
          <p:nvPr>
            <p:ph type="ctrTitle"/>
          </p:nvPr>
        </p:nvSpPr>
        <p:spPr>
          <a:xfrm>
            <a:off x="1524000" y="219393"/>
            <a:ext cx="9144000" cy="695007"/>
          </a:xfrm>
        </p:spPr>
        <p:txBody>
          <a:bodyPr>
            <a:normAutofit/>
          </a:bodyPr>
          <a:lstStyle/>
          <a:p>
            <a:r>
              <a:rPr lang="en-US" sz="3600" b="1" i="1" dirty="0">
                <a:solidFill>
                  <a:schemeClr val="accent5">
                    <a:lumMod val="75000"/>
                  </a:schemeClr>
                </a:solidFill>
                <a:latin typeface="Arial" panose="020B0604020202020204" pitchFamily="34" charset="0"/>
                <a:cs typeface="Arial" panose="020B0604020202020204" pitchFamily="34" charset="0"/>
              </a:rPr>
              <a:t>Headquarters U.S. Air Force</a:t>
            </a:r>
          </a:p>
        </p:txBody>
      </p:sp>
      <p:sp>
        <p:nvSpPr>
          <p:cNvPr id="3" name="Subtitle 2">
            <a:extLst>
              <a:ext uri="{FF2B5EF4-FFF2-40B4-BE49-F238E27FC236}">
                <a16:creationId xmlns:a16="http://schemas.microsoft.com/office/drawing/2014/main" id="{3A15C3D8-DB31-F913-40A3-56C8BAB2CF7B}"/>
              </a:ext>
            </a:extLst>
          </p:cNvPr>
          <p:cNvSpPr>
            <a:spLocks noGrp="1"/>
          </p:cNvSpPr>
          <p:nvPr>
            <p:ph type="subTitle" idx="1"/>
          </p:nvPr>
        </p:nvSpPr>
        <p:spPr>
          <a:xfrm>
            <a:off x="1524000" y="1131570"/>
            <a:ext cx="9144000" cy="342900"/>
          </a:xfrm>
        </p:spPr>
        <p:txBody>
          <a:bodyPr>
            <a:normAutofit lnSpcReduction="10000"/>
          </a:bodyPr>
          <a:lstStyle/>
          <a:p>
            <a:r>
              <a:rPr lang="en-US" sz="2000" i="1" dirty="0">
                <a:solidFill>
                  <a:schemeClr val="accent5">
                    <a:lumMod val="75000"/>
                  </a:schemeClr>
                </a:solidFill>
                <a:latin typeface="Century Schoolbook" panose="02040604050505020304" pitchFamily="18" charset="0"/>
              </a:rPr>
              <a:t>Integrity – Service - Excellence</a:t>
            </a:r>
          </a:p>
        </p:txBody>
      </p:sp>
      <p:cxnSp>
        <p:nvCxnSpPr>
          <p:cNvPr id="6" name="Straight Connector 5">
            <a:extLst>
              <a:ext uri="{FF2B5EF4-FFF2-40B4-BE49-F238E27FC236}">
                <a16:creationId xmlns:a16="http://schemas.microsoft.com/office/drawing/2014/main" id="{50C8E860-5377-8F69-6643-979F9424CF8F}"/>
              </a:ext>
            </a:extLst>
          </p:cNvPr>
          <p:cNvCxnSpPr/>
          <p:nvPr/>
        </p:nvCxnSpPr>
        <p:spPr>
          <a:xfrm>
            <a:off x="1524000" y="891540"/>
            <a:ext cx="9144000" cy="3429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13" descr="afsymbol">
            <a:extLst>
              <a:ext uri="{FF2B5EF4-FFF2-40B4-BE49-F238E27FC236}">
                <a16:creationId xmlns:a16="http://schemas.microsoft.com/office/drawing/2014/main" id="{8188FBED-DF4B-9F90-F7C4-8332C7F39B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265" y="3774122"/>
            <a:ext cx="4406900" cy="260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7E884722-7140-926F-5764-E7605FA98396}"/>
              </a:ext>
            </a:extLst>
          </p:cNvPr>
          <p:cNvSpPr txBox="1"/>
          <p:nvPr/>
        </p:nvSpPr>
        <p:spPr>
          <a:xfrm>
            <a:off x="5337810" y="2254964"/>
            <a:ext cx="6195060" cy="369332"/>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2AD74366-DD10-BF1F-4AD4-47121E5F3327}"/>
              </a:ext>
            </a:extLst>
          </p:cNvPr>
          <p:cNvSpPr txBox="1"/>
          <p:nvPr/>
        </p:nvSpPr>
        <p:spPr>
          <a:xfrm>
            <a:off x="2450175" y="1793299"/>
            <a:ext cx="7291137" cy="646331"/>
          </a:xfrm>
          <a:prstGeom prst="rect">
            <a:avLst/>
          </a:prstGeom>
          <a:noFill/>
        </p:spPr>
        <p:txBody>
          <a:bodyPr wrap="square" rtlCol="0">
            <a:spAutoFit/>
          </a:bodyPr>
          <a:lstStyle/>
          <a:p>
            <a:pPr algn="ctr"/>
            <a:r>
              <a:rPr lang="en-US" sz="3600" b="1" u="sng" dirty="0">
                <a:solidFill>
                  <a:schemeClr val="accent5">
                    <a:lumMod val="75000"/>
                  </a:schemeClr>
                </a:solidFill>
              </a:rPr>
              <a:t>316</a:t>
            </a:r>
            <a:r>
              <a:rPr lang="en-US" sz="3600" b="1" u="sng" baseline="30000" dirty="0">
                <a:solidFill>
                  <a:schemeClr val="accent5">
                    <a:lumMod val="75000"/>
                  </a:schemeClr>
                </a:solidFill>
              </a:rPr>
              <a:t>th</a:t>
            </a:r>
            <a:r>
              <a:rPr lang="en-US" sz="3600" b="1" u="sng" dirty="0">
                <a:solidFill>
                  <a:schemeClr val="accent5">
                    <a:lumMod val="75000"/>
                  </a:schemeClr>
                </a:solidFill>
              </a:rPr>
              <a:t> Contracting Squadron</a:t>
            </a:r>
          </a:p>
        </p:txBody>
      </p:sp>
    </p:spTree>
    <p:extLst>
      <p:ext uri="{BB962C8B-B14F-4D97-AF65-F5344CB8AC3E}">
        <p14:creationId xmlns:p14="http://schemas.microsoft.com/office/powerpoint/2010/main" val="8311461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5C873-DCF0-46C8-BC6B-F6002A8B56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374736-355C-5706-E349-826837B78328}"/>
              </a:ext>
            </a:extLst>
          </p:cNvPr>
          <p:cNvSpPr>
            <a:spLocks noGrp="1"/>
          </p:cNvSpPr>
          <p:nvPr>
            <p:ph idx="1"/>
          </p:nvPr>
        </p:nvSpPr>
        <p:spPr>
          <a:xfrm>
            <a:off x="582930" y="1565765"/>
            <a:ext cx="11018520" cy="4508434"/>
          </a:xfrm>
        </p:spPr>
        <p:txBody>
          <a:bodyPr vert="horz" lIns="91440" tIns="45720" rIns="91440" bIns="45720" rtlCol="0" anchor="t">
            <a:normAutofit fontScale="92500" lnSpcReduction="20000"/>
          </a:bodyPr>
          <a:lstStyle/>
          <a:p>
            <a:pPr marL="0" indent="0">
              <a:buNone/>
            </a:pPr>
            <a:r>
              <a:rPr lang="en-US" sz="1700" b="1" dirty="0">
                <a:solidFill>
                  <a:schemeClr val="accent1">
                    <a:lumMod val="50000"/>
                  </a:schemeClr>
                </a:solidFill>
              </a:rPr>
              <a:t>Mission Owner: </a:t>
            </a:r>
            <a:r>
              <a:rPr lang="en-US" sz="1700" dirty="0">
                <a:solidFill>
                  <a:schemeClr val="accent1">
                    <a:lumMod val="50000"/>
                  </a:schemeClr>
                </a:solidFill>
              </a:rPr>
              <a:t>316th Civil Engineering Squadron</a:t>
            </a:r>
            <a:endParaRPr lang="en-US" sz="1700" dirty="0">
              <a:solidFill>
                <a:schemeClr val="accent1">
                  <a:lumMod val="50000"/>
                </a:schemeClr>
              </a:solidFill>
              <a:highlight>
                <a:srgbClr val="FFFF00"/>
              </a:highlight>
              <a:ea typeface="Calibri"/>
              <a:cs typeface="Calibri"/>
            </a:endParaRPr>
          </a:p>
          <a:p>
            <a:pPr marL="0" indent="0">
              <a:buNone/>
            </a:pPr>
            <a:r>
              <a:rPr lang="en-US" sz="1700" b="1" dirty="0">
                <a:solidFill>
                  <a:schemeClr val="accent1">
                    <a:lumMod val="50000"/>
                  </a:schemeClr>
                </a:solidFill>
                <a:ea typeface="+mn-lt"/>
                <a:cs typeface="+mn-lt"/>
              </a:rPr>
              <a:t>Description: </a:t>
            </a:r>
            <a:r>
              <a:rPr lang="en-US" sz="1700" dirty="0">
                <a:solidFill>
                  <a:schemeClr val="accent1">
                    <a:lumMod val="50000"/>
                  </a:schemeClr>
                </a:solidFill>
                <a:ea typeface="+mn-lt"/>
                <a:cs typeface="+mn-lt"/>
              </a:rPr>
              <a:t>Provide all personnel, equipment, tools, materials, vehicles, supervision, and services necessary to perform non-hazardous integrated solid waste, recycling collection, and tube television/monitor transportation and disposal services, recycling yard operation, and management on Joint Base Andrews (JBA), Brandywine, and Davidsonville Communication Sites.</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rPr>
              <a:t>Need Date: </a:t>
            </a:r>
            <a:r>
              <a:rPr lang="en-US" sz="1700" dirty="0">
                <a:solidFill>
                  <a:schemeClr val="accent1">
                    <a:lumMod val="50000"/>
                  </a:schemeClr>
                </a:solidFill>
              </a:rPr>
              <a:t>November 2025</a:t>
            </a:r>
            <a:endParaRPr lang="en-US" sz="1700" dirty="0">
              <a:solidFill>
                <a:schemeClr val="accent1">
                  <a:lumMod val="50000"/>
                </a:schemeClr>
              </a:solidFill>
              <a:ea typeface="+mn-lt"/>
              <a:cs typeface="+mn-lt"/>
            </a:endParaRPr>
          </a:p>
          <a:p>
            <a:pPr marL="0" indent="0">
              <a:buNone/>
            </a:pPr>
            <a:r>
              <a:rPr lang="en-US" sz="1700" b="1" dirty="0">
                <a:solidFill>
                  <a:schemeClr val="accent1">
                    <a:lumMod val="50000"/>
                  </a:schemeClr>
                </a:solidFill>
              </a:rPr>
              <a:t>Period of Performance: </a:t>
            </a:r>
            <a:r>
              <a:rPr lang="en-US" sz="1700" dirty="0">
                <a:solidFill>
                  <a:schemeClr val="accent1">
                    <a:lumMod val="50000"/>
                  </a:schemeClr>
                </a:solidFill>
              </a:rPr>
              <a:t>November 2025 – November 2030</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rPr>
              <a:t>Recompete: </a:t>
            </a:r>
            <a:r>
              <a:rPr lang="en-US" sz="1700" dirty="0">
                <a:solidFill>
                  <a:schemeClr val="accent1">
                    <a:lumMod val="50000"/>
                  </a:schemeClr>
                </a:solidFill>
              </a:rPr>
              <a:t>FA286021C0003</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rPr>
              <a:t>Anticipated RFP/RFQ Release Timeframe: </a:t>
            </a:r>
            <a:r>
              <a:rPr lang="en-US" sz="1700" dirty="0">
                <a:solidFill>
                  <a:schemeClr val="accent1">
                    <a:lumMod val="50000"/>
                  </a:schemeClr>
                </a:solidFill>
              </a:rPr>
              <a:t>June 2025</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rPr>
              <a:t>Acquisition Strategy: </a:t>
            </a:r>
            <a:r>
              <a:rPr lang="en-US" sz="1700" dirty="0">
                <a:solidFill>
                  <a:schemeClr val="accent1">
                    <a:lumMod val="50000"/>
                  </a:schemeClr>
                </a:solidFill>
              </a:rPr>
              <a:t>Small Business Set Aside</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rPr>
              <a:t>Preliminary Evaluation Criteria: </a:t>
            </a:r>
            <a:r>
              <a:rPr lang="en-US" sz="1700" dirty="0">
                <a:solidFill>
                  <a:schemeClr val="accent1">
                    <a:lumMod val="50000"/>
                  </a:schemeClr>
                </a:solidFill>
              </a:rPr>
              <a:t>TBD</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rPr>
              <a:t>NAICS: </a:t>
            </a:r>
            <a:r>
              <a:rPr lang="en-US" sz="1700" dirty="0">
                <a:solidFill>
                  <a:schemeClr val="accent1">
                    <a:lumMod val="50000"/>
                  </a:schemeClr>
                </a:solidFill>
                <a:ea typeface="+mn-lt"/>
                <a:cs typeface="+mn-lt"/>
              </a:rPr>
              <a:t>562111</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effectLst/>
                <a:ea typeface="Times New Roman" panose="02020603050405020304" pitchFamily="18" charset="0"/>
              </a:rPr>
              <a:t>CO </a:t>
            </a:r>
            <a:r>
              <a:rPr lang="en-US" sz="1700" b="1" dirty="0">
                <a:solidFill>
                  <a:schemeClr val="accent1">
                    <a:lumMod val="50000"/>
                  </a:schemeClr>
                </a:solidFill>
                <a:ea typeface="Times New Roman" panose="02020603050405020304" pitchFamily="18" charset="0"/>
              </a:rPr>
              <a:t>&amp; Contact Information: </a:t>
            </a:r>
            <a:r>
              <a:rPr lang="en-US" sz="1700" dirty="0">
                <a:solidFill>
                  <a:schemeClr val="accent1">
                    <a:lumMod val="50000"/>
                  </a:schemeClr>
                </a:solidFill>
                <a:ea typeface="Times New Roman" panose="02020603050405020304" pitchFamily="18" charset="0"/>
              </a:rPr>
              <a:t>316 CONS Infrastructure Flight, Mr. Dillon Lucas</a:t>
            </a:r>
          </a:p>
          <a:p>
            <a:pPr marL="0" indent="0">
              <a:buNone/>
            </a:pPr>
            <a:r>
              <a:rPr lang="en-US" sz="1700" b="1" dirty="0">
                <a:solidFill>
                  <a:schemeClr val="accent1">
                    <a:lumMod val="50000"/>
                  </a:schemeClr>
                </a:solidFill>
                <a:ea typeface="Times New Roman" panose="02020603050405020304" pitchFamily="18" charset="0"/>
                <a:cs typeface="Calibri"/>
              </a:rPr>
              <a:t>PM: </a:t>
            </a:r>
            <a:r>
              <a:rPr lang="en-US" sz="1700" dirty="0">
                <a:solidFill>
                  <a:schemeClr val="accent1">
                    <a:lumMod val="50000"/>
                  </a:schemeClr>
                </a:solidFill>
                <a:ea typeface="Times New Roman" panose="02020603050405020304" pitchFamily="18" charset="0"/>
                <a:cs typeface="Calibri"/>
              </a:rPr>
              <a:t>Mr. James Sidler/Mr. Jeremy White</a:t>
            </a:r>
            <a:endParaRPr lang="en-US" sz="1700" dirty="0">
              <a:solidFill>
                <a:schemeClr val="accent1">
                  <a:lumMod val="50000"/>
                </a:schemeClr>
              </a:solidFill>
              <a:effectLst/>
              <a:ea typeface="Times New Roman" panose="02020603050405020304" pitchFamily="18" charset="0"/>
              <a:cs typeface="Calibri"/>
            </a:endParaRPr>
          </a:p>
          <a:p>
            <a:pPr marL="0" indent="0">
              <a:buNone/>
            </a:pPr>
            <a:endParaRPr lang="en-US" sz="1600" b="1" dirty="0">
              <a:solidFill>
                <a:schemeClr val="accent1">
                  <a:lumMod val="50000"/>
                </a:schemeClr>
              </a:solidFill>
              <a:highlight>
                <a:srgbClr val="FFFF00"/>
              </a:highlight>
            </a:endParaRPr>
          </a:p>
          <a:p>
            <a:pPr marL="0" indent="0">
              <a:buNone/>
            </a:pP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160BADCE-D024-40EA-ADD8-F09671A9F6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85A9D74F-43F9-6966-2ED5-A10AE18FD61B}"/>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6BF46BE-99A1-9995-911B-B3AD319B5D56}"/>
              </a:ext>
            </a:extLst>
          </p:cNvPr>
          <p:cNvSpPr txBox="1"/>
          <p:nvPr/>
        </p:nvSpPr>
        <p:spPr>
          <a:xfrm>
            <a:off x="5955030" y="854032"/>
            <a:ext cx="5733422" cy="523220"/>
          </a:xfrm>
          <a:prstGeom prst="rect">
            <a:avLst/>
          </a:prstGeom>
          <a:noFill/>
        </p:spPr>
        <p:txBody>
          <a:bodyPr wrap="square" lIns="91440" tIns="45720" rIns="91440" bIns="45720" rtlCol="0" anchor="t">
            <a:spAutoFit/>
          </a:bodyPr>
          <a:lstStyle/>
          <a:p>
            <a:pPr algn="r"/>
            <a:r>
              <a:rPr lang="en-US" sz="2800" b="1" i="1" dirty="0"/>
              <a:t>Refuse and Recycling</a:t>
            </a:r>
            <a:endParaRPr lang="en-US" dirty="0"/>
          </a:p>
        </p:txBody>
      </p:sp>
      <p:sp>
        <p:nvSpPr>
          <p:cNvPr id="10" name="Slide Number Placeholder 9">
            <a:extLst>
              <a:ext uri="{FF2B5EF4-FFF2-40B4-BE49-F238E27FC236}">
                <a16:creationId xmlns:a16="http://schemas.microsoft.com/office/drawing/2014/main" id="{F8507ED6-79AF-EC56-8AED-2AB698B3A9A4}"/>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45</a:t>
            </a:fld>
            <a:endParaRPr lang="en-US" sz="1600" b="1">
              <a:solidFill>
                <a:schemeClr val="accent5">
                  <a:lumMod val="75000"/>
                </a:schemeClr>
              </a:solidFill>
            </a:endParaRPr>
          </a:p>
        </p:txBody>
      </p:sp>
    </p:spTree>
    <p:extLst>
      <p:ext uri="{BB962C8B-B14F-4D97-AF65-F5344CB8AC3E}">
        <p14:creationId xmlns:p14="http://schemas.microsoft.com/office/powerpoint/2010/main" val="13763483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2930" y="1565765"/>
            <a:ext cx="11018520" cy="4508434"/>
          </a:xfrm>
        </p:spPr>
        <p:txBody>
          <a:bodyPr vert="horz" lIns="91440" tIns="45720" rIns="91440" bIns="45720" rtlCol="0" anchor="t">
            <a:normAutofit fontScale="92500" lnSpcReduction="10000"/>
          </a:bodyPr>
          <a:lstStyle/>
          <a:p>
            <a:pPr marL="0" indent="0">
              <a:buNone/>
            </a:pPr>
            <a:r>
              <a:rPr lang="en-US" sz="1700" b="1" dirty="0">
                <a:solidFill>
                  <a:schemeClr val="accent1">
                    <a:lumMod val="50000"/>
                  </a:schemeClr>
                </a:solidFill>
              </a:rPr>
              <a:t>Mission Owner: </a:t>
            </a:r>
            <a:r>
              <a:rPr lang="en-US" sz="1700" dirty="0">
                <a:solidFill>
                  <a:schemeClr val="accent1">
                    <a:lumMod val="50000"/>
                  </a:schemeClr>
                </a:solidFill>
              </a:rPr>
              <a:t>316th Civil Engineering Squadron</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ea typeface="+mn-lt"/>
                <a:cs typeface="+mn-lt"/>
              </a:rPr>
              <a:t>Description: </a:t>
            </a:r>
            <a:r>
              <a:rPr lang="en-US" sz="1700" dirty="0">
                <a:solidFill>
                  <a:schemeClr val="accent1">
                    <a:lumMod val="50000"/>
                  </a:schemeClr>
                </a:solidFill>
                <a:ea typeface="+mn-lt"/>
                <a:cs typeface="+mn-lt"/>
              </a:rPr>
              <a:t>Furnish all labor, transportation, equipment, lifts, materials, tools, supplies, and supervision necessary to perform inspections, test, maintenance and repairs on the overhead hoist and associated equipment located on Joint Base Andrews (JBA) and Davidsonville MD. The Contractor’s maintenance and inspection program shall be based on original equipment manufacturer’s recommendations. Hoist inspections shall be an in-depth assessment, available for all brands, types, and sizes of overhead hoists, to help ensure regulatory compliance and assist with safety and reliability.</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rPr>
              <a:t>Need Date: </a:t>
            </a:r>
            <a:r>
              <a:rPr lang="en-US" sz="1700" dirty="0">
                <a:solidFill>
                  <a:schemeClr val="accent1">
                    <a:lumMod val="50000"/>
                  </a:schemeClr>
                </a:solidFill>
              </a:rPr>
              <a:t>September 2025</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rPr>
              <a:t>Period of Performance: </a:t>
            </a:r>
            <a:r>
              <a:rPr lang="en-US" sz="1700" dirty="0">
                <a:solidFill>
                  <a:schemeClr val="accent1">
                    <a:lumMod val="50000"/>
                  </a:schemeClr>
                </a:solidFill>
              </a:rPr>
              <a:t>September 2025 – September 2030</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rPr>
              <a:t>Recompete: </a:t>
            </a:r>
            <a:r>
              <a:rPr lang="en-US" sz="1700" dirty="0">
                <a:solidFill>
                  <a:schemeClr val="accent1">
                    <a:lumMod val="50000"/>
                  </a:schemeClr>
                </a:solidFill>
              </a:rPr>
              <a:t>FA286020C0054</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rPr>
              <a:t>Anticipated RFP/RFQ Release Timeframe: </a:t>
            </a:r>
            <a:r>
              <a:rPr lang="en-US" sz="1700" dirty="0">
                <a:solidFill>
                  <a:schemeClr val="accent1">
                    <a:lumMod val="50000"/>
                  </a:schemeClr>
                </a:solidFill>
              </a:rPr>
              <a:t>April 2025</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rPr>
              <a:t>Acquisition Strategy: </a:t>
            </a:r>
            <a:r>
              <a:rPr lang="en-US" sz="1700" dirty="0">
                <a:solidFill>
                  <a:schemeClr val="accent1">
                    <a:lumMod val="50000"/>
                  </a:schemeClr>
                </a:solidFill>
              </a:rPr>
              <a:t>Small Business Set Aside</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rPr>
              <a:t>Preliminary Evaluation Criteria: </a:t>
            </a:r>
            <a:r>
              <a:rPr lang="en-US" sz="1700" dirty="0">
                <a:solidFill>
                  <a:schemeClr val="accent1">
                    <a:lumMod val="50000"/>
                  </a:schemeClr>
                </a:solidFill>
              </a:rPr>
              <a:t>TBD</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rPr>
              <a:t>NAICS:</a:t>
            </a:r>
            <a:r>
              <a:rPr lang="en-US" sz="1700" dirty="0">
                <a:solidFill>
                  <a:schemeClr val="accent1">
                    <a:lumMod val="50000"/>
                  </a:schemeClr>
                </a:solidFill>
              </a:rPr>
              <a:t> 811310</a:t>
            </a:r>
            <a:endParaRPr lang="en-US" sz="1700" dirty="0">
              <a:solidFill>
                <a:schemeClr val="accent1">
                  <a:lumMod val="50000"/>
                </a:schemeClr>
              </a:solidFill>
              <a:ea typeface="Calibri"/>
              <a:cs typeface="Calibri"/>
            </a:endParaRPr>
          </a:p>
          <a:p>
            <a:pPr marL="0" indent="0">
              <a:buNone/>
            </a:pPr>
            <a:r>
              <a:rPr lang="en-US" sz="1700" b="1" dirty="0">
                <a:solidFill>
                  <a:schemeClr val="accent1">
                    <a:lumMod val="50000"/>
                  </a:schemeClr>
                </a:solidFill>
                <a:ea typeface="Times New Roman" panose="02020603050405020304" pitchFamily="18" charset="0"/>
              </a:rPr>
              <a:t>CO &amp; Contact Information: </a:t>
            </a:r>
            <a:r>
              <a:rPr lang="en-US" sz="1700" dirty="0">
                <a:solidFill>
                  <a:schemeClr val="accent1">
                    <a:lumMod val="50000"/>
                  </a:schemeClr>
                </a:solidFill>
                <a:ea typeface="Calibri"/>
              </a:rPr>
              <a:t>316 CONS Infrastructure Flight,</a:t>
            </a:r>
            <a:r>
              <a:rPr lang="en-US" sz="1700" dirty="0">
                <a:solidFill>
                  <a:schemeClr val="accent1">
                    <a:lumMod val="50000"/>
                  </a:schemeClr>
                </a:solidFill>
                <a:ea typeface="Times New Roman" panose="02020603050405020304" pitchFamily="18" charset="0"/>
              </a:rPr>
              <a:t> TSgt Jeffrey Harris</a:t>
            </a:r>
            <a:endParaRPr lang="en-US" sz="1600" dirty="0">
              <a:solidFill>
                <a:schemeClr val="accent1">
                  <a:lumMod val="50000"/>
                </a:schemeClr>
              </a:solidFill>
              <a:effectLst/>
              <a:highlight>
                <a:srgbClr val="FFFF00"/>
              </a:highlight>
              <a:ea typeface="Times New Roman" panose="02020603050405020304" pitchFamily="18" charset="0"/>
              <a:cs typeface="Calibri"/>
            </a:endParaRPr>
          </a:p>
          <a:p>
            <a:pPr marL="0" indent="0">
              <a:buNone/>
            </a:pPr>
            <a:r>
              <a:rPr lang="en-US" sz="1600" dirty="0">
                <a:solidFill>
                  <a:schemeClr val="accent1">
                    <a:lumMod val="50000"/>
                  </a:schemeClr>
                </a:solidFill>
                <a:highlight>
                  <a:srgbClr val="FFFF00"/>
                </a:highlight>
              </a:rPr>
              <a:t>				</a:t>
            </a:r>
            <a:endParaRPr lang="en-US" sz="1600" dirty="0">
              <a:solidFill>
                <a:schemeClr val="accent1">
                  <a:lumMod val="50000"/>
                </a:schemeClr>
              </a:solidFill>
              <a:highlight>
                <a:srgbClr val="FFFF00"/>
              </a:highlight>
              <a:ea typeface="Calibri"/>
              <a:cs typeface="Calibri"/>
            </a:endParaRPr>
          </a:p>
        </p:txBody>
      </p:sp>
      <p:pic>
        <p:nvPicPr>
          <p:cNvPr id="4" name="Picture 13" descr="afsymbo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955030" y="854032"/>
            <a:ext cx="5733422" cy="523220"/>
          </a:xfrm>
          <a:prstGeom prst="rect">
            <a:avLst/>
          </a:prstGeom>
          <a:noFill/>
        </p:spPr>
        <p:txBody>
          <a:bodyPr wrap="square" lIns="91440" tIns="45720" rIns="91440" bIns="45720" rtlCol="0" anchor="t">
            <a:spAutoFit/>
          </a:bodyPr>
          <a:lstStyle/>
          <a:p>
            <a:pPr algn="r"/>
            <a:r>
              <a:rPr lang="en-US" sz="2800" b="1" i="1"/>
              <a:t>Overhead Hoist PM &amp; Repair</a:t>
            </a:r>
            <a:endParaRPr lang="en-US"/>
          </a:p>
        </p:txBody>
      </p:sp>
      <p:sp>
        <p:nvSpPr>
          <p:cNvPr id="10" name="Slide Number Placeholder 9"/>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46</a:t>
            </a:fld>
            <a:endParaRPr lang="en-US" sz="1600" b="1">
              <a:solidFill>
                <a:schemeClr val="accent5">
                  <a:lumMod val="75000"/>
                </a:schemeClr>
              </a:solidFill>
            </a:endParaRPr>
          </a:p>
        </p:txBody>
      </p:sp>
    </p:spTree>
    <p:extLst>
      <p:ext uri="{BB962C8B-B14F-4D97-AF65-F5344CB8AC3E}">
        <p14:creationId xmlns:p14="http://schemas.microsoft.com/office/powerpoint/2010/main" val="19076455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88D90-5BAE-CAFF-8BAE-209768F095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04C2D0-10B4-45A6-2990-471456C1441E}"/>
              </a:ext>
            </a:extLst>
          </p:cNvPr>
          <p:cNvSpPr>
            <a:spLocks noGrp="1"/>
          </p:cNvSpPr>
          <p:nvPr>
            <p:ph idx="1"/>
          </p:nvPr>
        </p:nvSpPr>
        <p:spPr>
          <a:xfrm>
            <a:off x="582930" y="1565765"/>
            <a:ext cx="11018520" cy="4508434"/>
          </a:xfrm>
        </p:spPr>
        <p:txBody>
          <a:bodyPr vert="horz" lIns="91440" tIns="45720" rIns="91440" bIns="45720" rtlCol="0" anchor="t">
            <a:normAutofit lnSpcReduction="10000"/>
          </a:bodyPr>
          <a:lstStyle/>
          <a:p>
            <a:pPr marL="0" indent="0">
              <a:buNone/>
            </a:pPr>
            <a:r>
              <a:rPr lang="en-US" sz="1600" b="1" dirty="0">
                <a:solidFill>
                  <a:schemeClr val="accent1">
                    <a:lumMod val="50000"/>
                  </a:schemeClr>
                </a:solidFill>
              </a:rPr>
              <a:t>Mission Owner: </a:t>
            </a:r>
            <a:r>
              <a:rPr lang="en-US" sz="1600" dirty="0">
                <a:solidFill>
                  <a:schemeClr val="accent1">
                    <a:lumMod val="50000"/>
                  </a:schemeClr>
                </a:solidFill>
              </a:rPr>
              <a:t>316th Civil Engineering Squadron</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a typeface="+mn-lt"/>
                <a:cs typeface="+mn-lt"/>
              </a:rPr>
              <a:t>Description: </a:t>
            </a:r>
            <a:r>
              <a:rPr lang="en-US" sz="1600" dirty="0">
                <a:solidFill>
                  <a:schemeClr val="accent1">
                    <a:lumMod val="50000"/>
                  </a:schemeClr>
                </a:solidFill>
                <a:ea typeface="+mn-lt"/>
                <a:cs typeface="+mn-lt"/>
              </a:rPr>
              <a:t>Furnish all labor, transportation, materials, tools, supplies, equipment and supervision necessary to perform maintenance and repairs on the overhead doors, to include security grills, automatic doors, automatic gates, limited access turnstiles, and associated equipment located on Joint Base Andrews (JBA), MD.</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July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ea typeface="+mn-lt"/>
                <a:cs typeface="+mn-lt"/>
              </a:rPr>
              <a:t>July 2025 – July 2030</a:t>
            </a:r>
          </a:p>
          <a:p>
            <a:pPr marL="0" indent="0">
              <a:buNone/>
            </a:pPr>
            <a:r>
              <a:rPr lang="en-US" sz="1600" b="1" dirty="0">
                <a:solidFill>
                  <a:schemeClr val="accent1">
                    <a:lumMod val="50000"/>
                  </a:schemeClr>
                </a:solidFill>
              </a:rPr>
              <a:t>Recompete: </a:t>
            </a:r>
            <a:r>
              <a:rPr lang="en-US" sz="1600" dirty="0">
                <a:solidFill>
                  <a:schemeClr val="accent1">
                    <a:lumMod val="50000"/>
                  </a:schemeClr>
                </a:solidFill>
              </a:rPr>
              <a:t>FA286020C0032</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Timeframe: </a:t>
            </a:r>
            <a:r>
              <a:rPr lang="en-US" sz="1600" dirty="0">
                <a:solidFill>
                  <a:schemeClr val="accent1">
                    <a:lumMod val="50000"/>
                  </a:schemeClr>
                </a:solidFill>
              </a:rPr>
              <a:t>April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a:t>
            </a:r>
            <a:r>
              <a:rPr lang="en-US" sz="1600" dirty="0">
                <a:solidFill>
                  <a:schemeClr val="accent1">
                    <a:lumMod val="50000"/>
                  </a:schemeClr>
                </a:solidFill>
              </a:rPr>
              <a:t>Small Business Set Aside</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a:t>
            </a:r>
            <a:r>
              <a:rPr lang="en-US" sz="1600" dirty="0">
                <a:solidFill>
                  <a:schemeClr val="accent1">
                    <a:lumMod val="50000"/>
                  </a:schemeClr>
                </a:solidFill>
              </a:rPr>
              <a:t>Best Value </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238290</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ffectLst/>
                <a:ea typeface="Times New Roman" panose="02020603050405020304" pitchFamily="18" charset="0"/>
              </a:rPr>
              <a:t>CO </a:t>
            </a:r>
            <a:r>
              <a:rPr lang="en-US" sz="1600" b="1" dirty="0">
                <a:solidFill>
                  <a:schemeClr val="accent1">
                    <a:lumMod val="50000"/>
                  </a:schemeClr>
                </a:solidFill>
                <a:ea typeface="Times New Roman" panose="02020603050405020304" pitchFamily="18" charset="0"/>
              </a:rPr>
              <a:t>&amp; Contact Information: </a:t>
            </a:r>
            <a:r>
              <a:rPr lang="en-US" sz="1600" b="1" dirty="0">
                <a:solidFill>
                  <a:schemeClr val="accent1">
                    <a:lumMod val="50000"/>
                  </a:schemeClr>
                </a:solidFill>
                <a:ea typeface="Calibri"/>
              </a:rPr>
              <a:t> </a:t>
            </a:r>
            <a:r>
              <a:rPr lang="en-US" sz="1600" dirty="0">
                <a:solidFill>
                  <a:schemeClr val="accent1">
                    <a:lumMod val="50000"/>
                  </a:schemeClr>
                </a:solidFill>
                <a:ea typeface="Calibri"/>
              </a:rPr>
              <a:t>316 CONS Infrastructure, Flight TSgt Zachary Finley</a:t>
            </a:r>
            <a:r>
              <a:rPr lang="en-US" sz="1600" b="1" dirty="0">
                <a:solidFill>
                  <a:schemeClr val="accent1">
                    <a:lumMod val="50000"/>
                  </a:schemeClr>
                </a:solidFill>
                <a:ea typeface="Calibri"/>
              </a:rPr>
              <a:t> </a:t>
            </a:r>
          </a:p>
          <a:p>
            <a:pPr marL="0" indent="0">
              <a:buNone/>
            </a:pPr>
            <a:r>
              <a:rPr lang="en-US" sz="1600" b="1" dirty="0">
                <a:solidFill>
                  <a:schemeClr val="accent1">
                    <a:lumMod val="50000"/>
                  </a:schemeClr>
                </a:solidFill>
                <a:effectLst/>
                <a:ea typeface="Times New Roman" panose="02020603050405020304" pitchFamily="18" charset="0"/>
              </a:rPr>
              <a:t>PM:</a:t>
            </a:r>
            <a:r>
              <a:rPr lang="en-US" sz="1600" b="1" dirty="0">
                <a:solidFill>
                  <a:schemeClr val="accent1">
                    <a:lumMod val="50000"/>
                  </a:schemeClr>
                </a:solidFill>
                <a:ea typeface="Times New Roman" panose="02020603050405020304" pitchFamily="18" charset="0"/>
              </a:rPr>
              <a:t> </a:t>
            </a:r>
            <a:r>
              <a:rPr lang="en-US" sz="1600" dirty="0">
                <a:solidFill>
                  <a:schemeClr val="accent1">
                    <a:lumMod val="50000"/>
                  </a:schemeClr>
                </a:solidFill>
                <a:ea typeface="Times New Roman" panose="02020603050405020304" pitchFamily="18" charset="0"/>
              </a:rPr>
              <a:t>Mr. Josh Carroll</a:t>
            </a:r>
            <a:endParaRPr lang="en-US" sz="1600" dirty="0">
              <a:solidFill>
                <a:schemeClr val="accent1">
                  <a:lumMod val="50000"/>
                </a:schemeClr>
              </a:solidFill>
              <a:effectLst/>
              <a:ea typeface="Times New Roman" panose="02020603050405020304" pitchFamily="18" charset="0"/>
            </a:endParaRPr>
          </a:p>
          <a:p>
            <a:pPr marL="0" indent="0">
              <a:buNone/>
            </a:pP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CF8EBD60-EFB4-7C2E-0D7D-D1565533071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67A5EBDA-4B35-6995-54D6-7D490BEA7311}"/>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289D601-6C5D-0CC2-B63B-5C66DBDDC09D}"/>
              </a:ext>
            </a:extLst>
          </p:cNvPr>
          <p:cNvSpPr txBox="1"/>
          <p:nvPr/>
        </p:nvSpPr>
        <p:spPr>
          <a:xfrm>
            <a:off x="5955030" y="854032"/>
            <a:ext cx="5733422" cy="523220"/>
          </a:xfrm>
          <a:prstGeom prst="rect">
            <a:avLst/>
          </a:prstGeom>
          <a:noFill/>
        </p:spPr>
        <p:txBody>
          <a:bodyPr wrap="square" lIns="91440" tIns="45720" rIns="91440" bIns="45720" rtlCol="0" anchor="t">
            <a:spAutoFit/>
          </a:bodyPr>
          <a:lstStyle/>
          <a:p>
            <a:pPr algn="r"/>
            <a:r>
              <a:rPr lang="en-US" sz="2800" b="1" i="1">
                <a:ea typeface="Calibri"/>
                <a:cs typeface="Calibri"/>
              </a:rPr>
              <a:t>Multi-Door Maintenance and Repair</a:t>
            </a:r>
            <a:endParaRPr lang="en-US"/>
          </a:p>
        </p:txBody>
      </p:sp>
      <p:sp>
        <p:nvSpPr>
          <p:cNvPr id="10" name="Slide Number Placeholder 9">
            <a:extLst>
              <a:ext uri="{FF2B5EF4-FFF2-40B4-BE49-F238E27FC236}">
                <a16:creationId xmlns:a16="http://schemas.microsoft.com/office/drawing/2014/main" id="{78FBC42A-C747-440A-138C-73C586B5F286}"/>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47</a:t>
            </a:fld>
            <a:endParaRPr lang="en-US" sz="1600" b="1">
              <a:solidFill>
                <a:schemeClr val="accent5">
                  <a:lumMod val="75000"/>
                </a:schemeClr>
              </a:solidFill>
            </a:endParaRPr>
          </a:p>
        </p:txBody>
      </p:sp>
    </p:spTree>
    <p:extLst>
      <p:ext uri="{BB962C8B-B14F-4D97-AF65-F5344CB8AC3E}">
        <p14:creationId xmlns:p14="http://schemas.microsoft.com/office/powerpoint/2010/main" val="42749689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4243D-1C8A-3785-8CDD-C17E1C38FC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DC880C-D4E7-DEB8-7B01-E7E2F3C24D4F}"/>
              </a:ext>
            </a:extLst>
          </p:cNvPr>
          <p:cNvSpPr>
            <a:spLocks noGrp="1"/>
          </p:cNvSpPr>
          <p:nvPr>
            <p:ph idx="1"/>
          </p:nvPr>
        </p:nvSpPr>
        <p:spPr>
          <a:xfrm>
            <a:off x="582930" y="1565765"/>
            <a:ext cx="11018520" cy="4508434"/>
          </a:xfrm>
        </p:spPr>
        <p:txBody>
          <a:bodyPr vert="horz" lIns="91440" tIns="45720" rIns="91440" bIns="45720" rtlCol="0" anchor="t">
            <a:normAutofit lnSpcReduction="10000"/>
          </a:bodyPr>
          <a:lstStyle/>
          <a:p>
            <a:pPr marL="0" indent="0">
              <a:buNone/>
            </a:pPr>
            <a:r>
              <a:rPr lang="en-US" sz="1600" b="1" dirty="0">
                <a:solidFill>
                  <a:schemeClr val="accent1">
                    <a:lumMod val="50000"/>
                  </a:schemeClr>
                </a:solidFill>
              </a:rPr>
              <a:t>Mission Owner: </a:t>
            </a:r>
            <a:r>
              <a:rPr lang="en-US" sz="1600" dirty="0">
                <a:solidFill>
                  <a:schemeClr val="accent1">
                    <a:lumMod val="50000"/>
                  </a:schemeClr>
                </a:solidFill>
              </a:rPr>
              <a:t>316th Civil Engineering Squadron</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Description: </a:t>
            </a:r>
            <a:r>
              <a:rPr lang="en-US" sz="1600" dirty="0">
                <a:solidFill>
                  <a:schemeClr val="accent1">
                    <a:lumMod val="50000"/>
                  </a:schemeClr>
                </a:solidFill>
                <a:ea typeface="+mn-lt"/>
                <a:cs typeface="+mn-lt"/>
              </a:rPr>
              <a:t>Provide all management, tools, supplies, equipment and labor necessary, including but not limited to annual inspections, service calls, and preventative maintenance, to maintain and repair aircraft hangar doors at Joint Base Andrews (JBA) in a manner that will ensure continuous and safe operation of the doors in accordance with applicable standards and the manufacturer’s instructions.</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Need Date: </a:t>
            </a:r>
            <a:r>
              <a:rPr lang="en-US" sz="1600" dirty="0">
                <a:solidFill>
                  <a:schemeClr val="accent1">
                    <a:lumMod val="50000"/>
                  </a:schemeClr>
                </a:solidFill>
              </a:rPr>
              <a:t>September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September 2025 – September 2030</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a:t>
            </a:r>
            <a:r>
              <a:rPr lang="en-US" sz="1600" dirty="0">
                <a:solidFill>
                  <a:schemeClr val="accent1">
                    <a:lumMod val="50000"/>
                  </a:schemeClr>
                </a:solidFill>
              </a:rPr>
              <a:t>FA286021C0047</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Anticipated RFP/RFQ Release Timeframe: </a:t>
            </a:r>
            <a:r>
              <a:rPr lang="en-US" sz="1600" dirty="0">
                <a:solidFill>
                  <a:schemeClr val="accent1">
                    <a:lumMod val="50000"/>
                  </a:schemeClr>
                </a:solidFill>
              </a:rPr>
              <a:t>April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a:t>
            </a:r>
            <a:r>
              <a:rPr lang="en-US" sz="1600" dirty="0">
                <a:solidFill>
                  <a:schemeClr val="accent1">
                    <a:lumMod val="50000"/>
                  </a:schemeClr>
                </a:solidFill>
              </a:rPr>
              <a:t>Small Business Set Aside</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a:t>
            </a:r>
            <a:r>
              <a:rPr lang="en-US" sz="1600" dirty="0">
                <a:solidFill>
                  <a:schemeClr val="accent1">
                    <a:lumMod val="50000"/>
                  </a:schemeClr>
                </a:solidFill>
              </a:rPr>
              <a:t>TBD</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811310</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ffectLst/>
                <a:ea typeface="Calibri"/>
              </a:rPr>
              <a:t>CO</a:t>
            </a:r>
            <a:r>
              <a:rPr lang="en-US" sz="1600" b="1" dirty="0">
                <a:solidFill>
                  <a:schemeClr val="accent1">
                    <a:lumMod val="50000"/>
                  </a:schemeClr>
                </a:solidFill>
                <a:ea typeface="Calibri"/>
              </a:rPr>
              <a:t>:  </a:t>
            </a:r>
            <a:r>
              <a:rPr lang="en-US" sz="1600" dirty="0">
                <a:solidFill>
                  <a:schemeClr val="accent1">
                    <a:lumMod val="50000"/>
                  </a:schemeClr>
                </a:solidFill>
                <a:ea typeface="Calibri"/>
              </a:rPr>
              <a:t>316 CONS Infrastructure, Flight TSgt Zachary Finley </a:t>
            </a:r>
          </a:p>
          <a:p>
            <a:pPr marL="0" indent="0">
              <a:buNone/>
            </a:pPr>
            <a:r>
              <a:rPr lang="en-US" sz="1600" b="1" dirty="0">
                <a:solidFill>
                  <a:schemeClr val="accent1">
                    <a:lumMod val="50000"/>
                  </a:schemeClr>
                </a:solidFill>
                <a:effectLst/>
                <a:ea typeface="Calibri"/>
              </a:rPr>
              <a:t>PM:</a:t>
            </a:r>
            <a:r>
              <a:rPr lang="en-US" sz="1600" b="1" dirty="0">
                <a:solidFill>
                  <a:schemeClr val="accent1">
                    <a:lumMod val="50000"/>
                  </a:schemeClr>
                </a:solidFill>
                <a:ea typeface="Calibri"/>
              </a:rPr>
              <a:t> </a:t>
            </a:r>
            <a:r>
              <a:rPr lang="en-US" sz="1600" dirty="0">
                <a:solidFill>
                  <a:schemeClr val="accent1">
                    <a:lumMod val="50000"/>
                  </a:schemeClr>
                </a:solidFill>
                <a:ea typeface="Calibri"/>
              </a:rPr>
              <a:t>Mr. James Sidler</a:t>
            </a:r>
            <a:endParaRPr lang="en-US" dirty="0">
              <a:solidFill>
                <a:schemeClr val="accent1">
                  <a:lumMod val="50000"/>
                </a:schemeClr>
              </a:solidFill>
              <a:ea typeface="Calibri"/>
              <a:cs typeface="Calibri"/>
            </a:endParaRPr>
          </a:p>
          <a:p>
            <a:pPr marL="0" indent="0">
              <a:buNone/>
            </a:pP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B072DD10-B60B-0910-6813-5146F897BFF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74103985-EF5A-8A86-7B45-0BCAEC5B7CE5}"/>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F23F0E3-D943-3DD6-5556-8C42CB2DCE91}"/>
              </a:ext>
            </a:extLst>
          </p:cNvPr>
          <p:cNvSpPr txBox="1"/>
          <p:nvPr/>
        </p:nvSpPr>
        <p:spPr>
          <a:xfrm>
            <a:off x="5955030" y="854032"/>
            <a:ext cx="5733422" cy="523220"/>
          </a:xfrm>
          <a:prstGeom prst="rect">
            <a:avLst/>
          </a:prstGeom>
          <a:noFill/>
        </p:spPr>
        <p:txBody>
          <a:bodyPr wrap="square" lIns="91440" tIns="45720" rIns="91440" bIns="45720" rtlCol="0" anchor="t">
            <a:spAutoFit/>
          </a:bodyPr>
          <a:lstStyle/>
          <a:p>
            <a:pPr algn="r"/>
            <a:r>
              <a:rPr lang="en-US" sz="2800" b="1" i="1"/>
              <a:t>Hangar Door Maintenance</a:t>
            </a:r>
            <a:endParaRPr lang="en-US" sz="2400" b="1" i="1"/>
          </a:p>
        </p:txBody>
      </p:sp>
      <p:sp>
        <p:nvSpPr>
          <p:cNvPr id="10" name="Slide Number Placeholder 9">
            <a:extLst>
              <a:ext uri="{FF2B5EF4-FFF2-40B4-BE49-F238E27FC236}">
                <a16:creationId xmlns:a16="http://schemas.microsoft.com/office/drawing/2014/main" id="{6B745910-833F-1995-4C81-A4C7AA42EE21}"/>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48</a:t>
            </a:fld>
            <a:endParaRPr lang="en-US" sz="1600" b="1">
              <a:solidFill>
                <a:schemeClr val="accent5">
                  <a:lumMod val="75000"/>
                </a:schemeClr>
              </a:solidFill>
            </a:endParaRPr>
          </a:p>
        </p:txBody>
      </p:sp>
    </p:spTree>
    <p:extLst>
      <p:ext uri="{BB962C8B-B14F-4D97-AF65-F5344CB8AC3E}">
        <p14:creationId xmlns:p14="http://schemas.microsoft.com/office/powerpoint/2010/main" val="17311488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89DA8-662C-082D-2FD6-C96D3BB6B2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BBA51-F80C-1C3B-1322-C289848B1F0A}"/>
              </a:ext>
            </a:extLst>
          </p:cNvPr>
          <p:cNvSpPr>
            <a:spLocks noGrp="1"/>
          </p:cNvSpPr>
          <p:nvPr>
            <p:ph idx="1"/>
          </p:nvPr>
        </p:nvSpPr>
        <p:spPr>
          <a:xfrm>
            <a:off x="582930" y="1565765"/>
            <a:ext cx="11018520" cy="4508434"/>
          </a:xfrm>
        </p:spPr>
        <p:txBody>
          <a:bodyPr vert="horz" lIns="91440" tIns="45720" rIns="91440" bIns="45720" rtlCol="0" anchor="t">
            <a:normAutofit lnSpcReduction="10000"/>
          </a:bodyPr>
          <a:lstStyle/>
          <a:p>
            <a:pPr marL="0" indent="0">
              <a:buNone/>
            </a:pPr>
            <a:r>
              <a:rPr lang="en-US" sz="1600" b="1" dirty="0">
                <a:solidFill>
                  <a:schemeClr val="accent1">
                    <a:lumMod val="50000"/>
                  </a:schemeClr>
                </a:solidFill>
              </a:rPr>
              <a:t>Mission Owner: </a:t>
            </a:r>
            <a:r>
              <a:rPr lang="en-US" sz="1600" dirty="0">
                <a:solidFill>
                  <a:schemeClr val="accent1">
                    <a:lumMod val="50000"/>
                  </a:schemeClr>
                </a:solidFill>
                <a:ea typeface="Calibri"/>
                <a:cs typeface="Calibri"/>
              </a:rPr>
              <a:t>316th Force Support Squadron/</a:t>
            </a:r>
            <a:r>
              <a:rPr lang="en-US" sz="1600" dirty="0">
                <a:solidFill>
                  <a:schemeClr val="accent1">
                    <a:lumMod val="50000"/>
                  </a:schemeClr>
                </a:solidFill>
              </a:rPr>
              <a:t>89th Maintenance Group				</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Description: </a:t>
            </a:r>
            <a:r>
              <a:rPr lang="en-US" sz="1600" b="1" dirty="0">
                <a:solidFill>
                  <a:schemeClr val="accent1">
                    <a:lumMod val="50000"/>
                  </a:schemeClr>
                </a:solidFill>
                <a:ea typeface="Calibri"/>
                <a:cs typeface="Calibri"/>
              </a:rPr>
              <a:t>  </a:t>
            </a:r>
            <a:r>
              <a:rPr lang="en-US" sz="1600" dirty="0">
                <a:solidFill>
                  <a:schemeClr val="accent1">
                    <a:lumMod val="50000"/>
                  </a:schemeClr>
                </a:solidFill>
                <a:ea typeface="Calibri"/>
                <a:cs typeface="Calibri"/>
              </a:rPr>
              <a:t>A Firm Fixed Price (FFP) contract to provide Joint Base Andrews (JBA) full-food service operations at the following locations (1) Main dining facility (Freedom Hall) with additional In-Flight kitchen support for flightline operations; (2) Culinary and Mess Attendant services in support of 89th DV missions.</a:t>
            </a:r>
          </a:p>
          <a:p>
            <a:pPr marL="0" indent="0">
              <a:buNone/>
            </a:pPr>
            <a:r>
              <a:rPr lang="en-US" sz="1600" b="1" dirty="0">
                <a:solidFill>
                  <a:schemeClr val="accent1">
                    <a:lumMod val="50000"/>
                  </a:schemeClr>
                </a:solidFill>
              </a:rPr>
              <a:t>Need Date: </a:t>
            </a:r>
            <a:r>
              <a:rPr lang="en-US" sz="1600" dirty="0">
                <a:solidFill>
                  <a:schemeClr val="accent1">
                    <a:lumMod val="50000"/>
                  </a:schemeClr>
                </a:solidFill>
              </a:rPr>
              <a:t>September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Period of Performance: </a:t>
            </a:r>
            <a:r>
              <a:rPr lang="en-US" sz="1600" dirty="0">
                <a:solidFill>
                  <a:schemeClr val="accent1">
                    <a:lumMod val="50000"/>
                  </a:schemeClr>
                </a:solidFill>
              </a:rPr>
              <a:t>September 2025 – September 2030 </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Recompete: </a:t>
            </a:r>
            <a:r>
              <a:rPr lang="en-US" sz="1600" dirty="0">
                <a:solidFill>
                  <a:schemeClr val="accent1">
                    <a:lumMod val="50000"/>
                  </a:schemeClr>
                </a:solidFill>
                <a:ea typeface="Calibri"/>
                <a:cs typeface="Calibri"/>
              </a:rPr>
              <a:t>TBD</a:t>
            </a:r>
          </a:p>
          <a:p>
            <a:pPr marL="0" indent="0">
              <a:buNone/>
            </a:pPr>
            <a:r>
              <a:rPr lang="en-US" sz="1600" b="1" dirty="0">
                <a:solidFill>
                  <a:schemeClr val="accent1">
                    <a:lumMod val="50000"/>
                  </a:schemeClr>
                </a:solidFill>
              </a:rPr>
              <a:t>Anticipated RFP/RFQ Release Date/Timeframe: </a:t>
            </a:r>
            <a:r>
              <a:rPr lang="en-US" sz="1600" dirty="0">
                <a:solidFill>
                  <a:schemeClr val="accent1">
                    <a:lumMod val="50000"/>
                  </a:schemeClr>
                </a:solidFill>
              </a:rPr>
              <a:t>May – June 2025</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Acquisition Strategy: </a:t>
            </a:r>
            <a:r>
              <a:rPr lang="en-US" sz="1600" dirty="0">
                <a:solidFill>
                  <a:schemeClr val="accent1">
                    <a:lumMod val="50000"/>
                  </a:schemeClr>
                </a:solidFill>
              </a:rPr>
              <a:t>Full &amp; Open</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Preliminary Evaluation Criteria: </a:t>
            </a:r>
            <a:r>
              <a:rPr lang="en-US" sz="1600" dirty="0">
                <a:solidFill>
                  <a:schemeClr val="accent1">
                    <a:lumMod val="50000"/>
                  </a:schemeClr>
                </a:solidFill>
              </a:rPr>
              <a:t>Best Value/Randolph-Sheppard Act</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Contract Vehicle Being Used: </a:t>
            </a:r>
            <a:r>
              <a:rPr lang="en-US" sz="1600" dirty="0">
                <a:solidFill>
                  <a:schemeClr val="accent1">
                    <a:lumMod val="50000"/>
                  </a:schemeClr>
                </a:solidFill>
              </a:rPr>
              <a:t>Definitized Contract (C-Type)</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rPr>
              <a:t>NAICS: </a:t>
            </a:r>
            <a:r>
              <a:rPr lang="en-US" sz="1600" dirty="0">
                <a:solidFill>
                  <a:schemeClr val="accent1">
                    <a:lumMod val="50000"/>
                  </a:schemeClr>
                </a:solidFill>
              </a:rPr>
              <a:t>722310</a:t>
            </a:r>
            <a:endParaRPr lang="en-US" sz="1600" dirty="0">
              <a:solidFill>
                <a:schemeClr val="accent1">
                  <a:lumMod val="50000"/>
                </a:schemeClr>
              </a:solidFill>
              <a:ea typeface="Calibri"/>
              <a:cs typeface="Calibri"/>
            </a:endParaRPr>
          </a:p>
          <a:p>
            <a:pPr marL="0" indent="0">
              <a:buNone/>
            </a:pPr>
            <a:r>
              <a:rPr lang="en-US" sz="1600" b="1" dirty="0">
                <a:solidFill>
                  <a:schemeClr val="accent1">
                    <a:lumMod val="50000"/>
                  </a:schemeClr>
                </a:solidFill>
                <a:ea typeface="Calibri"/>
                <a:cs typeface="Calibri"/>
              </a:rPr>
              <a:t>CO: </a:t>
            </a:r>
            <a:r>
              <a:rPr lang="en-US" sz="1600" dirty="0">
                <a:solidFill>
                  <a:schemeClr val="accent1">
                    <a:lumMod val="50000"/>
                  </a:schemeClr>
                </a:solidFill>
                <a:ea typeface="Calibri"/>
                <a:cs typeface="Calibri"/>
              </a:rPr>
              <a:t>316 CONS, Services and Commodities Flight,</a:t>
            </a:r>
            <a:r>
              <a:rPr lang="en-US" sz="1600" dirty="0">
                <a:solidFill>
                  <a:schemeClr val="accent1">
                    <a:lumMod val="50000"/>
                  </a:schemeClr>
                </a:solidFill>
                <a:ea typeface="Times New Roman" panose="02020603050405020304" pitchFamily="18" charset="0"/>
                <a:cs typeface="Calibri"/>
              </a:rPr>
              <a:t> Ms. Heather Roe</a:t>
            </a:r>
            <a:endParaRPr lang="en-US" sz="1600" dirty="0">
              <a:solidFill>
                <a:schemeClr val="accent1">
                  <a:lumMod val="50000"/>
                </a:schemeClr>
              </a:solidFill>
              <a:effectLst/>
              <a:ea typeface="Times New Roman" panose="02020603050405020304" pitchFamily="18" charset="0"/>
              <a:cs typeface="Calibri"/>
            </a:endParaRPr>
          </a:p>
          <a:p>
            <a:pPr marL="0" indent="0">
              <a:buNone/>
            </a:pPr>
            <a:r>
              <a:rPr lang="en-US" sz="1600" dirty="0">
                <a:solidFill>
                  <a:schemeClr val="accent1">
                    <a:lumMod val="50000"/>
                  </a:schemeClr>
                </a:solidFill>
              </a:rPr>
              <a:t>				</a:t>
            </a:r>
            <a:endParaRPr lang="en-US" sz="1600" dirty="0">
              <a:solidFill>
                <a:schemeClr val="accent1">
                  <a:lumMod val="50000"/>
                </a:schemeClr>
              </a:solidFill>
              <a:ea typeface="Calibri"/>
              <a:cs typeface="Calibri"/>
            </a:endParaRPr>
          </a:p>
        </p:txBody>
      </p:sp>
      <p:pic>
        <p:nvPicPr>
          <p:cNvPr id="4" name="Picture 13" descr="afsymbol">
            <a:extLst>
              <a:ext uri="{FF2B5EF4-FFF2-40B4-BE49-F238E27FC236}">
                <a16:creationId xmlns:a16="http://schemas.microsoft.com/office/drawing/2014/main" id="{896F9F12-14B5-BC62-4B18-F424C8F6F55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821" y="405763"/>
            <a:ext cx="1890779" cy="1036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178FBDE4-8685-EDDC-27E4-70A592A30E39}"/>
              </a:ext>
            </a:extLst>
          </p:cNvPr>
          <p:cNvCxnSpPr/>
          <p:nvPr/>
        </p:nvCxnSpPr>
        <p:spPr>
          <a:xfrm>
            <a:off x="582930" y="1565909"/>
            <a:ext cx="1109853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24C3465-BD21-A2C2-261D-BAEDC5EEA845}"/>
              </a:ext>
            </a:extLst>
          </p:cNvPr>
          <p:cNvSpPr txBox="1"/>
          <p:nvPr/>
        </p:nvSpPr>
        <p:spPr>
          <a:xfrm>
            <a:off x="5955030" y="854032"/>
            <a:ext cx="5733422" cy="523220"/>
          </a:xfrm>
          <a:prstGeom prst="rect">
            <a:avLst/>
          </a:prstGeom>
          <a:noFill/>
        </p:spPr>
        <p:txBody>
          <a:bodyPr wrap="square" lIns="91440" tIns="45720" rIns="91440" bIns="45720" rtlCol="0" anchor="t">
            <a:spAutoFit/>
          </a:bodyPr>
          <a:lstStyle/>
          <a:p>
            <a:pPr algn="r"/>
            <a:r>
              <a:rPr lang="en-US" sz="2800" b="1" i="1"/>
              <a:t>Joint Base Andrews Food Services</a:t>
            </a:r>
            <a:endParaRPr lang="en-US" sz="2400" b="1" i="1"/>
          </a:p>
        </p:txBody>
      </p:sp>
      <p:sp>
        <p:nvSpPr>
          <p:cNvPr id="10" name="Slide Number Placeholder 9">
            <a:extLst>
              <a:ext uri="{FF2B5EF4-FFF2-40B4-BE49-F238E27FC236}">
                <a16:creationId xmlns:a16="http://schemas.microsoft.com/office/drawing/2014/main" id="{3C219C00-B827-A213-2B47-94725FCC70A2}"/>
              </a:ext>
            </a:extLst>
          </p:cNvPr>
          <p:cNvSpPr>
            <a:spLocks noGrp="1"/>
          </p:cNvSpPr>
          <p:nvPr>
            <p:ph type="sldNum" sz="quarter" idx="12"/>
          </p:nvPr>
        </p:nvSpPr>
        <p:spPr/>
        <p:txBody>
          <a:bodyPr/>
          <a:lstStyle/>
          <a:p>
            <a:fld id="{7E786920-98DB-4A6A-8929-FBA7F922885C}" type="slidenum">
              <a:rPr lang="en-US" sz="1600" b="1" smtClean="0">
                <a:solidFill>
                  <a:schemeClr val="accent5">
                    <a:lumMod val="75000"/>
                  </a:schemeClr>
                </a:solidFill>
              </a:rPr>
              <a:t>49</a:t>
            </a:fld>
            <a:endParaRPr lang="en-US" sz="1600" b="1">
              <a:solidFill>
                <a:schemeClr val="accent5">
                  <a:lumMod val="75000"/>
                </a:schemeClr>
              </a:solidFill>
            </a:endParaRPr>
          </a:p>
        </p:txBody>
      </p:sp>
    </p:spTree>
    <p:extLst>
      <p:ext uri="{BB962C8B-B14F-4D97-AF65-F5344CB8AC3E}">
        <p14:creationId xmlns:p14="http://schemas.microsoft.com/office/powerpoint/2010/main" val="2116899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9DBD4689996A941BBBFA0E6E7F613B9" ma:contentTypeVersion="4" ma:contentTypeDescription="Create a new document." ma:contentTypeScope="" ma:versionID="3a969faf000bacd46326ab51b77c798d">
  <xsd:schema xmlns:xsd="http://www.w3.org/2001/XMLSchema" xmlns:xs="http://www.w3.org/2001/XMLSchema" xmlns:p="http://schemas.microsoft.com/office/2006/metadata/properties" xmlns:ns2="f31e4e7a-0403-4b79-b356-1125d4c0c64f" targetNamespace="http://schemas.microsoft.com/office/2006/metadata/properties" ma:root="true" ma:fieldsID="0de10f318955ba88984329a1cf56e220" ns2:_="">
    <xsd:import namespace="f31e4e7a-0403-4b79-b356-1125d4c0c64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1e4e7a-0403-4b79-b356-1125d4c0c6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9F7BEA-409C-4335-9E11-1763833B62E8}">
  <ds:schemaRefs>
    <ds:schemaRef ds:uri="http://schemas.microsoft.com/sharepoint/v3/contenttype/forms"/>
  </ds:schemaRefs>
</ds:datastoreItem>
</file>

<file path=customXml/itemProps2.xml><?xml version="1.0" encoding="utf-8"?>
<ds:datastoreItem xmlns:ds="http://schemas.openxmlformats.org/officeDocument/2006/customXml" ds:itemID="{4CAE399E-F52C-468C-965C-5808095E123E}">
  <ds:schemaRefs>
    <ds:schemaRef ds:uri="http://www.w3.org/XML/1998/namespace"/>
    <ds:schemaRef ds:uri="http://purl.org/dc/elements/1.1/"/>
    <ds:schemaRef ds:uri="http://schemas.microsoft.com/office/2006/metadata/properties"/>
    <ds:schemaRef ds:uri="http://purl.org/dc/terms/"/>
    <ds:schemaRef ds:uri="http://schemas.microsoft.com/office/2006/documentManagement/types"/>
    <ds:schemaRef ds:uri="f31e4e7a-0403-4b79-b356-1125d4c0c64f"/>
    <ds:schemaRef ds:uri="http://schemas.microsoft.com/office/infopath/2007/PartnerControl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208C0D4D-8F5F-4354-9676-BE0850ED6F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1e4e7a-0403-4b79-b356-1125d4c0c6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331b18d-2d87-48ef-a35f-ac8818ebf9b4}" enabled="0" method="" siteId="{8331b18d-2d87-48ef-a35f-ac8818ebf9b4}" removed="1"/>
</clbl:labelList>
</file>

<file path=docProps/app.xml><?xml version="1.0" encoding="utf-8"?>
<Properties xmlns="http://schemas.openxmlformats.org/officeDocument/2006/extended-properties" xmlns:vt="http://schemas.openxmlformats.org/officeDocument/2006/docPropsVTypes">
  <TotalTime>3686</TotalTime>
  <Words>7531</Words>
  <Application>Microsoft Office PowerPoint</Application>
  <PresentationFormat>Widescreen</PresentationFormat>
  <Paragraphs>523</Paragraphs>
  <Slides>49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Arial</vt:lpstr>
      <vt:lpstr>Calibri</vt:lpstr>
      <vt:lpstr>Calibri Light</vt:lpstr>
      <vt:lpstr>Cambria</vt:lpstr>
      <vt:lpstr>Century Schoolbook</vt:lpstr>
      <vt:lpstr>Segoe UI</vt:lpstr>
      <vt:lpstr>Symbol</vt:lpstr>
      <vt:lpstr>Times New Roman</vt:lpstr>
      <vt:lpstr>var(--fontFamilyCustomFont1100, var(--fontFamilyBase))</vt:lpstr>
      <vt:lpstr>Office Theme</vt:lpstr>
      <vt:lpstr>Headquarters U.S. Air Force</vt:lpstr>
      <vt:lpstr>Headquarters U.S. Air Force</vt:lpstr>
      <vt:lpstr>Headquarters U.S. Air Force</vt:lpstr>
      <vt:lpstr>Headquarters U.S. Air Force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Headquarters U.S. Air Force</vt:lpstr>
      <vt:lpstr>Headquarters U.S. Air Force</vt:lpstr>
      <vt:lpstr>PowerPoint Presentation</vt:lpstr>
      <vt:lpstr>PowerPoint Presentation</vt:lpstr>
      <vt:lpstr>Headquarters U.S. Air Force</vt:lpstr>
      <vt:lpstr>Headquarters U.S. Air Force</vt:lpstr>
      <vt:lpstr>PowerPoint Presentation</vt:lpstr>
      <vt:lpstr>PowerPoint Presentation</vt:lpstr>
      <vt:lpstr>Headquarters U.S. Air Force</vt:lpstr>
      <vt:lpstr>Headquarters U.S. Air Force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Headquarters U.S. Air Force</vt:lpstr>
      <vt:lpstr>PowerPoint Presentation</vt:lpstr>
      <vt:lpstr>PowerPoint Presentation</vt:lpstr>
      <vt:lpstr>PowerPoint Presentation</vt:lpstr>
      <vt:lpstr>PowerPoint Presentation</vt:lpstr>
      <vt:lpstr>Headquarters U.S. Air Force</vt:lpstr>
      <vt:lpstr>PowerPoint Presentation</vt:lpstr>
      <vt:lpstr>Headquarters U.S. Air Force</vt:lpstr>
      <vt:lpstr>PowerPoint Presentation</vt:lpstr>
      <vt:lpstr>Headquarters U.S. Air Force</vt:lpstr>
      <vt:lpstr>PowerPoint Presentation</vt:lpstr>
      <vt:lpstr>Headquarters U.S. Air Force</vt:lpstr>
      <vt:lpstr>PowerPoint Presentation</vt:lpstr>
      <vt:lpstr>Headquarters U.S. Air Force</vt:lpstr>
      <vt:lpstr>PowerPoint Presentation</vt:lpstr>
      <vt:lpstr>PowerPoint Presentation</vt:lpstr>
      <vt:lpstr>PowerPoint Presentation</vt:lpstr>
      <vt:lpstr>PowerPoint Presentation</vt:lpstr>
      <vt:lpstr>PowerPoint Presentation</vt:lpstr>
    </vt:vector>
  </TitlesOfParts>
  <Company>U.S. Air 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Headquarters U.S. Air Force</dc:title>
  <dc:creator>HARTON, SETTIMA M GG-14 USAF HAF AF/A2/6OR</dc:creator>
  <cp:lastModifiedBy>SNYDER, RICHARD J JR Capt USAF AFDW AFDW/PKH</cp:lastModifiedBy>
  <cp:revision>163</cp:revision>
  <dcterms:created xsi:type="dcterms:W3CDTF">2021-03-30T12:15:42Z</dcterms:created>
  <dcterms:modified xsi:type="dcterms:W3CDTF">2025-04-08T11:57:20Z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0x01010069DBD4689996A941BBBFA0E6E7F613B9</vt:lpwstr>
  </property>
</Properties>
</file>