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4.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5.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42" r:id="rId4"/>
    <p:sldMasterId id="2147484051" r:id="rId5"/>
    <p:sldMasterId id="2147484081" r:id="rId6"/>
    <p:sldMasterId id="2147484110" r:id="rId7"/>
    <p:sldMasterId id="2147484170" r:id="rId8"/>
    <p:sldMasterId id="2147483723" r:id="rId9"/>
  </p:sldMasterIdLst>
  <p:notesMasterIdLst>
    <p:notesMasterId r:id="rId21"/>
  </p:notesMasterIdLst>
  <p:handoutMasterIdLst>
    <p:handoutMasterId r:id="rId22"/>
  </p:handoutMasterIdLst>
  <p:sldIdLst>
    <p:sldId id="3727" r:id="rId10"/>
    <p:sldId id="7359" r:id="rId11"/>
    <p:sldId id="256" r:id="rId12"/>
    <p:sldId id="7354" r:id="rId13"/>
    <p:sldId id="7355" r:id="rId14"/>
    <p:sldId id="7357" r:id="rId15"/>
    <p:sldId id="318" r:id="rId16"/>
    <p:sldId id="7358" r:id="rId17"/>
    <p:sldId id="312" r:id="rId18"/>
    <p:sldId id="314" r:id="rId19"/>
    <p:sldId id="735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FFFF"/>
    <a:srgbClr val="E4E4E4"/>
    <a:srgbClr val="4D4D4D"/>
    <a:srgbClr val="DEDEDE"/>
    <a:srgbClr val="A29A92"/>
    <a:srgbClr val="00863D"/>
    <a:srgbClr val="C8C8C8"/>
    <a:srgbClr val="FF6600"/>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notesViewPr>
    <p:cSldViewPr snapToGrid="0">
      <p:cViewPr varScale="1">
        <p:scale>
          <a:sx n="62" d="100"/>
          <a:sy n="62" d="100"/>
        </p:scale>
        <p:origin x="322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presProps" Target="presProp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ami, Kinya R CIV USARMY CESPL (USA)" userId="129454ae-3f7b-453f-9ec4-13fafafa1c93" providerId="ADAL" clId="{F49B976E-BED5-4C66-A588-F08DA4D536CD}"/>
    <pc:docChg chg="modSld">
      <pc:chgData name="Minami, Kinya R CIV USARMY CESPL (USA)" userId="129454ae-3f7b-453f-9ec4-13fafafa1c93" providerId="ADAL" clId="{F49B976E-BED5-4C66-A588-F08DA4D536CD}" dt="2025-03-06T14:24:27.957" v="17" actId="20577"/>
      <pc:docMkLst>
        <pc:docMk/>
      </pc:docMkLst>
      <pc:sldChg chg="modSp mod">
        <pc:chgData name="Minami, Kinya R CIV USARMY CESPL (USA)" userId="129454ae-3f7b-453f-9ec4-13fafafa1c93" providerId="ADAL" clId="{F49B976E-BED5-4C66-A588-F08DA4D536CD}" dt="2025-03-06T14:24:27.957" v="17" actId="20577"/>
        <pc:sldMkLst>
          <pc:docMk/>
          <pc:sldMk cId="2086177581" sldId="7359"/>
        </pc:sldMkLst>
        <pc:spChg chg="mod">
          <ac:chgData name="Minami, Kinya R CIV USARMY CESPL (USA)" userId="129454ae-3f7b-453f-9ec4-13fafafa1c93" providerId="ADAL" clId="{F49B976E-BED5-4C66-A588-F08DA4D536CD}" dt="2025-03-06T14:24:27.957" v="17" actId="20577"/>
          <ac:spMkLst>
            <pc:docMk/>
            <pc:sldMk cId="2086177581" sldId="7359"/>
            <ac:spMk id="9" creationId="{910D6B67-EB23-B871-0CBE-F377AEE7C41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CF3383-DF08-4C90-8557-22EF3027DD43}" type="datetimeFigureOut">
              <a:rPr lang="en-US" smtClean="0"/>
              <a:t>3/6/2025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16557-6E8E-4D95-8DF3-2DE1590C714A}" type="datetimeFigureOut">
              <a:rPr lang="en-US" smtClean="0"/>
              <a:t>3/6/2025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A86D8-1D95-4DFF-A26B-8F86AC3AC58E}" type="slidenum">
              <a:rPr lang="en-US" smtClean="0"/>
              <a:t>‹#›</a:t>
            </a:fld>
            <a:endParaRPr lang="en-US"/>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A86D8-1D95-4DFF-A26B-8F86AC3AC58E}" type="slidenum">
              <a:rPr lang="en-US" smtClean="0"/>
              <a:t>1</a:t>
            </a:fld>
            <a:endParaRPr lang="en-US"/>
          </a:p>
        </p:txBody>
      </p:sp>
    </p:spTree>
    <p:extLst>
      <p:ext uri="{BB962C8B-B14F-4D97-AF65-F5344CB8AC3E}">
        <p14:creationId xmlns:p14="http://schemas.microsoft.com/office/powerpoint/2010/main" val="3805683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-Good AM and Welcome to the BOOH</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dirty="0">
                <a:effectLst/>
                <a:latin typeface="Aptos Display" panose="020B0004020202020204" pitchFamily="34" charset="0"/>
                <a:ea typeface="Times New Roman" panose="02020603050405020304" pitchFamily="18" charset="0"/>
              </a:rPr>
              <a:t> </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-We will start off with an overview of SPL’s procurement program by Sean Sackett, the SPL, Chief of Contracting</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dirty="0">
                <a:effectLst/>
                <a:latin typeface="Aptos Display" panose="020B0004020202020204" pitchFamily="34" charset="0"/>
                <a:ea typeface="Times New Roman" panose="02020603050405020304" pitchFamily="18" charset="0"/>
              </a:rPr>
              <a:t> </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-Next, we will have a presentation by Task Force Phoenix on the Los Angeles Fire Recovery efforts</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dirty="0">
                <a:effectLst/>
                <a:latin typeface="Aptos Display" panose="020B0004020202020204" pitchFamily="34" charset="0"/>
                <a:ea typeface="Times New Roman" panose="02020603050405020304" pitchFamily="18" charset="0"/>
              </a:rPr>
              <a:t> </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-The first presentation will focus on the progress of the debris cleanup. The fire debris team focuses on: managing the response to the debris cleanup-create/implements best practices-manages contractors-assists the public affairs ofc/PAO and Leadership in developing answers to questions and reporting</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dirty="0">
                <a:effectLst/>
                <a:latin typeface="Aptos Display" panose="020B0004020202020204" pitchFamily="34" charset="0"/>
                <a:ea typeface="Times New Roman" panose="02020603050405020304" pitchFamily="18" charset="0"/>
              </a:rPr>
              <a:t> </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-The second presentation will discuss the relationship between FEMA and USACE in carrying out the fire recovery mission</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dirty="0">
                <a:effectLst/>
                <a:latin typeface="Aptos Display" panose="020B0004020202020204" pitchFamily="34" charset="0"/>
                <a:ea typeface="Times New Roman" panose="02020603050405020304" pitchFamily="18" charset="0"/>
              </a:rPr>
              <a:t> </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-Next, there will be a presentation by Christine Davis and Roger Minami to discuss potential small business opportunities among the fire recovery efforts</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 </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-Finally, ECC will discuss their role in the fire recovery efforts and potential business opportunities</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dirty="0">
                <a:effectLst/>
                <a:latin typeface="Aptos Display" panose="020B0004020202020204" pitchFamily="34" charset="0"/>
                <a:ea typeface="Times New Roman" panose="02020603050405020304" pitchFamily="18" charset="0"/>
              </a:rPr>
              <a:t> </a:t>
            </a:r>
            <a:endParaRPr lang="en-US" sz="10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000" kern="1200" dirty="0">
                <a:solidFill>
                  <a:srgbClr val="000000"/>
                </a:solidFill>
                <a:effectLst/>
                <a:latin typeface="Aptos Display" panose="020B0004020202020204" pitchFamily="34" charset="0"/>
                <a:ea typeface="Times New Roman" panose="02020603050405020304" pitchFamily="18" charset="0"/>
                <a:cs typeface="Times New Roman" panose="02020603050405020304" pitchFamily="18" charset="0"/>
              </a:rPr>
              <a:t>-After the fire recovery presentation, you are encouraged to network among SPL personnel to discuss forecasted and other SPL business opportunities. </a:t>
            </a:r>
            <a:endParaRPr lang="en-US" sz="1000" dirty="0">
              <a:effectLst/>
              <a:latin typeface="Times New Roman" panose="02020603050405020304" pitchFamily="18" charset="0"/>
              <a:ea typeface="Times New Roman" panose="02020603050405020304" pitchFamily="18" charset="0"/>
            </a:endParaRPr>
          </a:p>
          <a:p>
            <a:endParaRPr lang="en-US" sz="1000" dirty="0">
              <a:latin typeface="+mj-lt"/>
            </a:endParaRPr>
          </a:p>
        </p:txBody>
      </p:sp>
      <p:sp>
        <p:nvSpPr>
          <p:cNvPr id="4" name="Slide Number Placeholder 3"/>
          <p:cNvSpPr>
            <a:spLocks noGrp="1"/>
          </p:cNvSpPr>
          <p:nvPr>
            <p:ph type="sldNum" sz="quarter" idx="5"/>
          </p:nvPr>
        </p:nvSpPr>
        <p:spPr/>
        <p:txBody>
          <a:bodyPr/>
          <a:lstStyle/>
          <a:p>
            <a:fld id="{BC3A86D8-1D95-4DFF-A26B-8F86AC3AC58E}" type="slidenum">
              <a:rPr lang="en-US" smtClean="0"/>
              <a:t>2</a:t>
            </a:fld>
            <a:endParaRPr lang="en-US"/>
          </a:p>
        </p:txBody>
      </p:sp>
    </p:spTree>
    <p:extLst>
      <p:ext uri="{BB962C8B-B14F-4D97-AF65-F5344CB8AC3E}">
        <p14:creationId xmlns:p14="http://schemas.microsoft.com/office/powerpoint/2010/main" val="150168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3A86D8-1D95-4DFF-A26B-8F86AC3AC58E}" type="slidenum">
              <a:rPr lang="en-US" smtClean="0"/>
              <a:t>3</a:t>
            </a:fld>
            <a:endParaRPr lang="en-US"/>
          </a:p>
        </p:txBody>
      </p:sp>
    </p:spTree>
    <p:extLst>
      <p:ext uri="{BB962C8B-B14F-4D97-AF65-F5344CB8AC3E}">
        <p14:creationId xmlns:p14="http://schemas.microsoft.com/office/powerpoint/2010/main" val="2048437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Rot="1" noChangeAspect="1" noChangeArrowheads="1" noTextEdit="1"/>
          </p:cNvSpPr>
          <p:nvPr>
            <p:ph type="sldImg"/>
          </p:nvPr>
        </p:nvSpPr>
        <p:spPr>
          <a:xfrm>
            <a:off x="363538" y="552450"/>
            <a:ext cx="6132512" cy="3449638"/>
          </a:xfrm>
        </p:spPr>
      </p:sp>
      <p:sp>
        <p:nvSpPr>
          <p:cNvPr id="16388" name="Rectangle 3"/>
          <p:cNvSpPr>
            <a:spLocks noGrp="1" noChangeArrowheads="1"/>
          </p:cNvSpPr>
          <p:nvPr>
            <p:ph type="body" idx="1"/>
          </p:nvPr>
        </p:nvSpPr>
        <p:spPr>
          <a:xfrm>
            <a:off x="326308" y="4095976"/>
            <a:ext cx="6453187" cy="5062048"/>
          </a:xfrm>
          <a:noFill/>
          <a:ln/>
        </p:spPr>
        <p:txBody>
          <a:bodyPr lIns="91459" tIns="45732" rIns="91459" bIns="45732"/>
          <a:lstStyle/>
          <a:p>
            <a:pPr marL="228551" indent="-228551"/>
            <a:endParaRPr lang="en-US" sz="1100" b="1" dirty="0"/>
          </a:p>
        </p:txBody>
      </p:sp>
      <p:sp>
        <p:nvSpPr>
          <p:cNvPr id="5" name="Rectangle 5">
            <a:extLst>
              <a:ext uri="{FF2B5EF4-FFF2-40B4-BE49-F238E27FC236}">
                <a16:creationId xmlns:a16="http://schemas.microsoft.com/office/drawing/2014/main" id="{EDD2DEB5-7869-46C7-9891-9B5149A62DEC}"/>
              </a:ext>
            </a:extLst>
          </p:cNvPr>
          <p:cNvSpPr>
            <a:spLocks noGrp="1" noChangeArrowheads="1"/>
          </p:cNvSpPr>
          <p:nvPr>
            <p:ph type="sldNum" sz="quarter" idx="5"/>
          </p:nvPr>
        </p:nvSpPr>
        <p:spPr>
          <a:xfrm>
            <a:off x="3970340" y="8829675"/>
            <a:ext cx="3038475" cy="465138"/>
          </a:xfrm>
          <a:prstGeom prst="rect">
            <a:avLst/>
          </a:prstGeom>
          <a:noFill/>
        </p:spPr>
        <p:txBody>
          <a:bodyPr/>
          <a:lstStyle/>
          <a:p>
            <a:pPr marL="0" marR="0" lvl="0" indent="0" algn="r" defTabSz="931622" rtl="0" eaLnBrk="1" fontAlgn="auto" latinLnBrk="0" hangingPunct="1">
              <a:lnSpc>
                <a:spcPct val="100000"/>
              </a:lnSpc>
              <a:spcBef>
                <a:spcPts val="0"/>
              </a:spcBef>
              <a:spcAft>
                <a:spcPts val="0"/>
              </a:spcAft>
              <a:buClrTx/>
              <a:buSzTx/>
              <a:buFontTx/>
              <a:buNone/>
              <a:tabLst/>
              <a:defRPr/>
            </a:pPr>
            <a:fld id="{00B317D2-8698-4B9D-A83F-BC7BC8A376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1622"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4079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Rot="1" noChangeAspect="1" noChangeArrowheads="1" noTextEdit="1"/>
          </p:cNvSpPr>
          <p:nvPr>
            <p:ph type="sldImg"/>
          </p:nvPr>
        </p:nvSpPr>
        <p:spPr>
          <a:xfrm>
            <a:off x="363538" y="552450"/>
            <a:ext cx="6132512" cy="3449638"/>
          </a:xfrm>
        </p:spPr>
      </p:sp>
      <p:sp>
        <p:nvSpPr>
          <p:cNvPr id="16388" name="Rectangle 3"/>
          <p:cNvSpPr>
            <a:spLocks noGrp="1" noChangeArrowheads="1"/>
          </p:cNvSpPr>
          <p:nvPr>
            <p:ph type="body" idx="1"/>
          </p:nvPr>
        </p:nvSpPr>
        <p:spPr>
          <a:xfrm>
            <a:off x="326308" y="4095976"/>
            <a:ext cx="6453187" cy="5062048"/>
          </a:xfrm>
          <a:noFill/>
          <a:ln/>
        </p:spPr>
        <p:txBody>
          <a:bodyPr lIns="91459" tIns="45732" rIns="91459" bIns="45732"/>
          <a:lstStyle/>
          <a:p>
            <a:r>
              <a:rPr lang="en-US" sz="1000" b="1" kern="1200" dirty="0">
                <a:solidFill>
                  <a:srgbClr val="FF0000"/>
                </a:solidFill>
                <a:effectLst/>
                <a:latin typeface="Arial" panose="020B0604020202020204" pitchFamily="34" charset="0"/>
                <a:ea typeface="Times New Roman" panose="02020603050405020304" pitchFamily="18" charset="0"/>
                <a:cs typeface="+mn-cs"/>
              </a:rPr>
              <a:t>Emergency/Disaster/Contingency “Support to Others” (Generic Comments Already Developed)</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cs typeface="+mn-cs"/>
              </a:rPr>
              <a:t> </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Falling under Civil Works is Contingency Operations or Emergency Response – USACE is FEMAs Engineer.</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	</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In the event of natural or manmade disasters, USACE is prepared and ready to respond as part of the federal government’s unified national response to disasters and emergencies in support of State, Territorial, and Tribal Governments.  In any disaster, USACE’s top priorities are to 1) save lives and protect property; and 2) support immediate emergency response priorities for USACE, DoD, FEMA and the Federal Government.</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	</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During natural disasters and other emergencies, the Corps can respond under Public Law 84-99 (Flood Control and Coastal Emergencies); as a component of the Department of Defense; and as the designated lead agency in support of FEMA for ESF #3, Public Works and Engineering. </a:t>
            </a:r>
            <a:endParaRPr lang="en-US" sz="1000" dirty="0">
              <a:effectLst/>
              <a:latin typeface="Times New Roman" panose="02020603050405020304" pitchFamily="18" charset="0"/>
              <a:ea typeface="Times New Roman" panose="02020603050405020304" pitchFamily="18" charset="0"/>
            </a:endParaRPr>
          </a:p>
          <a:p>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You can see here the types of services we provide under our public law mandates.</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 </a:t>
            </a:r>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The Corps is the lead agency for ESF #3, Public Works and Engineering. As such, we’re responsible for several critical missions, including Temporary Emergency Power, Debris Removal and Clearance, Infrastructure Assessment, Temporary Housing and Critical Public Facilities, and Temporary Roofing. The Corps also lends trained personnel to support other ESFs, such as ESF #9, Search and Rescue, when activated.</a:t>
            </a:r>
            <a:endParaRPr lang="en-US" sz="1000" dirty="0">
              <a:effectLst/>
              <a:latin typeface="Times New Roman" panose="02020603050405020304" pitchFamily="18" charset="0"/>
              <a:ea typeface="Times New Roman" panose="02020603050405020304" pitchFamily="18" charset="0"/>
            </a:endParaRPr>
          </a:p>
          <a:p>
            <a:endParaRPr lang="en-US" sz="1000" dirty="0">
              <a:effectLst/>
              <a:latin typeface="Times New Roman" panose="02020603050405020304" pitchFamily="18" charset="0"/>
              <a:ea typeface="Times New Roman" panose="02020603050405020304" pitchFamily="18" charset="0"/>
            </a:endParaRPr>
          </a:p>
          <a:p>
            <a:r>
              <a:rPr lang="en-US" sz="1000" kern="1200" dirty="0">
                <a:solidFill>
                  <a:srgbClr val="000000"/>
                </a:solidFill>
                <a:effectLst/>
                <a:latin typeface="Arial" panose="020B0604020202020204" pitchFamily="34" charset="0"/>
                <a:ea typeface="+mn-ea"/>
              </a:rPr>
              <a:t>All USACE emergency response work is performed in concert with other federal agencies, states and local governments, contractors, and affected industries working together as ONE TEAM.</a:t>
            </a:r>
            <a:endParaRPr lang="en-US" sz="1000" dirty="0">
              <a:effectLst/>
              <a:latin typeface="Times New Roman" panose="02020603050405020304" pitchFamily="18" charset="0"/>
              <a:ea typeface="Times New Roman" panose="02020603050405020304" pitchFamily="18" charset="0"/>
            </a:endParaRPr>
          </a:p>
          <a:p>
            <a:pPr marL="228551" indent="-228551"/>
            <a:endParaRPr lang="en-US" sz="1100" b="1" dirty="0"/>
          </a:p>
        </p:txBody>
      </p:sp>
      <p:sp>
        <p:nvSpPr>
          <p:cNvPr id="5" name="Rectangle 5">
            <a:extLst>
              <a:ext uri="{FF2B5EF4-FFF2-40B4-BE49-F238E27FC236}">
                <a16:creationId xmlns:a16="http://schemas.microsoft.com/office/drawing/2014/main" id="{EDD2DEB5-7869-46C7-9891-9B5149A62DEC}"/>
              </a:ext>
            </a:extLst>
          </p:cNvPr>
          <p:cNvSpPr>
            <a:spLocks noGrp="1" noChangeArrowheads="1"/>
          </p:cNvSpPr>
          <p:nvPr>
            <p:ph type="sldNum" sz="quarter" idx="5"/>
          </p:nvPr>
        </p:nvSpPr>
        <p:spPr>
          <a:xfrm>
            <a:off x="3970340" y="8829675"/>
            <a:ext cx="3038475" cy="465138"/>
          </a:xfrm>
          <a:prstGeom prst="rect">
            <a:avLst/>
          </a:prstGeom>
          <a:noFill/>
        </p:spPr>
        <p:txBody>
          <a:bodyPr/>
          <a:lstStyle/>
          <a:p>
            <a:pPr marL="0" marR="0" lvl="0" indent="0" algn="r" defTabSz="931622" rtl="0" eaLnBrk="1" fontAlgn="auto" latinLnBrk="0" hangingPunct="1">
              <a:lnSpc>
                <a:spcPct val="100000"/>
              </a:lnSpc>
              <a:spcBef>
                <a:spcPts val="0"/>
              </a:spcBef>
              <a:spcAft>
                <a:spcPts val="0"/>
              </a:spcAft>
              <a:buClrTx/>
              <a:buSzTx/>
              <a:buFontTx/>
              <a:buNone/>
              <a:tabLst/>
              <a:defRPr/>
            </a:pPr>
            <a:fld id="{00B317D2-8698-4B9D-A83F-BC7BC8A376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1622"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7794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list and contact information of USACE personnel taking part in today’s BOOH</a:t>
            </a:r>
          </a:p>
        </p:txBody>
      </p:sp>
      <p:sp>
        <p:nvSpPr>
          <p:cNvPr id="4" name="Slide Number Placeholder 3"/>
          <p:cNvSpPr>
            <a:spLocks noGrp="1"/>
          </p:cNvSpPr>
          <p:nvPr>
            <p:ph type="sldNum" sz="quarter" idx="5"/>
          </p:nvPr>
        </p:nvSpPr>
        <p:spPr/>
        <p:txBody>
          <a:bodyPr/>
          <a:lstStyle/>
          <a:p>
            <a:fld id="{BC3A86D8-1D95-4DFF-A26B-8F86AC3AC58E}" type="slidenum">
              <a:rPr lang="en-US" smtClean="0"/>
              <a:t>6</a:t>
            </a:fld>
            <a:endParaRPr lang="en-US"/>
          </a:p>
        </p:txBody>
      </p:sp>
    </p:spTree>
    <p:extLst>
      <p:ext uri="{BB962C8B-B14F-4D97-AF65-F5344CB8AC3E}">
        <p14:creationId xmlns:p14="http://schemas.microsoft.com/office/powerpoint/2010/main" val="3702077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6262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r>
              <a:rPr lang="en-US" sz="1000" dirty="0">
                <a:latin typeface="+mj-lt"/>
              </a:rPr>
              <a:t>-W912PLB0005: DBB/This project will construct a new combined pumphouse and substation. </a:t>
            </a:r>
            <a:r>
              <a:rPr lang="en-US" sz="1000" dirty="0">
                <a:effectLst/>
                <a:latin typeface="+mj-lt"/>
                <a:ea typeface="Aptos" panose="020B0004020202020204" pitchFamily="34" charset="0"/>
              </a:rPr>
              <a:t>The existing pumphouse at building 125 at Long Beach VA will be operational in its current location during construction. Temporary power will be provided to the Fisher House on-campus hotel during construction. The construction will be performed in phases to allow continuous operation of the existing pumphouse. This requirement will include, but will not be limited to, preparation and/or performance for, submittals, field investigations, site visits, meetings and providing construction meeting minutes to the COR, staff interviews, phasing/scheduling, utility shutdowns, infection control measures and other related information and services. The PM is Dina Aman</a:t>
            </a:r>
          </a:p>
          <a:p>
            <a:endParaRPr lang="en-US" sz="1000" dirty="0">
              <a:latin typeface="+mj-lt"/>
            </a:endParaRPr>
          </a:p>
          <a:p>
            <a:r>
              <a:rPr lang="en-US" sz="1000" dirty="0">
                <a:latin typeface="+mj-lt"/>
              </a:rPr>
              <a:t>-W912PL24B0004: DBB/This project entails the provision of</a:t>
            </a:r>
            <a:r>
              <a:rPr lang="en-US" sz="1000" dirty="0">
                <a:effectLst/>
                <a:latin typeface="+mj-lt"/>
                <a:ea typeface="Aptos" panose="020B0004020202020204" pitchFamily="34" charset="0"/>
              </a:rPr>
              <a:t> all material and labor required to upgrade the central chiller plant and DDC controls in Building 5A of the Long Beach VA campus, to comply with the latest codes and VA standards. All construction shall be performed in accordance with drawings and specifications provided by the VA. This project intends to replace the existing chillers, upgrade/refurbish existing cooling towers, upgrade/replace the primary and secondary chilled water pumps, condenser water pumps, related piping and controls, pressure differential Delta P valves in main chilled water lines entering each of the buildings and interface with existing Johnson Controls Metasys System</a:t>
            </a:r>
            <a:r>
              <a:rPr lang="en-US" sz="1000" dirty="0">
                <a:latin typeface="+mj-lt"/>
                <a:ea typeface="Aptos" panose="020B0004020202020204" pitchFamily="34" charset="0"/>
              </a:rPr>
              <a:t>. The PM is Dina Aman</a:t>
            </a:r>
            <a:endParaRPr lang="en-US" sz="1000" dirty="0">
              <a:effectLst/>
              <a:latin typeface="+mj-lt"/>
              <a:ea typeface="Aptos" panose="020B0004020202020204" pitchFamily="34" charset="0"/>
            </a:endParaRPr>
          </a:p>
          <a:p>
            <a:endParaRPr lang="en-US" sz="1000" dirty="0">
              <a:latin typeface="+mj-lt"/>
            </a:endParaRPr>
          </a:p>
          <a:p>
            <a:r>
              <a:rPr lang="en-US" sz="1000" dirty="0">
                <a:latin typeface="+mj-lt"/>
              </a:rPr>
              <a:t>-Iron King Mine-Humboldt Smelter: </a:t>
            </a:r>
            <a:r>
              <a:rPr lang="en-US" sz="1000" b="0" i="0" dirty="0">
                <a:solidFill>
                  <a:srgbClr val="212121"/>
                </a:solidFill>
                <a:effectLst/>
                <a:latin typeface="Source Sans Pro" panose="020B0503030403020204" pitchFamily="34" charset="0"/>
              </a:rPr>
              <a:t>The former operations of the Iron King Mine and the Humboldt Smelter led to wastes and contamination in soils, sediments, and surface drainages within the town of Dewey-Humboldt, Arizona. </a:t>
            </a:r>
            <a:r>
              <a:rPr lang="en-US" sz="1000" dirty="0">
                <a:latin typeface="+mj-lt"/>
              </a:rPr>
              <a:t>SPL anticipates the award of three IDIQ contracts in support of cleanup efforts in a</a:t>
            </a:r>
            <a:r>
              <a:rPr lang="en-US" sz="1000" b="0" i="0" dirty="0">
                <a:solidFill>
                  <a:srgbClr val="212121"/>
                </a:solidFill>
                <a:effectLst/>
                <a:latin typeface="Source Sans Pro" panose="020B0503030403020204" pitchFamily="34" charset="0"/>
              </a:rPr>
              <a:t>ccordance with the </a:t>
            </a:r>
            <a:r>
              <a:rPr lang="en-US" sz="1000" b="0" i="1" dirty="0">
                <a:solidFill>
                  <a:srgbClr val="212121"/>
                </a:solidFill>
                <a:effectLst/>
                <a:latin typeface="Source Sans Pro" panose="020B0503030403020204" pitchFamily="34" charset="0"/>
              </a:rPr>
              <a:t>Record of Decision – Iron King Mine-Humboldt Smelter (USEPA, 2023) </a:t>
            </a:r>
            <a:r>
              <a:rPr lang="en-US" sz="1000" b="0" i="0" dirty="0">
                <a:solidFill>
                  <a:srgbClr val="212121"/>
                </a:solidFill>
                <a:effectLst/>
                <a:latin typeface="Source Sans Pro" panose="020B0503030403020204" pitchFamily="34" charset="0"/>
              </a:rPr>
              <a:t>the Residential Design Plan (Weston-</a:t>
            </a:r>
            <a:r>
              <a:rPr lang="en-US" sz="1000" b="0" i="0" dirty="0" err="1">
                <a:solidFill>
                  <a:srgbClr val="212121"/>
                </a:solidFill>
                <a:effectLst/>
                <a:latin typeface="Source Sans Pro" panose="020B0503030403020204" pitchFamily="34" charset="0"/>
              </a:rPr>
              <a:t>TechLaw</a:t>
            </a:r>
            <a:r>
              <a:rPr lang="en-US" sz="1000" b="0" i="0" dirty="0">
                <a:solidFill>
                  <a:srgbClr val="212121"/>
                </a:solidFill>
                <a:effectLst/>
                <a:latin typeface="Source Sans Pro" panose="020B0503030403020204" pitchFamily="34" charset="0"/>
              </a:rPr>
              <a:t>, 2024). These IDIQs will be in the areas of: (Design)(Remediation)(Construction). The PM is Claudia Garcia</a:t>
            </a:r>
            <a:endParaRPr lang="en-US" sz="1000" dirty="0">
              <a:latin typeface="+mj-lt"/>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5323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70022" y="4389121"/>
            <a:ext cx="5486400" cy="4457700"/>
          </a:xfrm>
        </p:spPr>
        <p:txBody>
          <a:bodyPr/>
          <a:lstStyle/>
          <a:p>
            <a:r>
              <a:rPr lang="en-US" sz="1000" dirty="0">
                <a:latin typeface="+mj-lt"/>
                <a:cs typeface="Calibri" panose="020F0502020204030204" pitchFamily="34" charset="0"/>
              </a:rPr>
              <a:t>-Child Development Center: This project is a</a:t>
            </a:r>
            <a:r>
              <a:rPr lang="en-US" sz="1000" dirty="0">
                <a:effectLst/>
                <a:latin typeface="+mj-lt"/>
                <a:ea typeface="Aptos" panose="020B0004020202020204" pitchFamily="34" charset="0"/>
              </a:rPr>
              <a:t> Design and Construction of a one-story (3,394-SM)(36,533-SF), Child Development Center (CDC) facility for 252 dependent children, aged 6 weeks through 5 years of age. The facility includes age-appropriate child activity rooms, administrative offices, a staff break room, storage space, kitchen facilities, laundry, outdoor activity areas, and all other required operational capabilities. Additionally, there are the typical building support functions including: mechanical, electrical, fire protection and communications equipment rooms. The PM is Bill Prout. Bill is unable to attend. Please speak with John Oshima</a:t>
            </a:r>
            <a:endParaRPr lang="en-US" sz="1000" dirty="0">
              <a:latin typeface="+mj-lt"/>
              <a:cs typeface="Calibri" panose="020F0502020204030204" pitchFamily="34" charset="0"/>
            </a:endParaRPr>
          </a:p>
          <a:p>
            <a:endParaRPr lang="en-US" sz="1000" dirty="0">
              <a:latin typeface="+mj-lt"/>
              <a:cs typeface="Calibri" panose="020F0502020204030204" pitchFamily="34" charset="0"/>
            </a:endParaRPr>
          </a:p>
          <a:p>
            <a:r>
              <a:rPr lang="en-US" sz="1000" dirty="0">
                <a:latin typeface="+mj-lt"/>
                <a:cs typeface="Calibri" panose="020F0502020204030204" pitchFamily="34" charset="0"/>
              </a:rPr>
              <a:t>-DB MATOC: </a:t>
            </a:r>
            <a:r>
              <a:rPr lang="en-US" sz="1000" dirty="0">
                <a:solidFill>
                  <a:srgbClr val="212121"/>
                </a:solidFill>
                <a:latin typeface="+mj-lt"/>
                <a:cs typeface="Calibri" panose="020F0502020204030204" pitchFamily="34" charset="0"/>
              </a:rPr>
              <a:t>SPL</a:t>
            </a:r>
            <a:r>
              <a:rPr lang="en-US" sz="1000" b="0" i="0" dirty="0">
                <a:solidFill>
                  <a:srgbClr val="212121"/>
                </a:solidFill>
                <a:effectLst/>
                <a:latin typeface="+mj-lt"/>
              </a:rPr>
              <a:t> anticipates issuing two DB contracts that will be for a period of five years and/or $99,000,000, whichever occurs first.  The intent is to issue one contract for each of the two geographical areas covered by SPL. These being the east (NV/AZ) and the west (CA).  Accordingly, SPL proposes to award at least three but no more than five firm-fixed price (FFP) individual Indefinite Delivery Contracts (IDCs) in each area and subsequent FFP Task Orders (TOs). The PM is James Elsberry. James is unable to attend, please see John Oshima</a:t>
            </a:r>
            <a:endParaRPr lang="en-US" sz="1000" dirty="0">
              <a:latin typeface="+mj-lt"/>
              <a:cs typeface="Calibri" panose="020F0502020204030204" pitchFamily="34" charset="0"/>
            </a:endParaRPr>
          </a:p>
          <a:p>
            <a:endParaRPr lang="en-US" sz="1000" dirty="0">
              <a:latin typeface="+mj-lt"/>
              <a:cs typeface="Calibri" panose="020F0502020204030204" pitchFamily="34" charset="0"/>
            </a:endParaRPr>
          </a:p>
          <a:p>
            <a:r>
              <a:rPr lang="en-US" sz="1000" dirty="0">
                <a:latin typeface="+mj-lt"/>
                <a:cs typeface="Calibri" panose="020F0502020204030204" pitchFamily="34" charset="0"/>
              </a:rPr>
              <a:t>-Training Support Center: </a:t>
            </a:r>
            <a:r>
              <a:rPr lang="en-US" sz="1000" b="0" i="0" dirty="0">
                <a:solidFill>
                  <a:srgbClr val="212121"/>
                </a:solidFill>
                <a:effectLst/>
                <a:latin typeface="+mj-lt"/>
              </a:rPr>
              <a:t>This project involves construction of a single-story, 60,000 SF TSC to be part of the National Training Center (NTC) at Ft. Irwin, California. This TSC will support the Program of Instruction for the NTC Home Station, and Rotational Training Units (RTUs) training requirements. Please see John Oshima or Eric Negrete</a:t>
            </a:r>
            <a:endParaRPr lang="en-US" sz="1000" dirty="0">
              <a:latin typeface="+mj-lt"/>
              <a:cs typeface="Calibri" panose="020F0502020204030204" pitchFamily="34" charset="0"/>
            </a:endParaRPr>
          </a:p>
          <a:p>
            <a:endParaRPr lang="en-US" sz="1000" dirty="0">
              <a:latin typeface="+mj-lt"/>
              <a:cs typeface="Calibri" panose="020F0502020204030204" pitchFamily="34" charset="0"/>
            </a:endParaRPr>
          </a:p>
          <a:p>
            <a:pPr algn="l"/>
            <a:r>
              <a:rPr lang="en-US" sz="1000" dirty="0">
                <a:latin typeface="+mj-lt"/>
                <a:cs typeface="Calibri" panose="020F0502020204030204" pitchFamily="34" charset="0"/>
              </a:rPr>
              <a:t>-Disaster Resiliency Program: This is</a:t>
            </a:r>
            <a:r>
              <a:rPr lang="en-US" sz="1000" b="0" i="0" u="none" strike="noStrike" baseline="0" dirty="0">
                <a:latin typeface="+mj-lt"/>
              </a:rPr>
              <a:t>a design-build project to design and construct a 79,335 square foot Aircraft Maintenance Facility (AMF) hangar, a 4,429 square foot covered Aerospace Ground</a:t>
            </a:r>
          </a:p>
          <a:p>
            <a:pPr algn="l"/>
            <a:r>
              <a:rPr lang="en-US" sz="1000" b="0" i="0" u="none" strike="noStrike" baseline="0" dirty="0">
                <a:latin typeface="+mj-lt"/>
              </a:rPr>
              <a:t>Equipment (AGE) storage yard, 204 square foot hazardous material storage, and 100,167</a:t>
            </a:r>
          </a:p>
          <a:p>
            <a:pPr algn="l"/>
            <a:r>
              <a:rPr lang="en-US" sz="1000" b="0" i="0" u="none" strike="noStrike" baseline="0" dirty="0">
                <a:latin typeface="+mj-lt"/>
              </a:rPr>
              <a:t>square feet of airfield pavements to accommodate the Disaster Resiliency Program (DRP)</a:t>
            </a:r>
          </a:p>
          <a:p>
            <a:pPr algn="l"/>
            <a:r>
              <a:rPr lang="en-US" sz="1000" b="0" i="0" u="none" strike="noStrike" baseline="0" dirty="0">
                <a:latin typeface="+mj-lt"/>
              </a:rPr>
              <a:t>mission sets. </a:t>
            </a:r>
            <a:r>
              <a:rPr lang="en-US" sz="1000" dirty="0">
                <a:latin typeface="+mj-lt"/>
              </a:rPr>
              <a:t>SPL has conducted market research of subcontracting opportunities for this project to ensure maximum/local small business participation. The PM is James Elsberry. James was unable to attend. Please see John Oshima</a:t>
            </a:r>
            <a:endParaRPr lang="en-US" sz="1000" dirty="0">
              <a:latin typeface="+mj-lt"/>
              <a:cs typeface="Calibri" panose="020F050202020403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5111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640581"/>
          </a:xfrm>
        </p:spPr>
        <p:txBody>
          <a:bodyPr/>
          <a:lstStyle/>
          <a:p>
            <a:pPr marL="228600" indent="-228600">
              <a:buFontTx/>
              <a:buAutoNum type="arabicPeriod"/>
            </a:pPr>
            <a:r>
              <a:rPr lang="en-US" sz="900" dirty="0">
                <a:latin typeface="+mj-lt"/>
              </a:rPr>
              <a:t>Murrieta Creek:  This is a </a:t>
            </a:r>
            <a:r>
              <a:rPr lang="en-US" sz="900" dirty="0">
                <a:effectLst/>
                <a:latin typeface="+mj-lt"/>
                <a:ea typeface="Aptos" panose="020B0004020202020204" pitchFamily="34" charset="0"/>
              </a:rPr>
              <a:t>Multi-purpose flood risk management, ecosystem restoration and restoration project This is a channel widening project. The invert of the channel consists of a maintained channel area and riparian vegetation corridor. Some scopes include: (overbank aesthetics landscaping, right of way), (buried riprap), (grouted riprap slopes at confluences), (replacing existing concrete slopes), (maintenance road/trail, riparian vegetation corridor). Please see Damian Lariviere</a:t>
            </a:r>
          </a:p>
          <a:p>
            <a:pPr marL="228600" indent="-228600">
              <a:buFontTx/>
              <a:buAutoNum type="arabicPeriod"/>
            </a:pPr>
            <a:endParaRPr lang="en-US" sz="900" dirty="0">
              <a:latin typeface="+mj-lt"/>
              <a:ea typeface="Aptos" panose="020B0004020202020204" pitchFamily="34" charset="0"/>
            </a:endParaRPr>
          </a:p>
          <a:p>
            <a:pPr marL="228600" indent="-228600">
              <a:buFontTx/>
              <a:buAutoNum type="arabicPeriod"/>
            </a:pPr>
            <a:r>
              <a:rPr lang="en-US" sz="900" dirty="0">
                <a:effectLst/>
                <a:latin typeface="+mj-lt"/>
                <a:ea typeface="Aptos" panose="020B0004020202020204" pitchFamily="34" charset="0"/>
              </a:rPr>
              <a:t>SPL seeks a small business contractor in providing a minimum 5-years  experience in providing flood risk management/channel levee maintenance services to the gov. Services  may include: (graffiti abatement)(vegetation management)(sediment, concrete and cobble stone debris management)(trash removal)  and other services in  the LA County Drainage Area, San Bernardino County Drainage Area, Orange County Drainage Area, Santa Ana River Mainstem and the States of AZ and NV</a:t>
            </a:r>
          </a:p>
          <a:p>
            <a:endParaRPr lang="en-US" sz="900" dirty="0"/>
          </a:p>
          <a:p>
            <a:r>
              <a:rPr lang="en-US" sz="900" dirty="0"/>
              <a:t>2. Newport Harbor: </a:t>
            </a:r>
            <a:r>
              <a:rPr lang="en-US" sz="900" dirty="0">
                <a:latin typeface="+mj-lt"/>
              </a:rPr>
              <a:t>This is a d</a:t>
            </a:r>
            <a:r>
              <a:rPr lang="en-US" sz="900" dirty="0">
                <a:effectLst/>
                <a:latin typeface="+mj-lt"/>
                <a:ea typeface="Aptos" panose="020B0004020202020204" pitchFamily="34" charset="0"/>
              </a:rPr>
              <a:t>redging project of approximately 800,000 cubic yards of material from the federal navigation channels at Newport Bay Harbor. The dredged materials will be transported and placed at the LA-3 Ocean Dredged Material Disposal Site. Services will also include dredging approximately 125,000 cubic yards of material from the federal navigation channels that are unsuitable for open ocean disposal and transport and placement of that material in the Pier G slip at the Port of Long Beach. </a:t>
            </a:r>
            <a:r>
              <a:rPr lang="en-US" sz="900" dirty="0">
                <a:latin typeface="+mj-lt"/>
                <a:ea typeface="Aptos" panose="020B0004020202020204" pitchFamily="34" charset="0"/>
              </a:rPr>
              <a:t>The PM is Chris Romero. Chris is not able to attend. Please see Steve Dwyer</a:t>
            </a:r>
            <a:endParaRPr lang="en-US" sz="900" dirty="0">
              <a:effectLst/>
              <a:latin typeface="+mj-lt"/>
              <a:ea typeface="Aptos" panose="020B0004020202020204" pitchFamily="34" charset="0"/>
            </a:endParaRPr>
          </a:p>
          <a:p>
            <a:endParaRPr lang="en-US" sz="900" dirty="0">
              <a:latin typeface="+mj-lt"/>
            </a:endParaRPr>
          </a:p>
          <a:p>
            <a:r>
              <a:rPr lang="en-US" sz="900" dirty="0">
                <a:latin typeface="+mj-lt"/>
              </a:rPr>
              <a:t>3. </a:t>
            </a:r>
            <a:r>
              <a:rPr lang="en-US" sz="900" dirty="0"/>
              <a:t>Dana Point: </a:t>
            </a:r>
            <a:r>
              <a:rPr lang="en-US" sz="900" dirty="0">
                <a:latin typeface="+mj-lt"/>
              </a:rPr>
              <a:t>The project involves </a:t>
            </a:r>
            <a:r>
              <a:rPr lang="en-US" sz="900" dirty="0">
                <a:effectLst/>
                <a:latin typeface="+mj-lt"/>
                <a:ea typeface="Aptos" panose="020B0004020202020204" pitchFamily="34" charset="0"/>
              </a:rPr>
              <a:t>replacing displaced armor stone from the crest to the toe of the slope, both on the seaward and harbor sides, and resetting existing stone to interlock with the new stone. It is expected that a small number of individual stones during repair will be larger than 20 tons with a maximum of 24 tons (8.25 ft in diameter).  It is expected that no more than 6,000 tons of new stone will be required. </a:t>
            </a:r>
            <a:r>
              <a:rPr lang="en-US" sz="900" dirty="0">
                <a:latin typeface="+mj-lt"/>
                <a:ea typeface="Aptos" panose="020B0004020202020204" pitchFamily="34" charset="0"/>
              </a:rPr>
              <a:t>The PM is Chris Romero. Chris is not able to attend. Please see Steve Dwyer</a:t>
            </a:r>
            <a:endParaRPr lang="en-US" sz="900" dirty="0">
              <a:effectLst/>
              <a:latin typeface="+mj-lt"/>
              <a:ea typeface="Aptos" panose="020B0004020202020204" pitchFamily="34" charset="0"/>
            </a:endParaRPr>
          </a:p>
          <a:p>
            <a:endParaRPr lang="en-US" sz="900" dirty="0"/>
          </a:p>
          <a:p>
            <a:r>
              <a:rPr lang="en-US" sz="900" dirty="0"/>
              <a:t>4. Civil Works MATOC: This is a 5-year IDIQ for civil works plus vertical design projects. SPL is expecting both a unreserved and a small business pool of contractors. SPL expects market research to begin soon. Please contact Roger Minami if you are interested in this project. </a:t>
            </a:r>
          </a:p>
          <a:p>
            <a:pPr marL="228600" indent="-228600">
              <a:buAutoNum type="arabicPeriod"/>
            </a:pPr>
            <a:endParaRPr lang="en-US" sz="900" dirty="0"/>
          </a:p>
          <a:p>
            <a:r>
              <a:rPr lang="en-US" sz="900" dirty="0"/>
              <a:t>5. Hydrology and Hydraulics SATOC: This is a 5-year IDIQ for hydrology, hydraulics and sediment engineering. SPL expects market research to begin soon. SPL expects this project to be set-aside for small business participation. Please contact Roger Minami if you are interested in this project</a:t>
            </a:r>
          </a:p>
          <a:p>
            <a:endParaRPr lang="en-US" sz="1000" dirty="0"/>
          </a:p>
          <a:p>
            <a:pPr marL="228600" indent="-228600">
              <a:buAutoNum type="arabicPeriod"/>
            </a:pPr>
            <a:endParaRPr lang="en-US" sz="1000" dirty="0"/>
          </a:p>
          <a:p>
            <a:pPr marL="228600" indent="-228600">
              <a:buAutoNum type="arabicPeriod"/>
            </a:pPr>
            <a:endParaRPr lang="en-US" sz="1000" dirty="0"/>
          </a:p>
          <a:p>
            <a:pPr marL="228600" indent="-228600">
              <a:buAutoNum type="arabicPeriod"/>
            </a:pPr>
            <a:endParaRPr lang="en-US" sz="10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3A86D8-1D95-4DFF-A26B-8F86AC3AC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838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current list of construction contacts </a:t>
            </a:r>
          </a:p>
        </p:txBody>
      </p:sp>
      <p:sp>
        <p:nvSpPr>
          <p:cNvPr id="4" name="Slide Number Placeholder 3"/>
          <p:cNvSpPr>
            <a:spLocks noGrp="1"/>
          </p:cNvSpPr>
          <p:nvPr>
            <p:ph type="sldNum" sz="quarter" idx="5"/>
          </p:nvPr>
        </p:nvSpPr>
        <p:spPr/>
        <p:txBody>
          <a:bodyPr/>
          <a:lstStyle/>
          <a:p>
            <a:fld id="{BC3A86D8-1D95-4DFF-A26B-8F86AC3AC58E}" type="slidenum">
              <a:rPr lang="en-US" smtClean="0"/>
              <a:t>11</a:t>
            </a:fld>
            <a:endParaRPr lang="en-US"/>
          </a:p>
        </p:txBody>
      </p:sp>
    </p:spTree>
    <p:extLst>
      <p:ext uri="{BB962C8B-B14F-4D97-AF65-F5344CB8AC3E}">
        <p14:creationId xmlns:p14="http://schemas.microsoft.com/office/powerpoint/2010/main" val="3175991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55209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2649818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461439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2556249665"/>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737340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24976461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2019795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1697280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105146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290452761"/>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4719099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798164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42094505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15719959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720236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Tree>
    <p:extLst>
      <p:ext uri="{BB962C8B-B14F-4D97-AF65-F5344CB8AC3E}">
        <p14:creationId xmlns:p14="http://schemas.microsoft.com/office/powerpoint/2010/main" val="34320889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020949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118713353"/>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1835808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289772597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414510271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08794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44205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4130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402505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3681779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150843740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Tree>
    <p:extLst>
      <p:ext uri="{BB962C8B-B14F-4D97-AF65-F5344CB8AC3E}">
        <p14:creationId xmlns:p14="http://schemas.microsoft.com/office/powerpoint/2010/main" val="299873838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Tree>
    <p:extLst>
      <p:ext uri="{BB962C8B-B14F-4D97-AF65-F5344CB8AC3E}">
        <p14:creationId xmlns:p14="http://schemas.microsoft.com/office/powerpoint/2010/main" val="52411938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233171661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262468487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1499288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58753715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097512708"/>
      </p:ext>
    </p:extLst>
  </p:cSld>
  <p:clrMapOvr>
    <a:masterClrMapping/>
  </p:clrMapOvr>
  <p:hf hdr="0" dt="0"/>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367920520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365763881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35299516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117509264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SIO USACE 101 Title Onl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8E7877-DEC8-461C-B157-31CE9F679C18}"/>
              </a:ext>
            </a:extLst>
          </p:cNvPr>
          <p:cNvSpPr>
            <a:spLocks noGrp="1"/>
          </p:cNvSpPr>
          <p:nvPr>
            <p:ph type="title"/>
          </p:nvPr>
        </p:nvSpPr>
        <p:spPr bwMode="auto">
          <a:xfrm>
            <a:off x="0" y="0"/>
            <a:ext cx="12192000" cy="457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Slide</a:t>
            </a:r>
          </a:p>
        </p:txBody>
      </p:sp>
    </p:spTree>
    <p:extLst>
      <p:ext uri="{BB962C8B-B14F-4D97-AF65-F5344CB8AC3E}">
        <p14:creationId xmlns:p14="http://schemas.microsoft.com/office/powerpoint/2010/main" val="77981498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06" b="0" i="0">
                <a:solidFill>
                  <a:srgbClr val="00FF00"/>
                </a:solidFill>
                <a:latin typeface="Arial"/>
                <a:cs typeface="Arial"/>
              </a:defRPr>
            </a:lvl1pPr>
          </a:lstStyle>
          <a:p>
            <a:pPr marL="210122">
              <a:spcBef>
                <a:spcPts val="22"/>
              </a:spcBef>
            </a:pPr>
            <a:r>
              <a:rPr lang="en-US"/>
              <a:t>Controlled</a:t>
            </a:r>
            <a:r>
              <a:rPr lang="en-US" spc="-35"/>
              <a:t> </a:t>
            </a:r>
            <a:r>
              <a:rPr lang="en-US"/>
              <a:t>Unclassified</a:t>
            </a:r>
            <a:r>
              <a:rPr lang="en-US" spc="-40"/>
              <a:t> </a:t>
            </a:r>
            <a:r>
              <a:rPr lang="en-US"/>
              <a:t>Information</a:t>
            </a:r>
            <a:r>
              <a:rPr lang="en-US" spc="-35"/>
              <a:t> </a:t>
            </a:r>
            <a:r>
              <a:rPr lang="en-US" spc="-18"/>
              <a:t>(CUI)</a:t>
            </a:r>
            <a:endParaRPr lang="en-US" spc="-18"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3972890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endParaRPr lang="en-US"/>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76890965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347316825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endParaRPr lang="en-US"/>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endParaRPr lang="en-US"/>
          </a:p>
        </p:txBody>
      </p:sp>
    </p:spTree>
    <p:extLst>
      <p:ext uri="{BB962C8B-B14F-4D97-AF65-F5344CB8AC3E}">
        <p14:creationId xmlns:p14="http://schemas.microsoft.com/office/powerpoint/2010/main" val="401107571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endParaRPr lang="en-US"/>
          </a:p>
        </p:txBody>
      </p:sp>
    </p:spTree>
    <p:extLst>
      <p:ext uri="{BB962C8B-B14F-4D97-AF65-F5344CB8AC3E}">
        <p14:creationId xmlns:p14="http://schemas.microsoft.com/office/powerpoint/2010/main" val="384004314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197479366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18507183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endParaRPr lang="en-US"/>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endParaRPr lang="en-US"/>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8090194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4069610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endParaRPr lang="en-US"/>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288037867"/>
      </p:ext>
    </p:extLst>
  </p:cSld>
  <p:clrMapOvr>
    <a:masterClrMapping/>
  </p:clrMapOvr>
  <p:hf hdr="0" dt="0"/>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endParaRPr lang="en-US"/>
          </a:p>
        </p:txBody>
      </p:sp>
    </p:spTree>
    <p:extLst>
      <p:ext uri="{BB962C8B-B14F-4D97-AF65-F5344CB8AC3E}">
        <p14:creationId xmlns:p14="http://schemas.microsoft.com/office/powerpoint/2010/main" val="59704092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endParaRPr lang="en-US"/>
          </a:p>
        </p:txBody>
      </p:sp>
    </p:spTree>
    <p:extLst>
      <p:ext uri="{BB962C8B-B14F-4D97-AF65-F5344CB8AC3E}">
        <p14:creationId xmlns:p14="http://schemas.microsoft.com/office/powerpoint/2010/main" val="11761343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131414139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Tree>
    <p:extLst>
      <p:ext uri="{BB962C8B-B14F-4D97-AF65-F5344CB8AC3E}">
        <p14:creationId xmlns:p14="http://schemas.microsoft.com/office/powerpoint/2010/main" val="45072710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a:solidFill>
                  <a:schemeClr val="tx2"/>
                </a:solidFill>
              </a:rPr>
              <a:t>“</a:t>
            </a:r>
            <a:r>
              <a:rPr lang="en-US" sz="675" i="1">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a:solidFill>
                  <a:schemeClr val="tx2"/>
                </a:solidFill>
              </a:rPr>
              <a:t>”</a:t>
            </a:r>
            <a:endParaRPr lang="en-US" sz="675" i="1">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endParaRPr lang="en-US"/>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image" Target="../media/image5.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theme" Target="../theme/theme3.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image" Target="../media/image5.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 Type="http://schemas.openxmlformats.org/officeDocument/2006/relationships/slideLayout" Target="../slideLayouts/slideLayout85.xml"/><Relationship Id="rId21" Type="http://schemas.openxmlformats.org/officeDocument/2006/relationships/slideLayout" Target="../slideLayouts/slideLayout103.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29" Type="http://schemas.openxmlformats.org/officeDocument/2006/relationships/slideLayout" Target="../slideLayouts/slideLayout111.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32" Type="http://schemas.openxmlformats.org/officeDocument/2006/relationships/image" Target="../media/image6.png"/><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slideLayout" Target="../slideLayouts/slideLayout110.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31" Type="http://schemas.openxmlformats.org/officeDocument/2006/relationships/image" Target="../media/image1.png"/><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slideLayout" Target="../slideLayouts/slideLayout124.xml"/><Relationship Id="rId18" Type="http://schemas.openxmlformats.org/officeDocument/2006/relationships/slideLayout" Target="../slideLayouts/slideLayout129.xml"/><Relationship Id="rId26" Type="http://schemas.openxmlformats.org/officeDocument/2006/relationships/slideLayout" Target="../slideLayouts/slideLayout137.xml"/><Relationship Id="rId3" Type="http://schemas.openxmlformats.org/officeDocument/2006/relationships/slideLayout" Target="../slideLayouts/slideLayout114.xml"/><Relationship Id="rId21" Type="http://schemas.openxmlformats.org/officeDocument/2006/relationships/slideLayout" Target="../slideLayouts/slideLayout132.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17" Type="http://schemas.openxmlformats.org/officeDocument/2006/relationships/slideLayout" Target="../slideLayouts/slideLayout128.xml"/><Relationship Id="rId25" Type="http://schemas.openxmlformats.org/officeDocument/2006/relationships/slideLayout" Target="../slideLayouts/slideLayout136.xml"/><Relationship Id="rId2" Type="http://schemas.openxmlformats.org/officeDocument/2006/relationships/slideLayout" Target="../slideLayouts/slideLayout113.xml"/><Relationship Id="rId16" Type="http://schemas.openxmlformats.org/officeDocument/2006/relationships/slideLayout" Target="../slideLayouts/slideLayout127.xml"/><Relationship Id="rId20" Type="http://schemas.openxmlformats.org/officeDocument/2006/relationships/slideLayout" Target="../slideLayouts/slideLayout131.xml"/><Relationship Id="rId29" Type="http://schemas.openxmlformats.org/officeDocument/2006/relationships/image" Target="../media/image1.png"/><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24" Type="http://schemas.openxmlformats.org/officeDocument/2006/relationships/slideLayout" Target="../slideLayouts/slideLayout135.xml"/><Relationship Id="rId5" Type="http://schemas.openxmlformats.org/officeDocument/2006/relationships/slideLayout" Target="../slideLayouts/slideLayout116.xml"/><Relationship Id="rId15" Type="http://schemas.openxmlformats.org/officeDocument/2006/relationships/slideLayout" Target="../slideLayouts/slideLayout126.xml"/><Relationship Id="rId23" Type="http://schemas.openxmlformats.org/officeDocument/2006/relationships/slideLayout" Target="../slideLayouts/slideLayout134.xml"/><Relationship Id="rId28" Type="http://schemas.openxmlformats.org/officeDocument/2006/relationships/theme" Target="../theme/theme5.xml"/><Relationship Id="rId10" Type="http://schemas.openxmlformats.org/officeDocument/2006/relationships/slideLayout" Target="../slideLayouts/slideLayout121.xml"/><Relationship Id="rId19" Type="http://schemas.openxmlformats.org/officeDocument/2006/relationships/slideLayout" Target="../slideLayouts/slideLayout130.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slideLayout" Target="../slideLayouts/slideLayout125.xml"/><Relationship Id="rId22" Type="http://schemas.openxmlformats.org/officeDocument/2006/relationships/slideLayout" Target="../slideLayouts/slideLayout133.xml"/><Relationship Id="rId27" Type="http://schemas.openxmlformats.org/officeDocument/2006/relationships/slideLayout" Target="../slideLayouts/slideLayout138.xml"/><Relationship Id="rId30"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31"/>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2"/>
          <a:srcRect/>
          <a:stretch/>
        </p:blipFill>
        <p:spPr>
          <a:xfrm>
            <a:off x="190500" y="86740"/>
            <a:ext cx="1970289" cy="874270"/>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 id="2147484198" r:id="rId28"/>
    <p:sldLayoutId id="2147484199" r:id="rId29"/>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endParaRPr lang="en-US"/>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a:solidFill>
                  <a:srgbClr val="00B050"/>
                </a:solidFill>
              </a:rPr>
              <a:t>CUI</a:t>
            </a:r>
          </a:p>
        </p:txBody>
      </p:sp>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4" name="Picture 6"/>
          <p:cNvPicPr>
            <a:picLocks noChangeAspect="1"/>
          </p:cNvPicPr>
          <p:nvPr userDrawn="1"/>
        </p:nvPicPr>
        <p:blipFill>
          <a:blip r:embed="rId4"/>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endParaRPr lang="en-US"/>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06.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6.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11.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jpeg"/><Relationship Id="rId3" Type="http://schemas.openxmlformats.org/officeDocument/2006/relationships/image" Target="../media/image11.jpeg"/><Relationship Id="rId7" Type="http://schemas.openxmlformats.org/officeDocument/2006/relationships/image" Target="../media/image15.jpe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10.xml"/><Relationship Id="rId6" Type="http://schemas.openxmlformats.org/officeDocument/2006/relationships/image" Target="../media/image14.jpeg"/><Relationship Id="rId11" Type="http://schemas.openxmlformats.org/officeDocument/2006/relationships/image" Target="../media/image19.jpeg"/><Relationship Id="rId5" Type="http://schemas.openxmlformats.org/officeDocument/2006/relationships/image" Target="../media/image13.png"/><Relationship Id="rId15" Type="http://schemas.openxmlformats.org/officeDocument/2006/relationships/image" Target="../media/image23.emf"/><Relationship Id="rId10" Type="http://schemas.openxmlformats.org/officeDocument/2006/relationships/image" Target="../media/image18.jpeg"/><Relationship Id="rId4" Type="http://schemas.openxmlformats.org/officeDocument/2006/relationships/image" Target="../media/image12.jpeg"/><Relationship Id="rId9" Type="http://schemas.openxmlformats.org/officeDocument/2006/relationships/image" Target="../media/image17.jpeg"/><Relationship Id="rId14" Type="http://schemas.openxmlformats.org/officeDocument/2006/relationships/image" Target="../media/image22.emf"/></Relationships>
</file>

<file path=ppt/slides/_rels/slide5.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4.png"/><Relationship Id="rId7"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110.xml"/><Relationship Id="rId6" Type="http://schemas.openxmlformats.org/officeDocument/2006/relationships/image" Target="../media/image27.jpe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jpeg"/></Relationships>
</file>

<file path=ppt/slides/_rels/slide6.xml.rels><?xml version="1.0" encoding="UTF-8" standalone="yes"?>
<Relationships xmlns="http://schemas.openxmlformats.org/package/2006/relationships"><Relationship Id="rId8" Type="http://schemas.openxmlformats.org/officeDocument/2006/relationships/hyperlink" Target="mailto:Vernon.A.Simpkins@usace.army.mil" TargetMode="External"/><Relationship Id="rId13" Type="http://schemas.openxmlformats.org/officeDocument/2006/relationships/hyperlink" Target="mailto:Priyanka.Wadhawan@usace.army.mil" TargetMode="External"/><Relationship Id="rId3" Type="http://schemas.openxmlformats.org/officeDocument/2006/relationships/hyperlink" Target="mailto:Julio.E.Ramos@usace.army.mil" TargetMode="External"/><Relationship Id="rId7" Type="http://schemas.openxmlformats.org/officeDocument/2006/relationships/hyperlink" Target="mailto:Christine.Davis@usace.army.mil" TargetMode="External"/><Relationship Id="rId12" Type="http://schemas.openxmlformats.org/officeDocument/2006/relationships/hyperlink" Target="mailto:John.E.Drake@usace.army.mil" TargetMode="External"/><Relationship Id="rId2" Type="http://schemas.openxmlformats.org/officeDocument/2006/relationships/notesSlide" Target="../notesSlides/notesSlide6.xml"/><Relationship Id="rId1" Type="http://schemas.openxmlformats.org/officeDocument/2006/relationships/slideLayout" Target="../slideLayouts/slideLayout95.xml"/><Relationship Id="rId6" Type="http://schemas.openxmlformats.org/officeDocument/2006/relationships/hyperlink" Target="mailto:Thad.T.Fukushige@usace.army.mil" TargetMode="External"/><Relationship Id="rId11" Type="http://schemas.openxmlformats.org/officeDocument/2006/relationships/hyperlink" Target="mailto:Vincent.G.Andrada@usace.army.mil" TargetMode="External"/><Relationship Id="rId5" Type="http://schemas.openxmlformats.org/officeDocument/2006/relationships/hyperlink" Target="mailto:Shaun.R.Frost2@usace.army.mil" TargetMode="External"/><Relationship Id="rId10" Type="http://schemas.openxmlformats.org/officeDocument/2006/relationships/hyperlink" Target="mailto:David.M.Vandorpe@usace.army.mil" TargetMode="External"/><Relationship Id="rId4" Type="http://schemas.openxmlformats.org/officeDocument/2006/relationships/hyperlink" Target="mailto:Eric.A.Negrete@usace.army.mil" TargetMode="External"/><Relationship Id="rId9" Type="http://schemas.openxmlformats.org/officeDocument/2006/relationships/hyperlink" Target="mailto:Patricia.B.Bonilla@usace.army.mil" TargetMode="External"/><Relationship Id="rId14" Type="http://schemas.openxmlformats.org/officeDocument/2006/relationships/hyperlink" Target="mailto:Charles.S.Dwyer@usace.army.mil"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www.spl.usace.army.mil/" TargetMode="External"/><Relationship Id="rId7" Type="http://schemas.openxmlformats.org/officeDocument/2006/relationships/hyperlink" Target="mailto:Lisa.A.Lugar@usace.army.mil" TargetMode="External"/><Relationship Id="rId2" Type="http://schemas.openxmlformats.org/officeDocument/2006/relationships/notesSlide" Target="../notesSlides/notesSlide7.xml"/><Relationship Id="rId1" Type="http://schemas.openxmlformats.org/officeDocument/2006/relationships/slideLayout" Target="../slideLayouts/slideLayout95.xml"/><Relationship Id="rId6" Type="http://schemas.openxmlformats.org/officeDocument/2006/relationships/hyperlink" Target="mailto:Kaire.N.Morrissey@usace.army.mil" TargetMode="External"/><Relationship Id="rId5" Type="http://schemas.openxmlformats.org/officeDocument/2006/relationships/hyperlink" Target="mailto:Jennie.Ayala@usace.army.mil" TargetMode="External"/><Relationship Id="rId10" Type="http://schemas.openxmlformats.org/officeDocument/2006/relationships/image" Target="../media/image33.png"/><Relationship Id="rId4" Type="http://schemas.openxmlformats.org/officeDocument/2006/relationships/hyperlink" Target="mailto:%20Sally.M.DeSimone@usace.army.mil" TargetMode="External"/><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5.xml"/></Relationships>
</file>

<file path=ppt/slides/_rels/slide11.xml.rels><?xml version="1.0" encoding="UTF-8" standalone="yes"?>
<Relationships xmlns="http://schemas.openxmlformats.org/package/2006/relationships"><Relationship Id="rId3" Type="http://schemas.openxmlformats.org/officeDocument/2006/relationships/hyperlink" Target="mailto:CESPL.CQM.Training@usace.army.mil" TargetMode="External"/><Relationship Id="rId2" Type="http://schemas.openxmlformats.org/officeDocument/2006/relationships/notesSlide" Target="../notesSlides/notesSlide11.xml"/><Relationship Id="rId1" Type="http://schemas.openxmlformats.org/officeDocument/2006/relationships/slideLayout" Target="../slideLayouts/slideLayout95.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p:txBody>
          <a:bodyPr/>
          <a:lstStyle/>
          <a:p>
            <a:r>
              <a:rPr lang="en-US" sz="2800" dirty="0"/>
              <a:t>Los Angeles district   Corps of engineers (SPL)</a:t>
            </a:r>
          </a:p>
        </p:txBody>
      </p:sp>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p:txBody>
          <a:bodyPr/>
          <a:lstStyle/>
          <a:p>
            <a:endParaRPr lang="en-US" sz="2000" dirty="0"/>
          </a:p>
          <a:p>
            <a:r>
              <a:rPr lang="en-US" sz="2000" dirty="0"/>
              <a:t>Business Opportunities Open House (BOOH)</a:t>
            </a:r>
          </a:p>
          <a:p>
            <a:endParaRPr lang="en-US" sz="2000" dirty="0"/>
          </a:p>
          <a:p>
            <a:r>
              <a:rPr lang="en-US" sz="2000" dirty="0"/>
              <a:t>COL Andrew Baker</a:t>
            </a:r>
          </a:p>
          <a:p>
            <a:r>
              <a:rPr lang="en-US" sz="2000" dirty="0"/>
              <a:t>Commander</a:t>
            </a:r>
          </a:p>
          <a:p>
            <a:endParaRPr lang="en-US" sz="2000" dirty="0"/>
          </a:p>
          <a:p>
            <a:r>
              <a:rPr lang="en-US" sz="2000" dirty="0"/>
              <a:t>March 6</a:t>
            </a:r>
            <a:r>
              <a:rPr lang="en-US" sz="2000" baseline="30000" dirty="0"/>
              <a:t>th</a:t>
            </a:r>
            <a:r>
              <a:rPr lang="en-US" sz="2000" dirty="0"/>
              <a:t>, 2025</a:t>
            </a:r>
          </a:p>
          <a:p>
            <a:endParaRPr lang="en-US" sz="1800" dirty="0"/>
          </a:p>
          <a:p>
            <a:endParaRPr lang="en-US" sz="1800" dirty="0"/>
          </a:p>
          <a:p>
            <a:endParaRPr lang="en-US" sz="1800" dirty="0"/>
          </a:p>
        </p:txBody>
      </p:sp>
      <p:pic>
        <p:nvPicPr>
          <p:cNvPr id="4" name="Picture 3">
            <a:extLst>
              <a:ext uri="{FF2B5EF4-FFF2-40B4-BE49-F238E27FC236}">
                <a16:creationId xmlns:a16="http://schemas.microsoft.com/office/drawing/2014/main" id="{5CF317AA-F7A7-5F97-95EC-7A6EFE6816C6}"/>
              </a:ext>
            </a:extLst>
          </p:cNvPr>
          <p:cNvPicPr>
            <a:picLocks noChangeAspect="1"/>
          </p:cNvPicPr>
          <p:nvPr/>
        </p:nvPicPr>
        <p:blipFill>
          <a:blip r:embed="rId3"/>
          <a:stretch>
            <a:fillRect/>
          </a:stretch>
        </p:blipFill>
        <p:spPr>
          <a:xfrm>
            <a:off x="9096915" y="187925"/>
            <a:ext cx="1395731" cy="1475175"/>
          </a:xfrm>
          <a:prstGeom prst="rect">
            <a:avLst/>
          </a:prstGeom>
        </p:spPr>
      </p:pic>
      <p:pic>
        <p:nvPicPr>
          <p:cNvPr id="7" name="Picture 6">
            <a:extLst>
              <a:ext uri="{FF2B5EF4-FFF2-40B4-BE49-F238E27FC236}">
                <a16:creationId xmlns:a16="http://schemas.microsoft.com/office/drawing/2014/main" id="{191F4370-94B3-4E8E-C83D-1FAE7CC84326}"/>
              </a:ext>
            </a:extLst>
          </p:cNvPr>
          <p:cNvPicPr>
            <a:picLocks noChangeAspect="1"/>
          </p:cNvPicPr>
          <p:nvPr/>
        </p:nvPicPr>
        <p:blipFill>
          <a:blip r:embed="rId4"/>
          <a:stretch>
            <a:fillRect/>
          </a:stretch>
        </p:blipFill>
        <p:spPr>
          <a:xfrm>
            <a:off x="10580077" y="133471"/>
            <a:ext cx="1426464" cy="1584081"/>
          </a:xfrm>
          <a:prstGeom prst="rect">
            <a:avLst/>
          </a:prstGeom>
        </p:spPr>
      </p:pic>
    </p:spTree>
    <p:extLst>
      <p:ext uri="{BB962C8B-B14F-4D97-AF65-F5344CB8AC3E}">
        <p14:creationId xmlns:p14="http://schemas.microsoft.com/office/powerpoint/2010/main" val="2643690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10D6B67-EB23-B871-0CBE-F377AEE7C411}"/>
              </a:ext>
            </a:extLst>
          </p:cNvPr>
          <p:cNvSpPr>
            <a:spLocks noGrp="1"/>
          </p:cNvSpPr>
          <p:nvPr>
            <p:ph sz="quarter" idx="17"/>
          </p:nvPr>
        </p:nvSpPr>
        <p:spPr>
          <a:xfrm>
            <a:off x="266699" y="471055"/>
            <a:ext cx="11565083" cy="4896283"/>
          </a:xfrm>
        </p:spPr>
        <p:txBody>
          <a:bodyPr/>
          <a:lstStyle/>
          <a:p>
            <a:endParaRPr lang="en-US" sz="1800" dirty="0"/>
          </a:p>
          <a:p>
            <a:r>
              <a:rPr lang="en-US" sz="1600" dirty="0"/>
              <a:t>BOOH Agenda</a:t>
            </a:r>
          </a:p>
          <a:p>
            <a:endParaRPr lang="en-US" sz="1600" dirty="0"/>
          </a:p>
          <a:p>
            <a:pPr marL="342900" indent="-342900">
              <a:buAutoNum type="arabicParenR"/>
            </a:pPr>
            <a:r>
              <a:rPr lang="en-US" sz="1600" dirty="0"/>
              <a:t>Welcoming Remarks by COL Baker @ 8:30AM</a:t>
            </a:r>
          </a:p>
          <a:p>
            <a:pPr marL="342900" indent="-342900">
              <a:buAutoNum type="arabicParenR"/>
            </a:pPr>
            <a:endParaRPr lang="en-US" sz="1600" dirty="0"/>
          </a:p>
          <a:p>
            <a:pPr marL="342900" indent="-342900">
              <a:buAutoNum type="arabicParenR"/>
            </a:pPr>
            <a:r>
              <a:rPr lang="en-US" sz="1600" dirty="0"/>
              <a:t>SPL Overview: Sean Sackett @8:45AM</a:t>
            </a:r>
          </a:p>
          <a:p>
            <a:pPr marL="342900" indent="-342900">
              <a:buAutoNum type="arabicParenR"/>
            </a:pPr>
            <a:endParaRPr lang="en-US" sz="1600" dirty="0"/>
          </a:p>
          <a:p>
            <a:pPr marL="342900" indent="-342900">
              <a:buAutoNum type="arabicParenR"/>
            </a:pPr>
            <a:r>
              <a:rPr lang="en-US" sz="1600" dirty="0"/>
              <a:t>Discussion of Los Angeles Fire Recovery @ 9:15AM</a:t>
            </a:r>
          </a:p>
          <a:p>
            <a:r>
              <a:rPr lang="en-US" sz="1600" dirty="0"/>
              <a:t>	-Debris Cleanup Progress: </a:t>
            </a:r>
            <a:r>
              <a:rPr lang="en-US" sz="1600" dirty="0" err="1"/>
              <a:t>T’Destynee</a:t>
            </a:r>
            <a:r>
              <a:rPr lang="en-US" sz="1600" dirty="0"/>
              <a:t> Hives-McCray</a:t>
            </a:r>
          </a:p>
          <a:p>
            <a:r>
              <a:rPr lang="en-US" sz="1600" dirty="0"/>
              <a:t>	-FEMA/USACE Partnership: 	Christine Davis</a:t>
            </a:r>
          </a:p>
          <a:p>
            <a:r>
              <a:rPr lang="en-US" sz="1600" dirty="0"/>
              <a:t>	-Potential Business Opportunities: Christine Davis/Roger Minami</a:t>
            </a:r>
          </a:p>
          <a:p>
            <a:r>
              <a:rPr lang="en-US" sz="1600" dirty="0"/>
              <a:t>	-ECC: Prashant Khanna</a:t>
            </a:r>
          </a:p>
          <a:p>
            <a:r>
              <a:rPr lang="en-US" sz="1600" dirty="0"/>
              <a:t>	-Q&amp;A</a:t>
            </a:r>
          </a:p>
          <a:p>
            <a:endParaRPr lang="en-US" sz="1600" dirty="0"/>
          </a:p>
          <a:p>
            <a:pPr marL="342900" indent="-342900">
              <a:buAutoNum type="arabicParenR" startAt="3"/>
            </a:pPr>
            <a:r>
              <a:rPr lang="en-US" sz="1600" dirty="0"/>
              <a:t>Networking @ 10:15AM (Networking Closes at 12:30PM)</a:t>
            </a:r>
          </a:p>
          <a:p>
            <a:pPr marL="342900" indent="-342900">
              <a:buAutoNum type="arabicParenR" startAt="3"/>
            </a:pPr>
            <a:endParaRPr lang="en-US" sz="1600" dirty="0"/>
          </a:p>
          <a:p>
            <a:r>
              <a:rPr lang="en-US" sz="2400" b="1" dirty="0"/>
              <a:t>This slide deck will be posted in the System for Award Management (SAM) upon conclusion</a:t>
            </a:r>
          </a:p>
          <a:p>
            <a:r>
              <a:rPr lang="en-US" sz="1400" dirty="0"/>
              <a:t>	</a:t>
            </a:r>
          </a:p>
          <a:p>
            <a:pPr marL="342900" indent="-342900">
              <a:buAutoNum type="arabicParenR"/>
            </a:pPr>
            <a:endParaRPr lang="en-US" sz="1400" dirty="0"/>
          </a:p>
          <a:p>
            <a:endParaRPr lang="en-US" sz="1800" dirty="0"/>
          </a:p>
        </p:txBody>
      </p:sp>
    </p:spTree>
    <p:extLst>
      <p:ext uri="{BB962C8B-B14F-4D97-AF65-F5344CB8AC3E}">
        <p14:creationId xmlns:p14="http://schemas.microsoft.com/office/powerpoint/2010/main" val="2086177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DB3B341-FC0B-C3B0-3394-B61751EA891F}"/>
              </a:ext>
            </a:extLst>
          </p:cNvPr>
          <p:cNvGrpSpPr/>
          <p:nvPr/>
        </p:nvGrpSpPr>
        <p:grpSpPr>
          <a:xfrm>
            <a:off x="262574" y="1206061"/>
            <a:ext cx="5603201" cy="4299356"/>
            <a:chOff x="761022" y="770947"/>
            <a:chExt cx="7658101" cy="5219700"/>
          </a:xfrm>
        </p:grpSpPr>
        <p:pic>
          <p:nvPicPr>
            <p:cNvPr id="11" name="Picture 10">
              <a:extLst>
                <a:ext uri="{FF2B5EF4-FFF2-40B4-BE49-F238E27FC236}">
                  <a16:creationId xmlns:a16="http://schemas.microsoft.com/office/drawing/2014/main" id="{6AD957BE-E4AC-631E-26A2-1FEB1635C197}"/>
                </a:ext>
              </a:extLst>
            </p:cNvPr>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a:off x="761022" y="770947"/>
              <a:ext cx="7658101" cy="5219700"/>
            </a:xfrm>
            <a:prstGeom prst="rect">
              <a:avLst/>
            </a:prstGeom>
            <a:ln w="38100" cap="sq">
              <a:solidFill>
                <a:srgbClr val="000000"/>
              </a:solidFill>
              <a:prstDash val="solid"/>
              <a:miter lim="800000"/>
            </a:ln>
            <a:effectLst>
              <a:outerShdw blurRad="50800" dist="38100" dir="8100000" algn="tr" rotWithShape="0">
                <a:prstClr val="black">
                  <a:alpha val="40000"/>
                </a:prstClr>
              </a:outerShdw>
            </a:effectLst>
          </p:spPr>
        </p:pic>
        <p:sp>
          <p:nvSpPr>
            <p:cNvPr id="12" name="Oval 11">
              <a:extLst>
                <a:ext uri="{FF2B5EF4-FFF2-40B4-BE49-F238E27FC236}">
                  <a16:creationId xmlns:a16="http://schemas.microsoft.com/office/drawing/2014/main" id="{07272652-BE63-8563-DD5C-7B352288B6D7}"/>
                </a:ext>
              </a:extLst>
            </p:cNvPr>
            <p:cNvSpPr/>
            <p:nvPr/>
          </p:nvSpPr>
          <p:spPr>
            <a:xfrm>
              <a:off x="6467427" y="4394895"/>
              <a:ext cx="84175" cy="90118"/>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13" name="Oval 12">
              <a:extLst>
                <a:ext uri="{FF2B5EF4-FFF2-40B4-BE49-F238E27FC236}">
                  <a16:creationId xmlns:a16="http://schemas.microsoft.com/office/drawing/2014/main" id="{42652EF8-1674-0C58-2D2C-0166C41A9245}"/>
                </a:ext>
              </a:extLst>
            </p:cNvPr>
            <p:cNvSpPr/>
            <p:nvPr/>
          </p:nvSpPr>
          <p:spPr>
            <a:xfrm>
              <a:off x="7108142" y="5128720"/>
              <a:ext cx="75138" cy="85606"/>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14" name="Oval 13">
              <a:extLst>
                <a:ext uri="{FF2B5EF4-FFF2-40B4-BE49-F238E27FC236}">
                  <a16:creationId xmlns:a16="http://schemas.microsoft.com/office/drawing/2014/main" id="{7EB9D6C7-07F6-8BCD-A77B-D5CE62697C44}"/>
                </a:ext>
              </a:extLst>
            </p:cNvPr>
            <p:cNvSpPr/>
            <p:nvPr/>
          </p:nvSpPr>
          <p:spPr>
            <a:xfrm>
              <a:off x="4913800" y="4872062"/>
              <a:ext cx="84338" cy="85029"/>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15" name="Oval 14">
              <a:extLst>
                <a:ext uri="{FF2B5EF4-FFF2-40B4-BE49-F238E27FC236}">
                  <a16:creationId xmlns:a16="http://schemas.microsoft.com/office/drawing/2014/main" id="{FB359C26-BF0A-58AA-84CA-A012588EA6D4}"/>
                </a:ext>
              </a:extLst>
            </p:cNvPr>
            <p:cNvSpPr/>
            <p:nvPr/>
          </p:nvSpPr>
          <p:spPr>
            <a:xfrm>
              <a:off x="3896143" y="3237266"/>
              <a:ext cx="75138" cy="85606"/>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16" name="Oval 15">
              <a:extLst>
                <a:ext uri="{FF2B5EF4-FFF2-40B4-BE49-F238E27FC236}">
                  <a16:creationId xmlns:a16="http://schemas.microsoft.com/office/drawing/2014/main" id="{F0886178-9DA6-3D6F-E13C-464E93F6E1C4}"/>
                </a:ext>
              </a:extLst>
            </p:cNvPr>
            <p:cNvSpPr/>
            <p:nvPr/>
          </p:nvSpPr>
          <p:spPr>
            <a:xfrm>
              <a:off x="7249949" y="5433561"/>
              <a:ext cx="78459" cy="74034"/>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17" name="Oval 16">
              <a:extLst>
                <a:ext uri="{FF2B5EF4-FFF2-40B4-BE49-F238E27FC236}">
                  <a16:creationId xmlns:a16="http://schemas.microsoft.com/office/drawing/2014/main" id="{77D0DC92-0E2D-3EF2-BEAA-42458C71008B}"/>
                </a:ext>
              </a:extLst>
            </p:cNvPr>
            <p:cNvSpPr/>
            <p:nvPr/>
          </p:nvSpPr>
          <p:spPr>
            <a:xfrm>
              <a:off x="3180904" y="3605990"/>
              <a:ext cx="75138" cy="85606"/>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18" name="Oval 17">
              <a:extLst>
                <a:ext uri="{FF2B5EF4-FFF2-40B4-BE49-F238E27FC236}">
                  <a16:creationId xmlns:a16="http://schemas.microsoft.com/office/drawing/2014/main" id="{7C310259-80DE-CC04-52D9-A0BCCAEA7EC6}"/>
                </a:ext>
              </a:extLst>
            </p:cNvPr>
            <p:cNvSpPr/>
            <p:nvPr/>
          </p:nvSpPr>
          <p:spPr>
            <a:xfrm>
              <a:off x="1376856" y="3698926"/>
              <a:ext cx="81869" cy="86477"/>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19" name="Oval 18">
              <a:extLst>
                <a:ext uri="{FF2B5EF4-FFF2-40B4-BE49-F238E27FC236}">
                  <a16:creationId xmlns:a16="http://schemas.microsoft.com/office/drawing/2014/main" id="{E3BE3794-D0EB-70F6-B9C7-3CCAB65077EF}"/>
                </a:ext>
              </a:extLst>
            </p:cNvPr>
            <p:cNvSpPr/>
            <p:nvPr/>
          </p:nvSpPr>
          <p:spPr>
            <a:xfrm>
              <a:off x="4362774" y="2622510"/>
              <a:ext cx="82031" cy="85606"/>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0" name="Oval 19">
              <a:extLst>
                <a:ext uri="{FF2B5EF4-FFF2-40B4-BE49-F238E27FC236}">
                  <a16:creationId xmlns:a16="http://schemas.microsoft.com/office/drawing/2014/main" id="{6249D90A-AF70-FBAB-0B07-7EF184FAC65A}"/>
                </a:ext>
              </a:extLst>
            </p:cNvPr>
            <p:cNvSpPr/>
            <p:nvPr/>
          </p:nvSpPr>
          <p:spPr>
            <a:xfrm>
              <a:off x="2931201" y="4311508"/>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1" name="Oval 20">
              <a:extLst>
                <a:ext uri="{FF2B5EF4-FFF2-40B4-BE49-F238E27FC236}">
                  <a16:creationId xmlns:a16="http://schemas.microsoft.com/office/drawing/2014/main" id="{0EA08515-7532-A977-C912-3F3D5089DFBD}"/>
                </a:ext>
              </a:extLst>
            </p:cNvPr>
            <p:cNvSpPr/>
            <p:nvPr/>
          </p:nvSpPr>
          <p:spPr>
            <a:xfrm>
              <a:off x="1250452" y="3390466"/>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2" name="Oval 21">
              <a:extLst>
                <a:ext uri="{FF2B5EF4-FFF2-40B4-BE49-F238E27FC236}">
                  <a16:creationId xmlns:a16="http://schemas.microsoft.com/office/drawing/2014/main" id="{61264984-FB30-F4B1-FA8C-D55E2B4116D6}"/>
                </a:ext>
              </a:extLst>
            </p:cNvPr>
            <p:cNvSpPr/>
            <p:nvPr/>
          </p:nvSpPr>
          <p:spPr>
            <a:xfrm>
              <a:off x="3165428" y="4497235"/>
              <a:ext cx="73446" cy="77084"/>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3" name="Oval 22">
              <a:extLst>
                <a:ext uri="{FF2B5EF4-FFF2-40B4-BE49-F238E27FC236}">
                  <a16:creationId xmlns:a16="http://schemas.microsoft.com/office/drawing/2014/main" id="{BD9099EE-4B20-FD81-F439-5E0D337FE44B}"/>
                </a:ext>
              </a:extLst>
            </p:cNvPr>
            <p:cNvSpPr/>
            <p:nvPr/>
          </p:nvSpPr>
          <p:spPr>
            <a:xfrm>
              <a:off x="1314326" y="3486150"/>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4" name="Oval 23">
              <a:extLst>
                <a:ext uri="{FF2B5EF4-FFF2-40B4-BE49-F238E27FC236}">
                  <a16:creationId xmlns:a16="http://schemas.microsoft.com/office/drawing/2014/main" id="{5EADF087-617E-5E0E-4C9D-1376AAD69DD5}"/>
                </a:ext>
              </a:extLst>
            </p:cNvPr>
            <p:cNvSpPr/>
            <p:nvPr/>
          </p:nvSpPr>
          <p:spPr>
            <a:xfrm>
              <a:off x="3045934" y="4397151"/>
              <a:ext cx="75663"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5" name="Oval 24">
              <a:extLst>
                <a:ext uri="{FF2B5EF4-FFF2-40B4-BE49-F238E27FC236}">
                  <a16:creationId xmlns:a16="http://schemas.microsoft.com/office/drawing/2014/main" id="{2389E876-381F-4D81-DABC-C9791B5F12C5}"/>
                </a:ext>
              </a:extLst>
            </p:cNvPr>
            <p:cNvSpPr/>
            <p:nvPr/>
          </p:nvSpPr>
          <p:spPr>
            <a:xfrm>
              <a:off x="3338589" y="4827361"/>
              <a:ext cx="70519" cy="83299"/>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6" name="Oval 25">
              <a:extLst>
                <a:ext uri="{FF2B5EF4-FFF2-40B4-BE49-F238E27FC236}">
                  <a16:creationId xmlns:a16="http://schemas.microsoft.com/office/drawing/2014/main" id="{E8246DA5-215B-F5F8-EF89-B44B097A9334}"/>
                </a:ext>
              </a:extLst>
            </p:cNvPr>
            <p:cNvSpPr/>
            <p:nvPr/>
          </p:nvSpPr>
          <p:spPr>
            <a:xfrm>
              <a:off x="1543086" y="3836497"/>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7" name="Oval 26">
              <a:extLst>
                <a:ext uri="{FF2B5EF4-FFF2-40B4-BE49-F238E27FC236}">
                  <a16:creationId xmlns:a16="http://schemas.microsoft.com/office/drawing/2014/main" id="{0BC3AF46-F0A1-81BD-1593-912A0E518974}"/>
                </a:ext>
              </a:extLst>
            </p:cNvPr>
            <p:cNvSpPr/>
            <p:nvPr/>
          </p:nvSpPr>
          <p:spPr>
            <a:xfrm>
              <a:off x="2034127" y="3880197"/>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8" name="Oval 27">
              <a:extLst>
                <a:ext uri="{FF2B5EF4-FFF2-40B4-BE49-F238E27FC236}">
                  <a16:creationId xmlns:a16="http://schemas.microsoft.com/office/drawing/2014/main" id="{D6AD3595-7603-13F9-4B3B-99F1E66044E9}"/>
                </a:ext>
              </a:extLst>
            </p:cNvPr>
            <p:cNvSpPr/>
            <p:nvPr/>
          </p:nvSpPr>
          <p:spPr>
            <a:xfrm>
              <a:off x="4543837" y="2756832"/>
              <a:ext cx="74807" cy="73471"/>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29" name="Oval 28">
              <a:extLst>
                <a:ext uri="{FF2B5EF4-FFF2-40B4-BE49-F238E27FC236}">
                  <a16:creationId xmlns:a16="http://schemas.microsoft.com/office/drawing/2014/main" id="{DB8AD4B9-B1C0-FB0C-6F8D-DC0D84E56106}"/>
                </a:ext>
              </a:extLst>
            </p:cNvPr>
            <p:cNvSpPr/>
            <p:nvPr/>
          </p:nvSpPr>
          <p:spPr>
            <a:xfrm>
              <a:off x="2665048" y="4092735"/>
              <a:ext cx="82031" cy="85606"/>
            </a:xfrm>
            <a:prstGeom prst="ellipse">
              <a:avLst/>
            </a:prstGeom>
            <a:solidFill>
              <a:srgbClr val="33CC33"/>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30" name="Oval 29">
              <a:extLst>
                <a:ext uri="{FF2B5EF4-FFF2-40B4-BE49-F238E27FC236}">
                  <a16:creationId xmlns:a16="http://schemas.microsoft.com/office/drawing/2014/main" id="{BC5D5861-34AA-ADDD-FE9B-3A01BBFA0847}"/>
                </a:ext>
              </a:extLst>
            </p:cNvPr>
            <p:cNvSpPr/>
            <p:nvPr/>
          </p:nvSpPr>
          <p:spPr>
            <a:xfrm>
              <a:off x="2814955" y="4234601"/>
              <a:ext cx="112043" cy="127757"/>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31" name="Oval 30">
              <a:extLst>
                <a:ext uri="{FF2B5EF4-FFF2-40B4-BE49-F238E27FC236}">
                  <a16:creationId xmlns:a16="http://schemas.microsoft.com/office/drawing/2014/main" id="{E078B9B9-64A4-07DA-CDC7-5260D93C6D18}"/>
                </a:ext>
              </a:extLst>
            </p:cNvPr>
            <p:cNvSpPr/>
            <p:nvPr/>
          </p:nvSpPr>
          <p:spPr>
            <a:xfrm>
              <a:off x="3263451" y="4741755"/>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32" name="Oval 31">
              <a:extLst>
                <a:ext uri="{FF2B5EF4-FFF2-40B4-BE49-F238E27FC236}">
                  <a16:creationId xmlns:a16="http://schemas.microsoft.com/office/drawing/2014/main" id="{51989805-3EAE-3C63-9612-8560ECAE3BA0}"/>
                </a:ext>
              </a:extLst>
            </p:cNvPr>
            <p:cNvSpPr/>
            <p:nvPr/>
          </p:nvSpPr>
          <p:spPr>
            <a:xfrm>
              <a:off x="2556451" y="4077092"/>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33" name="Oval 32">
              <a:extLst>
                <a:ext uri="{FF2B5EF4-FFF2-40B4-BE49-F238E27FC236}">
                  <a16:creationId xmlns:a16="http://schemas.microsoft.com/office/drawing/2014/main" id="{21B12AF5-ECFA-69F9-1B6D-AC1D6D35D4B1}"/>
                </a:ext>
              </a:extLst>
            </p:cNvPr>
            <p:cNvSpPr/>
            <p:nvPr/>
          </p:nvSpPr>
          <p:spPr>
            <a:xfrm>
              <a:off x="2481313" y="4001190"/>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34" name="Oval 33">
              <a:extLst>
                <a:ext uri="{FF2B5EF4-FFF2-40B4-BE49-F238E27FC236}">
                  <a16:creationId xmlns:a16="http://schemas.microsoft.com/office/drawing/2014/main" id="{52EC507A-9268-95C9-0A74-7444CD1045B6}"/>
                </a:ext>
              </a:extLst>
            </p:cNvPr>
            <p:cNvSpPr/>
            <p:nvPr/>
          </p:nvSpPr>
          <p:spPr>
            <a:xfrm>
              <a:off x="2210923" y="3999700"/>
              <a:ext cx="75138" cy="85606"/>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35" name="Oval 34">
              <a:extLst>
                <a:ext uri="{FF2B5EF4-FFF2-40B4-BE49-F238E27FC236}">
                  <a16:creationId xmlns:a16="http://schemas.microsoft.com/office/drawing/2014/main" id="{DB6CCAA5-9534-5330-65A3-B44E17C6748D}"/>
                </a:ext>
              </a:extLst>
            </p:cNvPr>
            <p:cNvSpPr/>
            <p:nvPr/>
          </p:nvSpPr>
          <p:spPr>
            <a:xfrm>
              <a:off x="2728564" y="4208140"/>
              <a:ext cx="112043" cy="127757"/>
            </a:xfrm>
            <a:prstGeom prst="ellipse">
              <a:avLst/>
            </a:prstGeom>
            <a:solidFill>
              <a:srgbClr val="0066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sp>
          <p:nvSpPr>
            <p:cNvPr id="36" name="TextBox 35">
              <a:extLst>
                <a:ext uri="{FF2B5EF4-FFF2-40B4-BE49-F238E27FC236}">
                  <a16:creationId xmlns:a16="http://schemas.microsoft.com/office/drawing/2014/main" id="{AFB95FA7-250B-5676-CB39-6110A1582947}"/>
                </a:ext>
              </a:extLst>
            </p:cNvPr>
            <p:cNvSpPr txBox="1"/>
            <p:nvPr/>
          </p:nvSpPr>
          <p:spPr>
            <a:xfrm>
              <a:off x="1355018" y="3562111"/>
              <a:ext cx="10342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Vandenberg AFB</a:t>
              </a:r>
            </a:p>
          </p:txBody>
        </p:sp>
        <p:sp>
          <p:nvSpPr>
            <p:cNvPr id="37" name="TextBox 36">
              <a:extLst>
                <a:ext uri="{FF2B5EF4-FFF2-40B4-BE49-F238E27FC236}">
                  <a16:creationId xmlns:a16="http://schemas.microsoft.com/office/drawing/2014/main" id="{67E68211-3812-F146-E367-6D73D695379A}"/>
                </a:ext>
              </a:extLst>
            </p:cNvPr>
            <p:cNvSpPr txBox="1"/>
            <p:nvPr/>
          </p:nvSpPr>
          <p:spPr>
            <a:xfrm>
              <a:off x="3761250" y="2444812"/>
              <a:ext cx="78258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Creech AFB</a:t>
              </a:r>
            </a:p>
          </p:txBody>
        </p:sp>
        <p:sp>
          <p:nvSpPr>
            <p:cNvPr id="38" name="TextBox 37">
              <a:extLst>
                <a:ext uri="{FF2B5EF4-FFF2-40B4-BE49-F238E27FC236}">
                  <a16:creationId xmlns:a16="http://schemas.microsoft.com/office/drawing/2014/main" id="{492B8754-A449-11AB-5F48-552A0FBDF339}"/>
                </a:ext>
              </a:extLst>
            </p:cNvPr>
            <p:cNvSpPr txBox="1"/>
            <p:nvPr/>
          </p:nvSpPr>
          <p:spPr>
            <a:xfrm>
              <a:off x="3083765" y="3101673"/>
              <a:ext cx="907621"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Fort Irwin NTC</a:t>
              </a:r>
            </a:p>
          </p:txBody>
        </p:sp>
        <p:sp>
          <p:nvSpPr>
            <p:cNvPr id="39" name="TextBox 38">
              <a:extLst>
                <a:ext uri="{FF2B5EF4-FFF2-40B4-BE49-F238E27FC236}">
                  <a16:creationId xmlns:a16="http://schemas.microsoft.com/office/drawing/2014/main" id="{27AA0C3C-8148-174F-61E8-9BC9D565AD67}"/>
                </a:ext>
              </a:extLst>
            </p:cNvPr>
            <p:cNvSpPr txBox="1"/>
            <p:nvPr/>
          </p:nvSpPr>
          <p:spPr>
            <a:xfrm>
              <a:off x="2592162" y="3436749"/>
              <a:ext cx="865943"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Edwards AFB</a:t>
              </a:r>
            </a:p>
          </p:txBody>
        </p:sp>
        <p:sp>
          <p:nvSpPr>
            <p:cNvPr id="40" name="TextBox 39">
              <a:extLst>
                <a:ext uri="{FF2B5EF4-FFF2-40B4-BE49-F238E27FC236}">
                  <a16:creationId xmlns:a16="http://schemas.microsoft.com/office/drawing/2014/main" id="{9D1D93DD-6DC4-57D4-8246-7534F4766B53}"/>
                </a:ext>
              </a:extLst>
            </p:cNvPr>
            <p:cNvSpPr txBox="1"/>
            <p:nvPr/>
          </p:nvSpPr>
          <p:spPr>
            <a:xfrm>
              <a:off x="1470197" y="4197810"/>
              <a:ext cx="1048685"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Los Angeles AFB</a:t>
              </a:r>
            </a:p>
          </p:txBody>
        </p:sp>
        <p:sp>
          <p:nvSpPr>
            <p:cNvPr id="41" name="TextBox 40">
              <a:extLst>
                <a:ext uri="{FF2B5EF4-FFF2-40B4-BE49-F238E27FC236}">
                  <a16:creationId xmlns:a16="http://schemas.microsoft.com/office/drawing/2014/main" id="{8AE747A1-89D1-28BF-E87D-B7944D1DA826}"/>
                </a:ext>
              </a:extLst>
            </p:cNvPr>
            <p:cNvSpPr txBox="1"/>
            <p:nvPr/>
          </p:nvSpPr>
          <p:spPr>
            <a:xfrm>
              <a:off x="4890613" y="4881884"/>
              <a:ext cx="1298753"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Yuma Proving Ground</a:t>
              </a:r>
            </a:p>
          </p:txBody>
        </p:sp>
        <p:sp>
          <p:nvSpPr>
            <p:cNvPr id="42" name="TextBox 41">
              <a:extLst>
                <a:ext uri="{FF2B5EF4-FFF2-40B4-BE49-F238E27FC236}">
                  <a16:creationId xmlns:a16="http://schemas.microsoft.com/office/drawing/2014/main" id="{52D67D6E-2129-4903-86F0-61C57B492754}"/>
                </a:ext>
              </a:extLst>
            </p:cNvPr>
            <p:cNvSpPr txBox="1"/>
            <p:nvPr/>
          </p:nvSpPr>
          <p:spPr>
            <a:xfrm>
              <a:off x="6471479" y="4355777"/>
              <a:ext cx="67197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Luke AFB</a:t>
              </a:r>
            </a:p>
          </p:txBody>
        </p:sp>
        <p:sp>
          <p:nvSpPr>
            <p:cNvPr id="43" name="TextBox 42">
              <a:extLst>
                <a:ext uri="{FF2B5EF4-FFF2-40B4-BE49-F238E27FC236}">
                  <a16:creationId xmlns:a16="http://schemas.microsoft.com/office/drawing/2014/main" id="{A33DD38D-C3E3-45A1-7BB1-380D11C945BD}"/>
                </a:ext>
              </a:extLst>
            </p:cNvPr>
            <p:cNvSpPr txBox="1"/>
            <p:nvPr/>
          </p:nvSpPr>
          <p:spPr>
            <a:xfrm>
              <a:off x="3913002" y="2665313"/>
              <a:ext cx="705642"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rgbClr val="336600"/>
                  </a:solidFill>
                  <a:effectLst/>
                  <a:uLnTx/>
                  <a:uFillTx/>
                  <a:latin typeface="Arial Narrow" panose="020B0606020202030204" pitchFamily="34" charset="0"/>
                  <a:ea typeface="+mn-ea"/>
                  <a:cs typeface="+mn-cs"/>
                </a:rPr>
                <a:t>Nellis</a:t>
              </a: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 AFB</a:t>
              </a:r>
            </a:p>
          </p:txBody>
        </p:sp>
        <p:sp>
          <p:nvSpPr>
            <p:cNvPr id="44" name="TextBox 43">
              <a:extLst>
                <a:ext uri="{FF2B5EF4-FFF2-40B4-BE49-F238E27FC236}">
                  <a16:creationId xmlns:a16="http://schemas.microsoft.com/office/drawing/2014/main" id="{A1BE048A-F425-DC0A-BE08-367AD4C794A6}"/>
                </a:ext>
              </a:extLst>
            </p:cNvPr>
            <p:cNvSpPr txBox="1"/>
            <p:nvPr/>
          </p:nvSpPr>
          <p:spPr>
            <a:xfrm>
              <a:off x="6031003" y="5128105"/>
              <a:ext cx="1178528"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Davis-</a:t>
              </a:r>
              <a:r>
                <a:rPr kumimoji="0" lang="en-US" sz="1000" b="1" i="0" u="none" strike="noStrike" kern="1200" cap="none" spc="0" normalizeH="0" baseline="0" noProof="0" err="1">
                  <a:ln>
                    <a:noFill/>
                  </a:ln>
                  <a:solidFill>
                    <a:srgbClr val="336600"/>
                  </a:solidFill>
                  <a:effectLst/>
                  <a:uLnTx/>
                  <a:uFillTx/>
                  <a:latin typeface="Arial Narrow" panose="020B0606020202030204" pitchFamily="34" charset="0"/>
                  <a:ea typeface="+mn-ea"/>
                  <a:cs typeface="+mn-cs"/>
                </a:rPr>
                <a:t>Monthan</a:t>
              </a: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 AFB</a:t>
              </a:r>
            </a:p>
          </p:txBody>
        </p:sp>
        <p:sp>
          <p:nvSpPr>
            <p:cNvPr id="45" name="TextBox 44">
              <a:extLst>
                <a:ext uri="{FF2B5EF4-FFF2-40B4-BE49-F238E27FC236}">
                  <a16:creationId xmlns:a16="http://schemas.microsoft.com/office/drawing/2014/main" id="{92AF5C4D-EF33-9DF1-7BB6-42FA924AC378}"/>
                </a:ext>
              </a:extLst>
            </p:cNvPr>
            <p:cNvSpPr txBox="1"/>
            <p:nvPr/>
          </p:nvSpPr>
          <p:spPr>
            <a:xfrm>
              <a:off x="7249949" y="5347467"/>
              <a:ext cx="91723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36600"/>
                  </a:solidFill>
                  <a:effectLst/>
                  <a:uLnTx/>
                  <a:uFillTx/>
                  <a:latin typeface="Arial Narrow" panose="020B0606020202030204" pitchFamily="34" charset="0"/>
                  <a:ea typeface="+mn-ea"/>
                  <a:cs typeface="+mn-cs"/>
                </a:rPr>
                <a:t>Fort Huachuca</a:t>
              </a:r>
            </a:p>
          </p:txBody>
        </p:sp>
        <p:sp>
          <p:nvSpPr>
            <p:cNvPr id="46" name="Rectangle 45">
              <a:extLst>
                <a:ext uri="{FF2B5EF4-FFF2-40B4-BE49-F238E27FC236}">
                  <a16:creationId xmlns:a16="http://schemas.microsoft.com/office/drawing/2014/main" id="{47491B0E-1B1B-3F95-F3A2-4C425CAAB74F}"/>
                </a:ext>
              </a:extLst>
            </p:cNvPr>
            <p:cNvSpPr/>
            <p:nvPr/>
          </p:nvSpPr>
          <p:spPr>
            <a:xfrm>
              <a:off x="5604844" y="1109855"/>
              <a:ext cx="1853100" cy="48576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9525">
                    <a:solidFill>
                      <a:srgbClr val="83847A"/>
                    </a:solidFill>
                    <a:prstDash val="solid"/>
                  </a:ln>
                  <a:solidFill>
                    <a:srgbClr val="000000"/>
                  </a:solidFill>
                  <a:effectLst>
                    <a:glow rad="101600">
                      <a:srgbClr val="83847A">
                        <a:alpha val="60000"/>
                      </a:srgbClr>
                    </a:glow>
                  </a:effectLst>
                  <a:uLnTx/>
                  <a:uFillTx/>
                  <a:latin typeface="Arial"/>
                  <a:ea typeface="+mn-ea"/>
                  <a:cs typeface="+mn-cs"/>
                </a:rPr>
                <a:t>Utah</a:t>
              </a:r>
            </a:p>
          </p:txBody>
        </p:sp>
        <p:sp>
          <p:nvSpPr>
            <p:cNvPr id="47" name="Rectangle 46">
              <a:extLst>
                <a:ext uri="{FF2B5EF4-FFF2-40B4-BE49-F238E27FC236}">
                  <a16:creationId xmlns:a16="http://schemas.microsoft.com/office/drawing/2014/main" id="{C49F1FD9-0C55-4ABA-CD9D-4590D8B1D20A}"/>
                </a:ext>
              </a:extLst>
            </p:cNvPr>
            <p:cNvSpPr/>
            <p:nvPr/>
          </p:nvSpPr>
          <p:spPr>
            <a:xfrm>
              <a:off x="5757244" y="3764578"/>
              <a:ext cx="1700700" cy="470022"/>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w="28575"/>
                  <a:solidFill>
                    <a:srgbClr val="000000"/>
                  </a:solidFill>
                  <a:effectLst>
                    <a:glow rad="101600">
                      <a:srgbClr val="83847A">
                        <a:alpha val="60000"/>
                      </a:srgbClr>
                    </a:glow>
                  </a:effectLst>
                  <a:uLnTx/>
                  <a:uFillTx/>
                  <a:latin typeface="Arial"/>
                  <a:ea typeface="+mn-ea"/>
                  <a:cs typeface="+mn-cs"/>
                </a:rPr>
                <a:t>Arizona</a:t>
              </a:r>
            </a:p>
          </p:txBody>
        </p:sp>
        <p:sp>
          <p:nvSpPr>
            <p:cNvPr id="48" name="Rectangle 47">
              <a:extLst>
                <a:ext uri="{FF2B5EF4-FFF2-40B4-BE49-F238E27FC236}">
                  <a16:creationId xmlns:a16="http://schemas.microsoft.com/office/drawing/2014/main" id="{3852A314-C38D-3189-ED18-9B0FE73762AA}"/>
                </a:ext>
              </a:extLst>
            </p:cNvPr>
            <p:cNvSpPr/>
            <p:nvPr/>
          </p:nvSpPr>
          <p:spPr>
            <a:xfrm>
              <a:off x="1104429" y="2181171"/>
              <a:ext cx="2444241" cy="470022"/>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w="28575"/>
                  <a:solidFill>
                    <a:srgbClr val="000000"/>
                  </a:solidFill>
                  <a:effectLst>
                    <a:glow rad="101600">
                      <a:srgbClr val="83847A">
                        <a:alpha val="60000"/>
                      </a:srgbClr>
                    </a:glow>
                  </a:effectLst>
                  <a:uLnTx/>
                  <a:uFillTx/>
                  <a:latin typeface="Arial"/>
                  <a:ea typeface="+mn-ea"/>
                  <a:cs typeface="+mn-cs"/>
                </a:rPr>
                <a:t>California</a:t>
              </a:r>
            </a:p>
          </p:txBody>
        </p:sp>
        <p:sp>
          <p:nvSpPr>
            <p:cNvPr id="49" name="Rectangle 48">
              <a:extLst>
                <a:ext uri="{FF2B5EF4-FFF2-40B4-BE49-F238E27FC236}">
                  <a16:creationId xmlns:a16="http://schemas.microsoft.com/office/drawing/2014/main" id="{5C5EDEFC-62CB-B8B2-5C97-2502FF380EA0}"/>
                </a:ext>
              </a:extLst>
            </p:cNvPr>
            <p:cNvSpPr/>
            <p:nvPr/>
          </p:nvSpPr>
          <p:spPr>
            <a:xfrm>
              <a:off x="3539714" y="1474676"/>
              <a:ext cx="2019197" cy="470022"/>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w="28575"/>
                  <a:solidFill>
                    <a:srgbClr val="000000"/>
                  </a:solidFill>
                  <a:effectLst>
                    <a:glow rad="101600">
                      <a:srgbClr val="83847A">
                        <a:alpha val="60000"/>
                      </a:srgbClr>
                    </a:glow>
                  </a:effectLst>
                  <a:uLnTx/>
                  <a:uFillTx/>
                  <a:latin typeface="Arial"/>
                  <a:ea typeface="+mn-ea"/>
                  <a:cs typeface="+mn-cs"/>
                </a:rPr>
                <a:t>Nevada</a:t>
              </a:r>
            </a:p>
          </p:txBody>
        </p:sp>
        <p:sp>
          <p:nvSpPr>
            <p:cNvPr id="50" name="5-Point Star 44">
              <a:extLst>
                <a:ext uri="{FF2B5EF4-FFF2-40B4-BE49-F238E27FC236}">
                  <a16:creationId xmlns:a16="http://schemas.microsoft.com/office/drawing/2014/main" id="{92E33DDB-C3CF-3B3E-1171-A14D5FFBB674}"/>
                </a:ext>
              </a:extLst>
            </p:cNvPr>
            <p:cNvSpPr/>
            <p:nvPr/>
          </p:nvSpPr>
          <p:spPr>
            <a:xfrm>
              <a:off x="2638010" y="3917690"/>
              <a:ext cx="163555" cy="169735"/>
            </a:xfrm>
            <a:prstGeom prst="star5">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grpSp>
      <p:sp>
        <p:nvSpPr>
          <p:cNvPr id="51" name="Text Box 19">
            <a:extLst>
              <a:ext uri="{FF2B5EF4-FFF2-40B4-BE49-F238E27FC236}">
                <a16:creationId xmlns:a16="http://schemas.microsoft.com/office/drawing/2014/main" id="{80A30EF4-FC11-EAA1-DC99-DFC4CE10DD34}"/>
              </a:ext>
            </a:extLst>
          </p:cNvPr>
          <p:cNvSpPr txBox="1">
            <a:spLocks noChangeArrowheads="1"/>
          </p:cNvSpPr>
          <p:nvPr/>
        </p:nvSpPr>
        <p:spPr bwMode="auto">
          <a:xfrm>
            <a:off x="6074817" y="847695"/>
            <a:ext cx="6061395" cy="5304016"/>
          </a:xfrm>
          <a:prstGeom prst="rect">
            <a:avLst/>
          </a:prstGeom>
          <a:noFill/>
          <a:ln w="12700" cap="sq">
            <a:noFill/>
            <a:miter lim="800000"/>
            <a:headEnd type="none" w="sm" len="sm"/>
            <a:tailEnd type="none" w="sm" len="sm"/>
          </a:ln>
        </p:spPr>
        <p:txBody>
          <a:bodyPr wrap="square" lIns="0" tIns="45720" rIns="0" bIns="45720" anchor="b">
            <a:spAutoFit/>
          </a:bodyPr>
          <a:lstStyle/>
          <a:p>
            <a:pPr marL="0" marR="0" lvl="0" indent="0"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Over 720 Team members serving a population of 33 million people</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lang="en-US" sz="1400" b="1" dirty="0">
                <a:solidFill>
                  <a:srgbClr val="000000"/>
                </a:solidFill>
                <a:latin typeface="Arial"/>
                <a:cs typeface="Calibri"/>
              </a:rPr>
              <a:t>Actively supporting Southern California Wildfires</a:t>
            </a:r>
            <a:endParaRPr kumimoji="0" lang="en-US" sz="1400" b="1" i="0" strike="noStrike" kern="1200" cap="none" spc="0" normalizeH="0" baseline="0" noProof="0" dirty="0">
              <a:ln>
                <a:noFill/>
              </a:ln>
              <a:solidFill>
                <a:srgbClr val="000000"/>
              </a:solidFill>
              <a:effectLst/>
              <a:uLnTx/>
              <a:uFillTx/>
              <a:latin typeface="Arial"/>
              <a:ea typeface="+mn-ea"/>
              <a:cs typeface="Calibri"/>
            </a:endParaRP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During TS Hilary: ~19,000 acre-feet of water from Prado and Whittier Narrows Dams (Worth ~$19M)</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Support to 8 million acres of military installations</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	(Army, Navy, Air Force, Space Force, Marine Corps – 15 total bases)</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15 Construction Offices</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6 Regulatory Offices</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Operate &amp; Maintain 17 dams and 61 miles of levee across AZ, NV, CA</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Operate &amp; Maintain 14 harbors along Southern California</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Maintain 5 River basins across AZ, NV, and Southern California</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Maintain 420 miles of shoreline</a:t>
            </a:r>
            <a:endParaRPr kumimoji="0" lang="en-US" sz="1400" b="0" i="0" u="none" strike="noStrike" kern="1200" cap="none" spc="0" normalizeH="0" baseline="0" noProof="0" dirty="0">
              <a:ln>
                <a:noFill/>
              </a:ln>
              <a:solidFill>
                <a:srgbClr val="000000"/>
              </a:solidFill>
              <a:effectLst/>
              <a:uLnTx/>
              <a:uFillTx/>
              <a:latin typeface="Arial"/>
              <a:ea typeface="+mn-ea"/>
              <a:cs typeface="Calibri"/>
            </a:endParaRP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California VA Medical Centers in San Diego and Long Beach</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Sustain Critical Habitats (300+  Threatened / Endangered  Species)</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Ports of LA/Long Beach = 5</a:t>
            </a:r>
            <a:r>
              <a:rPr kumimoji="0" lang="en-US" sz="1400" b="1" i="0" u="none" strike="noStrike" kern="1200" cap="none" spc="0" normalizeH="0" baseline="30000" noProof="0" dirty="0">
                <a:ln>
                  <a:noFill/>
                </a:ln>
                <a:solidFill>
                  <a:srgbClr val="000000"/>
                </a:solidFill>
                <a:effectLst/>
                <a:uLnTx/>
                <a:uFillTx/>
                <a:latin typeface="Arial"/>
                <a:ea typeface="+mn-ea"/>
                <a:cs typeface="Calibri"/>
              </a:rPr>
              <a:t>th</a:t>
            </a:r>
            <a:r>
              <a:rPr kumimoji="0" lang="en-US" sz="1400" b="1" i="0" u="none" strike="noStrike" kern="1200" cap="none" spc="0" normalizeH="0" baseline="0" noProof="0" dirty="0">
                <a:ln>
                  <a:noFill/>
                </a:ln>
                <a:solidFill>
                  <a:srgbClr val="000000"/>
                </a:solidFill>
                <a:effectLst/>
                <a:uLnTx/>
                <a:uFillTx/>
                <a:latin typeface="Arial"/>
                <a:ea typeface="+mn-ea"/>
                <a:cs typeface="Calibri"/>
              </a:rPr>
              <a:t> Busiest Port Complex in the World!</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67 Federally-recognized Tribes (27 Non-Federal)</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8 Senators / 4 Governors / 44 House Representatives</a:t>
            </a:r>
          </a:p>
          <a:p>
            <a:pPr marL="169545" marR="0" lvl="0" indent="-169545" algn="l" defTabSz="914400" rtl="0" eaLnBrk="1" fontAlgn="auto" latinLnBrk="0" hangingPunct="1">
              <a:lnSpc>
                <a:spcPct val="100000"/>
              </a:lnSpc>
              <a:spcBef>
                <a:spcPts val="150"/>
              </a:spcBef>
              <a:spcAft>
                <a:spcPts val="15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Calibri"/>
              </a:rPr>
              <a:t>Small Business Program inducted into the AZ Million Dollar Circle of Excellence </a:t>
            </a:r>
            <a:endParaRPr kumimoji="0" lang="en-US" sz="1400" b="1" i="0" u="none" strike="noStrike" kern="1200" cap="none" spc="0" normalizeH="0" baseline="0" noProof="0" dirty="0">
              <a:ln>
                <a:noFill/>
              </a:ln>
              <a:solidFill>
                <a:srgbClr val="000000"/>
              </a:solidFill>
              <a:effectLst/>
              <a:uLnTx/>
              <a:uFillTx/>
              <a:latin typeface="Arial"/>
              <a:ea typeface="+mn-ea"/>
              <a:cs typeface="Calibri" panose="020F0502020204030204" pitchFamily="34" charset="0"/>
            </a:endParaRPr>
          </a:p>
          <a:p>
            <a:pPr marL="169545" marR="0" lvl="0" indent="-169545" algn="l" defTabSz="914400" rtl="0" eaLnBrk="1" fontAlgn="auto" latinLnBrk="0" hangingPunct="1">
              <a:lnSpc>
                <a:spcPct val="100000"/>
              </a:lnSpc>
              <a:spcBef>
                <a:spcPts val="150"/>
              </a:spcBef>
              <a:spcAft>
                <a:spcPts val="15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2" name="Title 40">
            <a:extLst>
              <a:ext uri="{FF2B5EF4-FFF2-40B4-BE49-F238E27FC236}">
                <a16:creationId xmlns:a16="http://schemas.microsoft.com/office/drawing/2014/main" id="{EA2072BB-ABC9-C212-FDDE-88D1B9948223}"/>
              </a:ext>
            </a:extLst>
          </p:cNvPr>
          <p:cNvSpPr txBox="1">
            <a:spLocks/>
          </p:cNvSpPr>
          <p:nvPr/>
        </p:nvSpPr>
        <p:spPr>
          <a:xfrm>
            <a:off x="1461692" y="245071"/>
            <a:ext cx="9764511" cy="673299"/>
          </a:xfrm>
          <a:prstGeom prst="rect">
            <a:avLst/>
          </a:prstGeom>
        </p:spPr>
        <p:txBody>
          <a:bodyPr/>
          <a:lst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algn="ctr"/>
            <a:r>
              <a:rPr lang="en-US"/>
              <a:t>LOS aNGELES DISTRICT overview</a:t>
            </a:r>
          </a:p>
        </p:txBody>
      </p:sp>
      <p:grpSp>
        <p:nvGrpSpPr>
          <p:cNvPr id="53" name="Group 52">
            <a:extLst>
              <a:ext uri="{FF2B5EF4-FFF2-40B4-BE49-F238E27FC236}">
                <a16:creationId xmlns:a16="http://schemas.microsoft.com/office/drawing/2014/main" id="{F2D172F1-1936-009D-7118-2B471B82B205}"/>
              </a:ext>
            </a:extLst>
          </p:cNvPr>
          <p:cNvGrpSpPr/>
          <p:nvPr/>
        </p:nvGrpSpPr>
        <p:grpSpPr>
          <a:xfrm>
            <a:off x="870552" y="5596856"/>
            <a:ext cx="2610603" cy="800078"/>
            <a:chOff x="902912" y="5294488"/>
            <a:chExt cx="2610603" cy="800078"/>
          </a:xfrm>
        </p:grpSpPr>
        <p:grpSp>
          <p:nvGrpSpPr>
            <p:cNvPr id="54" name="Group 53">
              <a:extLst>
                <a:ext uri="{FF2B5EF4-FFF2-40B4-BE49-F238E27FC236}">
                  <a16:creationId xmlns:a16="http://schemas.microsoft.com/office/drawing/2014/main" id="{92226A83-4115-6B0E-8FD2-41F9A88451C2}"/>
                </a:ext>
              </a:extLst>
            </p:cNvPr>
            <p:cNvGrpSpPr/>
            <p:nvPr/>
          </p:nvGrpSpPr>
          <p:grpSpPr>
            <a:xfrm>
              <a:off x="902912" y="5294488"/>
              <a:ext cx="2610603" cy="800078"/>
              <a:chOff x="-1763874" y="4916709"/>
              <a:chExt cx="2610603" cy="800078"/>
            </a:xfrm>
          </p:grpSpPr>
          <p:sp>
            <p:nvSpPr>
              <p:cNvPr id="56" name="Rectangle 97">
                <a:extLst>
                  <a:ext uri="{FF2B5EF4-FFF2-40B4-BE49-F238E27FC236}">
                    <a16:creationId xmlns:a16="http://schemas.microsoft.com/office/drawing/2014/main" id="{A7FC14E7-6EFC-AD4C-101C-B5E9D40DA2A9}"/>
                  </a:ext>
                </a:extLst>
              </p:cNvPr>
              <p:cNvSpPr>
                <a:spLocks noChangeArrowheads="1"/>
              </p:cNvSpPr>
              <p:nvPr/>
            </p:nvSpPr>
            <p:spPr bwMode="auto">
              <a:xfrm>
                <a:off x="-1763874" y="4916709"/>
                <a:ext cx="2610603" cy="800078"/>
              </a:xfrm>
              <a:prstGeom prst="rect">
                <a:avLst/>
              </a:prstGeom>
              <a:solidFill>
                <a:srgbClr val="E4DBBE"/>
              </a:solidFill>
              <a:ln w="38100">
                <a:solidFill>
                  <a:schemeClr val="tx2"/>
                </a:solidFill>
                <a:miter lim="800000"/>
                <a:headEnd/>
                <a:tailEnd/>
              </a:ln>
              <a:effectLst>
                <a:outerShdw blurRad="50800" dist="38100" dir="2700000" algn="tl" rotWithShape="0">
                  <a:prstClr val="black">
                    <a:alpha val="40000"/>
                  </a:prstClr>
                </a:outerShdw>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57" name="Group 56">
                <a:extLst>
                  <a:ext uri="{FF2B5EF4-FFF2-40B4-BE49-F238E27FC236}">
                    <a16:creationId xmlns:a16="http://schemas.microsoft.com/office/drawing/2014/main" id="{E8A9DF88-6319-501F-A573-38413EE945CE}"/>
                  </a:ext>
                </a:extLst>
              </p:cNvPr>
              <p:cNvGrpSpPr/>
              <p:nvPr/>
            </p:nvGrpSpPr>
            <p:grpSpPr>
              <a:xfrm>
                <a:off x="-1706029" y="4971636"/>
                <a:ext cx="2468011" cy="738664"/>
                <a:chOff x="-1721269" y="4522288"/>
                <a:chExt cx="2468011" cy="738664"/>
              </a:xfrm>
            </p:grpSpPr>
            <p:sp>
              <p:nvSpPr>
                <p:cNvPr id="58" name="Text Box 98">
                  <a:extLst>
                    <a:ext uri="{FF2B5EF4-FFF2-40B4-BE49-F238E27FC236}">
                      <a16:creationId xmlns:a16="http://schemas.microsoft.com/office/drawing/2014/main" id="{AF492464-3CFE-EBB3-89B4-21C7E76996EB}"/>
                    </a:ext>
                  </a:extLst>
                </p:cNvPr>
                <p:cNvSpPr txBox="1">
                  <a:spLocks noChangeArrowheads="1"/>
                </p:cNvSpPr>
                <p:nvPr/>
              </p:nvSpPr>
              <p:spPr bwMode="auto">
                <a:xfrm>
                  <a:off x="-1721269" y="4522288"/>
                  <a:ext cx="2284586" cy="738664"/>
                </a:xfrm>
                <a:prstGeom prst="rect">
                  <a:avLst/>
                </a:prstGeom>
                <a:solidFill>
                  <a:srgbClr val="E4DBBE"/>
                </a:solidFill>
                <a:ln w="9525">
                  <a:noFill/>
                  <a:miter lim="800000"/>
                  <a:headEnd/>
                  <a:tailEnd/>
                </a:ln>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a:ln>
                        <a:noFill/>
                      </a:ln>
                      <a:solidFill>
                        <a:srgbClr val="000099"/>
                      </a:solidFill>
                      <a:effectLst/>
                      <a:uLnTx/>
                      <a:uFillTx/>
                      <a:latin typeface="Tahoma" pitchFamily="34" charset="0"/>
                      <a:ea typeface="+mn-ea"/>
                      <a:cs typeface="+mn-cs"/>
                    </a:rPr>
                    <a:t>SPL Area of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a:ln>
                        <a:noFill/>
                      </a:ln>
                      <a:solidFill>
                        <a:srgbClr val="000099"/>
                      </a:solidFill>
                      <a:effectLst/>
                      <a:uLnTx/>
                      <a:uFillTx/>
                      <a:latin typeface="Tahoma" pitchFamily="34" charset="0"/>
                      <a:ea typeface="+mn-ea"/>
                      <a:cs typeface="+mn-cs"/>
                    </a:rPr>
                    <a:t>Harbor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a:ln>
                        <a:noFill/>
                      </a:ln>
                      <a:solidFill>
                        <a:srgbClr val="000099"/>
                      </a:solidFill>
                      <a:effectLst/>
                      <a:uLnTx/>
                      <a:uFillTx/>
                      <a:latin typeface="Tahoma" pitchFamily="34" charset="0"/>
                      <a:ea typeface="+mn-ea"/>
                      <a:cs typeface="+mn-cs"/>
                    </a:rPr>
                    <a:t>Military Customer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solidFill>
                      <a:srgbClr val="000000"/>
                    </a:solidFill>
                    <a:effectLst/>
                    <a:uLnTx/>
                    <a:uFillTx/>
                    <a:latin typeface="Tahoma"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 name="Rectangle 99">
                  <a:extLst>
                    <a:ext uri="{FF2B5EF4-FFF2-40B4-BE49-F238E27FC236}">
                      <a16:creationId xmlns:a16="http://schemas.microsoft.com/office/drawing/2014/main" id="{675D8B9A-05CB-10F7-80D1-6C80C4B86625}"/>
                    </a:ext>
                  </a:extLst>
                </p:cNvPr>
                <p:cNvSpPr>
                  <a:spLocks noChangeArrowheads="1"/>
                </p:cNvSpPr>
                <p:nvPr/>
              </p:nvSpPr>
              <p:spPr bwMode="auto">
                <a:xfrm>
                  <a:off x="495581" y="4581821"/>
                  <a:ext cx="251161" cy="128569"/>
                </a:xfrm>
                <a:prstGeom prst="rect">
                  <a:avLst/>
                </a:prstGeom>
                <a:solidFill>
                  <a:srgbClr val="E4DBBE"/>
                </a:solidFill>
                <a:ln w="38100">
                  <a:solidFill>
                    <a:srgbClr val="D30C08"/>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55" name="Oval 54">
              <a:extLst>
                <a:ext uri="{FF2B5EF4-FFF2-40B4-BE49-F238E27FC236}">
                  <a16:creationId xmlns:a16="http://schemas.microsoft.com/office/drawing/2014/main" id="{E2A491B3-1FDF-09A1-B332-CF3F9A3338A0}"/>
                </a:ext>
              </a:extLst>
            </p:cNvPr>
            <p:cNvSpPr/>
            <p:nvPr/>
          </p:nvSpPr>
          <p:spPr>
            <a:xfrm>
              <a:off x="3214091" y="5610956"/>
              <a:ext cx="178192" cy="137160"/>
            </a:xfrm>
            <a:prstGeom prst="ellipse">
              <a:avLst/>
            </a:prstGeom>
            <a:solidFill>
              <a:srgbClr val="0070C0">
                <a:alpha val="89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83847A"/>
                </a:solidFill>
                <a:effectLst/>
                <a:uLnTx/>
                <a:uFillTx/>
                <a:latin typeface="Arial"/>
                <a:ea typeface="+mn-ea"/>
                <a:cs typeface="+mn-cs"/>
              </a:endParaRPr>
            </a:p>
          </p:txBody>
        </p:sp>
      </p:grpSp>
      <p:sp>
        <p:nvSpPr>
          <p:cNvPr id="60" name="Oval 59">
            <a:extLst>
              <a:ext uri="{FF2B5EF4-FFF2-40B4-BE49-F238E27FC236}">
                <a16:creationId xmlns:a16="http://schemas.microsoft.com/office/drawing/2014/main" id="{737981CE-F41F-E82B-73D8-5BB2D39B8F2C}"/>
              </a:ext>
            </a:extLst>
          </p:cNvPr>
          <p:cNvSpPr/>
          <p:nvPr/>
        </p:nvSpPr>
        <p:spPr>
          <a:xfrm>
            <a:off x="3181731" y="6092323"/>
            <a:ext cx="178192" cy="137160"/>
          </a:xfrm>
          <a:prstGeom prst="ellipse">
            <a:avLst/>
          </a:prstGeom>
          <a:solidFill>
            <a:srgbClr val="92D050">
              <a:alpha val="89000"/>
            </a:srgb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Title 17"/>
          <p:cNvSpPr>
            <a:spLocks noGrp="1"/>
          </p:cNvSpPr>
          <p:nvPr>
            <p:ph type="title"/>
          </p:nvPr>
        </p:nvSpPr>
        <p:spPr>
          <a:xfrm>
            <a:off x="0" y="225284"/>
            <a:ext cx="12192000" cy="457200"/>
          </a:xfrm>
        </p:spPr>
        <p:txBody>
          <a:bodyPr/>
          <a:lstStyle/>
          <a:p>
            <a:pPr algn="ctr"/>
            <a:r>
              <a:rPr lang="en-US" dirty="0"/>
              <a:t>SPL Missions</a:t>
            </a:r>
          </a:p>
        </p:txBody>
      </p:sp>
      <p:sp>
        <p:nvSpPr>
          <p:cNvPr id="609" name="Text Box 3">
            <a:extLst>
              <a:ext uri="{FF2B5EF4-FFF2-40B4-BE49-F238E27FC236}">
                <a16:creationId xmlns:a16="http://schemas.microsoft.com/office/drawing/2014/main" id="{A08C8EF6-584B-4202-BD47-90895D7558A3}"/>
              </a:ext>
            </a:extLst>
          </p:cNvPr>
          <p:cNvSpPr txBox="1">
            <a:spLocks noChangeArrowheads="1"/>
          </p:cNvSpPr>
          <p:nvPr/>
        </p:nvSpPr>
        <p:spPr bwMode="auto">
          <a:xfrm>
            <a:off x="8550692" y="2737166"/>
            <a:ext cx="3202003" cy="2034864"/>
          </a:xfrm>
          <a:prstGeom prst="rect">
            <a:avLst/>
          </a:prstGeom>
          <a:noFill/>
          <a:ln w="9525">
            <a:noFill/>
            <a:miter lim="800000"/>
            <a:headEnd/>
            <a:tailEnd/>
          </a:ln>
        </p:spPr>
        <p:txBody>
          <a:bodyPr wrap="square" lIns="0" tIns="161365" rIns="0" bIns="0">
            <a:spAutoFit/>
          </a:bodyPr>
          <a:lstStyle/>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Assists Non-DoD Federal, State and Local Agencies via Economy in Government Act</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882"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 </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Full Range of Engineering and Construction Expertise and  Support to our IIS Customers</a:t>
            </a:r>
            <a:endPar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endParaRPr>
          </a:p>
          <a:p>
            <a:pPr marL="0" marR="0" lvl="0" indent="0" algn="ctr" defTabSz="914400" rtl="0" eaLnBrk="0" fontAlgn="auto" latinLnBrk="0" hangingPunct="0">
              <a:lnSpc>
                <a:spcPct val="100000"/>
              </a:lnSpc>
              <a:spcBef>
                <a:spcPts val="265"/>
              </a:spcBef>
              <a:spcAft>
                <a:spcPts val="265"/>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Programming / Engineering / Construction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Real Estate Acquisition / Contracting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Construction Management</a:t>
            </a:r>
            <a:endParaRPr kumimoji="0" lang="en-US" sz="105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a:p>
            <a:pPr marL="0" marR="0" lvl="0" indent="0" algn="ctr" defTabSz="914400" rtl="0" eaLnBrk="0" fontAlgn="auto" latinLnBrk="0" hangingPunct="0">
              <a:lnSpc>
                <a:spcPct val="100000"/>
              </a:lnSpc>
              <a:spcBef>
                <a:spcPts val="265"/>
              </a:spcBef>
              <a:spcAft>
                <a:spcPts val="265"/>
              </a:spcAft>
              <a:buClrTx/>
              <a:buSzTx/>
              <a:buFontTx/>
              <a:buNone/>
              <a:tabLst/>
              <a:defRPr/>
            </a:pPr>
            <a:endParaRPr kumimoji="0" lang="en-US" sz="882"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p:txBody>
      </p:sp>
      <p:grpSp>
        <p:nvGrpSpPr>
          <p:cNvPr id="624" name="Group 623">
            <a:extLst>
              <a:ext uri="{FF2B5EF4-FFF2-40B4-BE49-F238E27FC236}">
                <a16:creationId xmlns:a16="http://schemas.microsoft.com/office/drawing/2014/main" id="{1D71D51D-A288-47D5-AA07-6699676872EF}"/>
              </a:ext>
            </a:extLst>
          </p:cNvPr>
          <p:cNvGrpSpPr/>
          <p:nvPr/>
        </p:nvGrpSpPr>
        <p:grpSpPr>
          <a:xfrm>
            <a:off x="88996" y="5927075"/>
            <a:ext cx="1216478" cy="821014"/>
            <a:chOff x="1569720" y="6660717"/>
            <a:chExt cx="1058424" cy="728122"/>
          </a:xfrm>
        </p:grpSpPr>
        <p:sp>
          <p:nvSpPr>
            <p:cNvPr id="631" name="Rounded Rectangle 190" descr="Photo of an emergency levee on a street.">
              <a:extLst>
                <a:ext uri="{FF2B5EF4-FFF2-40B4-BE49-F238E27FC236}">
                  <a16:creationId xmlns:a16="http://schemas.microsoft.com/office/drawing/2014/main" id="{588547AB-2864-4FF8-A21A-8631B7EAB9F3}"/>
                </a:ext>
              </a:extLst>
            </p:cNvPr>
            <p:cNvSpPr/>
            <p:nvPr/>
          </p:nvSpPr>
          <p:spPr>
            <a:xfrm>
              <a:off x="1569720" y="6660717"/>
              <a:ext cx="1056782" cy="728122"/>
            </a:xfrm>
            <a:prstGeom prst="roundRect">
              <a:avLst>
                <a:gd name="adj" fmla="val 0"/>
              </a:avLst>
            </a:prstGeom>
            <a:blipFill>
              <a:blip r:embed="rId3" cstate="email">
                <a:extLst>
                  <a:ext uri="{28A0092B-C50C-407E-A947-70E740481C1C}">
                    <a14:useLocalDpi xmlns:a14="http://schemas.microsoft.com/office/drawing/2010/main"/>
                  </a:ext>
                </a:extLst>
              </a:blip>
              <a:srcRect/>
              <a:stretch>
                <a:fillRect/>
              </a:stretch>
            </a:blipFill>
            <a:ln w="25400" cap="flat" cmpd="sng" algn="ctr">
              <a:noFill/>
              <a:prstDash val="solid"/>
            </a:ln>
            <a:effectLst/>
          </p:spPr>
          <p:txBody>
            <a:bodyPr/>
            <a:lstStyle/>
            <a:p>
              <a:endParaRPr lang="en-US"/>
            </a:p>
          </p:txBody>
        </p:sp>
        <p:sp>
          <p:nvSpPr>
            <p:cNvPr id="632" name="Freeform 185">
              <a:extLst>
                <a:ext uri="{FF2B5EF4-FFF2-40B4-BE49-F238E27FC236}">
                  <a16:creationId xmlns:a16="http://schemas.microsoft.com/office/drawing/2014/main" id="{E02CE490-15C5-46D7-BCA8-4D400F4900AC}"/>
                </a:ext>
              </a:extLst>
            </p:cNvPr>
            <p:cNvSpPr/>
            <p:nvPr/>
          </p:nvSpPr>
          <p:spPr>
            <a:xfrm>
              <a:off x="1576584" y="6995159"/>
              <a:ext cx="1051560" cy="392065"/>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b"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rPr>
                <a:t>Planning</a:t>
              </a:r>
            </a:p>
          </p:txBody>
        </p:sp>
      </p:grpSp>
      <p:cxnSp>
        <p:nvCxnSpPr>
          <p:cNvPr id="653" name="Straight Connector 652">
            <a:extLst>
              <a:ext uri="{FF2B5EF4-FFF2-40B4-BE49-F238E27FC236}">
                <a16:creationId xmlns:a16="http://schemas.microsoft.com/office/drawing/2014/main" id="{851D1E7F-22F9-4042-A274-0DB8F2A76D6A}"/>
              </a:ext>
            </a:extLst>
          </p:cNvPr>
          <p:cNvCxnSpPr/>
          <p:nvPr/>
        </p:nvCxnSpPr>
        <p:spPr>
          <a:xfrm>
            <a:off x="8061960" y="870743"/>
            <a:ext cx="0" cy="5930153"/>
          </a:xfrm>
          <a:prstGeom prst="line">
            <a:avLst/>
          </a:prstGeom>
          <a:noFill/>
          <a:ln w="3175" cap="flat" cmpd="sng" algn="ctr">
            <a:solidFill>
              <a:sysClr val="windowText" lastClr="000000"/>
            </a:solidFill>
            <a:prstDash val="solid"/>
          </a:ln>
          <a:effectLst/>
        </p:spPr>
      </p:cxnSp>
      <p:cxnSp>
        <p:nvCxnSpPr>
          <p:cNvPr id="654" name="Straight Connector 653">
            <a:extLst>
              <a:ext uri="{FF2B5EF4-FFF2-40B4-BE49-F238E27FC236}">
                <a16:creationId xmlns:a16="http://schemas.microsoft.com/office/drawing/2014/main" id="{73862F44-01C8-4738-8E64-6F41916BC648}"/>
              </a:ext>
            </a:extLst>
          </p:cNvPr>
          <p:cNvCxnSpPr/>
          <p:nvPr/>
        </p:nvCxnSpPr>
        <p:spPr>
          <a:xfrm>
            <a:off x="3855720" y="870743"/>
            <a:ext cx="0" cy="5930153"/>
          </a:xfrm>
          <a:prstGeom prst="line">
            <a:avLst/>
          </a:prstGeom>
          <a:noFill/>
          <a:ln w="3175" cap="flat" cmpd="sng" algn="ctr">
            <a:solidFill>
              <a:sysClr val="windowText" lastClr="000000"/>
            </a:solidFill>
            <a:prstDash val="solid"/>
          </a:ln>
          <a:effectLst/>
        </p:spPr>
      </p:cxnSp>
      <p:sp>
        <p:nvSpPr>
          <p:cNvPr id="2" name="TextBox 1">
            <a:extLst>
              <a:ext uri="{FF2B5EF4-FFF2-40B4-BE49-F238E27FC236}">
                <a16:creationId xmlns:a16="http://schemas.microsoft.com/office/drawing/2014/main" id="{8ADA8159-8334-84E0-843A-D4E7F9043C65}"/>
              </a:ext>
            </a:extLst>
          </p:cNvPr>
          <p:cNvSpPr txBox="1"/>
          <p:nvPr/>
        </p:nvSpPr>
        <p:spPr>
          <a:xfrm>
            <a:off x="8251307" y="929552"/>
            <a:ext cx="35260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International and Interagency</a:t>
            </a:r>
          </a:p>
        </p:txBody>
      </p:sp>
      <p:sp>
        <p:nvSpPr>
          <p:cNvPr id="4" name="TextBox 3">
            <a:extLst>
              <a:ext uri="{FF2B5EF4-FFF2-40B4-BE49-F238E27FC236}">
                <a16:creationId xmlns:a16="http://schemas.microsoft.com/office/drawing/2014/main" id="{86FD875A-DD22-4B9C-3C30-F5BC519BCFFC}"/>
              </a:ext>
            </a:extLst>
          </p:cNvPr>
          <p:cNvSpPr txBox="1"/>
          <p:nvPr/>
        </p:nvSpPr>
        <p:spPr>
          <a:xfrm>
            <a:off x="4357173" y="906251"/>
            <a:ext cx="35260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Military Programs</a:t>
            </a:r>
          </a:p>
        </p:txBody>
      </p:sp>
      <p:sp>
        <p:nvSpPr>
          <p:cNvPr id="5" name="TextBox 4">
            <a:extLst>
              <a:ext uri="{FF2B5EF4-FFF2-40B4-BE49-F238E27FC236}">
                <a16:creationId xmlns:a16="http://schemas.microsoft.com/office/drawing/2014/main" id="{6B2453A3-44C6-F75B-3773-B9A12FAF9A88}"/>
              </a:ext>
            </a:extLst>
          </p:cNvPr>
          <p:cNvSpPr txBox="1"/>
          <p:nvPr/>
        </p:nvSpPr>
        <p:spPr>
          <a:xfrm>
            <a:off x="167324" y="914654"/>
            <a:ext cx="35260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Civil Works</a:t>
            </a:r>
          </a:p>
        </p:txBody>
      </p:sp>
      <p:grpSp>
        <p:nvGrpSpPr>
          <p:cNvPr id="8" name="Group 7">
            <a:extLst>
              <a:ext uri="{FF2B5EF4-FFF2-40B4-BE49-F238E27FC236}">
                <a16:creationId xmlns:a16="http://schemas.microsoft.com/office/drawing/2014/main" id="{B2A251AF-E341-209B-1A90-BAB6F321DAA9}"/>
              </a:ext>
            </a:extLst>
          </p:cNvPr>
          <p:cNvGrpSpPr/>
          <p:nvPr/>
        </p:nvGrpSpPr>
        <p:grpSpPr>
          <a:xfrm>
            <a:off x="8753572" y="1293580"/>
            <a:ext cx="2785762" cy="1570405"/>
            <a:chOff x="4595669" y="1127405"/>
            <a:chExt cx="2521530" cy="1642168"/>
          </a:xfrm>
        </p:grpSpPr>
        <p:pic>
          <p:nvPicPr>
            <p:cNvPr id="6" name="Picture 5">
              <a:extLst>
                <a:ext uri="{FF2B5EF4-FFF2-40B4-BE49-F238E27FC236}">
                  <a16:creationId xmlns:a16="http://schemas.microsoft.com/office/drawing/2014/main" id="{4C49545D-0021-048C-A773-2BB6F7ECB32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595669" y="1127405"/>
              <a:ext cx="2521530" cy="1642168"/>
            </a:xfrm>
            <a:prstGeom prst="rect">
              <a:avLst/>
            </a:prstGeom>
            <a:ln>
              <a:solidFill>
                <a:schemeClr val="tx1"/>
              </a:solidFill>
            </a:ln>
            <a:effectLst>
              <a:softEdge rad="63500"/>
            </a:effectLst>
          </p:spPr>
        </p:pic>
        <p:sp>
          <p:nvSpPr>
            <p:cNvPr id="7" name="Rectangle 9">
              <a:extLst>
                <a:ext uri="{FF2B5EF4-FFF2-40B4-BE49-F238E27FC236}">
                  <a16:creationId xmlns:a16="http://schemas.microsoft.com/office/drawing/2014/main" id="{EB7E9109-8F5E-AAA5-CD2A-87B5D61B7FAB}"/>
                </a:ext>
              </a:extLst>
            </p:cNvPr>
            <p:cNvSpPr>
              <a:spLocks noChangeArrowheads="1"/>
            </p:cNvSpPr>
            <p:nvPr/>
          </p:nvSpPr>
          <p:spPr bwMode="auto">
            <a:xfrm>
              <a:off x="4693516" y="1196643"/>
              <a:ext cx="2388351" cy="729983"/>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r" defTabSz="806867" rtl="0" eaLnBrk="1" fontAlgn="auto" latinLnBrk="0" hangingPunct="1">
                <a:lnSpc>
                  <a:spcPct val="100000"/>
                </a:lnSpc>
                <a:spcBef>
                  <a:spcPts val="0"/>
                </a:spcBef>
                <a:spcAft>
                  <a:spcPts val="0"/>
                </a:spcAft>
                <a:buClrTx/>
                <a:buSzTx/>
                <a:buFontTx/>
                <a:buNone/>
                <a:tabLst/>
                <a:defRPr/>
              </a:pPr>
              <a:r>
                <a:rPr kumimoji="0" lang="en-US" altLang="en-US" sz="882"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a:ea typeface="+mn-ea"/>
                  <a:cs typeface="+mn-cs"/>
                </a:rPr>
                <a:t>San Diego VA, Spinal Cord Injury Center</a:t>
              </a:r>
            </a:p>
            <a:p>
              <a:pPr marL="0" marR="0" lvl="0" indent="0" algn="r" defTabSz="806867" rtl="0" eaLnBrk="1" fontAlgn="auto" latinLnBrk="0" hangingPunct="1">
                <a:lnSpc>
                  <a:spcPct val="100000"/>
                </a:lnSpc>
                <a:spcBef>
                  <a:spcPts val="0"/>
                </a:spcBef>
                <a:spcAft>
                  <a:spcPts val="0"/>
                </a:spcAft>
                <a:buClrTx/>
                <a:buSzTx/>
                <a:buFontTx/>
                <a:buNone/>
                <a:tabLst/>
                <a:defRPr/>
              </a:pPr>
              <a:endParaRPr kumimoji="0" lang="en-US" altLang="en-US" sz="706"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grpSp>
      <p:pic>
        <p:nvPicPr>
          <p:cNvPr id="10" name="Picture 9" descr="An aerial view of a road&#10;&#10;Description automatically generated with low confidence">
            <a:extLst>
              <a:ext uri="{FF2B5EF4-FFF2-40B4-BE49-F238E27FC236}">
                <a16:creationId xmlns:a16="http://schemas.microsoft.com/office/drawing/2014/main" id="{43E63328-74BA-E279-D246-97C861EB9AFA}"/>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579490" y="1331823"/>
            <a:ext cx="2808525" cy="1501166"/>
          </a:xfrm>
          <a:prstGeom prst="rect">
            <a:avLst/>
          </a:prstGeom>
          <a:ln>
            <a:solidFill>
              <a:schemeClr val="tx1"/>
            </a:solidFill>
          </a:ln>
        </p:spPr>
      </p:pic>
      <p:sp>
        <p:nvSpPr>
          <p:cNvPr id="11" name="Rectangle 9">
            <a:extLst>
              <a:ext uri="{FF2B5EF4-FFF2-40B4-BE49-F238E27FC236}">
                <a16:creationId xmlns:a16="http://schemas.microsoft.com/office/drawing/2014/main" id="{D0CE8979-02DB-219A-3AD7-4768300A76AA}"/>
              </a:ext>
            </a:extLst>
          </p:cNvPr>
          <p:cNvSpPr>
            <a:spLocks noChangeArrowheads="1"/>
          </p:cNvSpPr>
          <p:nvPr/>
        </p:nvSpPr>
        <p:spPr bwMode="auto">
          <a:xfrm>
            <a:off x="4770121" y="1331821"/>
            <a:ext cx="2617893" cy="729983"/>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r" defTabSz="806867" rtl="0" eaLnBrk="1" fontAlgn="auto" latinLnBrk="0" hangingPunct="1">
              <a:lnSpc>
                <a:spcPct val="100000"/>
              </a:lnSpc>
              <a:spcBef>
                <a:spcPts val="0"/>
              </a:spcBef>
              <a:spcAft>
                <a:spcPts val="0"/>
              </a:spcAft>
              <a:buClrTx/>
              <a:buSzTx/>
              <a:buFontTx/>
              <a:buNone/>
              <a:tabLst/>
              <a:defRPr/>
            </a:pPr>
            <a:r>
              <a:rPr kumimoji="0" lang="en-US" altLang="en-US" sz="882"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a:ea typeface="+mn-ea"/>
                <a:cs typeface="+mn-cs"/>
              </a:rPr>
              <a:t>JFTB-Los Alamitos Energy Resilience Project</a:t>
            </a:r>
          </a:p>
          <a:p>
            <a:pPr marL="0" marR="0" lvl="0" indent="0" algn="r" defTabSz="806867" rtl="0" eaLnBrk="1" fontAlgn="auto" latinLnBrk="0" hangingPunct="1">
              <a:lnSpc>
                <a:spcPct val="100000"/>
              </a:lnSpc>
              <a:spcBef>
                <a:spcPts val="0"/>
              </a:spcBef>
              <a:spcAft>
                <a:spcPts val="0"/>
              </a:spcAft>
              <a:buClrTx/>
              <a:buSzTx/>
              <a:buFontTx/>
              <a:buNone/>
              <a:tabLst/>
              <a:defRPr/>
            </a:pPr>
            <a:endParaRPr kumimoji="0" lang="en-US" altLang="en-US" sz="706"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pic>
        <p:nvPicPr>
          <p:cNvPr id="12" name="Picture 11" descr="A picture containing ground, outdoor, mountain, nature&#10;&#10;Description automatically generated">
            <a:extLst>
              <a:ext uri="{FF2B5EF4-FFF2-40B4-BE49-F238E27FC236}">
                <a16:creationId xmlns:a16="http://schemas.microsoft.com/office/drawing/2014/main" id="{0E5CDE1A-6DE7-ABAD-ED41-41C89F37A332}"/>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600172" y="1381493"/>
            <a:ext cx="2581602" cy="1451496"/>
          </a:xfrm>
          <a:prstGeom prst="rect">
            <a:avLst/>
          </a:prstGeom>
          <a:ln>
            <a:solidFill>
              <a:schemeClr val="tx1"/>
            </a:solidFill>
          </a:ln>
        </p:spPr>
      </p:pic>
      <p:sp>
        <p:nvSpPr>
          <p:cNvPr id="15" name="Rectangle 9">
            <a:extLst>
              <a:ext uri="{FF2B5EF4-FFF2-40B4-BE49-F238E27FC236}">
                <a16:creationId xmlns:a16="http://schemas.microsoft.com/office/drawing/2014/main" id="{FE9B77A6-A74D-21DF-0509-46EBA57ACC58}"/>
              </a:ext>
            </a:extLst>
          </p:cNvPr>
          <p:cNvSpPr>
            <a:spLocks noChangeArrowheads="1"/>
          </p:cNvSpPr>
          <p:nvPr/>
        </p:nvSpPr>
        <p:spPr bwMode="auto">
          <a:xfrm>
            <a:off x="652657" y="1378494"/>
            <a:ext cx="2511209" cy="698083"/>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r" defTabSz="806867" rtl="0" eaLnBrk="1" fontAlgn="auto" latinLnBrk="0" hangingPunct="1">
              <a:lnSpc>
                <a:spcPct val="100000"/>
              </a:lnSpc>
              <a:spcBef>
                <a:spcPts val="0"/>
              </a:spcBef>
              <a:spcAft>
                <a:spcPts val="0"/>
              </a:spcAft>
              <a:buClrTx/>
              <a:buSzTx/>
              <a:buFontTx/>
              <a:buNone/>
              <a:tabLst/>
              <a:defRPr/>
            </a:pPr>
            <a:r>
              <a:rPr kumimoji="0" lang="en-US" altLang="en-US" sz="882"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a:ea typeface="+mn-ea"/>
                <a:cs typeface="+mn-cs"/>
              </a:rPr>
              <a:t>Whittier Narrows Dam</a:t>
            </a:r>
          </a:p>
          <a:p>
            <a:pPr marL="0" marR="0" lvl="0" indent="0" algn="r" defTabSz="806867" rtl="0" eaLnBrk="1" fontAlgn="auto" latinLnBrk="0" hangingPunct="1">
              <a:lnSpc>
                <a:spcPct val="100000"/>
              </a:lnSpc>
              <a:spcBef>
                <a:spcPts val="0"/>
              </a:spcBef>
              <a:spcAft>
                <a:spcPts val="0"/>
              </a:spcAft>
              <a:buClrTx/>
              <a:buSzTx/>
              <a:buFontTx/>
              <a:buNone/>
              <a:tabLst/>
              <a:defRPr/>
            </a:pPr>
            <a:endParaRPr kumimoji="0" lang="en-US" altLang="en-US" sz="706"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pic>
        <p:nvPicPr>
          <p:cNvPr id="16" name="Picture 2" descr="Man and woman checking soil conditions">
            <a:extLst>
              <a:ext uri="{FF2B5EF4-FFF2-40B4-BE49-F238E27FC236}">
                <a16:creationId xmlns:a16="http://schemas.microsoft.com/office/drawing/2014/main" id="{0AC17B2C-DD3A-FA12-8B3A-51FAF1462EE2}"/>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337682" y="4998805"/>
            <a:ext cx="1172348" cy="879262"/>
          </a:xfrm>
          <a:prstGeom prst="rect">
            <a:avLst/>
          </a:prstGeom>
          <a:noFill/>
          <a:extLst>
            <a:ext uri="{909E8E84-426E-40DD-AFC4-6F175D3DCCD1}">
              <a14:hiddenFill xmlns:a14="http://schemas.microsoft.com/office/drawing/2010/main">
                <a:solidFill>
                  <a:srgbClr val="FFFFFF"/>
                </a:solidFill>
              </a14:hiddenFill>
            </a:ext>
          </a:extLst>
        </p:spPr>
      </p:pic>
      <p:sp>
        <p:nvSpPr>
          <p:cNvPr id="630" name="Freeform 186">
            <a:extLst>
              <a:ext uri="{FF2B5EF4-FFF2-40B4-BE49-F238E27FC236}">
                <a16:creationId xmlns:a16="http://schemas.microsoft.com/office/drawing/2014/main" id="{04CF7124-1339-4234-92AD-8E17F88BED3D}"/>
              </a:ext>
            </a:extLst>
          </p:cNvPr>
          <p:cNvSpPr/>
          <p:nvPr/>
        </p:nvSpPr>
        <p:spPr>
          <a:xfrm>
            <a:off x="1340874" y="5525611"/>
            <a:ext cx="1169156" cy="345940"/>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b"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Narrow" panose="020B0606020202030204" pitchFamily="34" charset="0"/>
                <a:ea typeface="+mn-ea"/>
                <a:cs typeface="+mn-cs"/>
              </a:rPr>
              <a:t>Regulatory Program / Section 408 Permitting</a:t>
            </a:r>
          </a:p>
        </p:txBody>
      </p:sp>
      <p:pic>
        <p:nvPicPr>
          <p:cNvPr id="54" name="Picture 53" descr="Application, logo, company name&#10;&#10;Description automatically generated">
            <a:extLst>
              <a:ext uri="{FF2B5EF4-FFF2-40B4-BE49-F238E27FC236}">
                <a16:creationId xmlns:a16="http://schemas.microsoft.com/office/drawing/2014/main" id="{20946133-A5DB-B802-4565-0CF828D42292}"/>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184683" y="4645275"/>
            <a:ext cx="3859865" cy="2145557"/>
          </a:xfrm>
          <a:prstGeom prst="rect">
            <a:avLst/>
          </a:prstGeom>
          <a:ln>
            <a:solidFill>
              <a:schemeClr val="tx1"/>
            </a:solidFill>
          </a:ln>
        </p:spPr>
      </p:pic>
      <p:pic>
        <p:nvPicPr>
          <p:cNvPr id="55" name="Picture 2" descr="9ff0e494-c6dd-4dc6-a22f-e971a8314c7e@NAMP111">
            <a:extLst>
              <a:ext uri="{FF2B5EF4-FFF2-40B4-BE49-F238E27FC236}">
                <a16:creationId xmlns:a16="http://schemas.microsoft.com/office/drawing/2014/main" id="{D80986ED-F67E-EED1-32AB-69940D1BD837}"/>
              </a:ext>
            </a:extLst>
          </p:cNvPr>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2598672" y="4992290"/>
            <a:ext cx="1122335" cy="87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3">
            <a:extLst>
              <a:ext uri="{FF2B5EF4-FFF2-40B4-BE49-F238E27FC236}">
                <a16:creationId xmlns:a16="http://schemas.microsoft.com/office/drawing/2014/main" id="{1A405471-D940-DE42-0CBE-C1C6CD466BCF}"/>
              </a:ext>
            </a:extLst>
          </p:cNvPr>
          <p:cNvSpPr txBox="1">
            <a:spLocks noChangeArrowheads="1"/>
          </p:cNvSpPr>
          <p:nvPr/>
        </p:nvSpPr>
        <p:spPr bwMode="auto">
          <a:xfrm>
            <a:off x="142960" y="2794874"/>
            <a:ext cx="3660265" cy="2081030"/>
          </a:xfrm>
          <a:prstGeom prst="rect">
            <a:avLst/>
          </a:prstGeom>
          <a:noFill/>
          <a:ln w="9525">
            <a:noFill/>
            <a:miter lim="800000"/>
            <a:headEnd/>
            <a:tailEnd/>
          </a:ln>
        </p:spPr>
        <p:txBody>
          <a:bodyPr wrap="square" lIns="0" tIns="161365" rIns="0" bIns="0">
            <a:spAutoFit/>
          </a:bodyPr>
          <a:lstStyle/>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Flood Risk Management</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Operations &amp; Maintenance</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Project Planning</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882"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 </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16 Dams and 61 Miles of Levees </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5 River Basins Across AZ, NV and SOCAL</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Regulatory Program &amp; Permitting  / Section 408 / Real Estate / Environmental Justice / Water Projects &amp; Studies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595 Program / Levee and Dam Safety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Reservoir Regulation / Hydraulics and Hydrology / Tribal Nations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p:txBody>
      </p:sp>
      <p:sp>
        <p:nvSpPr>
          <p:cNvPr id="13" name="Text Box 3">
            <a:extLst>
              <a:ext uri="{FF2B5EF4-FFF2-40B4-BE49-F238E27FC236}">
                <a16:creationId xmlns:a16="http://schemas.microsoft.com/office/drawing/2014/main" id="{E56A7402-619E-BBD9-99CB-CFEAE0380783}"/>
              </a:ext>
            </a:extLst>
          </p:cNvPr>
          <p:cNvSpPr txBox="1">
            <a:spLocks noChangeArrowheads="1"/>
          </p:cNvSpPr>
          <p:nvPr/>
        </p:nvSpPr>
        <p:spPr bwMode="auto">
          <a:xfrm>
            <a:off x="4028266" y="2832989"/>
            <a:ext cx="3910972" cy="1891427"/>
          </a:xfrm>
          <a:prstGeom prst="rect">
            <a:avLst/>
          </a:prstGeom>
          <a:noFill/>
          <a:ln w="9525">
            <a:noFill/>
            <a:miter lim="800000"/>
            <a:headEnd/>
            <a:tailEnd/>
          </a:ln>
        </p:spPr>
        <p:txBody>
          <a:bodyPr wrap="square" lIns="0" tIns="161365" rIns="0" bIns="0" anchor="t">
            <a:spAutoFit/>
          </a:bodyPr>
          <a:lstStyle/>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Support to DoD Agencies (Army, Navy, Air Force, Space Force, Marine Corps)</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Arial Narrow"/>
                <a:ea typeface="+mn-ea"/>
                <a:cs typeface="+mn-cs"/>
              </a:rPr>
              <a:t>∙∙∙∙∙∙∙∙∙∙∙∙∙∙∙∙∙∙∙∙∙∙∙∙∙∙∙∙∙∙∙∙∙∙∙∙∙∙∙∙∙∙∙∙∙∙∙∙∙∙ </a:t>
            </a:r>
            <a:endParaRPr kumimoji="0" lang="en-US" sz="85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FUDS (Formerly Used Defense Sites), EQ (Environmental Quality), IRP (Installation Restoration Program), MILCON (Military Construction), SRM (Sustainment Restoration, Maintenance), UXO (Unexploded Ordnance), Sustainability </a:t>
            </a:r>
            <a:endParaRPr kumimoji="0" lang="en-US" sz="1050" b="1" i="0" u="none" strike="noStrike" kern="0" cap="none" spc="0" normalizeH="0" baseline="0" noProof="0" dirty="0">
              <a:ln>
                <a:noFill/>
              </a:ln>
              <a:solidFill>
                <a:srgbClr val="000000"/>
              </a:solidFill>
              <a:effectLst/>
              <a:uLnTx/>
              <a:uFillTx/>
              <a:latin typeface="Arial"/>
              <a:ea typeface="+mn-ea"/>
              <a:cs typeface="Arial"/>
            </a:endParaRP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arrow"/>
                <a:ea typeface="+mn-ea"/>
                <a:cs typeface="+mn-cs"/>
              </a:rPr>
              <a:t>∙∙∙∙∙∙∙∙∙∙∙∙∙∙∙∙∙∙∙∙∙∙∙∙∙∙∙∙∙∙∙∙∙∙∙∙∙∙∙∙∙∙∙∙∙∙∙∙∙∙ </a:t>
            </a:r>
            <a:endParaRPr kumimoji="0" lang="en-US" sz="80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a:ea typeface="+mn-ea"/>
                <a:cs typeface="+mn-cs"/>
              </a:rPr>
              <a:t> Programming  &amp; Project Management / Environmental  EQ / IRP / FUDS  </a:t>
            </a:r>
            <a:endPar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p:txBody>
      </p:sp>
      <p:pic>
        <p:nvPicPr>
          <p:cNvPr id="21" name="Picture 20" descr="A picture containing mountain, nature, outdoor, hill&#10;&#10;Description automatically generated">
            <a:extLst>
              <a:ext uri="{FF2B5EF4-FFF2-40B4-BE49-F238E27FC236}">
                <a16:creationId xmlns:a16="http://schemas.microsoft.com/office/drawing/2014/main" id="{E52B01F1-5B60-E9F2-1DD8-9F329D6D7F12}"/>
              </a:ext>
            </a:extLst>
          </p:cNvPr>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1576" y="4993322"/>
            <a:ext cx="1216478" cy="879263"/>
          </a:xfrm>
          <a:prstGeom prst="rect">
            <a:avLst/>
          </a:prstGeom>
        </p:spPr>
      </p:pic>
      <p:sp>
        <p:nvSpPr>
          <p:cNvPr id="634" name="Freeform 187">
            <a:extLst>
              <a:ext uri="{FF2B5EF4-FFF2-40B4-BE49-F238E27FC236}">
                <a16:creationId xmlns:a16="http://schemas.microsoft.com/office/drawing/2014/main" id="{0E8BF239-56FE-421C-A6FE-5DBC1F663CED}"/>
              </a:ext>
            </a:extLst>
          </p:cNvPr>
          <p:cNvSpPr/>
          <p:nvPr/>
        </p:nvSpPr>
        <p:spPr>
          <a:xfrm>
            <a:off x="137606" y="5542507"/>
            <a:ext cx="1170447" cy="322730"/>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b"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Narrow" panose="020B0606020202030204" pitchFamily="34" charset="0"/>
                <a:ea typeface="+mn-ea"/>
                <a:cs typeface="+mn-cs"/>
              </a:rPr>
              <a:t>Dam Safety</a:t>
            </a:r>
          </a:p>
        </p:txBody>
      </p:sp>
      <p:pic>
        <p:nvPicPr>
          <p:cNvPr id="23" name="Picture 22" descr="A person rowing a boat&#10;&#10;Description automatically generated with medium confidence">
            <a:extLst>
              <a:ext uri="{FF2B5EF4-FFF2-40B4-BE49-F238E27FC236}">
                <a16:creationId xmlns:a16="http://schemas.microsoft.com/office/drawing/2014/main" id="{4375F6F2-9F03-1802-A860-63CD823179DC}"/>
              </a:ext>
            </a:extLst>
          </p:cNvPr>
          <p:cNvPicPr>
            <a:picLocks noChangeAspect="1"/>
          </p:cNvPicPr>
          <p:nvPr/>
        </p:nvPicPr>
        <p:blipFill>
          <a:blip r:embed="rId11" cstate="email">
            <a:extLst>
              <a:ext uri="{28A0092B-C50C-407E-A947-70E740481C1C}">
                <a14:useLocalDpi xmlns:a14="http://schemas.microsoft.com/office/drawing/2010/main" val="0"/>
              </a:ext>
            </a:extLst>
          </a:blip>
          <a:stretch>
            <a:fillRect/>
          </a:stretch>
        </p:blipFill>
        <p:spPr>
          <a:xfrm>
            <a:off x="1338563" y="5919710"/>
            <a:ext cx="1162606" cy="802670"/>
          </a:xfrm>
          <a:prstGeom prst="rect">
            <a:avLst/>
          </a:prstGeom>
        </p:spPr>
      </p:pic>
      <p:sp>
        <p:nvSpPr>
          <p:cNvPr id="17" name="Freeform 186">
            <a:extLst>
              <a:ext uri="{FF2B5EF4-FFF2-40B4-BE49-F238E27FC236}">
                <a16:creationId xmlns:a16="http://schemas.microsoft.com/office/drawing/2014/main" id="{F982924A-2F38-C678-FB25-8FF3FD5653D6}"/>
              </a:ext>
            </a:extLst>
          </p:cNvPr>
          <p:cNvSpPr/>
          <p:nvPr/>
        </p:nvSpPr>
        <p:spPr>
          <a:xfrm>
            <a:off x="1350561" y="6374891"/>
            <a:ext cx="1150607" cy="345940"/>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b"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Narrow" panose="020B0606020202030204" pitchFamily="34" charset="0"/>
                <a:ea typeface="+mn-ea"/>
                <a:cs typeface="+mn-cs"/>
              </a:rPr>
              <a:t>Water Projects</a:t>
            </a:r>
          </a:p>
        </p:txBody>
      </p:sp>
      <p:sp>
        <p:nvSpPr>
          <p:cNvPr id="20" name="Freeform 186">
            <a:extLst>
              <a:ext uri="{FF2B5EF4-FFF2-40B4-BE49-F238E27FC236}">
                <a16:creationId xmlns:a16="http://schemas.microsoft.com/office/drawing/2014/main" id="{D6F31203-0CCC-88C3-4C73-B58FD109B1BB}"/>
              </a:ext>
            </a:extLst>
          </p:cNvPr>
          <p:cNvSpPr/>
          <p:nvPr/>
        </p:nvSpPr>
        <p:spPr>
          <a:xfrm>
            <a:off x="2614149" y="5525611"/>
            <a:ext cx="1079237" cy="345940"/>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b"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Narrow" panose="020B0606020202030204" pitchFamily="34" charset="0"/>
                <a:ea typeface="+mn-ea"/>
                <a:cs typeface="+mn-cs"/>
              </a:rPr>
              <a:t>595 Program</a:t>
            </a:r>
          </a:p>
        </p:txBody>
      </p:sp>
      <p:pic>
        <p:nvPicPr>
          <p:cNvPr id="25" name="Picture 24" descr="Map&#10;&#10;Description automatically generated">
            <a:extLst>
              <a:ext uri="{FF2B5EF4-FFF2-40B4-BE49-F238E27FC236}">
                <a16:creationId xmlns:a16="http://schemas.microsoft.com/office/drawing/2014/main" id="{6871CA2B-E0B6-8CAE-64D8-107C2BA4A778}"/>
              </a:ext>
            </a:extLst>
          </p:cNvPr>
          <p:cNvPicPr>
            <a:picLocks noChangeAspect="1"/>
          </p:cNvPicPr>
          <p:nvPr/>
        </p:nvPicPr>
        <p:blipFill>
          <a:blip r:embed="rId12" cstate="email">
            <a:extLst>
              <a:ext uri="{28A0092B-C50C-407E-A947-70E740481C1C}">
                <a14:useLocalDpi xmlns:a14="http://schemas.microsoft.com/office/drawing/2010/main" val="0"/>
              </a:ext>
            </a:extLst>
          </a:blip>
          <a:stretch>
            <a:fillRect/>
          </a:stretch>
        </p:blipFill>
        <p:spPr>
          <a:xfrm>
            <a:off x="2606162" y="5901367"/>
            <a:ext cx="1085051" cy="821013"/>
          </a:xfrm>
          <a:prstGeom prst="rect">
            <a:avLst/>
          </a:prstGeom>
        </p:spPr>
      </p:pic>
      <p:sp>
        <p:nvSpPr>
          <p:cNvPr id="19" name="Freeform 186">
            <a:extLst>
              <a:ext uri="{FF2B5EF4-FFF2-40B4-BE49-F238E27FC236}">
                <a16:creationId xmlns:a16="http://schemas.microsoft.com/office/drawing/2014/main" id="{D6FB61A9-4C78-E063-2D4C-783DD5EE22E1}"/>
              </a:ext>
            </a:extLst>
          </p:cNvPr>
          <p:cNvSpPr/>
          <p:nvPr/>
        </p:nvSpPr>
        <p:spPr>
          <a:xfrm>
            <a:off x="2635881" y="6367387"/>
            <a:ext cx="1030493" cy="345940"/>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b"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Narrow" panose="020B0606020202030204" pitchFamily="34" charset="0"/>
                <a:ea typeface="+mn-ea"/>
                <a:cs typeface="+mn-cs"/>
              </a:rPr>
              <a:t>Prado Dam Modification</a:t>
            </a:r>
          </a:p>
        </p:txBody>
      </p:sp>
      <p:pic>
        <p:nvPicPr>
          <p:cNvPr id="26" name="Picture Placeholder 5">
            <a:extLst>
              <a:ext uri="{FF2B5EF4-FFF2-40B4-BE49-F238E27FC236}">
                <a16:creationId xmlns:a16="http://schemas.microsoft.com/office/drawing/2014/main" id="{15EB93FB-FA6A-FC39-B9B1-FAD724FAE1DC}"/>
              </a:ext>
            </a:extLst>
          </p:cNvPr>
          <p:cNvPicPr>
            <a:picLocks noChangeAspect="1"/>
          </p:cNvPicPr>
          <p:nvPr/>
        </p:nvPicPr>
        <p:blipFill rotWithShape="1">
          <a:blip r:embed="rId13" cstate="email">
            <a:extLst>
              <a:ext uri="{28A0092B-C50C-407E-A947-70E740481C1C}">
                <a14:useLocalDpi xmlns:a14="http://schemas.microsoft.com/office/drawing/2010/main" val="0"/>
              </a:ext>
            </a:extLst>
          </a:blip>
          <a:srcRect/>
          <a:stretch/>
        </p:blipFill>
        <p:spPr>
          <a:xfrm>
            <a:off x="5097728" y="4689526"/>
            <a:ext cx="1996543" cy="924219"/>
          </a:xfrm>
          <a:prstGeom prst="rect">
            <a:avLst/>
          </a:prstGeom>
          <a:ln>
            <a:solidFill>
              <a:schemeClr val="tx1"/>
            </a:solidFill>
          </a:ln>
        </p:spPr>
      </p:pic>
      <p:sp>
        <p:nvSpPr>
          <p:cNvPr id="28" name="Freeform 186">
            <a:extLst>
              <a:ext uri="{FF2B5EF4-FFF2-40B4-BE49-F238E27FC236}">
                <a16:creationId xmlns:a16="http://schemas.microsoft.com/office/drawing/2014/main" id="{95B1DFE0-0C00-A110-8048-DF01F145FCF3}"/>
              </a:ext>
            </a:extLst>
          </p:cNvPr>
          <p:cNvSpPr/>
          <p:nvPr/>
        </p:nvSpPr>
        <p:spPr>
          <a:xfrm>
            <a:off x="5091945" y="4645275"/>
            <a:ext cx="1996542" cy="230629"/>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ctr"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Narrow" panose="020B0606020202030204" pitchFamily="34" charset="0"/>
                <a:ea typeface="+mn-ea"/>
                <a:cs typeface="+mn-cs"/>
              </a:rPr>
              <a:t>Flight Test Complex, Edwards AFB</a:t>
            </a:r>
          </a:p>
        </p:txBody>
      </p:sp>
      <p:pic>
        <p:nvPicPr>
          <p:cNvPr id="30" name="Picture 29">
            <a:extLst>
              <a:ext uri="{FF2B5EF4-FFF2-40B4-BE49-F238E27FC236}">
                <a16:creationId xmlns:a16="http://schemas.microsoft.com/office/drawing/2014/main" id="{4BA0FBAF-44DF-E6B9-6809-47B797D93332}"/>
              </a:ext>
            </a:extLst>
          </p:cNvPr>
          <p:cNvPicPr>
            <a:picLocks noChangeAspect="1"/>
          </p:cNvPicPr>
          <p:nvPr/>
        </p:nvPicPr>
        <p:blipFill>
          <a:blip r:embed="rId14"/>
          <a:stretch>
            <a:fillRect/>
          </a:stretch>
        </p:blipFill>
        <p:spPr>
          <a:xfrm>
            <a:off x="4002606" y="5657996"/>
            <a:ext cx="1954318" cy="1055331"/>
          </a:xfrm>
          <a:prstGeom prst="rect">
            <a:avLst/>
          </a:prstGeom>
          <a:ln>
            <a:solidFill>
              <a:schemeClr val="tx1"/>
            </a:solidFill>
          </a:ln>
        </p:spPr>
      </p:pic>
      <p:pic>
        <p:nvPicPr>
          <p:cNvPr id="32" name="Picture 31">
            <a:extLst>
              <a:ext uri="{FF2B5EF4-FFF2-40B4-BE49-F238E27FC236}">
                <a16:creationId xmlns:a16="http://schemas.microsoft.com/office/drawing/2014/main" id="{3636A727-F65C-72CB-5933-F2125DFF6FBF}"/>
              </a:ext>
            </a:extLst>
          </p:cNvPr>
          <p:cNvPicPr>
            <a:picLocks noChangeAspect="1"/>
          </p:cNvPicPr>
          <p:nvPr/>
        </p:nvPicPr>
        <p:blipFill>
          <a:blip r:embed="rId15"/>
          <a:stretch>
            <a:fillRect/>
          </a:stretch>
        </p:blipFill>
        <p:spPr>
          <a:xfrm>
            <a:off x="6033468" y="5657995"/>
            <a:ext cx="1856901" cy="1051139"/>
          </a:xfrm>
          <a:prstGeom prst="rect">
            <a:avLst/>
          </a:prstGeom>
          <a:ln>
            <a:solidFill>
              <a:schemeClr val="tx1"/>
            </a:solidFill>
          </a:ln>
        </p:spPr>
      </p:pic>
      <p:sp>
        <p:nvSpPr>
          <p:cNvPr id="33" name="Freeform 186">
            <a:extLst>
              <a:ext uri="{FF2B5EF4-FFF2-40B4-BE49-F238E27FC236}">
                <a16:creationId xmlns:a16="http://schemas.microsoft.com/office/drawing/2014/main" id="{2E528AD0-F2FE-2693-F756-7A304412E815}"/>
              </a:ext>
            </a:extLst>
          </p:cNvPr>
          <p:cNvSpPr/>
          <p:nvPr/>
        </p:nvSpPr>
        <p:spPr>
          <a:xfrm>
            <a:off x="6017691" y="6494007"/>
            <a:ext cx="1888454" cy="230629"/>
          </a:xfrm>
          <a:custGeom>
            <a:avLst/>
            <a:gdLst>
              <a:gd name="connsiteX0" fmla="*/ 0 w 1705746"/>
              <a:gd name="connsiteY0" fmla="*/ 0 h 632831"/>
              <a:gd name="connsiteX1" fmla="*/ 1705746 w 1705746"/>
              <a:gd name="connsiteY1" fmla="*/ 0 h 632831"/>
              <a:gd name="connsiteX2" fmla="*/ 1705746 w 1705746"/>
              <a:gd name="connsiteY2" fmla="*/ 632831 h 632831"/>
              <a:gd name="connsiteX3" fmla="*/ 0 w 1705746"/>
              <a:gd name="connsiteY3" fmla="*/ 632831 h 632831"/>
              <a:gd name="connsiteX4" fmla="*/ 0 w 1705746"/>
              <a:gd name="connsiteY4" fmla="*/ 0 h 632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5746" h="632831">
                <a:moveTo>
                  <a:pt x="0" y="0"/>
                </a:moveTo>
                <a:lnTo>
                  <a:pt x="1705746" y="0"/>
                </a:lnTo>
                <a:lnTo>
                  <a:pt x="1705746" y="632831"/>
                </a:lnTo>
                <a:lnTo>
                  <a:pt x="0" y="632831"/>
                </a:lnTo>
                <a:lnTo>
                  <a:pt x="0" y="0"/>
                </a:lnTo>
                <a:close/>
              </a:path>
            </a:pathLst>
          </a:custGeom>
          <a:gradFill flip="none" rotWithShape="1">
            <a:gsLst>
              <a:gs pos="0">
                <a:sysClr val="windowText" lastClr="000000">
                  <a:alpha val="50000"/>
                </a:sysClr>
              </a:gs>
              <a:gs pos="100000">
                <a:sysClr val="window" lastClr="FFFFFF">
                  <a:alpha val="0"/>
                </a:sysClr>
              </a:gs>
            </a:gsLst>
            <a:lin ang="16200000" scaled="1"/>
            <a:tileRect/>
          </a:gradFill>
          <a:ln w="3175">
            <a:noFill/>
          </a:ln>
        </p:spPr>
        <p:txBody>
          <a:bodyPr wrap="square" lIns="0" rIns="0" anchor="ctr" anchorCtr="0">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Narrow" panose="020B0606020202030204" pitchFamily="34" charset="0"/>
                <a:ea typeface="+mn-ea"/>
                <a:cs typeface="+mn-cs"/>
              </a:rPr>
              <a:t>Creech AFB Disaster Resiliency Program</a:t>
            </a:r>
          </a:p>
        </p:txBody>
      </p:sp>
    </p:spTree>
    <p:extLst>
      <p:ext uri="{BB962C8B-B14F-4D97-AF65-F5344CB8AC3E}">
        <p14:creationId xmlns:p14="http://schemas.microsoft.com/office/powerpoint/2010/main" val="25397588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Title 17"/>
          <p:cNvSpPr>
            <a:spLocks noGrp="1"/>
          </p:cNvSpPr>
          <p:nvPr>
            <p:ph type="title"/>
          </p:nvPr>
        </p:nvSpPr>
        <p:spPr/>
        <p:txBody>
          <a:bodyPr/>
          <a:lstStyle/>
          <a:p>
            <a:pPr algn="ctr"/>
            <a:r>
              <a:rPr lang="en-US" dirty="0"/>
              <a:t>SPL Missions</a:t>
            </a:r>
          </a:p>
        </p:txBody>
      </p:sp>
      <p:sp>
        <p:nvSpPr>
          <p:cNvPr id="608" name="Text Box 3">
            <a:extLst>
              <a:ext uri="{FF2B5EF4-FFF2-40B4-BE49-F238E27FC236}">
                <a16:creationId xmlns:a16="http://schemas.microsoft.com/office/drawing/2014/main" id="{827C97B3-BAC7-4F82-AE37-55EA6C35C837}"/>
              </a:ext>
            </a:extLst>
          </p:cNvPr>
          <p:cNvSpPr txBox="1">
            <a:spLocks noChangeArrowheads="1"/>
          </p:cNvSpPr>
          <p:nvPr/>
        </p:nvSpPr>
        <p:spPr bwMode="auto">
          <a:xfrm>
            <a:off x="711642" y="2808180"/>
            <a:ext cx="2521529" cy="778494"/>
          </a:xfrm>
          <a:prstGeom prst="rect">
            <a:avLst/>
          </a:prstGeom>
          <a:noFill/>
          <a:ln w="9525">
            <a:noFill/>
            <a:miter lim="800000"/>
            <a:headEnd/>
            <a:tailEnd/>
          </a:ln>
        </p:spPr>
        <p:txBody>
          <a:bodyPr wrap="square" lIns="0" tIns="161365"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itchFamily="34" charset="0"/>
                <a:ea typeface="+mn-ea"/>
                <a:cs typeface="+mn-cs"/>
              </a:rPr>
              <a:t>Connect Geography with Data Resulting In: Cost Savings, Better Decision Making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itchFamily="34" charset="0"/>
                <a:ea typeface="+mn-ea"/>
                <a:cs typeface="+mn-cs"/>
              </a:rPr>
              <a:t>Improved Record Keeping and Communication</a:t>
            </a:r>
          </a:p>
        </p:txBody>
      </p:sp>
      <p:grpSp>
        <p:nvGrpSpPr>
          <p:cNvPr id="637" name="Group 636">
            <a:extLst>
              <a:ext uri="{FF2B5EF4-FFF2-40B4-BE49-F238E27FC236}">
                <a16:creationId xmlns:a16="http://schemas.microsoft.com/office/drawing/2014/main" id="{A6F46662-66B8-45C2-B049-F28C09E7FD29}"/>
              </a:ext>
            </a:extLst>
          </p:cNvPr>
          <p:cNvGrpSpPr/>
          <p:nvPr/>
        </p:nvGrpSpPr>
        <p:grpSpPr>
          <a:xfrm>
            <a:off x="8283368" y="6164703"/>
            <a:ext cx="359073" cy="505452"/>
            <a:chOff x="3767801" y="6583680"/>
            <a:chExt cx="410172" cy="572846"/>
          </a:xfrm>
        </p:grpSpPr>
        <p:sp>
          <p:nvSpPr>
            <p:cNvPr id="650" name="Freeform 198">
              <a:extLst>
                <a:ext uri="{FF2B5EF4-FFF2-40B4-BE49-F238E27FC236}">
                  <a16:creationId xmlns:a16="http://schemas.microsoft.com/office/drawing/2014/main" id="{305D6497-D699-49D7-8694-BA77852039F3}"/>
                </a:ext>
              </a:extLst>
            </p:cNvPr>
            <p:cNvSpPr/>
            <p:nvPr/>
          </p:nvSpPr>
          <p:spPr>
            <a:xfrm>
              <a:off x="3837841" y="6583680"/>
              <a:ext cx="270093" cy="274320"/>
            </a:xfrm>
            <a:custGeom>
              <a:avLst/>
              <a:gdLst>
                <a:gd name="connsiteX0" fmla="*/ 770302 w 1341358"/>
                <a:gd name="connsiteY0" fmla="*/ 234827 h 1362350"/>
                <a:gd name="connsiteX1" fmla="*/ 602749 w 1341358"/>
                <a:gd name="connsiteY1" fmla="*/ 236415 h 1362350"/>
                <a:gd name="connsiteX2" fmla="*/ 453642 w 1341358"/>
                <a:gd name="connsiteY2" fmla="*/ 643994 h 1362350"/>
                <a:gd name="connsiteX3" fmla="*/ 703140 w 1341358"/>
                <a:gd name="connsiteY3" fmla="*/ 641585 h 1362350"/>
                <a:gd name="connsiteX4" fmla="*/ 563940 w 1341358"/>
                <a:gd name="connsiteY4" fmla="*/ 1046045 h 1362350"/>
                <a:gd name="connsiteX5" fmla="*/ 887716 w 1341358"/>
                <a:gd name="connsiteY5" fmla="*/ 555044 h 1362350"/>
                <a:gd name="connsiteX6" fmla="*/ 585287 w 1341358"/>
                <a:gd name="connsiteY6" fmla="*/ 558602 h 1362350"/>
                <a:gd name="connsiteX7" fmla="*/ 113857 w 1341358"/>
                <a:gd name="connsiteY7" fmla="*/ 0 h 1362350"/>
                <a:gd name="connsiteX8" fmla="*/ 1227501 w 1341358"/>
                <a:gd name="connsiteY8" fmla="*/ 0 h 1362350"/>
                <a:gd name="connsiteX9" fmla="*/ 1341358 w 1341358"/>
                <a:gd name="connsiteY9" fmla="*/ 113857 h 1362350"/>
                <a:gd name="connsiteX10" fmla="*/ 1341358 w 1341358"/>
                <a:gd name="connsiteY10" fmla="*/ 1167015 h 1362350"/>
                <a:gd name="connsiteX11" fmla="*/ 1227501 w 1341358"/>
                <a:gd name="connsiteY11" fmla="*/ 1280872 h 1362350"/>
                <a:gd name="connsiteX12" fmla="*/ 1132292 w 1341358"/>
                <a:gd name="connsiteY12" fmla="*/ 1280872 h 1362350"/>
                <a:gd name="connsiteX13" fmla="*/ 1148518 w 1341358"/>
                <a:gd name="connsiteY13" fmla="*/ 1362350 h 1362350"/>
                <a:gd name="connsiteX14" fmla="*/ 900868 w 1341358"/>
                <a:gd name="connsiteY14" fmla="*/ 1362350 h 1362350"/>
                <a:gd name="connsiteX15" fmla="*/ 917095 w 1341358"/>
                <a:gd name="connsiteY15" fmla="*/ 1280872 h 1362350"/>
                <a:gd name="connsiteX16" fmla="*/ 424265 w 1341358"/>
                <a:gd name="connsiteY16" fmla="*/ 1280872 h 1362350"/>
                <a:gd name="connsiteX17" fmla="*/ 440491 w 1341358"/>
                <a:gd name="connsiteY17" fmla="*/ 1362350 h 1362350"/>
                <a:gd name="connsiteX18" fmla="*/ 192841 w 1341358"/>
                <a:gd name="connsiteY18" fmla="*/ 1362350 h 1362350"/>
                <a:gd name="connsiteX19" fmla="*/ 209068 w 1341358"/>
                <a:gd name="connsiteY19" fmla="*/ 1280872 h 1362350"/>
                <a:gd name="connsiteX20" fmla="*/ 113857 w 1341358"/>
                <a:gd name="connsiteY20" fmla="*/ 1280872 h 1362350"/>
                <a:gd name="connsiteX21" fmla="*/ 0 w 1341358"/>
                <a:gd name="connsiteY21" fmla="*/ 1167015 h 1362350"/>
                <a:gd name="connsiteX22" fmla="*/ 0 w 1341358"/>
                <a:gd name="connsiteY22" fmla="*/ 113857 h 1362350"/>
                <a:gd name="connsiteX23" fmla="*/ 113857 w 1341358"/>
                <a:gd name="connsiteY23" fmla="*/ 0 h 1362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358" h="1362350">
                  <a:moveTo>
                    <a:pt x="770302" y="234827"/>
                  </a:moveTo>
                  <a:lnTo>
                    <a:pt x="602749" y="236415"/>
                  </a:lnTo>
                  <a:lnTo>
                    <a:pt x="453642" y="643994"/>
                  </a:lnTo>
                  <a:lnTo>
                    <a:pt x="703140" y="641585"/>
                  </a:lnTo>
                  <a:lnTo>
                    <a:pt x="563940" y="1046045"/>
                  </a:lnTo>
                  <a:lnTo>
                    <a:pt x="887716" y="555044"/>
                  </a:lnTo>
                  <a:lnTo>
                    <a:pt x="585287" y="558602"/>
                  </a:lnTo>
                  <a:close/>
                  <a:moveTo>
                    <a:pt x="113857" y="0"/>
                  </a:moveTo>
                  <a:lnTo>
                    <a:pt x="1227501" y="0"/>
                  </a:lnTo>
                  <a:cubicBezTo>
                    <a:pt x="1290382" y="0"/>
                    <a:pt x="1341358" y="50976"/>
                    <a:pt x="1341358" y="113857"/>
                  </a:cubicBezTo>
                  <a:lnTo>
                    <a:pt x="1341358" y="1167015"/>
                  </a:lnTo>
                  <a:cubicBezTo>
                    <a:pt x="1341358" y="1229896"/>
                    <a:pt x="1290382" y="1280872"/>
                    <a:pt x="1227501" y="1280872"/>
                  </a:cubicBezTo>
                  <a:lnTo>
                    <a:pt x="1132292" y="1280872"/>
                  </a:lnTo>
                  <a:lnTo>
                    <a:pt x="1148518" y="1362350"/>
                  </a:lnTo>
                  <a:lnTo>
                    <a:pt x="900868" y="1362350"/>
                  </a:lnTo>
                  <a:lnTo>
                    <a:pt x="917095" y="1280872"/>
                  </a:lnTo>
                  <a:lnTo>
                    <a:pt x="424265" y="1280872"/>
                  </a:lnTo>
                  <a:lnTo>
                    <a:pt x="440491" y="1362350"/>
                  </a:lnTo>
                  <a:lnTo>
                    <a:pt x="192841" y="1362350"/>
                  </a:lnTo>
                  <a:lnTo>
                    <a:pt x="209068" y="1280872"/>
                  </a:lnTo>
                  <a:lnTo>
                    <a:pt x="113857" y="1280872"/>
                  </a:lnTo>
                  <a:cubicBezTo>
                    <a:pt x="50976" y="1280872"/>
                    <a:pt x="0" y="1229896"/>
                    <a:pt x="0" y="1167015"/>
                  </a:cubicBezTo>
                  <a:lnTo>
                    <a:pt x="0" y="113857"/>
                  </a:lnTo>
                  <a:cubicBezTo>
                    <a:pt x="0" y="50976"/>
                    <a:pt x="50976" y="0"/>
                    <a:pt x="113857" y="0"/>
                  </a:cubicBezTo>
                  <a:close/>
                </a:path>
              </a:pathLst>
            </a:custGeom>
            <a:solidFill>
              <a:srgbClr val="C00000"/>
            </a:solidFill>
            <a:ln w="3175" cap="flat" cmpd="sng" algn="ctr">
              <a:noFill/>
              <a:prstDash val="solid"/>
            </a:ln>
            <a:effectLst/>
          </p:spPr>
          <p:txBody>
            <a:bodyPr rtlCol="0" anchor="ct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C00000"/>
                </a:solidFill>
                <a:effectLst/>
                <a:uLnTx/>
                <a:uFillTx/>
                <a:latin typeface="Arial"/>
                <a:ea typeface="+mn-ea"/>
                <a:cs typeface="+mn-cs"/>
              </a:endParaRPr>
            </a:p>
          </p:txBody>
        </p:sp>
        <p:sp>
          <p:nvSpPr>
            <p:cNvPr id="651" name="TextBox 650">
              <a:extLst>
                <a:ext uri="{FF2B5EF4-FFF2-40B4-BE49-F238E27FC236}">
                  <a16:creationId xmlns:a16="http://schemas.microsoft.com/office/drawing/2014/main" id="{26919733-40E0-45F0-A0C1-910020E901EC}"/>
                </a:ext>
              </a:extLst>
            </p:cNvPr>
            <p:cNvSpPr txBox="1"/>
            <p:nvPr/>
          </p:nvSpPr>
          <p:spPr>
            <a:xfrm>
              <a:off x="3767801" y="6858000"/>
              <a:ext cx="410172" cy="298526"/>
            </a:xfrm>
            <a:prstGeom prst="rect">
              <a:avLst/>
            </a:prstGeom>
            <a:noFill/>
          </p:spPr>
          <p:txBody>
            <a:bodyPr wrap="none" lIns="0" rIns="0" bIns="0" rtlCol="0">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C00000"/>
                  </a:solidFill>
                  <a:effectLst/>
                  <a:uLnTx/>
                  <a:uFillTx/>
                  <a:latin typeface="Arial Narrow" panose="020B0606020202030204" pitchFamily="34" charset="0"/>
                  <a:ea typeface="+mn-ea"/>
                  <a:cs typeface="+mn-cs"/>
                </a:rPr>
                <a:t>Temporary</a:t>
              </a: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srgbClr val="C00000"/>
                  </a:solidFill>
                  <a:effectLst/>
                  <a:uLnTx/>
                  <a:uFillTx/>
                  <a:latin typeface="Arial Narrow" panose="020B0606020202030204" pitchFamily="34" charset="0"/>
                  <a:ea typeface="+mn-ea"/>
                  <a:cs typeface="+mn-cs"/>
                </a:rPr>
                <a:t>Power</a:t>
              </a:r>
            </a:p>
          </p:txBody>
        </p:sp>
      </p:grpSp>
      <p:grpSp>
        <p:nvGrpSpPr>
          <p:cNvPr id="638" name="Group 637">
            <a:extLst>
              <a:ext uri="{FF2B5EF4-FFF2-40B4-BE49-F238E27FC236}">
                <a16:creationId xmlns:a16="http://schemas.microsoft.com/office/drawing/2014/main" id="{393A4368-2B6F-4BB4-A55A-2A5090396318}"/>
              </a:ext>
            </a:extLst>
          </p:cNvPr>
          <p:cNvGrpSpPr/>
          <p:nvPr/>
        </p:nvGrpSpPr>
        <p:grpSpPr>
          <a:xfrm>
            <a:off x="9014879" y="6164703"/>
            <a:ext cx="437620" cy="505452"/>
            <a:chOff x="4356391" y="6583680"/>
            <a:chExt cx="499897" cy="572846"/>
          </a:xfrm>
        </p:grpSpPr>
        <p:sp>
          <p:nvSpPr>
            <p:cNvPr id="648" name="Freeform 199">
              <a:extLst>
                <a:ext uri="{FF2B5EF4-FFF2-40B4-BE49-F238E27FC236}">
                  <a16:creationId xmlns:a16="http://schemas.microsoft.com/office/drawing/2014/main" id="{AC978BE7-7C50-4B2E-AC91-3F571E0E211D}"/>
                </a:ext>
              </a:extLst>
            </p:cNvPr>
            <p:cNvSpPr/>
            <p:nvPr/>
          </p:nvSpPr>
          <p:spPr>
            <a:xfrm>
              <a:off x="4423458" y="6583680"/>
              <a:ext cx="365760" cy="274320"/>
            </a:xfrm>
            <a:custGeom>
              <a:avLst/>
              <a:gdLst>
                <a:gd name="connsiteX0" fmla="*/ 81116 w 457200"/>
                <a:gd name="connsiteY0" fmla="*/ 270114 h 366092"/>
                <a:gd name="connsiteX1" fmla="*/ 129105 w 457200"/>
                <a:gd name="connsiteY1" fmla="*/ 318103 h 366092"/>
                <a:gd name="connsiteX2" fmla="*/ 129105 w 457200"/>
                <a:gd name="connsiteY2" fmla="*/ 366092 h 366092"/>
                <a:gd name="connsiteX3" fmla="*/ 33127 w 457200"/>
                <a:gd name="connsiteY3" fmla="*/ 366092 h 366092"/>
                <a:gd name="connsiteX4" fmla="*/ 33127 w 457200"/>
                <a:gd name="connsiteY4" fmla="*/ 318103 h 366092"/>
                <a:gd name="connsiteX5" fmla="*/ 81116 w 457200"/>
                <a:gd name="connsiteY5" fmla="*/ 270114 h 366092"/>
                <a:gd name="connsiteX6" fmla="*/ 348984 w 457200"/>
                <a:gd name="connsiteY6" fmla="*/ 151962 h 366092"/>
                <a:gd name="connsiteX7" fmla="*/ 348984 w 457200"/>
                <a:gd name="connsiteY7" fmla="*/ 201159 h 366092"/>
                <a:gd name="connsiteX8" fmla="*/ 389359 w 457200"/>
                <a:gd name="connsiteY8" fmla="*/ 201159 h 366092"/>
                <a:gd name="connsiteX9" fmla="*/ 411897 w 457200"/>
                <a:gd name="connsiteY9" fmla="*/ 201159 h 366092"/>
                <a:gd name="connsiteX10" fmla="*/ 389359 w 457200"/>
                <a:gd name="connsiteY10" fmla="*/ 151962 h 366092"/>
                <a:gd name="connsiteX11" fmla="*/ 248490 w 457200"/>
                <a:gd name="connsiteY11" fmla="*/ 0 h 366092"/>
                <a:gd name="connsiteX12" fmla="*/ 263704 w 457200"/>
                <a:gd name="connsiteY12" fmla="*/ 21976 h 366092"/>
                <a:gd name="connsiteX13" fmla="*/ 237221 w 457200"/>
                <a:gd name="connsiteY13" fmla="*/ 58601 h 366092"/>
                <a:gd name="connsiteX14" fmla="*/ 293568 w 457200"/>
                <a:gd name="connsiteY14" fmla="*/ 147066 h 366092"/>
                <a:gd name="connsiteX15" fmla="*/ 196808 w 457200"/>
                <a:gd name="connsiteY15" fmla="*/ 233755 h 366092"/>
                <a:gd name="connsiteX16" fmla="*/ 313485 w 457200"/>
                <a:gd name="connsiteY16" fmla="*/ 233755 h 366092"/>
                <a:gd name="connsiteX17" fmla="*/ 313485 w 457200"/>
                <a:gd name="connsiteY17" fmla="*/ 112518 h 366092"/>
                <a:gd name="connsiteX18" fmla="*/ 413168 w 457200"/>
                <a:gd name="connsiteY18" fmla="*/ 112518 h 366092"/>
                <a:gd name="connsiteX19" fmla="*/ 457200 w 457200"/>
                <a:gd name="connsiteY19" fmla="*/ 206131 h 366092"/>
                <a:gd name="connsiteX20" fmla="*/ 457200 w 457200"/>
                <a:gd name="connsiteY20" fmla="*/ 250172 h 366092"/>
                <a:gd name="connsiteX21" fmla="*/ 457200 w 457200"/>
                <a:gd name="connsiteY21" fmla="*/ 250172 h 366092"/>
                <a:gd name="connsiteX22" fmla="*/ 457200 w 457200"/>
                <a:gd name="connsiteY22" fmla="*/ 298414 h 366092"/>
                <a:gd name="connsiteX23" fmla="*/ 412996 w 457200"/>
                <a:gd name="connsiteY23" fmla="*/ 298414 h 366092"/>
                <a:gd name="connsiteX24" fmla="*/ 422553 w 457200"/>
                <a:gd name="connsiteY24" fmla="*/ 304857 h 366092"/>
                <a:gd name="connsiteX25" fmla="*/ 431985 w 457200"/>
                <a:gd name="connsiteY25" fmla="*/ 327629 h 366092"/>
                <a:gd name="connsiteX26" fmla="*/ 399781 w 457200"/>
                <a:gd name="connsiteY26" fmla="*/ 359832 h 366092"/>
                <a:gd name="connsiteX27" fmla="*/ 367578 w 457200"/>
                <a:gd name="connsiteY27" fmla="*/ 327629 h 366092"/>
                <a:gd name="connsiteX28" fmla="*/ 377010 w 457200"/>
                <a:gd name="connsiteY28" fmla="*/ 304857 h 366092"/>
                <a:gd name="connsiteX29" fmla="*/ 386567 w 457200"/>
                <a:gd name="connsiteY29" fmla="*/ 298414 h 366092"/>
                <a:gd name="connsiteX30" fmla="*/ 230089 w 457200"/>
                <a:gd name="connsiteY30" fmla="*/ 298414 h 366092"/>
                <a:gd name="connsiteX31" fmla="*/ 239646 w 457200"/>
                <a:gd name="connsiteY31" fmla="*/ 304857 h 366092"/>
                <a:gd name="connsiteX32" fmla="*/ 249078 w 457200"/>
                <a:gd name="connsiteY32" fmla="*/ 327629 h 366092"/>
                <a:gd name="connsiteX33" fmla="*/ 216875 w 457200"/>
                <a:gd name="connsiteY33" fmla="*/ 359832 h 366092"/>
                <a:gd name="connsiteX34" fmla="*/ 184671 w 457200"/>
                <a:gd name="connsiteY34" fmla="*/ 327629 h 366092"/>
                <a:gd name="connsiteX35" fmla="*/ 194104 w 457200"/>
                <a:gd name="connsiteY35" fmla="*/ 304857 h 366092"/>
                <a:gd name="connsiteX36" fmla="*/ 203661 w 457200"/>
                <a:gd name="connsiteY36" fmla="*/ 298414 h 366092"/>
                <a:gd name="connsiteX37" fmla="*/ 132641 w 457200"/>
                <a:gd name="connsiteY37" fmla="*/ 298414 h 366092"/>
                <a:gd name="connsiteX38" fmla="*/ 132641 w 457200"/>
                <a:gd name="connsiteY38" fmla="*/ 268948 h 366092"/>
                <a:gd name="connsiteX39" fmla="*/ 73814 w 457200"/>
                <a:gd name="connsiteY39" fmla="*/ 181438 h 366092"/>
                <a:gd name="connsiteX40" fmla="*/ 21612 w 457200"/>
                <a:gd name="connsiteY40" fmla="*/ 289982 h 366092"/>
                <a:gd name="connsiteX41" fmla="*/ 0 w 457200"/>
                <a:gd name="connsiteY41" fmla="*/ 277227 h 366092"/>
                <a:gd name="connsiteX42" fmla="*/ 56910 w 457200"/>
                <a:gd name="connsiteY42" fmla="*/ 154955 h 366092"/>
                <a:gd name="connsiteX43" fmla="*/ 233840 w 457200"/>
                <a:gd name="connsiteY43" fmla="*/ 1127 h 36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57200" h="366092">
                  <a:moveTo>
                    <a:pt x="81116" y="270114"/>
                  </a:moveTo>
                  <a:cubicBezTo>
                    <a:pt x="107620" y="270114"/>
                    <a:pt x="129105" y="291599"/>
                    <a:pt x="129105" y="318103"/>
                  </a:cubicBezTo>
                  <a:lnTo>
                    <a:pt x="129105" y="366092"/>
                  </a:lnTo>
                  <a:lnTo>
                    <a:pt x="33127" y="366092"/>
                  </a:lnTo>
                  <a:lnTo>
                    <a:pt x="33127" y="318103"/>
                  </a:lnTo>
                  <a:cubicBezTo>
                    <a:pt x="33127" y="291599"/>
                    <a:pt x="54612" y="270114"/>
                    <a:pt x="81116" y="270114"/>
                  </a:cubicBezTo>
                  <a:close/>
                  <a:moveTo>
                    <a:pt x="348984" y="151962"/>
                  </a:moveTo>
                  <a:lnTo>
                    <a:pt x="348984" y="201159"/>
                  </a:lnTo>
                  <a:lnTo>
                    <a:pt x="389359" y="201159"/>
                  </a:lnTo>
                  <a:lnTo>
                    <a:pt x="411897" y="201159"/>
                  </a:lnTo>
                  <a:lnTo>
                    <a:pt x="389359" y="151962"/>
                  </a:lnTo>
                  <a:close/>
                  <a:moveTo>
                    <a:pt x="248490" y="0"/>
                  </a:moveTo>
                  <a:lnTo>
                    <a:pt x="263704" y="21976"/>
                  </a:lnTo>
                  <a:lnTo>
                    <a:pt x="237221" y="58601"/>
                  </a:lnTo>
                  <a:lnTo>
                    <a:pt x="293568" y="147066"/>
                  </a:lnTo>
                  <a:lnTo>
                    <a:pt x="196808" y="233755"/>
                  </a:lnTo>
                  <a:lnTo>
                    <a:pt x="313485" y="233755"/>
                  </a:lnTo>
                  <a:lnTo>
                    <a:pt x="313485" y="112518"/>
                  </a:lnTo>
                  <a:lnTo>
                    <a:pt x="413168" y="112518"/>
                  </a:lnTo>
                  <a:lnTo>
                    <a:pt x="457200" y="206131"/>
                  </a:lnTo>
                  <a:lnTo>
                    <a:pt x="457200" y="250172"/>
                  </a:lnTo>
                  <a:lnTo>
                    <a:pt x="457200" y="250172"/>
                  </a:lnTo>
                  <a:lnTo>
                    <a:pt x="457200" y="298414"/>
                  </a:lnTo>
                  <a:lnTo>
                    <a:pt x="412996" y="298414"/>
                  </a:lnTo>
                  <a:lnTo>
                    <a:pt x="422553" y="304857"/>
                  </a:lnTo>
                  <a:cubicBezTo>
                    <a:pt x="428381" y="310685"/>
                    <a:pt x="431985" y="318736"/>
                    <a:pt x="431985" y="327629"/>
                  </a:cubicBezTo>
                  <a:cubicBezTo>
                    <a:pt x="431985" y="345414"/>
                    <a:pt x="417567" y="359832"/>
                    <a:pt x="399781" y="359832"/>
                  </a:cubicBezTo>
                  <a:cubicBezTo>
                    <a:pt x="381996" y="359832"/>
                    <a:pt x="367578" y="345414"/>
                    <a:pt x="367578" y="327629"/>
                  </a:cubicBezTo>
                  <a:cubicBezTo>
                    <a:pt x="367578" y="318736"/>
                    <a:pt x="371183" y="310685"/>
                    <a:pt x="377010" y="304857"/>
                  </a:cubicBezTo>
                  <a:lnTo>
                    <a:pt x="386567" y="298414"/>
                  </a:lnTo>
                  <a:lnTo>
                    <a:pt x="230089" y="298414"/>
                  </a:lnTo>
                  <a:lnTo>
                    <a:pt x="239646" y="304857"/>
                  </a:lnTo>
                  <a:cubicBezTo>
                    <a:pt x="245474" y="310685"/>
                    <a:pt x="249078" y="318736"/>
                    <a:pt x="249078" y="327629"/>
                  </a:cubicBezTo>
                  <a:cubicBezTo>
                    <a:pt x="249078" y="345414"/>
                    <a:pt x="234660" y="359832"/>
                    <a:pt x="216875" y="359832"/>
                  </a:cubicBezTo>
                  <a:cubicBezTo>
                    <a:pt x="199089" y="359832"/>
                    <a:pt x="184671" y="345414"/>
                    <a:pt x="184671" y="327629"/>
                  </a:cubicBezTo>
                  <a:cubicBezTo>
                    <a:pt x="184671" y="318736"/>
                    <a:pt x="188276" y="310685"/>
                    <a:pt x="194104" y="304857"/>
                  </a:cubicBezTo>
                  <a:lnTo>
                    <a:pt x="203661" y="298414"/>
                  </a:lnTo>
                  <a:lnTo>
                    <a:pt x="132641" y="298414"/>
                  </a:lnTo>
                  <a:lnTo>
                    <a:pt x="132641" y="268948"/>
                  </a:lnTo>
                  <a:lnTo>
                    <a:pt x="73814" y="181438"/>
                  </a:lnTo>
                  <a:lnTo>
                    <a:pt x="21612" y="289982"/>
                  </a:lnTo>
                  <a:lnTo>
                    <a:pt x="0" y="277227"/>
                  </a:lnTo>
                  <a:lnTo>
                    <a:pt x="56910" y="154955"/>
                  </a:lnTo>
                  <a:lnTo>
                    <a:pt x="233840" y="1127"/>
                  </a:lnTo>
                  <a:close/>
                </a:path>
              </a:pathLst>
            </a:custGeom>
            <a:solidFill>
              <a:srgbClr val="1F497D">
                <a:lumMod val="75000"/>
              </a:srgbClr>
            </a:solidFill>
            <a:ln w="3175" cap="flat" cmpd="sng" algn="ctr">
              <a:noFill/>
              <a:prstDash val="solid"/>
            </a:ln>
            <a:effectLst/>
          </p:spPr>
          <p:txBody>
            <a:bodyPr wrap="square" rtlCol="0" anchor="ctr">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649" name="TextBox 648">
              <a:extLst>
                <a:ext uri="{FF2B5EF4-FFF2-40B4-BE49-F238E27FC236}">
                  <a16:creationId xmlns:a16="http://schemas.microsoft.com/office/drawing/2014/main" id="{352FF908-E344-47DC-8F34-9AF2B0D5B3C3}"/>
                </a:ext>
              </a:extLst>
            </p:cNvPr>
            <p:cNvSpPr txBox="1"/>
            <p:nvPr/>
          </p:nvSpPr>
          <p:spPr>
            <a:xfrm>
              <a:off x="4356391" y="6858000"/>
              <a:ext cx="499897" cy="298526"/>
            </a:xfrm>
            <a:prstGeom prst="rect">
              <a:avLst/>
            </a:prstGeom>
            <a:noFill/>
          </p:spPr>
          <p:txBody>
            <a:bodyPr wrap="none" lIns="0" rIns="0" bIns="0" rtlCol="0">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Debris</a:t>
              </a: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Management</a:t>
              </a:r>
            </a:p>
          </p:txBody>
        </p:sp>
      </p:grpSp>
      <p:grpSp>
        <p:nvGrpSpPr>
          <p:cNvPr id="639" name="Group 638">
            <a:extLst>
              <a:ext uri="{FF2B5EF4-FFF2-40B4-BE49-F238E27FC236}">
                <a16:creationId xmlns:a16="http://schemas.microsoft.com/office/drawing/2014/main" id="{3D5DA569-18B7-4975-992A-8FEEAE958D38}"/>
              </a:ext>
            </a:extLst>
          </p:cNvPr>
          <p:cNvGrpSpPr/>
          <p:nvPr/>
        </p:nvGrpSpPr>
        <p:grpSpPr>
          <a:xfrm>
            <a:off x="9796102" y="6164703"/>
            <a:ext cx="359072" cy="505452"/>
            <a:chOff x="4904172" y="6583680"/>
            <a:chExt cx="410172" cy="572846"/>
          </a:xfrm>
        </p:grpSpPr>
        <p:sp>
          <p:nvSpPr>
            <p:cNvPr id="646" name="Freeform 200">
              <a:extLst>
                <a:ext uri="{FF2B5EF4-FFF2-40B4-BE49-F238E27FC236}">
                  <a16:creationId xmlns:a16="http://schemas.microsoft.com/office/drawing/2014/main" id="{78E26B07-3A2E-4A88-A009-B757E7F5AAB6}"/>
                </a:ext>
              </a:extLst>
            </p:cNvPr>
            <p:cNvSpPr/>
            <p:nvPr/>
          </p:nvSpPr>
          <p:spPr>
            <a:xfrm>
              <a:off x="4977890" y="6583680"/>
              <a:ext cx="262736" cy="274320"/>
            </a:xfrm>
            <a:custGeom>
              <a:avLst/>
              <a:gdLst>
                <a:gd name="connsiteX0" fmla="*/ 300651 w 1366443"/>
                <a:gd name="connsiteY0" fmla="*/ 731520 h 1426689"/>
                <a:gd name="connsiteX1" fmla="*/ 300651 w 1366443"/>
                <a:gd name="connsiteY1" fmla="*/ 993209 h 1426689"/>
                <a:gd name="connsiteX2" fmla="*/ 562340 w 1366443"/>
                <a:gd name="connsiteY2" fmla="*/ 993209 h 1426689"/>
                <a:gd name="connsiteX3" fmla="*/ 562340 w 1366443"/>
                <a:gd name="connsiteY3" fmla="*/ 731520 h 1426689"/>
                <a:gd name="connsiteX4" fmla="*/ 825454 w 1366443"/>
                <a:gd name="connsiteY4" fmla="*/ 719246 h 1426689"/>
                <a:gd name="connsiteX5" fmla="*/ 825454 w 1366443"/>
                <a:gd name="connsiteY5" fmla="*/ 1306312 h 1426689"/>
                <a:gd name="connsiteX6" fmla="*/ 1088744 w 1366443"/>
                <a:gd name="connsiteY6" fmla="*/ 1306312 h 1426689"/>
                <a:gd name="connsiteX7" fmla="*/ 1088744 w 1366443"/>
                <a:gd name="connsiteY7" fmla="*/ 719246 h 1426689"/>
                <a:gd name="connsiteX8" fmla="*/ 683221 w 1366443"/>
                <a:gd name="connsiteY8" fmla="*/ 0 h 1426689"/>
                <a:gd name="connsiteX9" fmla="*/ 1366441 w 1366443"/>
                <a:gd name="connsiteY9" fmla="*/ 594359 h 1426689"/>
                <a:gd name="connsiteX10" fmla="*/ 1366442 w 1366443"/>
                <a:gd name="connsiteY10" fmla="*/ 594360 h 1426689"/>
                <a:gd name="connsiteX11" fmla="*/ 1366441 w 1366443"/>
                <a:gd name="connsiteY11" fmla="*/ 594360 h 1426689"/>
                <a:gd name="connsiteX12" fmla="*/ 1366441 w 1366443"/>
                <a:gd name="connsiteY12" fmla="*/ 737034 h 1426689"/>
                <a:gd name="connsiteX13" fmla="*/ 1280962 w 1366443"/>
                <a:gd name="connsiteY13" fmla="*/ 737034 h 1426689"/>
                <a:gd name="connsiteX14" fmla="*/ 1280962 w 1366443"/>
                <a:gd name="connsiteY14" fmla="*/ 1284014 h 1426689"/>
                <a:gd name="connsiteX15" fmla="*/ 1366443 w 1366443"/>
                <a:gd name="connsiteY15" fmla="*/ 1284014 h 1426689"/>
                <a:gd name="connsiteX16" fmla="*/ 1366443 w 1366443"/>
                <a:gd name="connsiteY16" fmla="*/ 1426689 h 1426689"/>
                <a:gd name="connsiteX17" fmla="*/ 2 w 1366443"/>
                <a:gd name="connsiteY17" fmla="*/ 1426689 h 1426689"/>
                <a:gd name="connsiteX18" fmla="*/ 2 w 1366443"/>
                <a:gd name="connsiteY18" fmla="*/ 1284014 h 1426689"/>
                <a:gd name="connsiteX19" fmla="*/ 85481 w 1366443"/>
                <a:gd name="connsiteY19" fmla="*/ 1284014 h 1426689"/>
                <a:gd name="connsiteX20" fmla="*/ 85481 w 1366443"/>
                <a:gd name="connsiteY20" fmla="*/ 737034 h 1426689"/>
                <a:gd name="connsiteX21" fmla="*/ 0 w 1366443"/>
                <a:gd name="connsiteY21" fmla="*/ 737034 h 1426689"/>
                <a:gd name="connsiteX22" fmla="*/ 0 w 1366443"/>
                <a:gd name="connsiteY22" fmla="*/ 594360 h 1426689"/>
                <a:gd name="connsiteX23" fmla="*/ 0 w 1366443"/>
                <a:gd name="connsiteY23" fmla="*/ 594359 h 1426689"/>
                <a:gd name="connsiteX24" fmla="*/ 1 w 1366443"/>
                <a:gd name="connsiteY24" fmla="*/ 594359 h 1426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66443" h="1426689">
                  <a:moveTo>
                    <a:pt x="300651" y="731520"/>
                  </a:moveTo>
                  <a:lnTo>
                    <a:pt x="300651" y="993209"/>
                  </a:lnTo>
                  <a:lnTo>
                    <a:pt x="562340" y="993209"/>
                  </a:lnTo>
                  <a:lnTo>
                    <a:pt x="562340" y="731520"/>
                  </a:lnTo>
                  <a:close/>
                  <a:moveTo>
                    <a:pt x="825454" y="719246"/>
                  </a:moveTo>
                  <a:lnTo>
                    <a:pt x="825454" y="1306312"/>
                  </a:lnTo>
                  <a:lnTo>
                    <a:pt x="1088744" y="1306312"/>
                  </a:lnTo>
                  <a:lnTo>
                    <a:pt x="1088744" y="719246"/>
                  </a:lnTo>
                  <a:close/>
                  <a:moveTo>
                    <a:pt x="683221" y="0"/>
                  </a:moveTo>
                  <a:lnTo>
                    <a:pt x="1366441" y="594359"/>
                  </a:lnTo>
                  <a:lnTo>
                    <a:pt x="1366442" y="594360"/>
                  </a:lnTo>
                  <a:lnTo>
                    <a:pt x="1366441" y="594360"/>
                  </a:lnTo>
                  <a:lnTo>
                    <a:pt x="1366441" y="737034"/>
                  </a:lnTo>
                  <a:lnTo>
                    <a:pt x="1280962" y="737034"/>
                  </a:lnTo>
                  <a:lnTo>
                    <a:pt x="1280962" y="1284014"/>
                  </a:lnTo>
                  <a:lnTo>
                    <a:pt x="1366443" y="1284014"/>
                  </a:lnTo>
                  <a:lnTo>
                    <a:pt x="1366443" y="1426689"/>
                  </a:lnTo>
                  <a:lnTo>
                    <a:pt x="2" y="1426689"/>
                  </a:lnTo>
                  <a:lnTo>
                    <a:pt x="2" y="1284014"/>
                  </a:lnTo>
                  <a:lnTo>
                    <a:pt x="85481" y="1284014"/>
                  </a:lnTo>
                  <a:lnTo>
                    <a:pt x="85481" y="737034"/>
                  </a:lnTo>
                  <a:lnTo>
                    <a:pt x="0" y="737034"/>
                  </a:lnTo>
                  <a:lnTo>
                    <a:pt x="0" y="594360"/>
                  </a:lnTo>
                  <a:lnTo>
                    <a:pt x="0" y="594359"/>
                  </a:lnTo>
                  <a:lnTo>
                    <a:pt x="1" y="594359"/>
                  </a:lnTo>
                  <a:close/>
                </a:path>
              </a:pathLst>
            </a:custGeom>
            <a:solidFill>
              <a:srgbClr val="1F497D">
                <a:lumMod val="75000"/>
              </a:srgbClr>
            </a:solidFill>
            <a:ln w="3175" cap="flat" cmpd="sng" algn="ctr">
              <a:noFill/>
              <a:prstDash val="solid"/>
            </a:ln>
            <a:effectLst/>
          </p:spPr>
          <p:txBody>
            <a:bodyPr rtlCol="0" anchor="ct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647" name="TextBox 646">
              <a:extLst>
                <a:ext uri="{FF2B5EF4-FFF2-40B4-BE49-F238E27FC236}">
                  <a16:creationId xmlns:a16="http://schemas.microsoft.com/office/drawing/2014/main" id="{998DA83A-F23D-4E33-BDBF-422FD3FA1608}"/>
                </a:ext>
              </a:extLst>
            </p:cNvPr>
            <p:cNvSpPr txBox="1"/>
            <p:nvPr/>
          </p:nvSpPr>
          <p:spPr>
            <a:xfrm>
              <a:off x="4904172" y="6858000"/>
              <a:ext cx="410172" cy="298526"/>
            </a:xfrm>
            <a:prstGeom prst="rect">
              <a:avLst/>
            </a:prstGeom>
            <a:noFill/>
          </p:spPr>
          <p:txBody>
            <a:bodyPr wrap="none" lIns="0" rIns="0" bIns="0" rtlCol="0">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Temporary</a:t>
              </a: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Housing</a:t>
              </a:r>
            </a:p>
          </p:txBody>
        </p:sp>
      </p:grpSp>
      <p:grpSp>
        <p:nvGrpSpPr>
          <p:cNvPr id="640" name="Group 639">
            <a:extLst>
              <a:ext uri="{FF2B5EF4-FFF2-40B4-BE49-F238E27FC236}">
                <a16:creationId xmlns:a16="http://schemas.microsoft.com/office/drawing/2014/main" id="{E9C55F00-697E-45F9-A4BA-D475D29CE0D1}"/>
              </a:ext>
            </a:extLst>
          </p:cNvPr>
          <p:cNvGrpSpPr/>
          <p:nvPr/>
        </p:nvGrpSpPr>
        <p:grpSpPr>
          <a:xfrm>
            <a:off x="10420462" y="6119556"/>
            <a:ext cx="468077" cy="550613"/>
            <a:chOff x="5489519" y="6532499"/>
            <a:chExt cx="534687" cy="624027"/>
          </a:xfrm>
        </p:grpSpPr>
        <p:sp>
          <p:nvSpPr>
            <p:cNvPr id="644" name="Freeform 201">
              <a:extLst>
                <a:ext uri="{FF2B5EF4-FFF2-40B4-BE49-F238E27FC236}">
                  <a16:creationId xmlns:a16="http://schemas.microsoft.com/office/drawing/2014/main" id="{36CEC4A3-85BE-4E4C-A584-D87DF4A772A9}"/>
                </a:ext>
              </a:extLst>
            </p:cNvPr>
            <p:cNvSpPr/>
            <p:nvPr/>
          </p:nvSpPr>
          <p:spPr>
            <a:xfrm>
              <a:off x="5596843" y="6532499"/>
              <a:ext cx="320040" cy="325501"/>
            </a:xfrm>
            <a:custGeom>
              <a:avLst/>
              <a:gdLst>
                <a:gd name="connsiteX0" fmla="*/ 1066909 w 1313001"/>
                <a:gd name="connsiteY0" fmla="*/ 942272 h 1335403"/>
                <a:gd name="connsiteX1" fmla="*/ 1066909 w 1313001"/>
                <a:gd name="connsiteY1" fmla="*/ 1088149 h 1335403"/>
                <a:gd name="connsiteX2" fmla="*/ 1141626 w 1313001"/>
                <a:gd name="connsiteY2" fmla="*/ 1088149 h 1335403"/>
                <a:gd name="connsiteX3" fmla="*/ 1141626 w 1313001"/>
                <a:gd name="connsiteY3" fmla="*/ 942272 h 1335403"/>
                <a:gd name="connsiteX4" fmla="*/ 914509 w 1313001"/>
                <a:gd name="connsiteY4" fmla="*/ 942272 h 1335403"/>
                <a:gd name="connsiteX5" fmla="*/ 914509 w 1313001"/>
                <a:gd name="connsiteY5" fmla="*/ 1088149 h 1335403"/>
                <a:gd name="connsiteX6" fmla="*/ 989226 w 1313001"/>
                <a:gd name="connsiteY6" fmla="*/ 1088149 h 1335403"/>
                <a:gd name="connsiteX7" fmla="*/ 989226 w 1313001"/>
                <a:gd name="connsiteY7" fmla="*/ 942272 h 1335403"/>
                <a:gd name="connsiteX8" fmla="*/ 1066909 w 1313001"/>
                <a:gd name="connsiteY8" fmla="*/ 690248 h 1335403"/>
                <a:gd name="connsiteX9" fmla="*/ 1066909 w 1313001"/>
                <a:gd name="connsiteY9" fmla="*/ 836125 h 1335403"/>
                <a:gd name="connsiteX10" fmla="*/ 1141626 w 1313001"/>
                <a:gd name="connsiteY10" fmla="*/ 836125 h 1335403"/>
                <a:gd name="connsiteX11" fmla="*/ 1141626 w 1313001"/>
                <a:gd name="connsiteY11" fmla="*/ 690248 h 1335403"/>
                <a:gd name="connsiteX12" fmla="*/ 914509 w 1313001"/>
                <a:gd name="connsiteY12" fmla="*/ 690248 h 1335403"/>
                <a:gd name="connsiteX13" fmla="*/ 914509 w 1313001"/>
                <a:gd name="connsiteY13" fmla="*/ 836125 h 1335403"/>
                <a:gd name="connsiteX14" fmla="*/ 989226 w 1313001"/>
                <a:gd name="connsiteY14" fmla="*/ 836125 h 1335403"/>
                <a:gd name="connsiteX15" fmla="*/ 989226 w 1313001"/>
                <a:gd name="connsiteY15" fmla="*/ 690248 h 1335403"/>
                <a:gd name="connsiteX16" fmla="*/ 1117312 w 1313001"/>
                <a:gd name="connsiteY16" fmla="*/ 0 h 1335403"/>
                <a:gd name="connsiteX17" fmla="*/ 1241841 w 1313001"/>
                <a:gd name="connsiteY17" fmla="*/ 0 h 1335403"/>
                <a:gd name="connsiteX18" fmla="*/ 1241841 w 1313001"/>
                <a:gd name="connsiteY18" fmla="*/ 483885 h 1335403"/>
                <a:gd name="connsiteX19" fmla="*/ 1313001 w 1313001"/>
                <a:gd name="connsiteY19" fmla="*/ 483885 h 1335403"/>
                <a:gd name="connsiteX20" fmla="*/ 1313001 w 1313001"/>
                <a:gd name="connsiteY20" fmla="*/ 1335403 h 1335403"/>
                <a:gd name="connsiteX21" fmla="*/ 0 w 1313001"/>
                <a:gd name="connsiteY21" fmla="*/ 1335403 h 1335403"/>
                <a:gd name="connsiteX22" fmla="*/ 0 w 1313001"/>
                <a:gd name="connsiteY22" fmla="*/ 903064 h 1335403"/>
                <a:gd name="connsiteX23" fmla="*/ 330998 w 1313001"/>
                <a:gd name="connsiteY23" fmla="*/ 547929 h 1335403"/>
                <a:gd name="connsiteX24" fmla="*/ 330998 w 1313001"/>
                <a:gd name="connsiteY24" fmla="*/ 894677 h 1335403"/>
                <a:gd name="connsiteX25" fmla="*/ 654179 w 1313001"/>
                <a:gd name="connsiteY25" fmla="*/ 547929 h 1335403"/>
                <a:gd name="connsiteX26" fmla="*/ 654179 w 1313001"/>
                <a:gd name="connsiteY26" fmla="*/ 903726 h 1335403"/>
                <a:gd name="connsiteX27" fmla="*/ 754399 w 1313001"/>
                <a:gd name="connsiteY27" fmla="*/ 903726 h 1335403"/>
                <a:gd name="connsiteX28" fmla="*/ 754399 w 1313001"/>
                <a:gd name="connsiteY28" fmla="*/ 483885 h 1335403"/>
                <a:gd name="connsiteX29" fmla="*/ 825561 w 1313001"/>
                <a:gd name="connsiteY29" fmla="*/ 483885 h 1335403"/>
                <a:gd name="connsiteX30" fmla="*/ 825561 w 1313001"/>
                <a:gd name="connsiteY30" fmla="*/ 135203 h 1335403"/>
                <a:gd name="connsiteX31" fmla="*/ 950090 w 1313001"/>
                <a:gd name="connsiteY31" fmla="*/ 135203 h 1335403"/>
                <a:gd name="connsiteX32" fmla="*/ 950090 w 1313001"/>
                <a:gd name="connsiteY32" fmla="*/ 483885 h 1335403"/>
                <a:gd name="connsiteX33" fmla="*/ 1117312 w 1313001"/>
                <a:gd name="connsiteY33" fmla="*/ 483885 h 133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13001" h="1335403">
                  <a:moveTo>
                    <a:pt x="1066909" y="942272"/>
                  </a:moveTo>
                  <a:lnTo>
                    <a:pt x="1066909" y="1088149"/>
                  </a:lnTo>
                  <a:lnTo>
                    <a:pt x="1141626" y="1088149"/>
                  </a:lnTo>
                  <a:lnTo>
                    <a:pt x="1141626" y="942272"/>
                  </a:lnTo>
                  <a:close/>
                  <a:moveTo>
                    <a:pt x="914509" y="942272"/>
                  </a:moveTo>
                  <a:lnTo>
                    <a:pt x="914509" y="1088149"/>
                  </a:lnTo>
                  <a:lnTo>
                    <a:pt x="989226" y="1088149"/>
                  </a:lnTo>
                  <a:lnTo>
                    <a:pt x="989226" y="942272"/>
                  </a:lnTo>
                  <a:close/>
                  <a:moveTo>
                    <a:pt x="1066909" y="690248"/>
                  </a:moveTo>
                  <a:lnTo>
                    <a:pt x="1066909" y="836125"/>
                  </a:lnTo>
                  <a:lnTo>
                    <a:pt x="1141626" y="836125"/>
                  </a:lnTo>
                  <a:lnTo>
                    <a:pt x="1141626" y="690248"/>
                  </a:lnTo>
                  <a:close/>
                  <a:moveTo>
                    <a:pt x="914509" y="690248"/>
                  </a:moveTo>
                  <a:lnTo>
                    <a:pt x="914509" y="836125"/>
                  </a:lnTo>
                  <a:lnTo>
                    <a:pt x="989226" y="836125"/>
                  </a:lnTo>
                  <a:lnTo>
                    <a:pt x="989226" y="690248"/>
                  </a:lnTo>
                  <a:close/>
                  <a:moveTo>
                    <a:pt x="1117312" y="0"/>
                  </a:moveTo>
                  <a:lnTo>
                    <a:pt x="1241841" y="0"/>
                  </a:lnTo>
                  <a:lnTo>
                    <a:pt x="1241841" y="483885"/>
                  </a:lnTo>
                  <a:lnTo>
                    <a:pt x="1313001" y="483885"/>
                  </a:lnTo>
                  <a:lnTo>
                    <a:pt x="1313001" y="1335403"/>
                  </a:lnTo>
                  <a:lnTo>
                    <a:pt x="0" y="1335403"/>
                  </a:lnTo>
                  <a:lnTo>
                    <a:pt x="0" y="903064"/>
                  </a:lnTo>
                  <a:lnTo>
                    <a:pt x="330998" y="547929"/>
                  </a:lnTo>
                  <a:lnTo>
                    <a:pt x="330998" y="894677"/>
                  </a:lnTo>
                  <a:lnTo>
                    <a:pt x="654179" y="547929"/>
                  </a:lnTo>
                  <a:lnTo>
                    <a:pt x="654179" y="903726"/>
                  </a:lnTo>
                  <a:lnTo>
                    <a:pt x="754399" y="903726"/>
                  </a:lnTo>
                  <a:lnTo>
                    <a:pt x="754399" y="483885"/>
                  </a:lnTo>
                  <a:lnTo>
                    <a:pt x="825561" y="483885"/>
                  </a:lnTo>
                  <a:lnTo>
                    <a:pt x="825561" y="135203"/>
                  </a:lnTo>
                  <a:lnTo>
                    <a:pt x="950090" y="135203"/>
                  </a:lnTo>
                  <a:lnTo>
                    <a:pt x="950090" y="483885"/>
                  </a:lnTo>
                  <a:lnTo>
                    <a:pt x="1117312" y="483885"/>
                  </a:lnTo>
                  <a:close/>
                </a:path>
              </a:pathLst>
            </a:custGeom>
            <a:solidFill>
              <a:srgbClr val="17375E"/>
            </a:solidFill>
            <a:ln w="3175" cap="flat" cmpd="sng" algn="ctr">
              <a:noFill/>
              <a:prstDash val="solid"/>
            </a:ln>
            <a:effectLst/>
          </p:spPr>
          <p:txBody>
            <a:bodyPr rtlCol="0" anchor="ct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645" name="TextBox 644">
              <a:extLst>
                <a:ext uri="{FF2B5EF4-FFF2-40B4-BE49-F238E27FC236}">
                  <a16:creationId xmlns:a16="http://schemas.microsoft.com/office/drawing/2014/main" id="{C0C4FA18-8E69-4227-8B9A-18D8A86042F9}"/>
                </a:ext>
              </a:extLst>
            </p:cNvPr>
            <p:cNvSpPr txBox="1"/>
            <p:nvPr/>
          </p:nvSpPr>
          <p:spPr>
            <a:xfrm>
              <a:off x="5489519" y="6858000"/>
              <a:ext cx="534687" cy="298526"/>
            </a:xfrm>
            <a:prstGeom prst="rect">
              <a:avLst/>
            </a:prstGeom>
            <a:noFill/>
          </p:spPr>
          <p:txBody>
            <a:bodyPr wrap="none" lIns="0" rIns="0" bIns="0" rtlCol="0">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Critical  Public</a:t>
              </a: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Facilities</a:t>
              </a:r>
            </a:p>
          </p:txBody>
        </p:sp>
      </p:grpSp>
      <p:grpSp>
        <p:nvGrpSpPr>
          <p:cNvPr id="641" name="Group 640">
            <a:extLst>
              <a:ext uri="{FF2B5EF4-FFF2-40B4-BE49-F238E27FC236}">
                <a16:creationId xmlns:a16="http://schemas.microsoft.com/office/drawing/2014/main" id="{DABEE07C-E517-49E2-A3C6-D0E30B5ED212}"/>
              </a:ext>
            </a:extLst>
          </p:cNvPr>
          <p:cNvGrpSpPr/>
          <p:nvPr/>
        </p:nvGrpSpPr>
        <p:grpSpPr>
          <a:xfrm>
            <a:off x="11075917" y="6162941"/>
            <a:ext cx="657233" cy="507229"/>
            <a:chOff x="5922599" y="6581668"/>
            <a:chExt cx="750760" cy="574858"/>
          </a:xfrm>
        </p:grpSpPr>
        <p:sp>
          <p:nvSpPr>
            <p:cNvPr id="642" name="Freeform 202">
              <a:extLst>
                <a:ext uri="{FF2B5EF4-FFF2-40B4-BE49-F238E27FC236}">
                  <a16:creationId xmlns:a16="http://schemas.microsoft.com/office/drawing/2014/main" id="{CF5F077A-73AD-4251-A9BB-58EF25BEADE9}"/>
                </a:ext>
              </a:extLst>
            </p:cNvPr>
            <p:cNvSpPr/>
            <p:nvPr/>
          </p:nvSpPr>
          <p:spPr>
            <a:xfrm>
              <a:off x="6155742" y="6581668"/>
              <a:ext cx="284475" cy="276332"/>
            </a:xfrm>
            <a:custGeom>
              <a:avLst/>
              <a:gdLst>
                <a:gd name="connsiteX0" fmla="*/ 932190 w 1864380"/>
                <a:gd name="connsiteY0" fmla="*/ 634509 h 1811013"/>
                <a:gd name="connsiteX1" fmla="*/ 1136774 w 1864380"/>
                <a:gd name="connsiteY1" fmla="*/ 855104 h 1811013"/>
                <a:gd name="connsiteX2" fmla="*/ 1011824 w 1864380"/>
                <a:gd name="connsiteY2" fmla="*/ 1058364 h 1811013"/>
                <a:gd name="connsiteX3" fmla="*/ 935613 w 1864380"/>
                <a:gd name="connsiteY3" fmla="*/ 1074954 h 1811013"/>
                <a:gd name="connsiteX4" fmla="*/ 990272 w 1864380"/>
                <a:gd name="connsiteY4" fmla="*/ 1081995 h 1811013"/>
                <a:gd name="connsiteX5" fmla="*/ 1220386 w 1864380"/>
                <a:gd name="connsiteY5" fmla="*/ 1442763 h 1811013"/>
                <a:gd name="connsiteX6" fmla="*/ 1220386 w 1864380"/>
                <a:gd name="connsiteY6" fmla="*/ 1811013 h 1811013"/>
                <a:gd name="connsiteX7" fmla="*/ 643994 w 1864380"/>
                <a:gd name="connsiteY7" fmla="*/ 1811013 h 1811013"/>
                <a:gd name="connsiteX8" fmla="*/ 643994 w 1864380"/>
                <a:gd name="connsiteY8" fmla="*/ 1442763 h 1811013"/>
                <a:gd name="connsiteX9" fmla="*/ 874109 w 1864380"/>
                <a:gd name="connsiteY9" fmla="*/ 1081995 h 1811013"/>
                <a:gd name="connsiteX10" fmla="*/ 928767 w 1864380"/>
                <a:gd name="connsiteY10" fmla="*/ 1074954 h 1811013"/>
                <a:gd name="connsiteX11" fmla="*/ 852557 w 1864380"/>
                <a:gd name="connsiteY11" fmla="*/ 1058364 h 1811013"/>
                <a:gd name="connsiteX12" fmla="*/ 727606 w 1864380"/>
                <a:gd name="connsiteY12" fmla="*/ 855104 h 1811013"/>
                <a:gd name="connsiteX13" fmla="*/ 932190 w 1864380"/>
                <a:gd name="connsiteY13" fmla="*/ 634509 h 1811013"/>
                <a:gd name="connsiteX14" fmla="*/ 932190 w 1864380"/>
                <a:gd name="connsiteY14" fmla="*/ 0 h 1811013"/>
                <a:gd name="connsiteX15" fmla="*/ 1864380 w 1864380"/>
                <a:gd name="connsiteY15" fmla="*/ 857473 h 1811013"/>
                <a:gd name="connsiteX16" fmla="*/ 1608880 w 1864380"/>
                <a:gd name="connsiteY16" fmla="*/ 857473 h 1811013"/>
                <a:gd name="connsiteX17" fmla="*/ 1616384 w 1864380"/>
                <a:gd name="connsiteY17" fmla="*/ 859984 h 1811013"/>
                <a:gd name="connsiteX18" fmla="*/ 1741334 w 1864380"/>
                <a:gd name="connsiteY18" fmla="*/ 1063244 h 1811013"/>
                <a:gd name="connsiteX19" fmla="*/ 1616384 w 1864380"/>
                <a:gd name="connsiteY19" fmla="*/ 1266504 h 1811013"/>
                <a:gd name="connsiteX20" fmla="*/ 1547019 w 1864380"/>
                <a:gd name="connsiteY20" fmla="*/ 1281604 h 1811013"/>
                <a:gd name="connsiteX21" fmla="*/ 1594832 w 1864380"/>
                <a:gd name="connsiteY21" fmla="*/ 1287763 h 1811013"/>
                <a:gd name="connsiteX22" fmla="*/ 1824946 w 1864380"/>
                <a:gd name="connsiteY22" fmla="*/ 1648531 h 1811013"/>
                <a:gd name="connsiteX23" fmla="*/ 1824946 w 1864380"/>
                <a:gd name="connsiteY23" fmla="*/ 1811013 h 1811013"/>
                <a:gd name="connsiteX24" fmla="*/ 1248554 w 1864380"/>
                <a:gd name="connsiteY24" fmla="*/ 1811013 h 1811013"/>
                <a:gd name="connsiteX25" fmla="*/ 1248554 w 1864380"/>
                <a:gd name="connsiteY25" fmla="*/ 1648531 h 1811013"/>
                <a:gd name="connsiteX26" fmla="*/ 1478669 w 1864380"/>
                <a:gd name="connsiteY26" fmla="*/ 1287763 h 1811013"/>
                <a:gd name="connsiteX27" fmla="*/ 1526482 w 1864380"/>
                <a:gd name="connsiteY27" fmla="*/ 1281604 h 1811013"/>
                <a:gd name="connsiteX28" fmla="*/ 1457117 w 1864380"/>
                <a:gd name="connsiteY28" fmla="*/ 1266504 h 1811013"/>
                <a:gd name="connsiteX29" fmla="*/ 1332166 w 1864380"/>
                <a:gd name="connsiteY29" fmla="*/ 1063244 h 1811013"/>
                <a:gd name="connsiteX30" fmla="*/ 1536750 w 1864380"/>
                <a:gd name="connsiteY30" fmla="*/ 842649 h 1811013"/>
                <a:gd name="connsiteX31" fmla="*/ 1577981 w 1864380"/>
                <a:gd name="connsiteY31" fmla="*/ 847131 h 1811013"/>
                <a:gd name="connsiteX32" fmla="*/ 1586834 w 1864380"/>
                <a:gd name="connsiteY32" fmla="*/ 850094 h 1811013"/>
                <a:gd name="connsiteX33" fmla="*/ 932190 w 1864380"/>
                <a:gd name="connsiteY33" fmla="*/ 247921 h 1811013"/>
                <a:gd name="connsiteX34" fmla="*/ 277547 w 1864380"/>
                <a:gd name="connsiteY34" fmla="*/ 850093 h 1811013"/>
                <a:gd name="connsiteX35" fmla="*/ 286400 w 1864380"/>
                <a:gd name="connsiteY35" fmla="*/ 847130 h 1811013"/>
                <a:gd name="connsiteX36" fmla="*/ 327631 w 1864380"/>
                <a:gd name="connsiteY36" fmla="*/ 842648 h 1811013"/>
                <a:gd name="connsiteX37" fmla="*/ 532215 w 1864380"/>
                <a:gd name="connsiteY37" fmla="*/ 1063243 h 1811013"/>
                <a:gd name="connsiteX38" fmla="*/ 407265 w 1864380"/>
                <a:gd name="connsiteY38" fmla="*/ 1266503 h 1811013"/>
                <a:gd name="connsiteX39" fmla="*/ 337900 w 1864380"/>
                <a:gd name="connsiteY39" fmla="*/ 1281603 h 1811013"/>
                <a:gd name="connsiteX40" fmla="*/ 385713 w 1864380"/>
                <a:gd name="connsiteY40" fmla="*/ 1287762 h 1811013"/>
                <a:gd name="connsiteX41" fmla="*/ 615827 w 1864380"/>
                <a:gd name="connsiteY41" fmla="*/ 1648530 h 1811013"/>
                <a:gd name="connsiteX42" fmla="*/ 615827 w 1864380"/>
                <a:gd name="connsiteY42" fmla="*/ 1811013 h 1811013"/>
                <a:gd name="connsiteX43" fmla="*/ 39435 w 1864380"/>
                <a:gd name="connsiteY43" fmla="*/ 1811013 h 1811013"/>
                <a:gd name="connsiteX44" fmla="*/ 39435 w 1864380"/>
                <a:gd name="connsiteY44" fmla="*/ 1648530 h 1811013"/>
                <a:gd name="connsiteX45" fmla="*/ 269550 w 1864380"/>
                <a:gd name="connsiteY45" fmla="*/ 1287762 h 1811013"/>
                <a:gd name="connsiteX46" fmla="*/ 317363 w 1864380"/>
                <a:gd name="connsiteY46" fmla="*/ 1281603 h 1811013"/>
                <a:gd name="connsiteX47" fmla="*/ 247998 w 1864380"/>
                <a:gd name="connsiteY47" fmla="*/ 1266503 h 1811013"/>
                <a:gd name="connsiteX48" fmla="*/ 123047 w 1864380"/>
                <a:gd name="connsiteY48" fmla="*/ 1063243 h 1811013"/>
                <a:gd name="connsiteX49" fmla="*/ 247998 w 1864380"/>
                <a:gd name="connsiteY49" fmla="*/ 859984 h 1811013"/>
                <a:gd name="connsiteX50" fmla="*/ 255498 w 1864380"/>
                <a:gd name="connsiteY50" fmla="*/ 857473 h 1811013"/>
                <a:gd name="connsiteX51" fmla="*/ 0 w 1864380"/>
                <a:gd name="connsiteY51" fmla="*/ 857473 h 181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864380" h="1811013">
                  <a:moveTo>
                    <a:pt x="932190" y="634509"/>
                  </a:moveTo>
                  <a:cubicBezTo>
                    <a:pt x="1045179" y="634509"/>
                    <a:pt x="1136774" y="733273"/>
                    <a:pt x="1136774" y="855104"/>
                  </a:cubicBezTo>
                  <a:cubicBezTo>
                    <a:pt x="1136774" y="946477"/>
                    <a:pt x="1085252" y="1024875"/>
                    <a:pt x="1011824" y="1058364"/>
                  </a:cubicBezTo>
                  <a:lnTo>
                    <a:pt x="935613" y="1074954"/>
                  </a:lnTo>
                  <a:lnTo>
                    <a:pt x="990272" y="1081995"/>
                  </a:lnTo>
                  <a:cubicBezTo>
                    <a:pt x="1121598" y="1116333"/>
                    <a:pt x="1220386" y="1264806"/>
                    <a:pt x="1220386" y="1442763"/>
                  </a:cubicBezTo>
                  <a:lnTo>
                    <a:pt x="1220386" y="1811013"/>
                  </a:lnTo>
                  <a:lnTo>
                    <a:pt x="643994" y="1811013"/>
                  </a:lnTo>
                  <a:lnTo>
                    <a:pt x="643994" y="1442763"/>
                  </a:lnTo>
                  <a:cubicBezTo>
                    <a:pt x="643994" y="1264806"/>
                    <a:pt x="742783" y="1116333"/>
                    <a:pt x="874109" y="1081995"/>
                  </a:cubicBezTo>
                  <a:lnTo>
                    <a:pt x="928767" y="1074954"/>
                  </a:lnTo>
                  <a:lnTo>
                    <a:pt x="852557" y="1058364"/>
                  </a:lnTo>
                  <a:cubicBezTo>
                    <a:pt x="779128" y="1024875"/>
                    <a:pt x="727606" y="946477"/>
                    <a:pt x="727606" y="855104"/>
                  </a:cubicBezTo>
                  <a:cubicBezTo>
                    <a:pt x="727606" y="733273"/>
                    <a:pt x="819201" y="634509"/>
                    <a:pt x="932190" y="634509"/>
                  </a:cubicBezTo>
                  <a:close/>
                  <a:moveTo>
                    <a:pt x="932190" y="0"/>
                  </a:moveTo>
                  <a:lnTo>
                    <a:pt x="1864380" y="857473"/>
                  </a:lnTo>
                  <a:lnTo>
                    <a:pt x="1608880" y="857473"/>
                  </a:lnTo>
                  <a:lnTo>
                    <a:pt x="1616384" y="859984"/>
                  </a:lnTo>
                  <a:cubicBezTo>
                    <a:pt x="1689812" y="893473"/>
                    <a:pt x="1741334" y="971871"/>
                    <a:pt x="1741334" y="1063244"/>
                  </a:cubicBezTo>
                  <a:cubicBezTo>
                    <a:pt x="1741334" y="1154617"/>
                    <a:pt x="1689812" y="1233015"/>
                    <a:pt x="1616384" y="1266504"/>
                  </a:cubicBezTo>
                  <a:lnTo>
                    <a:pt x="1547019" y="1281604"/>
                  </a:lnTo>
                  <a:lnTo>
                    <a:pt x="1594832" y="1287763"/>
                  </a:lnTo>
                  <a:cubicBezTo>
                    <a:pt x="1726158" y="1322101"/>
                    <a:pt x="1824946" y="1470574"/>
                    <a:pt x="1824946" y="1648531"/>
                  </a:cubicBezTo>
                  <a:lnTo>
                    <a:pt x="1824946" y="1811013"/>
                  </a:lnTo>
                  <a:lnTo>
                    <a:pt x="1248554" y="1811013"/>
                  </a:lnTo>
                  <a:lnTo>
                    <a:pt x="1248554" y="1648531"/>
                  </a:lnTo>
                  <a:cubicBezTo>
                    <a:pt x="1248554" y="1470574"/>
                    <a:pt x="1347343" y="1322101"/>
                    <a:pt x="1478669" y="1287763"/>
                  </a:cubicBezTo>
                  <a:lnTo>
                    <a:pt x="1526482" y="1281604"/>
                  </a:lnTo>
                  <a:lnTo>
                    <a:pt x="1457117" y="1266504"/>
                  </a:lnTo>
                  <a:cubicBezTo>
                    <a:pt x="1383688" y="1233015"/>
                    <a:pt x="1332166" y="1154617"/>
                    <a:pt x="1332166" y="1063244"/>
                  </a:cubicBezTo>
                  <a:cubicBezTo>
                    <a:pt x="1332166" y="941413"/>
                    <a:pt x="1423761" y="842649"/>
                    <a:pt x="1536750" y="842649"/>
                  </a:cubicBezTo>
                  <a:cubicBezTo>
                    <a:pt x="1550874" y="842649"/>
                    <a:pt x="1564663" y="844192"/>
                    <a:pt x="1577981" y="847131"/>
                  </a:cubicBezTo>
                  <a:lnTo>
                    <a:pt x="1586834" y="850094"/>
                  </a:lnTo>
                  <a:lnTo>
                    <a:pt x="932190" y="247921"/>
                  </a:lnTo>
                  <a:lnTo>
                    <a:pt x="277547" y="850093"/>
                  </a:lnTo>
                  <a:lnTo>
                    <a:pt x="286400" y="847130"/>
                  </a:lnTo>
                  <a:cubicBezTo>
                    <a:pt x="299718" y="844191"/>
                    <a:pt x="313508" y="842648"/>
                    <a:pt x="327631" y="842648"/>
                  </a:cubicBezTo>
                  <a:cubicBezTo>
                    <a:pt x="440620" y="842648"/>
                    <a:pt x="532215" y="941412"/>
                    <a:pt x="532215" y="1063243"/>
                  </a:cubicBezTo>
                  <a:cubicBezTo>
                    <a:pt x="532215" y="1154616"/>
                    <a:pt x="480693" y="1233014"/>
                    <a:pt x="407265" y="1266503"/>
                  </a:cubicBezTo>
                  <a:lnTo>
                    <a:pt x="337900" y="1281603"/>
                  </a:lnTo>
                  <a:lnTo>
                    <a:pt x="385713" y="1287762"/>
                  </a:lnTo>
                  <a:cubicBezTo>
                    <a:pt x="517039" y="1322100"/>
                    <a:pt x="615827" y="1470573"/>
                    <a:pt x="615827" y="1648530"/>
                  </a:cubicBezTo>
                  <a:lnTo>
                    <a:pt x="615827" y="1811013"/>
                  </a:lnTo>
                  <a:lnTo>
                    <a:pt x="39435" y="1811013"/>
                  </a:lnTo>
                  <a:lnTo>
                    <a:pt x="39435" y="1648530"/>
                  </a:lnTo>
                  <a:cubicBezTo>
                    <a:pt x="39435" y="1470573"/>
                    <a:pt x="138224" y="1322100"/>
                    <a:pt x="269550" y="1287762"/>
                  </a:cubicBezTo>
                  <a:lnTo>
                    <a:pt x="317363" y="1281603"/>
                  </a:lnTo>
                  <a:lnTo>
                    <a:pt x="247998" y="1266503"/>
                  </a:lnTo>
                  <a:cubicBezTo>
                    <a:pt x="174569" y="1233014"/>
                    <a:pt x="123047" y="1154616"/>
                    <a:pt x="123047" y="1063243"/>
                  </a:cubicBezTo>
                  <a:cubicBezTo>
                    <a:pt x="123047" y="971870"/>
                    <a:pt x="174569" y="893472"/>
                    <a:pt x="247998" y="859984"/>
                  </a:cubicBezTo>
                  <a:lnTo>
                    <a:pt x="255498" y="857473"/>
                  </a:lnTo>
                  <a:lnTo>
                    <a:pt x="0" y="857473"/>
                  </a:lnTo>
                  <a:close/>
                </a:path>
              </a:pathLst>
            </a:custGeom>
            <a:solidFill>
              <a:srgbClr val="1F497D">
                <a:lumMod val="75000"/>
              </a:srgbClr>
            </a:solidFill>
            <a:ln w="3175" cap="flat" cmpd="sng" algn="ctr">
              <a:noFill/>
              <a:prstDash val="solid"/>
            </a:ln>
            <a:effectLst/>
          </p:spPr>
          <p:txBody>
            <a:bodyPr rtlCol="0" anchor="ctr"/>
            <a:lstStyle/>
            <a:p>
              <a:pPr marL="0" marR="0" lvl="0" indent="0" algn="ctr" defTabSz="8068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643" name="TextBox 642">
              <a:extLst>
                <a:ext uri="{FF2B5EF4-FFF2-40B4-BE49-F238E27FC236}">
                  <a16:creationId xmlns:a16="http://schemas.microsoft.com/office/drawing/2014/main" id="{2A0B36DB-CF15-4DC3-95EC-43FE2FD43103}"/>
                </a:ext>
              </a:extLst>
            </p:cNvPr>
            <p:cNvSpPr txBox="1"/>
            <p:nvPr/>
          </p:nvSpPr>
          <p:spPr>
            <a:xfrm>
              <a:off x="5922599" y="6858000"/>
              <a:ext cx="750760" cy="298526"/>
            </a:xfrm>
            <a:prstGeom prst="rect">
              <a:avLst/>
            </a:prstGeom>
            <a:noFill/>
          </p:spPr>
          <p:txBody>
            <a:bodyPr wrap="none" lIns="0" rIns="0" bIns="0" rtlCol="0">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Temporary  Roofing</a:t>
              </a:r>
            </a:p>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0" i="0" u="none" strike="noStrike" kern="0" cap="none" spc="0" normalizeH="0" baseline="0" noProof="0" dirty="0">
                  <a:ln>
                    <a:noFill/>
                  </a:ln>
                  <a:solidFill>
                    <a:prstClr val="black"/>
                  </a:solidFill>
                  <a:effectLst/>
                  <a:uLnTx/>
                  <a:uFillTx/>
                  <a:latin typeface="Arial Narrow" panose="020B0606020202030204" pitchFamily="34" charset="0"/>
                  <a:ea typeface="+mn-ea"/>
                  <a:cs typeface="+mn-cs"/>
                </a:rPr>
                <a:t>“Blue  Roofs”</a:t>
              </a:r>
            </a:p>
          </p:txBody>
        </p:sp>
      </p:grpSp>
      <p:cxnSp>
        <p:nvCxnSpPr>
          <p:cNvPr id="653" name="Straight Connector 652">
            <a:extLst>
              <a:ext uri="{FF2B5EF4-FFF2-40B4-BE49-F238E27FC236}">
                <a16:creationId xmlns:a16="http://schemas.microsoft.com/office/drawing/2014/main" id="{851D1E7F-22F9-4042-A274-0DB8F2A76D6A}"/>
              </a:ext>
            </a:extLst>
          </p:cNvPr>
          <p:cNvCxnSpPr/>
          <p:nvPr/>
        </p:nvCxnSpPr>
        <p:spPr>
          <a:xfrm>
            <a:off x="8061960" y="857491"/>
            <a:ext cx="0" cy="5930153"/>
          </a:xfrm>
          <a:prstGeom prst="line">
            <a:avLst/>
          </a:prstGeom>
          <a:noFill/>
          <a:ln w="3175" cap="flat" cmpd="sng" algn="ctr">
            <a:solidFill>
              <a:sysClr val="windowText" lastClr="000000"/>
            </a:solidFill>
            <a:prstDash val="solid"/>
          </a:ln>
          <a:effectLst/>
        </p:spPr>
      </p:cxnSp>
      <p:cxnSp>
        <p:nvCxnSpPr>
          <p:cNvPr id="654" name="Straight Connector 653">
            <a:extLst>
              <a:ext uri="{FF2B5EF4-FFF2-40B4-BE49-F238E27FC236}">
                <a16:creationId xmlns:a16="http://schemas.microsoft.com/office/drawing/2014/main" id="{73862F44-01C8-4738-8E64-6F41916BC648}"/>
              </a:ext>
            </a:extLst>
          </p:cNvPr>
          <p:cNvCxnSpPr/>
          <p:nvPr/>
        </p:nvCxnSpPr>
        <p:spPr>
          <a:xfrm>
            <a:off x="3855720" y="857491"/>
            <a:ext cx="0" cy="5930153"/>
          </a:xfrm>
          <a:prstGeom prst="line">
            <a:avLst/>
          </a:prstGeom>
          <a:noFill/>
          <a:ln w="3175" cap="flat" cmpd="sng" algn="ctr">
            <a:solidFill>
              <a:sysClr val="windowText" lastClr="000000"/>
            </a:solidFill>
            <a:prstDash val="solid"/>
          </a:ln>
          <a:effectLst/>
        </p:spPr>
      </p:cxnSp>
      <p:cxnSp>
        <p:nvCxnSpPr>
          <p:cNvPr id="3" name="Straight Connector 2">
            <a:extLst>
              <a:ext uri="{FF2B5EF4-FFF2-40B4-BE49-F238E27FC236}">
                <a16:creationId xmlns:a16="http://schemas.microsoft.com/office/drawing/2014/main" id="{9415D0A4-91FF-4546-A6EA-7C5DAC9F46A1}"/>
              </a:ext>
            </a:extLst>
          </p:cNvPr>
          <p:cNvCxnSpPr>
            <a:cxnSpLocks/>
          </p:cNvCxnSpPr>
          <p:nvPr/>
        </p:nvCxnSpPr>
        <p:spPr>
          <a:xfrm>
            <a:off x="8139432" y="6774898"/>
            <a:ext cx="731520" cy="0"/>
          </a:xfrm>
          <a:prstGeom prst="line">
            <a:avLst/>
          </a:prstGeom>
          <a:ln w="3175">
            <a:solidFill>
              <a:srgbClr val="C00000"/>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93" name="TextBox 292">
            <a:extLst>
              <a:ext uri="{FF2B5EF4-FFF2-40B4-BE49-F238E27FC236}">
                <a16:creationId xmlns:a16="http://schemas.microsoft.com/office/drawing/2014/main" id="{7B835EEB-BBB2-4439-8127-0D53366F4272}"/>
              </a:ext>
            </a:extLst>
          </p:cNvPr>
          <p:cNvSpPr txBox="1"/>
          <p:nvPr/>
        </p:nvSpPr>
        <p:spPr>
          <a:xfrm>
            <a:off x="8242950" y="6718115"/>
            <a:ext cx="446597" cy="108619"/>
          </a:xfrm>
          <a:prstGeom prst="rect">
            <a:avLst/>
          </a:prstGeom>
          <a:solidFill>
            <a:schemeClr val="tx2"/>
          </a:solidFill>
        </p:spPr>
        <p:txBody>
          <a:bodyPr wrap="none" lIns="45720" tIns="0" rIns="45720" bIns="0" rtlCol="0">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1" i="0" u="none" strike="noStrike" kern="0" cap="none" spc="0" normalizeH="0" baseline="0" noProof="0" dirty="0">
                <a:ln>
                  <a:noFill/>
                </a:ln>
                <a:solidFill>
                  <a:srgbClr val="C00000"/>
                </a:solidFill>
                <a:effectLst/>
                <a:uLnTx/>
                <a:uFillTx/>
                <a:latin typeface="Arial Narrow" panose="020B0606020202030204" pitchFamily="34" charset="0"/>
                <a:ea typeface="+mn-ea"/>
                <a:cs typeface="+mn-cs"/>
              </a:rPr>
              <a:t>Response</a:t>
            </a:r>
          </a:p>
        </p:txBody>
      </p:sp>
      <p:cxnSp>
        <p:nvCxnSpPr>
          <p:cNvPr id="294" name="Straight Connector 293">
            <a:extLst>
              <a:ext uri="{FF2B5EF4-FFF2-40B4-BE49-F238E27FC236}">
                <a16:creationId xmlns:a16="http://schemas.microsoft.com/office/drawing/2014/main" id="{7648BC73-149D-4B4B-BD95-80D54D62CAFE}"/>
              </a:ext>
            </a:extLst>
          </p:cNvPr>
          <p:cNvCxnSpPr>
            <a:cxnSpLocks/>
          </p:cNvCxnSpPr>
          <p:nvPr/>
        </p:nvCxnSpPr>
        <p:spPr>
          <a:xfrm>
            <a:off x="9014888" y="6772424"/>
            <a:ext cx="2697480" cy="0"/>
          </a:xfrm>
          <a:prstGeom prst="line">
            <a:avLst/>
          </a:prstGeom>
          <a:ln w="3175">
            <a:solidFill>
              <a:srgbClr val="17375E"/>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95" name="TextBox 294">
            <a:extLst>
              <a:ext uri="{FF2B5EF4-FFF2-40B4-BE49-F238E27FC236}">
                <a16:creationId xmlns:a16="http://schemas.microsoft.com/office/drawing/2014/main" id="{6134AFAE-E7C6-466A-BB60-74203F4A9FEB}"/>
              </a:ext>
            </a:extLst>
          </p:cNvPr>
          <p:cNvSpPr txBox="1"/>
          <p:nvPr/>
        </p:nvSpPr>
        <p:spPr>
          <a:xfrm>
            <a:off x="9893471" y="6718115"/>
            <a:ext cx="940322" cy="108619"/>
          </a:xfrm>
          <a:prstGeom prst="rect">
            <a:avLst/>
          </a:prstGeom>
          <a:solidFill>
            <a:schemeClr val="tx2"/>
          </a:solidFill>
        </p:spPr>
        <p:txBody>
          <a:bodyPr wrap="none" lIns="45720" tIns="0" rIns="45720" bIns="0" rtlCol="0">
            <a:sp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sz="706" b="1" i="0" u="none" strike="noStrike" kern="0" cap="none" spc="0" normalizeH="0" baseline="0" noProof="0" dirty="0">
                <a:ln>
                  <a:noFill/>
                </a:ln>
                <a:solidFill>
                  <a:srgbClr val="17375E"/>
                </a:solidFill>
                <a:effectLst/>
                <a:uLnTx/>
                <a:uFillTx/>
                <a:latin typeface="Arial Narrow" panose="020B0606020202030204" pitchFamily="34" charset="0"/>
                <a:ea typeface="+mn-ea"/>
                <a:cs typeface="+mn-cs"/>
              </a:rPr>
              <a:t>“Short-Term”  Recovery</a:t>
            </a:r>
          </a:p>
        </p:txBody>
      </p:sp>
      <p:sp>
        <p:nvSpPr>
          <p:cNvPr id="2" name="TextBox 1">
            <a:extLst>
              <a:ext uri="{FF2B5EF4-FFF2-40B4-BE49-F238E27FC236}">
                <a16:creationId xmlns:a16="http://schemas.microsoft.com/office/drawing/2014/main" id="{8ADA8159-8334-84E0-843A-D4E7F9043C65}"/>
              </a:ext>
            </a:extLst>
          </p:cNvPr>
          <p:cNvSpPr txBox="1"/>
          <p:nvPr/>
        </p:nvSpPr>
        <p:spPr>
          <a:xfrm>
            <a:off x="8251307" y="916300"/>
            <a:ext cx="35260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Emergency Management</a:t>
            </a:r>
          </a:p>
        </p:txBody>
      </p:sp>
      <p:sp>
        <p:nvSpPr>
          <p:cNvPr id="4" name="TextBox 3">
            <a:extLst>
              <a:ext uri="{FF2B5EF4-FFF2-40B4-BE49-F238E27FC236}">
                <a16:creationId xmlns:a16="http://schemas.microsoft.com/office/drawing/2014/main" id="{86FD875A-DD22-4B9C-3C30-F5BC519BCFFC}"/>
              </a:ext>
            </a:extLst>
          </p:cNvPr>
          <p:cNvSpPr txBox="1"/>
          <p:nvPr/>
        </p:nvSpPr>
        <p:spPr>
          <a:xfrm>
            <a:off x="4357173" y="892999"/>
            <a:ext cx="35260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Navigation/Coastal</a:t>
            </a:r>
          </a:p>
        </p:txBody>
      </p:sp>
      <p:sp>
        <p:nvSpPr>
          <p:cNvPr id="5" name="TextBox 4">
            <a:extLst>
              <a:ext uri="{FF2B5EF4-FFF2-40B4-BE49-F238E27FC236}">
                <a16:creationId xmlns:a16="http://schemas.microsoft.com/office/drawing/2014/main" id="{6B2453A3-44C6-F75B-3773-B9A12FAF9A88}"/>
              </a:ext>
            </a:extLst>
          </p:cNvPr>
          <p:cNvSpPr txBox="1"/>
          <p:nvPr/>
        </p:nvSpPr>
        <p:spPr>
          <a:xfrm>
            <a:off x="167324" y="901402"/>
            <a:ext cx="35260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Geospatial Support</a:t>
            </a:r>
          </a:p>
        </p:txBody>
      </p:sp>
      <p:pic>
        <p:nvPicPr>
          <p:cNvPr id="9" name="Picture 8" descr="A picture containing text, outdoor, mountain, nature&#10;&#10;Description automatically generated">
            <a:extLst>
              <a:ext uri="{FF2B5EF4-FFF2-40B4-BE49-F238E27FC236}">
                <a16:creationId xmlns:a16="http://schemas.microsoft.com/office/drawing/2014/main" id="{EBBA79E7-D55C-6359-2A4A-0617208B5827}"/>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110944" y="1351439"/>
            <a:ext cx="3762900" cy="1631632"/>
          </a:xfrm>
          <a:prstGeom prst="rect">
            <a:avLst/>
          </a:prstGeom>
          <a:ln>
            <a:solidFill>
              <a:schemeClr val="tx1"/>
            </a:solidFill>
          </a:ln>
        </p:spPr>
      </p:pic>
      <p:sp>
        <p:nvSpPr>
          <p:cNvPr id="10" name="Rectangle 9">
            <a:extLst>
              <a:ext uri="{FF2B5EF4-FFF2-40B4-BE49-F238E27FC236}">
                <a16:creationId xmlns:a16="http://schemas.microsoft.com/office/drawing/2014/main" id="{38DA711E-4CFA-5FDC-2467-9F4AE28AEF21}"/>
              </a:ext>
            </a:extLst>
          </p:cNvPr>
          <p:cNvSpPr>
            <a:spLocks noChangeArrowheads="1"/>
          </p:cNvSpPr>
          <p:nvPr/>
        </p:nvSpPr>
        <p:spPr bwMode="auto">
          <a:xfrm>
            <a:off x="4110944" y="1376170"/>
            <a:ext cx="3754343" cy="729983"/>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r" defTabSz="806867" rtl="0" eaLnBrk="1" fontAlgn="auto" latinLnBrk="0" hangingPunct="1">
              <a:lnSpc>
                <a:spcPct val="100000"/>
              </a:lnSpc>
              <a:spcBef>
                <a:spcPts val="0"/>
              </a:spcBef>
              <a:spcAft>
                <a:spcPts val="0"/>
              </a:spcAft>
              <a:buClrTx/>
              <a:buSzTx/>
              <a:buFontTx/>
              <a:buNone/>
              <a:tabLst/>
              <a:defRPr/>
            </a:pPr>
            <a:r>
              <a:rPr kumimoji="0" lang="en-US" altLang="en-US" sz="882"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rPr>
              <a:t>Newport Bay Harbor Dredging Project</a:t>
            </a:r>
          </a:p>
          <a:p>
            <a:pPr marL="0" marR="0" lvl="0" indent="0" algn="r" defTabSz="806867" rtl="0" eaLnBrk="1" fontAlgn="auto" latinLnBrk="0" hangingPunct="1">
              <a:lnSpc>
                <a:spcPct val="100000"/>
              </a:lnSpc>
              <a:spcBef>
                <a:spcPts val="0"/>
              </a:spcBef>
              <a:spcAft>
                <a:spcPts val="0"/>
              </a:spcAft>
              <a:buClrTx/>
              <a:buSzTx/>
              <a:buFontTx/>
              <a:buNone/>
              <a:tabLst/>
              <a:defRPr/>
            </a:pPr>
            <a:endParaRPr kumimoji="0" lang="en-US" altLang="en-US" sz="706"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pic>
        <p:nvPicPr>
          <p:cNvPr id="13" name="Picture 12">
            <a:extLst>
              <a:ext uri="{FF2B5EF4-FFF2-40B4-BE49-F238E27FC236}">
                <a16:creationId xmlns:a16="http://schemas.microsoft.com/office/drawing/2014/main" id="{768FDC52-1DDD-AD9F-B6AB-E0C2DE50CC49}"/>
              </a:ext>
            </a:extLst>
          </p:cNvPr>
          <p:cNvPicPr>
            <a:picLocks noChangeAspect="1"/>
          </p:cNvPicPr>
          <p:nvPr/>
        </p:nvPicPr>
        <p:blipFill>
          <a:blip r:embed="rId4"/>
          <a:stretch>
            <a:fillRect/>
          </a:stretch>
        </p:blipFill>
        <p:spPr>
          <a:xfrm>
            <a:off x="552143" y="1341762"/>
            <a:ext cx="2840529" cy="1592820"/>
          </a:xfrm>
          <a:prstGeom prst="rect">
            <a:avLst/>
          </a:prstGeom>
          <a:ln>
            <a:solidFill>
              <a:schemeClr val="tx1"/>
            </a:solidFill>
          </a:ln>
        </p:spPr>
      </p:pic>
      <p:pic>
        <p:nvPicPr>
          <p:cNvPr id="8" name="Picture 7" descr="Graphical user interface, application, map&#10;&#10;Description automatically generated">
            <a:extLst>
              <a:ext uri="{FF2B5EF4-FFF2-40B4-BE49-F238E27FC236}">
                <a16:creationId xmlns:a16="http://schemas.microsoft.com/office/drawing/2014/main" id="{9F78D90A-EE75-1EE8-F9BC-289DE1AAEC39}"/>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64912" y="3626001"/>
            <a:ext cx="1764995" cy="982100"/>
          </a:xfrm>
          <a:prstGeom prst="rect">
            <a:avLst/>
          </a:prstGeom>
          <a:ln>
            <a:solidFill>
              <a:schemeClr val="tx1"/>
            </a:solidFill>
          </a:ln>
        </p:spPr>
      </p:pic>
      <p:pic>
        <p:nvPicPr>
          <p:cNvPr id="12" name="Picture 11" descr="Map&#10;&#10;Description automatically generated">
            <a:extLst>
              <a:ext uri="{FF2B5EF4-FFF2-40B4-BE49-F238E27FC236}">
                <a16:creationId xmlns:a16="http://schemas.microsoft.com/office/drawing/2014/main" id="{0EC8C614-535E-BE7D-0F6D-BD5E8DEE2538}"/>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259215" y="4673201"/>
            <a:ext cx="1764995" cy="1022955"/>
          </a:xfrm>
          <a:prstGeom prst="rect">
            <a:avLst/>
          </a:prstGeom>
          <a:ln>
            <a:solidFill>
              <a:schemeClr val="tx1"/>
            </a:solidFill>
          </a:ln>
        </p:spPr>
      </p:pic>
      <p:pic>
        <p:nvPicPr>
          <p:cNvPr id="15" name="Picture 14" descr="Map&#10;&#10;Description automatically generated">
            <a:extLst>
              <a:ext uri="{FF2B5EF4-FFF2-40B4-BE49-F238E27FC236}">
                <a16:creationId xmlns:a16="http://schemas.microsoft.com/office/drawing/2014/main" id="{D88A54C0-2179-E7FC-051C-D173DE15C52C}"/>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259216" y="5766477"/>
            <a:ext cx="1764994" cy="1022955"/>
          </a:xfrm>
          <a:prstGeom prst="rect">
            <a:avLst/>
          </a:prstGeom>
          <a:ln>
            <a:solidFill>
              <a:schemeClr val="tx1"/>
            </a:solidFill>
          </a:ln>
        </p:spPr>
      </p:pic>
      <p:sp>
        <p:nvSpPr>
          <p:cNvPr id="16" name="Text Box 3">
            <a:extLst>
              <a:ext uri="{FF2B5EF4-FFF2-40B4-BE49-F238E27FC236}">
                <a16:creationId xmlns:a16="http://schemas.microsoft.com/office/drawing/2014/main" id="{A92EE4A8-0859-BD66-98B3-4C5A5FEBE8A4}"/>
              </a:ext>
            </a:extLst>
          </p:cNvPr>
          <p:cNvSpPr txBox="1">
            <a:spLocks noChangeArrowheads="1"/>
          </p:cNvSpPr>
          <p:nvPr/>
        </p:nvSpPr>
        <p:spPr bwMode="auto">
          <a:xfrm>
            <a:off x="2306813" y="4808504"/>
            <a:ext cx="1309036" cy="298684"/>
          </a:xfrm>
          <a:prstGeom prst="rect">
            <a:avLst/>
          </a:prstGeom>
          <a:noFill/>
          <a:ln w="9525">
            <a:noFill/>
            <a:miter lim="800000"/>
            <a:headEnd/>
            <a:tailEnd/>
          </a:ln>
        </p:spPr>
        <p:txBody>
          <a:bodyPr wrap="square" lIns="0" tIns="161365"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2" b="1" i="0" u="none" strike="noStrike" kern="1200" cap="none" spc="0" normalizeH="0" baseline="0" noProof="0" dirty="0">
                <a:ln>
                  <a:noFill/>
                </a:ln>
                <a:solidFill>
                  <a:srgbClr val="000000"/>
                </a:solidFill>
                <a:effectLst/>
                <a:uLnTx/>
                <a:uFillTx/>
                <a:latin typeface="Arial" pitchFamily="34" charset="0"/>
                <a:ea typeface="+mn-ea"/>
                <a:cs typeface="+mn-cs"/>
              </a:rPr>
              <a:t>Whittier Narrows Dam</a:t>
            </a:r>
          </a:p>
        </p:txBody>
      </p:sp>
      <p:sp>
        <p:nvSpPr>
          <p:cNvPr id="17" name="Text Box 3">
            <a:extLst>
              <a:ext uri="{FF2B5EF4-FFF2-40B4-BE49-F238E27FC236}">
                <a16:creationId xmlns:a16="http://schemas.microsoft.com/office/drawing/2014/main" id="{4B7E67D9-0D57-FA8E-2DB4-177BFB553E19}"/>
              </a:ext>
            </a:extLst>
          </p:cNvPr>
          <p:cNvSpPr txBox="1">
            <a:spLocks noChangeArrowheads="1"/>
          </p:cNvSpPr>
          <p:nvPr/>
        </p:nvSpPr>
        <p:spPr bwMode="auto">
          <a:xfrm>
            <a:off x="2264081" y="5964889"/>
            <a:ext cx="1482302" cy="298684"/>
          </a:xfrm>
          <a:prstGeom prst="rect">
            <a:avLst/>
          </a:prstGeom>
          <a:noFill/>
          <a:ln w="9525">
            <a:noFill/>
            <a:miter lim="800000"/>
            <a:headEnd/>
            <a:tailEnd/>
          </a:ln>
        </p:spPr>
        <p:txBody>
          <a:bodyPr wrap="square" lIns="0" tIns="161365"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2" b="1" i="0" u="none" strike="noStrike" kern="1200" cap="none" spc="0" normalizeH="0" baseline="0" noProof="0" dirty="0">
                <a:ln>
                  <a:noFill/>
                </a:ln>
                <a:solidFill>
                  <a:srgbClr val="000000"/>
                </a:solidFill>
                <a:effectLst/>
                <a:uLnTx/>
                <a:uFillTx/>
                <a:latin typeface="Arial" pitchFamily="34" charset="0"/>
                <a:ea typeface="+mn-ea"/>
                <a:cs typeface="+mn-cs"/>
              </a:rPr>
              <a:t>Active Wildfires Dashboard</a:t>
            </a:r>
          </a:p>
        </p:txBody>
      </p:sp>
      <p:sp>
        <p:nvSpPr>
          <p:cNvPr id="18" name="Text Box 3">
            <a:extLst>
              <a:ext uri="{FF2B5EF4-FFF2-40B4-BE49-F238E27FC236}">
                <a16:creationId xmlns:a16="http://schemas.microsoft.com/office/drawing/2014/main" id="{B3F320D2-68DE-5804-BB05-05F2AF5AD4B5}"/>
              </a:ext>
            </a:extLst>
          </p:cNvPr>
          <p:cNvSpPr txBox="1">
            <a:spLocks noChangeArrowheads="1"/>
          </p:cNvSpPr>
          <p:nvPr/>
        </p:nvSpPr>
        <p:spPr bwMode="auto">
          <a:xfrm>
            <a:off x="2274764" y="3743315"/>
            <a:ext cx="1460935" cy="298684"/>
          </a:xfrm>
          <a:prstGeom prst="rect">
            <a:avLst/>
          </a:prstGeom>
          <a:noFill/>
          <a:ln w="9525">
            <a:noFill/>
            <a:miter lim="800000"/>
            <a:headEnd/>
            <a:tailEnd/>
          </a:ln>
        </p:spPr>
        <p:txBody>
          <a:bodyPr wrap="square" lIns="0" tIns="161365"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2" b="1" i="0" u="none" strike="noStrike" kern="1200" cap="none" spc="0" normalizeH="0" baseline="0" noProof="0" dirty="0">
                <a:ln>
                  <a:noFill/>
                </a:ln>
                <a:solidFill>
                  <a:srgbClr val="000000"/>
                </a:solidFill>
                <a:effectLst/>
                <a:uLnTx/>
                <a:uFillTx/>
                <a:latin typeface="Arial" pitchFamily="34" charset="0"/>
                <a:ea typeface="+mn-ea"/>
                <a:cs typeface="+mn-cs"/>
              </a:rPr>
              <a:t>Web maps for SPL Projects</a:t>
            </a:r>
          </a:p>
        </p:txBody>
      </p:sp>
      <p:sp>
        <p:nvSpPr>
          <p:cNvPr id="6" name="Text Box 3">
            <a:extLst>
              <a:ext uri="{FF2B5EF4-FFF2-40B4-BE49-F238E27FC236}">
                <a16:creationId xmlns:a16="http://schemas.microsoft.com/office/drawing/2014/main" id="{D01C782F-4A38-ED42-B7D4-3DE01C35D6D8}"/>
              </a:ext>
            </a:extLst>
          </p:cNvPr>
          <p:cNvSpPr txBox="1">
            <a:spLocks noChangeArrowheads="1"/>
          </p:cNvSpPr>
          <p:nvPr/>
        </p:nvSpPr>
        <p:spPr bwMode="auto">
          <a:xfrm>
            <a:off x="4043837" y="2932095"/>
            <a:ext cx="3950102" cy="2245370"/>
          </a:xfrm>
          <a:prstGeom prst="rect">
            <a:avLst/>
          </a:prstGeom>
          <a:noFill/>
          <a:ln w="9525">
            <a:noFill/>
            <a:miter lim="800000"/>
            <a:headEnd/>
            <a:tailEnd/>
          </a:ln>
        </p:spPr>
        <p:txBody>
          <a:bodyPr wrap="square" lIns="0" tIns="161365" rIns="0" bIns="0">
            <a:spAutoFit/>
          </a:bodyPr>
          <a:lstStyle/>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Safe, Reliable, Efficient, Effective and Environmentally Sustainable Waterborne Transportation Systems</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882"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 </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14 Harbors Along SOCAL for Movement of Commerce, National Security Needs, Recreation</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Plan/Construct Navigation Channels, Ports, Harbors, Maintain Channel Depths</a:t>
            </a:r>
          </a:p>
          <a:p>
            <a:pPr marL="342909" marR="0" lvl="0" indent="-342909" algn="ctr" defTabSz="91440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Ports of Long Beach and Los Angeles Account for $420B in Annual Cargo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highlight>
                  <a:srgbClr val="D1C1A4"/>
                </a:highlight>
                <a:uLnTx/>
                <a:uFillTx/>
                <a:latin typeface="Arial Narrow" panose="020B0606020202030204" pitchFamily="34" charset="0"/>
                <a:ea typeface="+mn-ea"/>
                <a:cs typeface="+mn-cs"/>
              </a:rPr>
              <a:t>*Together, Make Up the 5</a:t>
            </a:r>
            <a:r>
              <a:rPr kumimoji="0" lang="en-US" sz="1050" b="1" i="0" u="none" strike="noStrike" kern="0" cap="none" spc="0" normalizeH="0" baseline="30000" noProof="0" dirty="0">
                <a:ln>
                  <a:noFill/>
                </a:ln>
                <a:solidFill>
                  <a:srgbClr val="000000"/>
                </a:solidFill>
                <a:effectLst/>
                <a:highlight>
                  <a:srgbClr val="D1C1A4"/>
                </a:highlight>
                <a:uLnTx/>
                <a:uFillTx/>
                <a:latin typeface="Arial Narrow" panose="020B0606020202030204" pitchFamily="34" charset="0"/>
                <a:ea typeface="+mn-ea"/>
                <a:cs typeface="+mn-cs"/>
              </a:rPr>
              <a:t>th</a:t>
            </a:r>
            <a:r>
              <a:rPr kumimoji="0" lang="en-US" sz="1050" b="1" i="0" u="none" strike="noStrike" kern="0" cap="none" spc="0" normalizeH="0" baseline="0" noProof="0" dirty="0">
                <a:ln>
                  <a:noFill/>
                </a:ln>
                <a:solidFill>
                  <a:srgbClr val="000000"/>
                </a:solidFill>
                <a:effectLst/>
                <a:highlight>
                  <a:srgbClr val="D1C1A4"/>
                </a:highlight>
                <a:uLnTx/>
                <a:uFillTx/>
                <a:latin typeface="Arial Narrow" panose="020B0606020202030204" pitchFamily="34" charset="0"/>
                <a:ea typeface="+mn-ea"/>
                <a:cs typeface="+mn-cs"/>
              </a:rPr>
              <a:t> Busiest Port Complex in the World!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0" cap="none" spc="0" normalizeH="0" baseline="0" noProof="0" dirty="0">
              <a:ln>
                <a:noFill/>
              </a:ln>
              <a:solidFill>
                <a:srgbClr val="000000"/>
              </a:solidFill>
              <a:effectLst/>
              <a:highlight>
                <a:srgbClr val="D1C1A4"/>
              </a:highligh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panose="020B0606020202030204" pitchFamily="34" charset="0"/>
                <a:ea typeface="+mn-ea"/>
                <a:cs typeface="+mn-cs"/>
              </a:rPr>
              <a:t>Marina del Rey Harbor Accounts for 5,300 Slips (AKA Parking Spaces for a Boat)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highlight>
                  <a:srgbClr val="D1C1A4"/>
                </a:highlight>
                <a:uLnTx/>
                <a:uFillTx/>
                <a:latin typeface="Arial Narrow" panose="020B0606020202030204" pitchFamily="34" charset="0"/>
                <a:ea typeface="+mn-ea"/>
                <a:cs typeface="+mn-cs"/>
              </a:rPr>
              <a:t>*One of the Largest Recreational Harbors in the USA!</a:t>
            </a:r>
          </a:p>
        </p:txBody>
      </p:sp>
      <p:sp>
        <p:nvSpPr>
          <p:cNvPr id="11" name="Text Box 3">
            <a:extLst>
              <a:ext uri="{FF2B5EF4-FFF2-40B4-BE49-F238E27FC236}">
                <a16:creationId xmlns:a16="http://schemas.microsoft.com/office/drawing/2014/main" id="{02FD0F9C-1093-6F11-9FC4-0570754F759B}"/>
              </a:ext>
            </a:extLst>
          </p:cNvPr>
          <p:cNvSpPr txBox="1">
            <a:spLocks noChangeArrowheads="1"/>
          </p:cNvSpPr>
          <p:nvPr/>
        </p:nvSpPr>
        <p:spPr bwMode="auto">
          <a:xfrm>
            <a:off x="8581127" y="3000105"/>
            <a:ext cx="3037229" cy="2240433"/>
          </a:xfrm>
          <a:prstGeom prst="rect">
            <a:avLst/>
          </a:prstGeom>
          <a:noFill/>
          <a:ln w="9525">
            <a:noFill/>
            <a:miter lim="800000"/>
            <a:headEnd/>
            <a:tailEnd/>
          </a:ln>
        </p:spPr>
        <p:txBody>
          <a:bodyPr wrap="square" lIns="0" tIns="161365" rIns="0" bIns="0" anchor="t">
            <a:spAutoFit/>
          </a:bodyPr>
          <a:lstStyle/>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Engineering Services to Respond to National and Natural Disasters</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000000"/>
                </a:solidFill>
                <a:effectLst/>
                <a:uLnTx/>
                <a:uFillTx/>
                <a:latin typeface="Arial Narrow"/>
                <a:ea typeface="+mn-ea"/>
                <a:cs typeface="+mn-cs"/>
              </a:rPr>
              <a:t>∙∙∙∙∙∙∙∙∙∙∙∙∙∙∙∙∙∙∙∙∙∙∙∙∙∙∙∙∙∙∙∙∙∙∙∙∙∙∙∙∙∙∙∙∙∙∙∙∙∙ </a:t>
            </a:r>
          </a:p>
          <a:p>
            <a:pPr marL="342900" marR="0" lvl="0" indent="-34290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Arial"/>
              </a:rPr>
              <a:t>Public Law 93-288 (Stafford Act)</a:t>
            </a: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National Response Framework</a:t>
            </a:r>
            <a:endParaRPr kumimoji="0" lang="en-US" sz="1050" b="1" i="0" u="none" strike="noStrike" kern="0" cap="none" spc="0" normalizeH="0" baseline="0" noProof="0" dirty="0">
              <a:ln>
                <a:noFill/>
              </a:ln>
              <a:solidFill>
                <a:srgbClr val="000000"/>
              </a:solidFill>
              <a:effectLst/>
              <a:uLnTx/>
              <a:uFillTx/>
              <a:latin typeface="Arial"/>
              <a:ea typeface="+mn-ea"/>
              <a:cs typeface="Arial"/>
            </a:endParaRP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ESF #3</a:t>
            </a:r>
            <a:endParaRPr kumimoji="0" lang="en-US" sz="1050" b="1" i="0" u="none" strike="noStrike" kern="0" cap="none" spc="0" normalizeH="0" baseline="0" noProof="0" dirty="0">
              <a:ln>
                <a:noFill/>
              </a:ln>
              <a:solidFill>
                <a:srgbClr val="000000"/>
              </a:solidFill>
              <a:effectLst/>
              <a:uLnTx/>
              <a:uFillTx/>
              <a:latin typeface="Arial"/>
              <a:ea typeface="+mn-ea"/>
              <a:cs typeface="Arial"/>
            </a:endParaRP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0000"/>
                </a:solidFill>
                <a:effectLst/>
                <a:uLnTx/>
                <a:uFillTx/>
                <a:latin typeface="Arial"/>
                <a:ea typeface="+mn-ea"/>
                <a:cs typeface="+mn-cs"/>
              </a:rPr>
              <a:t>Public Law 84-99</a:t>
            </a:r>
            <a:endParaRPr kumimoji="0" lang="en-US" sz="1050" b="1" i="0" u="none" strike="noStrike" kern="0" cap="none" spc="0" normalizeH="0" baseline="0" noProof="0" dirty="0">
              <a:ln>
                <a:noFill/>
              </a:ln>
              <a:solidFill>
                <a:srgbClr val="000000"/>
              </a:solidFill>
              <a:effectLst/>
              <a:uLnTx/>
              <a:uFillTx/>
              <a:latin typeface="Arial"/>
              <a:ea typeface="+mn-ea"/>
              <a:cs typeface="Arial"/>
            </a:endParaRPr>
          </a:p>
          <a:p>
            <a:pPr marL="342900" marR="0" lvl="0" indent="-342900" algn="ctr" defTabSz="914400" rtl="0" eaLnBrk="0" fontAlgn="auto" latinLnBrk="0" hangingPunct="0">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Narrow"/>
                <a:ea typeface="+mn-ea"/>
                <a:cs typeface="+mn-cs"/>
              </a:rPr>
              <a:t>∙∙∙∙∙∙∙∙∙∙∙∙∙∙∙∙∙∙∙∙∙∙∙∙∙∙∙∙∙∙∙∙∙∙∙∙∙∙∙∙∙∙∙∙∙∙∙∙∙∙ </a:t>
            </a:r>
            <a:endParaRPr kumimoji="0" lang="en-US" sz="80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a:ea typeface="+mn-ea"/>
                <a:cs typeface="+mn-cs"/>
              </a:rPr>
              <a:t>Rehab and Inspection Program / EM 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a:ea typeface="+mn-ea"/>
                <a:cs typeface="+mn-cs"/>
              </a:rPr>
              <a:t>Engineering and Construction Support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a:ea typeface="+mn-ea"/>
                <a:cs typeface="+mn-cs"/>
              </a:rPr>
              <a:t>Disaster Preparation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a:ea typeface="+mn-ea"/>
                <a:cs typeface="+mn-cs"/>
              </a:rPr>
              <a:t>SPL Continuity of Operations 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Narrow"/>
                <a:ea typeface="+mn-ea"/>
                <a:cs typeface="+mn-cs"/>
              </a:rPr>
              <a:t>USACE Reach-Back Operations Center (UROC)</a:t>
            </a:r>
            <a:endParaRPr kumimoji="0" lang="en-US" sz="882" b="0" i="0" u="none" strike="noStrike" kern="1200" cap="none" spc="0" normalizeH="0" baseline="0" noProof="0" dirty="0">
              <a:ln>
                <a:noFill/>
              </a:ln>
              <a:solidFill>
                <a:srgbClr val="000000"/>
              </a:solidFill>
              <a:effectLst/>
              <a:uLnTx/>
              <a:uFillTx/>
              <a:latin typeface="Arial Narrow"/>
              <a:ea typeface="+mn-ea"/>
              <a:cs typeface="+mn-cs"/>
            </a:endParaRPr>
          </a:p>
        </p:txBody>
      </p:sp>
      <p:pic>
        <p:nvPicPr>
          <p:cNvPr id="19" name="Picture 18" descr="A group of people sitting in a conference room&#10;&#10;Description automatically generated with low confidence">
            <a:extLst>
              <a:ext uri="{FF2B5EF4-FFF2-40B4-BE49-F238E27FC236}">
                <a16:creationId xmlns:a16="http://schemas.microsoft.com/office/drawing/2014/main" id="{C04290CD-D294-D66B-F3D6-56AB72F92C1D}"/>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556436" y="1367777"/>
            <a:ext cx="2942969" cy="1715797"/>
          </a:xfrm>
          <a:prstGeom prst="rect">
            <a:avLst/>
          </a:prstGeom>
        </p:spPr>
      </p:pic>
      <p:sp>
        <p:nvSpPr>
          <p:cNvPr id="619" name="Rectangle 9">
            <a:extLst>
              <a:ext uri="{FF2B5EF4-FFF2-40B4-BE49-F238E27FC236}">
                <a16:creationId xmlns:a16="http://schemas.microsoft.com/office/drawing/2014/main" id="{877C5022-D221-488B-A236-63A2BA6A6C07}"/>
              </a:ext>
            </a:extLst>
          </p:cNvPr>
          <p:cNvSpPr>
            <a:spLocks noChangeArrowheads="1"/>
          </p:cNvSpPr>
          <p:nvPr/>
        </p:nvSpPr>
        <p:spPr bwMode="auto">
          <a:xfrm>
            <a:off x="8537389" y="1368071"/>
            <a:ext cx="2942968" cy="244282"/>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r" defTabSz="806867" rtl="0" eaLnBrk="1" fontAlgn="auto" latinLnBrk="0" hangingPunct="1">
              <a:lnSpc>
                <a:spcPct val="100000"/>
              </a:lnSpc>
              <a:spcBef>
                <a:spcPts val="0"/>
              </a:spcBef>
              <a:spcAft>
                <a:spcPts val="0"/>
              </a:spcAft>
              <a:buClrTx/>
              <a:buSzTx/>
              <a:buFontTx/>
              <a:buNone/>
              <a:tabLst/>
              <a:defRPr/>
            </a:pPr>
            <a:r>
              <a:rPr kumimoji="0" lang="en-US" altLang="en-US" sz="882"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rPr>
              <a:t>Tropical Storm Hilary AAR</a:t>
            </a:r>
          </a:p>
          <a:p>
            <a:pPr marL="0" marR="0" lvl="0" indent="0" algn="r" defTabSz="806867" rtl="0" eaLnBrk="1" fontAlgn="auto" latinLnBrk="0" hangingPunct="1">
              <a:lnSpc>
                <a:spcPct val="100000"/>
              </a:lnSpc>
              <a:spcBef>
                <a:spcPts val="0"/>
              </a:spcBef>
              <a:spcAft>
                <a:spcPts val="0"/>
              </a:spcAft>
              <a:buClrTx/>
              <a:buSzTx/>
              <a:buFontTx/>
              <a:buNone/>
              <a:tabLst/>
              <a:defRPr/>
            </a:pPr>
            <a:endParaRPr kumimoji="0" lang="en-US" altLang="en-US" sz="706"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pic>
        <p:nvPicPr>
          <p:cNvPr id="23" name="Picture 22" descr="A picture containing water, sky, nature, shore&#10;&#10;Description automatically generated">
            <a:extLst>
              <a:ext uri="{FF2B5EF4-FFF2-40B4-BE49-F238E27FC236}">
                <a16:creationId xmlns:a16="http://schemas.microsoft.com/office/drawing/2014/main" id="{C634DEB3-8BA1-821E-2F0E-A671082410E6}"/>
              </a:ext>
            </a:extLst>
          </p:cNvPr>
          <p:cNvPicPr>
            <a:picLocks noChangeAspect="1"/>
          </p:cNvPicPr>
          <p:nvPr/>
        </p:nvPicPr>
        <p:blipFill rotWithShape="1">
          <a:blip r:embed="rId9" cstate="email">
            <a:extLst>
              <a:ext uri="{28A0092B-C50C-407E-A947-70E740481C1C}">
                <a14:useLocalDpi xmlns:a14="http://schemas.microsoft.com/office/drawing/2010/main" val="0"/>
              </a:ext>
            </a:extLst>
          </a:blip>
          <a:srcRect/>
          <a:stretch/>
        </p:blipFill>
        <p:spPr>
          <a:xfrm>
            <a:off x="8573826" y="5339006"/>
            <a:ext cx="1305370" cy="747943"/>
          </a:xfrm>
          <a:prstGeom prst="rect">
            <a:avLst/>
          </a:prstGeom>
        </p:spPr>
      </p:pic>
      <p:sp>
        <p:nvSpPr>
          <p:cNvPr id="24" name="Rectangle 9">
            <a:extLst>
              <a:ext uri="{FF2B5EF4-FFF2-40B4-BE49-F238E27FC236}">
                <a16:creationId xmlns:a16="http://schemas.microsoft.com/office/drawing/2014/main" id="{D6680AAD-F77A-57A9-CAF4-50A5CC225818}"/>
              </a:ext>
            </a:extLst>
          </p:cNvPr>
          <p:cNvSpPr>
            <a:spLocks noChangeArrowheads="1"/>
          </p:cNvSpPr>
          <p:nvPr/>
        </p:nvSpPr>
        <p:spPr bwMode="auto">
          <a:xfrm>
            <a:off x="8570959" y="5337487"/>
            <a:ext cx="1282748" cy="441463"/>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altLang="en-US" sz="800"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rPr>
              <a:t>TS Hilary – Whittier Narrows Dam</a:t>
            </a:r>
          </a:p>
          <a:p>
            <a:pPr marL="0" marR="0" lvl="0" indent="0" algn="r" defTabSz="806867" rtl="0" eaLnBrk="1" fontAlgn="auto" latinLnBrk="0" hangingPunct="1">
              <a:lnSpc>
                <a:spcPct val="100000"/>
              </a:lnSpc>
              <a:spcBef>
                <a:spcPts val="0"/>
              </a:spcBef>
              <a:spcAft>
                <a:spcPts val="0"/>
              </a:spcAft>
              <a:buClrTx/>
              <a:buSzTx/>
              <a:buFontTx/>
              <a:buNone/>
              <a:tabLst/>
              <a:defRPr/>
            </a:pPr>
            <a:endParaRPr kumimoji="0" lang="en-US" altLang="en-US" sz="800"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sp>
        <p:nvSpPr>
          <p:cNvPr id="27" name="AutoShape 4">
            <a:extLst>
              <a:ext uri="{FF2B5EF4-FFF2-40B4-BE49-F238E27FC236}">
                <a16:creationId xmlns:a16="http://schemas.microsoft.com/office/drawing/2014/main" id="{B375ECC1-0472-7605-7799-74F9E41C14C5}"/>
              </a:ext>
            </a:extLst>
          </p:cNvPr>
          <p:cNvSpPr>
            <a:spLocks noChangeAspect="1" noChangeArrowheads="1"/>
          </p:cNvSpPr>
          <p:nvPr/>
        </p:nvSpPr>
        <p:spPr bwMode="auto">
          <a:xfrm>
            <a:off x="998538" y="212032"/>
            <a:ext cx="10193337"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29" name="Picture 28" descr="A picture containing text&#10;&#10;Description automatically generated">
            <a:extLst>
              <a:ext uri="{FF2B5EF4-FFF2-40B4-BE49-F238E27FC236}">
                <a16:creationId xmlns:a16="http://schemas.microsoft.com/office/drawing/2014/main" id="{E036BC4B-F8CD-6C6E-ED72-DFDA85FD33DE}"/>
              </a:ext>
            </a:extLst>
          </p:cNvPr>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4118830" y="5470154"/>
            <a:ext cx="1995071" cy="1339407"/>
          </a:xfrm>
          <a:prstGeom prst="rect">
            <a:avLst/>
          </a:prstGeom>
        </p:spPr>
      </p:pic>
      <p:sp>
        <p:nvSpPr>
          <p:cNvPr id="30" name="Text Box 3">
            <a:extLst>
              <a:ext uri="{FF2B5EF4-FFF2-40B4-BE49-F238E27FC236}">
                <a16:creationId xmlns:a16="http://schemas.microsoft.com/office/drawing/2014/main" id="{BBBF1E7C-D054-2D6C-5A28-26114EA08D88}"/>
              </a:ext>
            </a:extLst>
          </p:cNvPr>
          <p:cNvSpPr txBox="1">
            <a:spLocks noChangeArrowheads="1"/>
          </p:cNvSpPr>
          <p:nvPr/>
        </p:nvSpPr>
        <p:spPr bwMode="auto">
          <a:xfrm>
            <a:off x="6105118" y="5800762"/>
            <a:ext cx="1924575" cy="570168"/>
          </a:xfrm>
          <a:prstGeom prst="rect">
            <a:avLst/>
          </a:prstGeom>
          <a:noFill/>
          <a:ln w="9525">
            <a:noFill/>
            <a:miter lim="800000"/>
            <a:headEnd/>
            <a:tailEnd/>
          </a:ln>
        </p:spPr>
        <p:txBody>
          <a:bodyPr wrap="square" lIns="0" tIns="161365"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2" b="1" i="0" u="none" strike="noStrike" kern="1200" cap="none" spc="0" normalizeH="0" baseline="0" noProof="0" dirty="0">
                <a:ln>
                  <a:noFill/>
                </a:ln>
                <a:solidFill>
                  <a:srgbClr val="000000"/>
                </a:solidFill>
                <a:effectLst/>
                <a:uLnTx/>
                <a:uFillTx/>
                <a:latin typeface="Arial" pitchFamily="34" charset="0"/>
                <a:ea typeface="+mn-ea"/>
                <a:cs typeface="+mn-cs"/>
              </a:rPr>
              <a:t>Ports of Long Beach &amp; LA Account for 40% of ALL shipping containers entering USA</a:t>
            </a:r>
          </a:p>
        </p:txBody>
      </p:sp>
      <p:sp>
        <p:nvSpPr>
          <p:cNvPr id="31" name="Rectangle 9">
            <a:extLst>
              <a:ext uri="{FF2B5EF4-FFF2-40B4-BE49-F238E27FC236}">
                <a16:creationId xmlns:a16="http://schemas.microsoft.com/office/drawing/2014/main" id="{234609BB-06F5-5A29-81B1-F4B0DEECF16A}"/>
              </a:ext>
            </a:extLst>
          </p:cNvPr>
          <p:cNvSpPr>
            <a:spLocks noChangeArrowheads="1"/>
          </p:cNvSpPr>
          <p:nvPr/>
        </p:nvSpPr>
        <p:spPr bwMode="auto">
          <a:xfrm>
            <a:off x="4110116" y="5474901"/>
            <a:ext cx="1985884" cy="214086"/>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altLang="en-US" sz="800"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rPr>
              <a:t>Port of Los Angeles</a:t>
            </a:r>
            <a:endParaRPr kumimoji="0" lang="en-US" altLang="en-US" sz="800"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pic>
        <p:nvPicPr>
          <p:cNvPr id="14" name="Picture 13" descr="A person wearing a safety vest&#10;&#10;Description automatically generated with medium confidence">
            <a:extLst>
              <a:ext uri="{FF2B5EF4-FFF2-40B4-BE49-F238E27FC236}">
                <a16:creationId xmlns:a16="http://schemas.microsoft.com/office/drawing/2014/main" id="{BB3AE315-D4D3-DE71-D398-BA6FF7656DD8}"/>
              </a:ext>
            </a:extLst>
          </p:cNvPr>
          <p:cNvPicPr>
            <a:picLocks noChangeAspect="1"/>
          </p:cNvPicPr>
          <p:nvPr/>
        </p:nvPicPr>
        <p:blipFill>
          <a:blip r:embed="rId11" cstate="email">
            <a:extLst>
              <a:ext uri="{28A0092B-C50C-407E-A947-70E740481C1C}">
                <a14:useLocalDpi xmlns:a14="http://schemas.microsoft.com/office/drawing/2010/main" val="0"/>
              </a:ext>
            </a:extLst>
          </a:blip>
          <a:stretch>
            <a:fillRect/>
          </a:stretch>
        </p:blipFill>
        <p:spPr>
          <a:xfrm>
            <a:off x="10420462" y="5336188"/>
            <a:ext cx="1338168" cy="778785"/>
          </a:xfrm>
          <a:prstGeom prst="rect">
            <a:avLst/>
          </a:prstGeom>
        </p:spPr>
      </p:pic>
      <p:sp>
        <p:nvSpPr>
          <p:cNvPr id="20" name="Rectangle 9">
            <a:extLst>
              <a:ext uri="{FF2B5EF4-FFF2-40B4-BE49-F238E27FC236}">
                <a16:creationId xmlns:a16="http://schemas.microsoft.com/office/drawing/2014/main" id="{245EB44B-A3BE-F688-D5C2-B1C1683C55C0}"/>
              </a:ext>
            </a:extLst>
          </p:cNvPr>
          <p:cNvSpPr>
            <a:spLocks noChangeArrowheads="1"/>
          </p:cNvSpPr>
          <p:nvPr/>
        </p:nvSpPr>
        <p:spPr bwMode="auto">
          <a:xfrm>
            <a:off x="10412963" y="5331615"/>
            <a:ext cx="1320177" cy="441463"/>
          </a:xfrm>
          <a:prstGeom prst="rect">
            <a:avLst/>
          </a:prstGeom>
          <a:gradFill flip="none" rotWithShape="1">
            <a:gsLst>
              <a:gs pos="0">
                <a:sysClr val="windowText" lastClr="000000">
                  <a:alpha val="50000"/>
                </a:sysClr>
              </a:gs>
              <a:gs pos="100000">
                <a:sysClr val="window" lastClr="FFFFFF">
                  <a:alpha val="0"/>
                </a:sysClr>
              </a:gs>
            </a:gsLst>
            <a:lin ang="5400000" scaled="1"/>
            <a:tileRect/>
          </a:gradFill>
          <a:ln w="3175">
            <a:noFill/>
          </a:ln>
        </p:spPr>
        <p:txBody>
          <a:bodyPr wrap="square">
            <a:noAutofit/>
          </a:bodyPr>
          <a:lstStyle/>
          <a:p>
            <a:pPr marL="0" marR="0" lvl="0" indent="0" algn="ctr" defTabSz="806867" rtl="0" eaLnBrk="1" fontAlgn="auto" latinLnBrk="0" hangingPunct="1">
              <a:lnSpc>
                <a:spcPct val="100000"/>
              </a:lnSpc>
              <a:spcBef>
                <a:spcPts val="0"/>
              </a:spcBef>
              <a:spcAft>
                <a:spcPts val="0"/>
              </a:spcAft>
              <a:buClrTx/>
              <a:buSzTx/>
              <a:buFontTx/>
              <a:buNone/>
              <a:tabLst/>
              <a:defRPr/>
            </a:pPr>
            <a:r>
              <a:rPr kumimoji="0" lang="en-US" altLang="en-US" sz="800" b="1"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rPr>
              <a:t>Duncan, AZ Flood Response</a:t>
            </a:r>
            <a:endParaRPr kumimoji="0" lang="en-US" altLang="en-US" sz="800" b="0" i="0" u="none" strike="noStrike" kern="0" cap="none" spc="0" normalizeH="0" baseline="0" noProof="0" dirty="0">
              <a:ln>
                <a:noFill/>
              </a:ln>
              <a:solidFill>
                <a:srgbClr val="FFFF00"/>
              </a:solidFill>
              <a:effectLst>
                <a:outerShdw blurRad="50800" dist="38100" dir="5400000" algn="t" rotWithShape="0">
                  <a:prstClr val="black">
                    <a:alpha val="40000"/>
                  </a:prstClr>
                </a:outerShdw>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126970665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0AA1D-6C66-838F-E52A-DE5DFD94AE25}"/>
              </a:ext>
            </a:extLst>
          </p:cNvPr>
          <p:cNvSpPr>
            <a:spLocks noGrp="1"/>
          </p:cNvSpPr>
          <p:nvPr>
            <p:ph type="title"/>
          </p:nvPr>
        </p:nvSpPr>
        <p:spPr/>
        <p:txBody>
          <a:bodyPr/>
          <a:lstStyle/>
          <a:p>
            <a:pPr algn="ctr"/>
            <a:r>
              <a:rPr lang="en-US" dirty="0"/>
              <a:t>Corps of engineers Attendees</a:t>
            </a:r>
          </a:p>
        </p:txBody>
      </p:sp>
      <p:sp>
        <p:nvSpPr>
          <p:cNvPr id="3" name="Footer Placeholder 2">
            <a:extLst>
              <a:ext uri="{FF2B5EF4-FFF2-40B4-BE49-F238E27FC236}">
                <a16:creationId xmlns:a16="http://schemas.microsoft.com/office/drawing/2014/main" id="{83EC5920-22DB-4752-3876-69A5B19E3814}"/>
              </a:ext>
            </a:extLst>
          </p:cNvPr>
          <p:cNvSpPr>
            <a:spLocks noGrp="1"/>
          </p:cNvSpPr>
          <p:nvPr>
            <p:ph type="ftr" sz="quarter" idx="11"/>
          </p:nvPr>
        </p:nvSpPr>
        <p:spPr/>
        <p:txBody>
          <a:bodyPr/>
          <a:lstStyle/>
          <a:p>
            <a:endParaRPr lang="en-US"/>
          </a:p>
        </p:txBody>
      </p:sp>
      <p:graphicFrame>
        <p:nvGraphicFramePr>
          <p:cNvPr id="5" name="Table 4">
            <a:extLst>
              <a:ext uri="{FF2B5EF4-FFF2-40B4-BE49-F238E27FC236}">
                <a16:creationId xmlns:a16="http://schemas.microsoft.com/office/drawing/2014/main" id="{DF9E9EB2-F557-1B1E-DD23-A87445A35671}"/>
              </a:ext>
            </a:extLst>
          </p:cNvPr>
          <p:cNvGraphicFramePr>
            <a:graphicFrameLocks noGrp="1"/>
          </p:cNvGraphicFramePr>
          <p:nvPr>
            <p:extLst>
              <p:ext uri="{D42A27DB-BD31-4B8C-83A1-F6EECF244321}">
                <p14:modId xmlns:p14="http://schemas.microsoft.com/office/powerpoint/2010/main" val="4179006215"/>
              </p:ext>
            </p:extLst>
          </p:nvPr>
        </p:nvGraphicFramePr>
        <p:xfrm>
          <a:off x="266700" y="1173018"/>
          <a:ext cx="11546609" cy="5212080"/>
        </p:xfrm>
        <a:graphic>
          <a:graphicData uri="http://schemas.openxmlformats.org/drawingml/2006/table">
            <a:tbl>
              <a:tblPr firstRow="1" bandRow="1">
                <a:tableStyleId>{5C22544A-7EE6-4342-B048-85BDC9FD1C3A}</a:tableStyleId>
              </a:tblPr>
              <a:tblGrid>
                <a:gridCol w="5797183">
                  <a:extLst>
                    <a:ext uri="{9D8B030D-6E8A-4147-A177-3AD203B41FA5}">
                      <a16:colId xmlns:a16="http://schemas.microsoft.com/office/drawing/2014/main" val="1519045775"/>
                    </a:ext>
                  </a:extLst>
                </a:gridCol>
                <a:gridCol w="5749426">
                  <a:extLst>
                    <a:ext uri="{9D8B030D-6E8A-4147-A177-3AD203B41FA5}">
                      <a16:colId xmlns:a16="http://schemas.microsoft.com/office/drawing/2014/main" val="1110589347"/>
                    </a:ext>
                  </a:extLst>
                </a:gridCol>
              </a:tblGrid>
              <a:tr h="280170">
                <a:tc>
                  <a:txBody>
                    <a:bodyPr/>
                    <a:lstStyle/>
                    <a:p>
                      <a:r>
                        <a:rPr lang="en-US" sz="1200" b="0" dirty="0">
                          <a:solidFill>
                            <a:schemeClr val="tx1"/>
                          </a:solidFill>
                        </a:rPr>
                        <a:t>SPL Leadership</a:t>
                      </a:r>
                    </a:p>
                    <a:p>
                      <a:r>
                        <a:rPr lang="en-US" sz="1200" b="0" dirty="0">
                          <a:solidFill>
                            <a:schemeClr val="tx1"/>
                          </a:solidFill>
                        </a:rPr>
                        <a:t>      -COL Andrew Baker: District Commander</a:t>
                      </a:r>
                      <a:endParaRPr lang="en-US" sz="1200" b="0" u="sng" dirty="0">
                        <a:solidFill>
                          <a:schemeClr val="tx1"/>
                        </a:solidFill>
                      </a:endParaRPr>
                    </a:p>
                    <a:p>
                      <a:r>
                        <a:rPr lang="en-US" sz="1200" b="0" dirty="0">
                          <a:solidFill>
                            <a:schemeClr val="tx1"/>
                          </a:solidFill>
                        </a:rPr>
                        <a:t>      -Justin Gay: Deputy for Programs and Project Management</a:t>
                      </a:r>
                      <a:endParaRPr lang="en-US" sz="1200" b="0" u="sng" dirty="0">
                        <a:solidFill>
                          <a:schemeClr val="tx1"/>
                        </a:solidFill>
                      </a:endParaRPr>
                    </a:p>
                    <a:p>
                      <a:r>
                        <a:rPr lang="en-US" sz="1200" b="0" dirty="0">
                          <a:solidFill>
                            <a:schemeClr val="tx1"/>
                          </a:solidFill>
                        </a:rPr>
                        <a:t>      -LTC Stephen Brooks: Deputy Commander</a:t>
                      </a:r>
                      <a:endParaRPr lang="en-US" sz="1200" b="0" u="sng" dirty="0">
                        <a:solidFill>
                          <a:schemeClr val="tx1"/>
                        </a:solidFill>
                      </a:endParaRPr>
                    </a:p>
                  </a:txBody>
                  <a:tcPr>
                    <a:solidFill>
                      <a:schemeClr val="bg2"/>
                    </a:solidFill>
                  </a:tcPr>
                </a:tc>
                <a:tc>
                  <a:txBody>
                    <a:bodyPr/>
                    <a:lstStyle/>
                    <a:p>
                      <a:r>
                        <a:rPr lang="en-US" sz="1200" b="0" dirty="0">
                          <a:solidFill>
                            <a:schemeClr val="tx1"/>
                          </a:solidFill>
                        </a:rPr>
                        <a:t>Operations Division</a:t>
                      </a:r>
                    </a:p>
                    <a:p>
                      <a:r>
                        <a:rPr lang="en-US" sz="1200" b="0" dirty="0">
                          <a:solidFill>
                            <a:schemeClr val="tx1"/>
                          </a:solidFill>
                        </a:rPr>
                        <a:t>      -Mark Cohen (Chief): </a:t>
                      </a:r>
                      <a:r>
                        <a:rPr lang="en-US" sz="1200" b="0" u="sng" dirty="0">
                          <a:solidFill>
                            <a:schemeClr val="tx1"/>
                          </a:solidFill>
                        </a:rPr>
                        <a:t>Mark.D.Cohen@usace.army.mil</a:t>
                      </a:r>
                    </a:p>
                    <a:p>
                      <a:r>
                        <a:rPr lang="en-US" sz="1200" b="0" dirty="0">
                          <a:solidFill>
                            <a:schemeClr val="tx1"/>
                          </a:solidFill>
                        </a:rPr>
                        <a:t>      -Michael Turanitza: </a:t>
                      </a:r>
                      <a:r>
                        <a:rPr lang="en-US" sz="1200" b="0" u="sng" dirty="0">
                          <a:solidFill>
                            <a:schemeClr val="tx1"/>
                          </a:solidFill>
                        </a:rPr>
                        <a:t>Michael.Turanitza@usace.army.mil</a:t>
                      </a:r>
                    </a:p>
                    <a:p>
                      <a:r>
                        <a:rPr lang="en-US" sz="1200" b="0" dirty="0">
                          <a:solidFill>
                            <a:schemeClr val="tx1"/>
                          </a:solidFill>
                        </a:rPr>
                        <a:t>      -Trevor Snyder: </a:t>
                      </a:r>
                      <a:r>
                        <a:rPr lang="en-US" sz="1200" b="0" u="sng" dirty="0">
                          <a:solidFill>
                            <a:schemeClr val="tx1"/>
                          </a:solidFill>
                        </a:rPr>
                        <a:t>Trevor.R.Snyder@usace.army.mil</a:t>
                      </a:r>
                    </a:p>
                    <a:p>
                      <a:r>
                        <a:rPr lang="en-US" sz="1200" b="0" dirty="0">
                          <a:solidFill>
                            <a:schemeClr val="tx1"/>
                          </a:solidFill>
                        </a:rPr>
                        <a:t>      -Mylene </a:t>
                      </a:r>
                      <a:r>
                        <a:rPr lang="en-US" sz="1200" b="0" dirty="0" err="1">
                          <a:solidFill>
                            <a:schemeClr val="tx1"/>
                          </a:solidFill>
                        </a:rPr>
                        <a:t>Guron</a:t>
                      </a:r>
                      <a:r>
                        <a:rPr lang="en-US" sz="1200" b="0" dirty="0">
                          <a:solidFill>
                            <a:schemeClr val="tx1"/>
                          </a:solidFill>
                        </a:rPr>
                        <a:t>: </a:t>
                      </a:r>
                      <a:r>
                        <a:rPr lang="en-US" sz="1200" b="0" u="sng" dirty="0">
                          <a:solidFill>
                            <a:schemeClr val="tx1"/>
                          </a:solidFill>
                        </a:rPr>
                        <a:t>Mylene.M.Guron@usace.army.mil</a:t>
                      </a:r>
                    </a:p>
                    <a:p>
                      <a:r>
                        <a:rPr lang="en-US" sz="1200" b="0" dirty="0">
                          <a:solidFill>
                            <a:schemeClr val="tx1"/>
                          </a:solidFill>
                        </a:rPr>
                        <a:t>      -Julio Ramos: </a:t>
                      </a:r>
                      <a:r>
                        <a:rPr lang="en-US" sz="1200" b="0" u="sng" dirty="0">
                          <a:solidFill>
                            <a:schemeClr val="tx1"/>
                          </a:solidFill>
                          <a:hlinkClick r:id="rId3"/>
                        </a:rPr>
                        <a:t>Julio.E.Ramos@usace.army.mil</a:t>
                      </a:r>
                      <a:endParaRPr lang="en-US" sz="1200" b="0" u="sng" dirty="0">
                        <a:solidFill>
                          <a:schemeClr val="tx1"/>
                        </a:solidFill>
                      </a:endParaRPr>
                    </a:p>
                  </a:txBody>
                  <a:tcPr>
                    <a:solidFill>
                      <a:schemeClr val="bg2"/>
                    </a:solidFill>
                  </a:tcPr>
                </a:tc>
                <a:extLst>
                  <a:ext uri="{0D108BD9-81ED-4DB2-BD59-A6C34878D82A}">
                    <a16:rowId xmlns:a16="http://schemas.microsoft.com/office/drawing/2014/main" val="3769098509"/>
                  </a:ext>
                </a:extLst>
              </a:tr>
              <a:tr h="0">
                <a:tc>
                  <a:txBody>
                    <a:bodyPr/>
                    <a:lstStyle/>
                    <a:p>
                      <a:r>
                        <a:rPr lang="en-US" sz="1200" b="0" dirty="0">
                          <a:solidFill>
                            <a:schemeClr val="tx1"/>
                          </a:solidFill>
                        </a:rPr>
                        <a:t>Military Branch </a:t>
                      </a:r>
                    </a:p>
                    <a:p>
                      <a:r>
                        <a:rPr lang="en-US" sz="1200" b="0" dirty="0">
                          <a:solidFill>
                            <a:schemeClr val="tx1"/>
                          </a:solidFill>
                        </a:rPr>
                        <a:t>      -Eric </a:t>
                      </a:r>
                      <a:r>
                        <a:rPr lang="en-US" sz="1200" b="0" u="none" dirty="0">
                          <a:solidFill>
                            <a:schemeClr val="tx1"/>
                          </a:solidFill>
                        </a:rPr>
                        <a:t>Negrete: </a:t>
                      </a:r>
                      <a:r>
                        <a:rPr lang="en-US" sz="1200" b="0" u="none" kern="1200" dirty="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Eric</a:t>
                      </a:r>
                      <a:r>
                        <a:rPr lang="en-US" sz="1200" b="0" u="sng" kern="1200" dirty="0">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.A.Negrete@usace.army.mil</a:t>
                      </a:r>
                      <a:endParaRPr lang="en-US" sz="1200" b="0" u="sng" dirty="0">
                        <a:solidFill>
                          <a:schemeClr val="tx1"/>
                        </a:solidFill>
                      </a:endParaRPr>
                    </a:p>
                    <a:p>
                      <a:r>
                        <a:rPr lang="en-US" sz="1200" b="0" dirty="0">
                          <a:solidFill>
                            <a:schemeClr val="tx1"/>
                          </a:solidFill>
                        </a:rPr>
                        <a:t>      -John Oshima: </a:t>
                      </a:r>
                      <a:r>
                        <a:rPr lang="en-US" sz="1200" b="0" u="sng" dirty="0">
                          <a:solidFill>
                            <a:schemeClr val="tx1"/>
                          </a:solidFill>
                        </a:rPr>
                        <a:t>John.D.Oshima@usace.army.mil</a:t>
                      </a:r>
                    </a:p>
                    <a:p>
                      <a:r>
                        <a:rPr lang="en-US" sz="1200" b="0" dirty="0">
                          <a:solidFill>
                            <a:schemeClr val="tx1"/>
                          </a:solidFill>
                        </a:rPr>
                        <a:t>      -Grace Parnell: </a:t>
                      </a:r>
                      <a:r>
                        <a:rPr lang="en-US" sz="1200" b="0" u="sng" dirty="0">
                          <a:solidFill>
                            <a:schemeClr val="tx1"/>
                          </a:solidFill>
                        </a:rPr>
                        <a:t>Grace.R.Parnell@usace.army.mil</a:t>
                      </a:r>
                    </a:p>
                  </a:txBody>
                  <a:tcPr>
                    <a:solidFill>
                      <a:schemeClr val="bg2"/>
                    </a:solidFill>
                  </a:tcPr>
                </a:tc>
                <a:tc>
                  <a:txBody>
                    <a:bodyPr/>
                    <a:lstStyle/>
                    <a:p>
                      <a:r>
                        <a:rPr lang="en-US" sz="1200" b="0" dirty="0">
                          <a:solidFill>
                            <a:schemeClr val="tx1"/>
                          </a:solidFill>
                        </a:rPr>
                        <a:t>Construction Division</a:t>
                      </a:r>
                    </a:p>
                    <a:p>
                      <a:r>
                        <a:rPr lang="en-US" sz="1200" b="0" dirty="0">
                          <a:solidFill>
                            <a:schemeClr val="tx1"/>
                          </a:solidFill>
                        </a:rPr>
                        <a:t>      -Shaun Frost (Chief): </a:t>
                      </a:r>
                      <a:r>
                        <a:rPr lang="en-US" sz="1200" b="0" u="sng" kern="1200" dirty="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Shaun.R.Frost2@usace.army.mil</a:t>
                      </a:r>
                      <a:endParaRPr lang="en-US" sz="1200" b="0" dirty="0">
                        <a:solidFill>
                          <a:schemeClr val="tx1"/>
                        </a:solidFill>
                      </a:endParaRPr>
                    </a:p>
                    <a:p>
                      <a:r>
                        <a:rPr lang="en-US" sz="1200" b="0" dirty="0">
                          <a:solidFill>
                            <a:schemeClr val="tx1"/>
                          </a:solidFill>
                        </a:rPr>
                        <a:t>      -John Stephens: </a:t>
                      </a:r>
                      <a:r>
                        <a:rPr lang="en-US" sz="1200" b="0" u="sng" dirty="0">
                          <a:solidFill>
                            <a:schemeClr val="tx1"/>
                          </a:solidFill>
                        </a:rPr>
                        <a:t>John.W.Stephens@usace.army.mil</a:t>
                      </a:r>
                    </a:p>
                    <a:p>
                      <a:r>
                        <a:rPr lang="en-US" sz="1200" b="0" dirty="0">
                          <a:solidFill>
                            <a:schemeClr val="tx1"/>
                          </a:solidFill>
                        </a:rPr>
                        <a:t>      -Thad Fukushige: </a:t>
                      </a:r>
                      <a:r>
                        <a:rPr lang="en-US" sz="1200" b="0" u="sng" dirty="0">
                          <a:solidFill>
                            <a:schemeClr val="tx1"/>
                          </a:solidFill>
                          <a:hlinkClick r:id="rId6"/>
                        </a:rPr>
                        <a:t>Thad.T.Fukushige@usace.army.mil</a:t>
                      </a:r>
                      <a:endParaRPr lang="en-US" sz="1200" b="0" u="sng" dirty="0">
                        <a:solidFill>
                          <a:schemeClr val="tx1"/>
                        </a:solidFill>
                      </a:endParaRPr>
                    </a:p>
                  </a:txBody>
                  <a:tcPr>
                    <a:solidFill>
                      <a:schemeClr val="bg2"/>
                    </a:solidFill>
                  </a:tcPr>
                </a:tc>
                <a:extLst>
                  <a:ext uri="{0D108BD9-81ED-4DB2-BD59-A6C34878D82A}">
                    <a16:rowId xmlns:a16="http://schemas.microsoft.com/office/drawing/2014/main" val="643285288"/>
                  </a:ext>
                </a:extLst>
              </a:tr>
              <a:tr h="280170">
                <a:tc>
                  <a:txBody>
                    <a:bodyPr/>
                    <a:lstStyle/>
                    <a:p>
                      <a:r>
                        <a:rPr lang="en-US" sz="1200" b="0" dirty="0">
                          <a:solidFill>
                            <a:schemeClr val="tx1"/>
                          </a:solidFill>
                        </a:rPr>
                        <a:t>Fire Recovery/Small Business</a:t>
                      </a:r>
                    </a:p>
                    <a:p>
                      <a:r>
                        <a:rPr lang="en-US" sz="1200" b="0" dirty="0">
                          <a:solidFill>
                            <a:schemeClr val="tx1"/>
                          </a:solidFill>
                        </a:rPr>
                        <a:t>      -Christine Davis: Christine Davis: </a:t>
                      </a:r>
                      <a:r>
                        <a:rPr lang="en-US" sz="1200" b="0" dirty="0">
                          <a:solidFill>
                            <a:schemeClr val="tx1"/>
                          </a:solidFill>
                          <a:hlinkClick r:id="rId7">
                            <a:extLst>
                              <a:ext uri="{A12FA001-AC4F-418D-AE19-62706E023703}">
                                <ahyp:hlinkClr xmlns:ahyp="http://schemas.microsoft.com/office/drawing/2018/hyperlinkcolor" val="tx"/>
                              </a:ext>
                            </a:extLst>
                          </a:hlinkClick>
                        </a:rPr>
                        <a:t>Christine.Davis@usace.army.mil</a:t>
                      </a:r>
                      <a:endParaRPr lang="en-US" sz="1200" b="0" dirty="0">
                        <a:solidFill>
                          <a:schemeClr val="tx1"/>
                        </a:solidFill>
                      </a:endParaRPr>
                    </a:p>
                    <a:p>
                      <a:r>
                        <a:rPr lang="en-US" sz="1200" b="0" dirty="0">
                          <a:solidFill>
                            <a:schemeClr val="tx1"/>
                          </a:solidFill>
                        </a:rPr>
                        <a:t>      -Roger Minami: </a:t>
                      </a:r>
                      <a:r>
                        <a:rPr lang="en-US" sz="1200" b="0" u="sng" dirty="0">
                          <a:solidFill>
                            <a:schemeClr val="tx1"/>
                          </a:solidFill>
                        </a:rPr>
                        <a:t>kinya.r.Minami@usace.army.mil</a:t>
                      </a:r>
                    </a:p>
                  </a:txBody>
                  <a:tcPr>
                    <a:solidFill>
                      <a:schemeClr val="bg2"/>
                    </a:solidFill>
                  </a:tcPr>
                </a:tc>
                <a:tc>
                  <a:txBody>
                    <a:bodyPr/>
                    <a:lstStyle/>
                    <a:p>
                      <a:r>
                        <a:rPr lang="en-US" sz="1200" dirty="0">
                          <a:solidFill>
                            <a:schemeClr val="tx1"/>
                          </a:solidFill>
                        </a:rPr>
                        <a:t>Sacramento and Albuquerque District Representatives</a:t>
                      </a:r>
                    </a:p>
                    <a:p>
                      <a:r>
                        <a:rPr lang="en-US" sz="1200" dirty="0">
                          <a:solidFill>
                            <a:schemeClr val="tx1"/>
                          </a:solidFill>
                        </a:rPr>
                        <a:t>      -Vernon Simpkins: </a:t>
                      </a:r>
                      <a:r>
                        <a:rPr lang="en-US" sz="1200" dirty="0">
                          <a:solidFill>
                            <a:schemeClr val="tx1"/>
                          </a:solidFill>
                          <a:hlinkClick r:id="rId8">
                            <a:extLst>
                              <a:ext uri="{A12FA001-AC4F-418D-AE19-62706E023703}">
                                <ahyp:hlinkClr xmlns:ahyp="http://schemas.microsoft.com/office/drawing/2018/hyperlinkcolor" val="tx"/>
                              </a:ext>
                            </a:extLst>
                          </a:hlinkClick>
                        </a:rPr>
                        <a:t>Vernon.A.Simpkins@usace.army.mil</a:t>
                      </a:r>
                      <a:endParaRPr lang="en-US" sz="1200" dirty="0">
                        <a:solidFill>
                          <a:schemeClr val="tx1"/>
                        </a:solidFill>
                      </a:endParaRPr>
                    </a:p>
                    <a:p>
                      <a:r>
                        <a:rPr lang="en-US" sz="1200" dirty="0">
                          <a:solidFill>
                            <a:schemeClr val="tx1"/>
                          </a:solidFill>
                        </a:rPr>
                        <a:t>      -Stephanie Parra: </a:t>
                      </a:r>
                      <a:r>
                        <a:rPr lang="en-US" sz="1200" u="sng" dirty="0">
                          <a:solidFill>
                            <a:schemeClr val="tx1"/>
                          </a:solidFill>
                        </a:rPr>
                        <a:t>Stephanie.N.Parra@usace.army.mil</a:t>
                      </a:r>
                    </a:p>
                  </a:txBody>
                  <a:tcPr>
                    <a:solidFill>
                      <a:schemeClr val="bg2"/>
                    </a:solidFill>
                  </a:tcPr>
                </a:tc>
                <a:extLst>
                  <a:ext uri="{0D108BD9-81ED-4DB2-BD59-A6C34878D82A}">
                    <a16:rowId xmlns:a16="http://schemas.microsoft.com/office/drawing/2014/main" val="1632657251"/>
                  </a:ext>
                </a:extLst>
              </a:tr>
              <a:tr h="280170">
                <a:tc>
                  <a:txBody>
                    <a:bodyPr/>
                    <a:lstStyle/>
                    <a:p>
                      <a:r>
                        <a:rPr lang="en-US" sz="1200" b="0" dirty="0">
                          <a:solidFill>
                            <a:schemeClr val="tx1"/>
                          </a:solidFill>
                        </a:rPr>
                        <a:t>Contracting Division</a:t>
                      </a:r>
                    </a:p>
                    <a:p>
                      <a:r>
                        <a:rPr lang="en-US" sz="1200" b="0" dirty="0">
                          <a:solidFill>
                            <a:schemeClr val="tx1"/>
                          </a:solidFill>
                        </a:rPr>
                        <a:t>      -Sean Sackett (Chief): </a:t>
                      </a:r>
                      <a:r>
                        <a:rPr lang="en-US" sz="1200" b="0" u="sng" dirty="0">
                          <a:solidFill>
                            <a:schemeClr val="tx1"/>
                          </a:solidFill>
                        </a:rPr>
                        <a:t>Sean.P.Sackett@usace.army.mil</a:t>
                      </a:r>
                    </a:p>
                    <a:p>
                      <a:r>
                        <a:rPr lang="en-US" sz="1200" b="0" dirty="0">
                          <a:solidFill>
                            <a:schemeClr val="tx1"/>
                          </a:solidFill>
                        </a:rPr>
                        <a:t>      -Pat Bonilla: </a:t>
                      </a:r>
                      <a:r>
                        <a:rPr lang="en-US" sz="1200" b="0" u="sng" dirty="0">
                          <a:solidFill>
                            <a:schemeClr val="tx1"/>
                          </a:solidFill>
                          <a:hlinkClick r:id="rId9"/>
                        </a:rPr>
                        <a:t>Patricia.B.Bonilla@usace.army.mil</a:t>
                      </a:r>
                      <a:endParaRPr lang="en-US" sz="1200" b="0" u="sng" dirty="0">
                        <a:solidFill>
                          <a:schemeClr val="tx1"/>
                        </a:solidFill>
                      </a:endParaRPr>
                    </a:p>
                  </a:txBody>
                  <a:tcPr>
                    <a:solidFill>
                      <a:schemeClr val="bg2"/>
                    </a:solidFill>
                  </a:tcPr>
                </a:tc>
                <a:tc>
                  <a:txBody>
                    <a:bodyPr/>
                    <a:lstStyle/>
                    <a:p>
                      <a:r>
                        <a:rPr lang="en-US" sz="1200" dirty="0">
                          <a:solidFill>
                            <a:schemeClr val="tx1"/>
                          </a:solidFill>
                        </a:rPr>
                        <a:t>DVA (Department of Veteran Affairs) Project Execution Office: </a:t>
                      </a:r>
                    </a:p>
                    <a:p>
                      <a:r>
                        <a:rPr lang="en-US" sz="1200" dirty="0">
                          <a:solidFill>
                            <a:schemeClr val="tx1"/>
                          </a:solidFill>
                        </a:rPr>
                        <a:t>      -David Van Dorpe (Chief): </a:t>
                      </a:r>
                      <a:r>
                        <a:rPr lang="en-US" sz="1200" u="sng" dirty="0">
                          <a:solidFill>
                            <a:schemeClr val="tx1"/>
                          </a:solidFill>
                          <a:hlinkClick r:id="rId10"/>
                        </a:rPr>
                        <a:t>David.M.Vandorpe@usace.army.mil</a:t>
                      </a:r>
                      <a:endParaRPr lang="en-US" sz="1200" u="sng" dirty="0">
                        <a:solidFill>
                          <a:schemeClr val="tx1"/>
                        </a:solidFill>
                      </a:endParaRPr>
                    </a:p>
                    <a:p>
                      <a:endParaRPr lang="en-US" sz="1200" u="sng" dirty="0">
                        <a:solidFill>
                          <a:schemeClr val="tx1"/>
                        </a:solidFill>
                      </a:endParaRPr>
                    </a:p>
                  </a:txBody>
                  <a:tcPr>
                    <a:solidFill>
                      <a:schemeClr val="bg2"/>
                    </a:solidFill>
                  </a:tcPr>
                </a:tc>
                <a:extLst>
                  <a:ext uri="{0D108BD9-81ED-4DB2-BD59-A6C34878D82A}">
                    <a16:rowId xmlns:a16="http://schemas.microsoft.com/office/drawing/2014/main" val="3164728219"/>
                  </a:ext>
                </a:extLst>
              </a:tr>
              <a:tr h="379923">
                <a:tc>
                  <a:txBody>
                    <a:bodyPr/>
                    <a:lstStyle/>
                    <a:p>
                      <a:r>
                        <a:rPr lang="en-US" sz="1200" dirty="0">
                          <a:solidFill>
                            <a:schemeClr val="tx1"/>
                          </a:solidFill>
                        </a:rPr>
                        <a:t>Workforce Management: Emily Wang, </a:t>
                      </a:r>
                      <a:r>
                        <a:rPr lang="en-US" sz="1200" u="sng" dirty="0">
                          <a:solidFill>
                            <a:schemeClr val="tx1"/>
                          </a:solidFill>
                        </a:rPr>
                        <a:t>Emily.I.Wang@usace.army.mil</a:t>
                      </a:r>
                    </a:p>
                  </a:txBody>
                  <a:tcPr>
                    <a:solidFill>
                      <a:schemeClr val="bg2"/>
                    </a:solidFill>
                  </a:tcPr>
                </a:tc>
                <a:tc>
                  <a:txBody>
                    <a:bodyPr/>
                    <a:lstStyle/>
                    <a:p>
                      <a:r>
                        <a:rPr lang="en-US" sz="1200" dirty="0">
                          <a:solidFill>
                            <a:schemeClr val="tx1"/>
                          </a:solidFill>
                        </a:rPr>
                        <a:t>Engineering Division</a:t>
                      </a:r>
                    </a:p>
                    <a:p>
                      <a:r>
                        <a:rPr lang="en-US" sz="1200" dirty="0">
                          <a:solidFill>
                            <a:schemeClr val="tx1"/>
                          </a:solidFill>
                        </a:rPr>
                        <a:t>      -Paul Underwood (Chief): </a:t>
                      </a:r>
                      <a:r>
                        <a:rPr lang="en-US" sz="1200" u="sng" dirty="0">
                          <a:solidFill>
                            <a:schemeClr val="tx1"/>
                          </a:solidFill>
                        </a:rPr>
                        <a:t>Paul.W.Underwood@usace.army.mil</a:t>
                      </a:r>
                    </a:p>
                    <a:p>
                      <a:r>
                        <a:rPr lang="en-US" sz="1200" dirty="0">
                          <a:solidFill>
                            <a:schemeClr val="tx1"/>
                          </a:solidFill>
                        </a:rPr>
                        <a:t>      -Vincent </a:t>
                      </a:r>
                      <a:r>
                        <a:rPr lang="en-US" sz="1200" dirty="0" err="1">
                          <a:solidFill>
                            <a:schemeClr val="tx1"/>
                          </a:solidFill>
                        </a:rPr>
                        <a:t>Andrada</a:t>
                      </a:r>
                      <a:r>
                        <a:rPr lang="en-US" sz="1200" dirty="0">
                          <a:solidFill>
                            <a:schemeClr val="tx1"/>
                          </a:solidFill>
                        </a:rPr>
                        <a:t>: </a:t>
                      </a:r>
                      <a:r>
                        <a:rPr lang="en-US" sz="1200" u="sng" dirty="0">
                          <a:solidFill>
                            <a:schemeClr val="tx1"/>
                          </a:solidFill>
                          <a:hlinkClick r:id="rId11"/>
                        </a:rPr>
                        <a:t>Vincent.G.Andrada@usace.army.mil</a:t>
                      </a:r>
                      <a:endParaRPr lang="en-US" sz="1200" u="sng" dirty="0">
                        <a:solidFill>
                          <a:schemeClr val="tx1"/>
                        </a:solidFill>
                      </a:endParaRPr>
                    </a:p>
                  </a:txBody>
                  <a:tcPr>
                    <a:solidFill>
                      <a:schemeClr val="bg2"/>
                    </a:solidFill>
                  </a:tcPr>
                </a:tc>
                <a:extLst>
                  <a:ext uri="{0D108BD9-81ED-4DB2-BD59-A6C34878D82A}">
                    <a16:rowId xmlns:a16="http://schemas.microsoft.com/office/drawing/2014/main" val="7709141"/>
                  </a:ext>
                </a:extLst>
              </a:tr>
              <a:tr h="280170">
                <a:tc>
                  <a:txBody>
                    <a:bodyPr/>
                    <a:lstStyle/>
                    <a:p>
                      <a:r>
                        <a:rPr lang="en-US" sz="1200" u="none" dirty="0">
                          <a:solidFill>
                            <a:schemeClr val="tx1"/>
                          </a:solidFill>
                        </a:rPr>
                        <a:t>IIS (International &amp; Interagency) Branch</a:t>
                      </a:r>
                    </a:p>
                    <a:p>
                      <a:r>
                        <a:rPr lang="en-US" sz="1200" u="none" dirty="0">
                          <a:solidFill>
                            <a:schemeClr val="tx1"/>
                          </a:solidFill>
                        </a:rPr>
                        <a:t>      -Dina Aman: </a:t>
                      </a:r>
                      <a:r>
                        <a:rPr lang="en-US" sz="1200" u="sng" dirty="0">
                          <a:solidFill>
                            <a:schemeClr val="tx1"/>
                          </a:solidFill>
                        </a:rPr>
                        <a:t>Dina.Aman@usace.army.mil</a:t>
                      </a:r>
                    </a:p>
                    <a:p>
                      <a:r>
                        <a:rPr lang="en-US" sz="1200" u="none" dirty="0">
                          <a:solidFill>
                            <a:schemeClr val="tx1"/>
                          </a:solidFill>
                        </a:rPr>
                        <a:t>      -Claudia Garcia: </a:t>
                      </a:r>
                      <a:r>
                        <a:rPr lang="en-US" sz="1200" u="sng" dirty="0">
                          <a:solidFill>
                            <a:schemeClr val="tx1"/>
                          </a:solidFill>
                        </a:rPr>
                        <a:t>Claudia.Garcia@usace.army.mil</a:t>
                      </a:r>
                    </a:p>
                    <a:p>
                      <a:r>
                        <a:rPr lang="en-US" sz="1200" u="none" dirty="0">
                          <a:solidFill>
                            <a:schemeClr val="tx1"/>
                          </a:solidFill>
                        </a:rPr>
                        <a:t>      -John Drake: </a:t>
                      </a:r>
                      <a:r>
                        <a:rPr lang="en-US" sz="1200" u="sng" dirty="0">
                          <a:solidFill>
                            <a:schemeClr val="tx1"/>
                          </a:solidFill>
                          <a:hlinkClick r:id="rId12"/>
                        </a:rPr>
                        <a:t>John.E.Drake@usace.army.mil</a:t>
                      </a:r>
                      <a:endParaRPr lang="en-US" sz="1200" u="sng" dirty="0">
                        <a:solidFill>
                          <a:schemeClr val="tx1"/>
                        </a:solidFill>
                      </a:endParaRPr>
                    </a:p>
                  </a:txBody>
                  <a:tcPr>
                    <a:solidFill>
                      <a:schemeClr val="bg2"/>
                    </a:solidFill>
                  </a:tcPr>
                </a:tc>
                <a:tc>
                  <a:txBody>
                    <a:bodyPr/>
                    <a:lstStyle/>
                    <a:p>
                      <a:r>
                        <a:rPr lang="en-US" sz="1200" dirty="0">
                          <a:solidFill>
                            <a:schemeClr val="tx1"/>
                          </a:solidFill>
                        </a:rPr>
                        <a:t>Mega Projects Division </a:t>
                      </a:r>
                    </a:p>
                    <a:p>
                      <a:r>
                        <a:rPr lang="en-US" sz="1200" dirty="0">
                          <a:solidFill>
                            <a:schemeClr val="tx1"/>
                          </a:solidFill>
                        </a:rPr>
                        <a:t>      -Priyanka Wadhawan, </a:t>
                      </a:r>
                      <a:r>
                        <a:rPr lang="en-US" sz="1200" u="sng" kern="1200" dirty="0">
                          <a:solidFill>
                            <a:schemeClr val="tx1"/>
                          </a:solidFill>
                          <a:effectLst/>
                          <a:latin typeface="+mn-lt"/>
                          <a:ea typeface="+mn-ea"/>
                          <a:cs typeface="+mn-cs"/>
                          <a:hlinkClick r:id="rId13">
                            <a:extLst>
                              <a:ext uri="{A12FA001-AC4F-418D-AE19-62706E023703}">
                                <ahyp:hlinkClr xmlns:ahyp="http://schemas.microsoft.com/office/drawing/2018/hyperlinkcolor" val="tx"/>
                              </a:ext>
                            </a:extLst>
                          </a:hlinkClick>
                        </a:rPr>
                        <a:t>Priyanka.Wadhawan@usace.army.mil</a:t>
                      </a:r>
                      <a:r>
                        <a:rPr lang="en-US" sz="1200" kern="1200" dirty="0">
                          <a:solidFill>
                            <a:schemeClr val="tx1"/>
                          </a:solidFill>
                          <a:effectLst/>
                          <a:latin typeface="+mn-lt"/>
                          <a:ea typeface="+mn-ea"/>
                          <a:cs typeface="+mn-cs"/>
                        </a:rPr>
                        <a:t> </a:t>
                      </a:r>
                      <a:endParaRPr lang="en-US" sz="1200" dirty="0">
                        <a:solidFill>
                          <a:schemeClr val="tx1"/>
                        </a:solidFill>
                      </a:endParaRPr>
                    </a:p>
                  </a:txBody>
                  <a:tcPr>
                    <a:solidFill>
                      <a:schemeClr val="bg2"/>
                    </a:solidFill>
                  </a:tcPr>
                </a:tc>
                <a:extLst>
                  <a:ext uri="{0D108BD9-81ED-4DB2-BD59-A6C34878D82A}">
                    <a16:rowId xmlns:a16="http://schemas.microsoft.com/office/drawing/2014/main" val="785367438"/>
                  </a:ext>
                </a:extLst>
              </a:tr>
              <a:tr h="280170">
                <a:tc>
                  <a:txBody>
                    <a:bodyPr/>
                    <a:lstStyle/>
                    <a:p>
                      <a:r>
                        <a:rPr lang="en-US" sz="1200" u="none" dirty="0">
                          <a:solidFill>
                            <a:schemeClr val="tx1"/>
                          </a:solidFill>
                        </a:rPr>
                        <a:t>Navigation Branch</a:t>
                      </a:r>
                    </a:p>
                    <a:p>
                      <a:r>
                        <a:rPr lang="en-US" sz="1200" u="none" dirty="0">
                          <a:solidFill>
                            <a:schemeClr val="tx1"/>
                          </a:solidFill>
                        </a:rPr>
                        <a:t>       -Steve Dwyer, </a:t>
                      </a:r>
                      <a:r>
                        <a:rPr lang="en-US" sz="1200" u="sng" dirty="0">
                          <a:solidFill>
                            <a:schemeClr val="tx1"/>
                          </a:solidFill>
                          <a:hlinkClick r:id="rId14"/>
                        </a:rPr>
                        <a:t>Charles.S.Dwyer@usace.army.mil</a:t>
                      </a:r>
                      <a:endParaRPr lang="en-US" sz="1200" u="sng" dirty="0">
                        <a:solidFill>
                          <a:schemeClr val="tx1"/>
                        </a:solidFill>
                      </a:endParaRPr>
                    </a:p>
                  </a:txBody>
                  <a:tcPr>
                    <a:solidFill>
                      <a:schemeClr val="bg2"/>
                    </a:solidFill>
                  </a:tcPr>
                </a:tc>
                <a:tc>
                  <a:txBody>
                    <a:bodyPr/>
                    <a:lstStyle/>
                    <a:p>
                      <a:endParaRPr lang="en-US" sz="1200" u="sng" dirty="0">
                        <a:solidFill>
                          <a:schemeClr val="tx1"/>
                        </a:solidFill>
                      </a:endParaRPr>
                    </a:p>
                  </a:txBody>
                  <a:tcPr>
                    <a:solidFill>
                      <a:schemeClr val="bg2"/>
                    </a:solidFill>
                  </a:tcPr>
                </a:tc>
                <a:extLst>
                  <a:ext uri="{0D108BD9-81ED-4DB2-BD59-A6C34878D82A}">
                    <a16:rowId xmlns:a16="http://schemas.microsoft.com/office/drawing/2014/main" val="2915107956"/>
                  </a:ext>
                </a:extLst>
              </a:tr>
            </a:tbl>
          </a:graphicData>
        </a:graphic>
      </p:graphicFrame>
    </p:spTree>
    <p:extLst>
      <p:ext uri="{BB962C8B-B14F-4D97-AF65-F5344CB8AC3E}">
        <p14:creationId xmlns:p14="http://schemas.microsoft.com/office/powerpoint/2010/main" val="907206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400" b="1" dirty="0">
                <a:solidFill>
                  <a:schemeClr val="tx1">
                    <a:lumMod val="75000"/>
                    <a:lumOff val="25000"/>
                  </a:schemeClr>
                </a:solidFill>
              </a:rPr>
              <a:t>U.S. Army Corps of Engineers Los Angeles District</a:t>
            </a:r>
            <a:endParaRPr lang="en-US" sz="2400" b="1" dirty="0">
              <a:solidFill>
                <a:srgbClr val="FF0000"/>
              </a:solidFill>
            </a:endParaRPr>
          </a:p>
        </p:txBody>
      </p:sp>
      <p:sp>
        <p:nvSpPr>
          <p:cNvPr id="3" name="Date Placeholder 2"/>
          <p:cNvSpPr>
            <a:spLocks noGrp="1"/>
          </p:cNvSpPr>
          <p:nvPr>
            <p:ph type="dt" sz="half" idx="2"/>
          </p:nvPr>
        </p:nvSpPr>
        <p:spPr>
          <a:xfrm>
            <a:off x="9182100" y="6640512"/>
            <a:ext cx="2743200" cy="182880"/>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9225A36-843B-4599-BB9E-3A5ED1D8C4B7}" type="datetime1">
              <a:rPr kumimoji="0" lang="en-US" sz="900" b="0" i="0" u="none" strike="noStrike" kern="1200" cap="none" spc="0" normalizeH="0" baseline="0" noProof="0" smtClean="0">
                <a:ln>
                  <a:noFill/>
                </a:ln>
                <a:solidFill>
                  <a:srgbClr val="221F20">
                    <a:tint val="75000"/>
                  </a:srgb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3/6/2025</a:t>
            </a:fld>
            <a:endParaRPr kumimoji="0" lang="en-US" sz="900" b="0" i="0" u="none" strike="noStrike" kern="1200" cap="none" spc="0" normalizeH="0" baseline="0" noProof="0" dirty="0">
              <a:ln>
                <a:noFill/>
              </a:ln>
              <a:solidFill>
                <a:srgbClr val="221F20">
                  <a:tint val="75000"/>
                </a:srgbClr>
              </a:solidFill>
              <a:effectLst/>
              <a:uLnTx/>
              <a:uFillTx/>
              <a:latin typeface="Arial"/>
              <a:ea typeface="+mn-ea"/>
              <a:cs typeface="+mn-cs"/>
            </a:endParaRPr>
          </a:p>
        </p:txBody>
      </p:sp>
      <p:sp>
        <p:nvSpPr>
          <p:cNvPr id="9" name="Rectangle 8">
            <a:extLst>
              <a:ext uri="{FF2B5EF4-FFF2-40B4-BE49-F238E27FC236}">
                <a16:creationId xmlns:a16="http://schemas.microsoft.com/office/drawing/2014/main" id="{3A0F0A6D-8896-DACB-1C3B-A81ED8FB264C}"/>
              </a:ext>
            </a:extLst>
          </p:cNvPr>
          <p:cNvSpPr/>
          <p:nvPr/>
        </p:nvSpPr>
        <p:spPr>
          <a:xfrm>
            <a:off x="4890645" y="706527"/>
            <a:ext cx="2826351"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66FF"/>
                </a:solidFill>
                <a:effectLst/>
                <a:uLnTx/>
                <a:uFillTx/>
                <a:latin typeface="Arial"/>
                <a:ea typeface="+mn-ea"/>
                <a:cs typeface="+mn-cs"/>
                <a:hlinkClick r:id="rId3"/>
              </a:rPr>
              <a:t>www.spl.usace.army.mil</a:t>
            </a:r>
            <a:endParaRPr kumimoji="0" lang="en-US" sz="1800" b="1" i="0" u="none" strike="noStrike" kern="1200" cap="none" spc="0" normalizeH="0" baseline="0" noProof="0" dirty="0">
              <a:ln>
                <a:noFill/>
              </a:ln>
              <a:solidFill>
                <a:srgbClr val="0066FF"/>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1938741D-8F2C-45B9-452F-A1518A0B2AD5}"/>
              </a:ext>
            </a:extLst>
          </p:cNvPr>
          <p:cNvGrpSpPr/>
          <p:nvPr/>
        </p:nvGrpSpPr>
        <p:grpSpPr>
          <a:xfrm>
            <a:off x="4022268" y="1254114"/>
            <a:ext cx="4280598" cy="1402499"/>
            <a:chOff x="2391500" y="961846"/>
            <a:chExt cx="4280598" cy="1402499"/>
          </a:xfrm>
        </p:grpSpPr>
        <p:sp>
          <p:nvSpPr>
            <p:cNvPr id="11" name="Rectangle 10">
              <a:extLst>
                <a:ext uri="{FF2B5EF4-FFF2-40B4-BE49-F238E27FC236}">
                  <a16:creationId xmlns:a16="http://schemas.microsoft.com/office/drawing/2014/main" id="{AC0B8F01-BE5B-8699-B47D-6EE4AFE11BC3}"/>
                </a:ext>
              </a:extLst>
            </p:cNvPr>
            <p:cNvSpPr/>
            <p:nvPr/>
          </p:nvSpPr>
          <p:spPr>
            <a:xfrm>
              <a:off x="2630382" y="961846"/>
              <a:ext cx="3778180" cy="1228028"/>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COL Andrew Baker</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Commander and District Engineer</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(213) 452-3961</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1F20"/>
                  </a:solidFill>
                  <a:effectLst/>
                  <a:uLnTx/>
                  <a:uFillTx/>
                  <a:latin typeface="Arial"/>
                  <a:ea typeface="+mn-ea"/>
                  <a:cs typeface="+mn-cs"/>
                </a:rPr>
                <a:t>Andrew.J.Baker@usace.army.mil</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727365">
                      <a:lumMod val="50000"/>
                    </a:srgbClr>
                  </a:solidFill>
                  <a:effectLst/>
                  <a:uLnTx/>
                  <a:uFillTx/>
                  <a:latin typeface="Arial"/>
                  <a:ea typeface="+mn-ea"/>
                  <a:cs typeface="+mn-cs"/>
                </a:rPr>
                <a:t> </a:t>
              </a:r>
            </a:p>
            <a:p>
              <a:pPr marL="0" marR="0" lvl="0" indent="0" algn="l" defTabSz="914400" rtl="0" eaLnBrk="1" fontAlgn="auto" latinLnBrk="0" hangingPunct="1">
                <a:lnSpc>
                  <a:spcPct val="90000"/>
                </a:lnSpc>
                <a:spcBef>
                  <a:spcPts val="0"/>
                </a:spcBef>
                <a:spcAft>
                  <a:spcPts val="0"/>
                </a:spcAft>
                <a:buClrTx/>
                <a:buSzTx/>
                <a:buFont typeface="Wingdings" pitchFamily="2" charset="2"/>
                <a:buNone/>
                <a:tabLst/>
                <a:defRPr/>
              </a:pPr>
              <a:endParaRPr kumimoji="0" lang="en-US" sz="1200" b="0" i="0" u="none" strike="noStrike" kern="1200" cap="none" spc="0" normalizeH="0" baseline="0" noProof="0" dirty="0">
                <a:ln>
                  <a:noFill/>
                </a:ln>
                <a:solidFill>
                  <a:srgbClr val="221F20"/>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A00AD0A5-5E36-A4BC-DC18-86C690BCD6BD}"/>
                </a:ext>
              </a:extLst>
            </p:cNvPr>
            <p:cNvSpPr/>
            <p:nvPr/>
          </p:nvSpPr>
          <p:spPr>
            <a:xfrm>
              <a:off x="2391500" y="1773414"/>
              <a:ext cx="4280598" cy="590931"/>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1F20"/>
                  </a:solidFill>
                  <a:effectLst/>
                  <a:uLnTx/>
                  <a:uFillTx/>
                  <a:latin typeface="Arial"/>
                  <a:ea typeface="+mn-ea"/>
                  <a:cs typeface="+mn-cs"/>
                </a:rPr>
                <a:t>Ms. Sally DeSimone, Administrative Assistant</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200" b="0" i="0" u="none" strike="noStrike" kern="1200" cap="none" spc="0" normalizeH="0" baseline="0" noProof="0" dirty="0">
                  <a:ln>
                    <a:noFill/>
                  </a:ln>
                  <a:solidFill>
                    <a:srgbClr val="221F20"/>
                  </a:solidFill>
                  <a:effectLst/>
                  <a:uLnTx/>
                  <a:uFillTx/>
                  <a:latin typeface="Arial"/>
                  <a:ea typeface="+mn-ea"/>
                  <a:cs typeface="+mn-cs"/>
                </a:rPr>
                <a:t>(213) 452-3964</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27365">
                      <a:lumMod val="50000"/>
                    </a:srgbClr>
                  </a:solidFill>
                  <a:effectLst/>
                  <a:uLnTx/>
                  <a:uFillTx/>
                  <a:latin typeface="Arial"/>
                  <a:ea typeface="+mn-ea"/>
                  <a:cs typeface="+mn-cs"/>
                  <a:hlinkClick r:id="rId4"/>
                </a:rPr>
                <a:t>Sally.M.DeSimone@usace.army.mil</a:t>
              </a:r>
              <a:endParaRPr kumimoji="0" lang="en-US" sz="1200" b="0" i="0" u="none" strike="noStrike" kern="1200" cap="none" spc="0" normalizeH="0" baseline="0" noProof="0" dirty="0">
                <a:ln>
                  <a:noFill/>
                </a:ln>
                <a:solidFill>
                  <a:srgbClr val="221F20"/>
                </a:solidFill>
                <a:effectLst/>
                <a:uLnTx/>
                <a:uFillTx/>
                <a:latin typeface="Arial"/>
                <a:ea typeface="+mn-ea"/>
                <a:cs typeface="+mn-cs"/>
              </a:endParaRPr>
            </a:p>
          </p:txBody>
        </p:sp>
      </p:grpSp>
      <p:sp>
        <p:nvSpPr>
          <p:cNvPr id="13" name="Rectangle 12">
            <a:extLst>
              <a:ext uri="{FF2B5EF4-FFF2-40B4-BE49-F238E27FC236}">
                <a16:creationId xmlns:a16="http://schemas.microsoft.com/office/drawing/2014/main" id="{486B07AE-E8C2-8A9B-7E94-5E37EB505F1E}"/>
              </a:ext>
            </a:extLst>
          </p:cNvPr>
          <p:cNvSpPr/>
          <p:nvPr/>
        </p:nvSpPr>
        <p:spPr>
          <a:xfrm>
            <a:off x="3100449" y="5691995"/>
            <a:ext cx="3424776" cy="1034129"/>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Ms. Jennie Ayala</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Outreach Coordinator</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213-452-4018</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727365">
                    <a:lumMod val="50000"/>
                  </a:srgbClr>
                </a:solidFill>
                <a:effectLst/>
                <a:uLnTx/>
                <a:uFillTx/>
                <a:latin typeface="Arial"/>
                <a:ea typeface="+mn-ea"/>
                <a:cs typeface="+mn-cs"/>
                <a:hlinkClick r:id="rId5"/>
              </a:rPr>
              <a:t>Jennie.Ayala@usace.army.mil</a:t>
            </a:r>
            <a:endParaRPr kumimoji="0" lang="en-US" sz="1400" b="0" i="0" u="none" strike="noStrike" kern="1200" cap="none" spc="0" normalizeH="0" baseline="0" noProof="0" dirty="0">
              <a:ln>
                <a:noFill/>
              </a:ln>
              <a:solidFill>
                <a:srgbClr val="727365">
                  <a:lumMod val="50000"/>
                </a:srgbClr>
              </a:solidFill>
              <a:effectLst/>
              <a:uLnTx/>
              <a:uFillTx/>
              <a:latin typeface="Arial"/>
              <a:ea typeface="+mn-ea"/>
              <a:cs typeface="+mn-cs"/>
            </a:endParaRP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endParaRPr kumimoji="0" lang="en-US" sz="1200" b="1" i="0" u="none" strike="noStrike" kern="1200" cap="none" spc="0" normalizeH="0" baseline="0" noProof="0" dirty="0">
              <a:ln>
                <a:noFill/>
              </a:ln>
              <a:solidFill>
                <a:srgbClr val="727365">
                  <a:lumMod val="50000"/>
                </a:srgbClr>
              </a:solidFill>
              <a:effectLst/>
              <a:uLnTx/>
              <a:uFillTx/>
              <a:latin typeface="Arial"/>
              <a:ea typeface="+mn-ea"/>
              <a:cs typeface="+mn-cs"/>
            </a:endParaRPr>
          </a:p>
        </p:txBody>
      </p:sp>
      <p:grpSp>
        <p:nvGrpSpPr>
          <p:cNvPr id="14" name="Group 13">
            <a:extLst>
              <a:ext uri="{FF2B5EF4-FFF2-40B4-BE49-F238E27FC236}">
                <a16:creationId xmlns:a16="http://schemas.microsoft.com/office/drawing/2014/main" id="{288365E7-BF7A-306E-ADC6-ACF2076FAE7E}"/>
              </a:ext>
            </a:extLst>
          </p:cNvPr>
          <p:cNvGrpSpPr/>
          <p:nvPr/>
        </p:nvGrpSpPr>
        <p:grpSpPr>
          <a:xfrm>
            <a:off x="38167" y="2244065"/>
            <a:ext cx="5039592" cy="1681042"/>
            <a:chOff x="3557116" y="2965236"/>
            <a:chExt cx="5586885" cy="1681042"/>
          </a:xfrm>
        </p:grpSpPr>
        <p:sp>
          <p:nvSpPr>
            <p:cNvPr id="15" name="Rectangle 14">
              <a:extLst>
                <a:ext uri="{FF2B5EF4-FFF2-40B4-BE49-F238E27FC236}">
                  <a16:creationId xmlns:a16="http://schemas.microsoft.com/office/drawing/2014/main" id="{F223D241-29AD-6478-5BF9-AF75616FC95B}"/>
                </a:ext>
              </a:extLst>
            </p:cNvPr>
            <p:cNvSpPr/>
            <p:nvPr/>
          </p:nvSpPr>
          <p:spPr>
            <a:xfrm>
              <a:off x="3557116" y="2965236"/>
              <a:ext cx="5586885" cy="1061829"/>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Mr. Justin Gay</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Deputy District Engineer for Programs</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and Project Management</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(213) 369-0271</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justin.gay@usace.army.mil</a:t>
              </a:r>
            </a:p>
          </p:txBody>
        </p:sp>
        <p:sp>
          <p:nvSpPr>
            <p:cNvPr id="16" name="Rectangle 15">
              <a:extLst>
                <a:ext uri="{FF2B5EF4-FFF2-40B4-BE49-F238E27FC236}">
                  <a16:creationId xmlns:a16="http://schemas.microsoft.com/office/drawing/2014/main" id="{84558898-2CFC-7C27-C46A-9D94DBA80509}"/>
                </a:ext>
              </a:extLst>
            </p:cNvPr>
            <p:cNvSpPr/>
            <p:nvPr/>
          </p:nvSpPr>
          <p:spPr>
            <a:xfrm>
              <a:off x="4428810" y="3972247"/>
              <a:ext cx="3843496" cy="674031"/>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221F20"/>
                  </a:solidFill>
                  <a:effectLst/>
                  <a:uLnTx/>
                  <a:uFillTx/>
                  <a:latin typeface="Arial"/>
                  <a:ea typeface="+mn-ea"/>
                  <a:cs typeface="+mn-cs"/>
                </a:rPr>
                <a:t>Kenneth Reed, Administrative Assistant</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221F20"/>
                  </a:solidFill>
                  <a:effectLst/>
                  <a:uLnTx/>
                  <a:uFillTx/>
                  <a:latin typeface="Arial"/>
                  <a:ea typeface="+mn-ea"/>
                  <a:cs typeface="+mn-cs"/>
                </a:rPr>
                <a:t>(213) 452-3974</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221F20"/>
                  </a:solidFill>
                  <a:effectLst/>
                  <a:uLnTx/>
                  <a:uFillTx/>
                  <a:latin typeface="Arial"/>
                  <a:ea typeface="+mn-ea"/>
                  <a:cs typeface="+mn-cs"/>
                  <a:hlinkClick r:id="rId6"/>
                </a:rPr>
                <a:t>Kenneth.Reed@usace.army.mil</a:t>
              </a:r>
              <a:endParaRPr kumimoji="0" lang="en-US" sz="1400" b="0" i="0" u="none" strike="noStrike" kern="1200" cap="none" spc="0" normalizeH="0" baseline="0" noProof="0" dirty="0">
                <a:ln>
                  <a:noFill/>
                </a:ln>
                <a:solidFill>
                  <a:srgbClr val="221F20"/>
                </a:solidFill>
                <a:effectLst/>
                <a:uLnTx/>
                <a:uFillTx/>
                <a:latin typeface="Arial"/>
                <a:ea typeface="+mn-ea"/>
                <a:cs typeface="+mn-cs"/>
              </a:endParaRPr>
            </a:p>
          </p:txBody>
        </p:sp>
      </p:grpSp>
      <p:grpSp>
        <p:nvGrpSpPr>
          <p:cNvPr id="17" name="Group 16">
            <a:extLst>
              <a:ext uri="{FF2B5EF4-FFF2-40B4-BE49-F238E27FC236}">
                <a16:creationId xmlns:a16="http://schemas.microsoft.com/office/drawing/2014/main" id="{5818F8D7-42E0-21F0-CC80-A9E2258B9988}"/>
              </a:ext>
            </a:extLst>
          </p:cNvPr>
          <p:cNvGrpSpPr/>
          <p:nvPr/>
        </p:nvGrpSpPr>
        <p:grpSpPr>
          <a:xfrm>
            <a:off x="7382459" y="2402692"/>
            <a:ext cx="4218467" cy="1449628"/>
            <a:chOff x="2319964" y="4973376"/>
            <a:chExt cx="4027050" cy="1449628"/>
          </a:xfrm>
        </p:grpSpPr>
        <p:sp>
          <p:nvSpPr>
            <p:cNvPr id="18" name="Rectangle 17">
              <a:extLst>
                <a:ext uri="{FF2B5EF4-FFF2-40B4-BE49-F238E27FC236}">
                  <a16:creationId xmlns:a16="http://schemas.microsoft.com/office/drawing/2014/main" id="{D0904C65-DA5D-86F7-1B0F-E4B4D93BE11E}"/>
                </a:ext>
              </a:extLst>
            </p:cNvPr>
            <p:cNvSpPr/>
            <p:nvPr/>
          </p:nvSpPr>
          <p:spPr>
            <a:xfrm>
              <a:off x="2319964" y="4973376"/>
              <a:ext cx="4027050" cy="1449628"/>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Ms. Lisa A. Lugar</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Executive Assistant to the Commander</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1" i="0" u="none" strike="noStrike" kern="1200" cap="none" spc="0" normalizeH="0" baseline="0" noProof="0" dirty="0">
                  <a:ln>
                    <a:noFill/>
                  </a:ln>
                  <a:solidFill>
                    <a:srgbClr val="221F20"/>
                  </a:solidFill>
                  <a:effectLst/>
                  <a:uLnTx/>
                  <a:uFillTx/>
                  <a:latin typeface="Arial"/>
                  <a:ea typeface="+mn-ea"/>
                  <a:cs typeface="+mn-cs"/>
                </a:rPr>
                <a:t>(213) 452-3963</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727365">
                      <a:lumMod val="50000"/>
                    </a:srgbClr>
                  </a:solidFill>
                  <a:effectLst/>
                  <a:uLnTx/>
                  <a:uFillTx/>
                  <a:latin typeface="Arial"/>
                  <a:ea typeface="+mn-ea"/>
                  <a:cs typeface="+mn-cs"/>
                  <a:hlinkClick r:id="rId7"/>
                </a:rPr>
                <a:t>Lisa.A.Lugar@usace.army.mil</a:t>
              </a:r>
              <a:endParaRPr kumimoji="0" lang="en-US" sz="1400" b="0" i="0" u="none" strike="noStrike" kern="1200" cap="none" spc="0" normalizeH="0" baseline="0" noProof="0" dirty="0">
                <a:ln>
                  <a:noFill/>
                </a:ln>
                <a:solidFill>
                  <a:srgbClr val="727365">
                    <a:lumMod val="50000"/>
                  </a:srgbClr>
                </a:solidFill>
                <a:effectLst/>
                <a:uLnTx/>
                <a:uFillTx/>
                <a:latin typeface="Arial"/>
                <a:ea typeface="+mn-ea"/>
                <a:cs typeface="+mn-cs"/>
              </a:endParaRP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727365">
                      <a:lumMod val="50000"/>
                    </a:srgbClr>
                  </a:solidFill>
                  <a:effectLst/>
                  <a:uLnTx/>
                  <a:uFillTx/>
                  <a:latin typeface="Arial"/>
                  <a:ea typeface="+mn-ea"/>
                  <a:cs typeface="+mn-cs"/>
                </a:rPr>
                <a:t>Andrew Rios, Administrative Assistant</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727365">
                      <a:lumMod val="50000"/>
                    </a:srgbClr>
                  </a:solidFill>
                  <a:effectLst/>
                  <a:uLnTx/>
                  <a:uFillTx/>
                  <a:latin typeface="Arial"/>
                  <a:ea typeface="+mn-ea"/>
                  <a:cs typeface="+mn-cs"/>
                </a:rPr>
                <a:t>(213) 452-3965</a:t>
              </a:r>
            </a:p>
            <a:p>
              <a:pPr marL="0" marR="0" lvl="0" indent="0" algn="ctr" defTabSz="914400" rtl="0" eaLnBrk="1" fontAlgn="auto" latinLnBrk="0" hangingPunct="1">
                <a:lnSpc>
                  <a:spcPct val="90000"/>
                </a:lnSpc>
                <a:spcBef>
                  <a:spcPts val="0"/>
                </a:spcBef>
                <a:spcAft>
                  <a:spcPts val="0"/>
                </a:spcAft>
                <a:buClrTx/>
                <a:buSzTx/>
                <a:buFont typeface="Wingdings" pitchFamily="2" charset="2"/>
                <a:buNone/>
                <a:tabLst/>
                <a:defRPr/>
              </a:pPr>
              <a:r>
                <a:rPr kumimoji="0" lang="en-US" sz="1400" b="0" i="0" u="none" strike="noStrike" kern="1200" cap="none" spc="0" normalizeH="0" baseline="0" noProof="0" dirty="0">
                  <a:ln>
                    <a:noFill/>
                  </a:ln>
                  <a:solidFill>
                    <a:srgbClr val="727365">
                      <a:lumMod val="50000"/>
                    </a:srgbClr>
                  </a:solidFill>
                  <a:effectLst/>
                  <a:uLnTx/>
                  <a:uFillTx/>
                  <a:latin typeface="Arial"/>
                  <a:ea typeface="+mn-ea"/>
                  <a:cs typeface="+mn-cs"/>
                </a:rPr>
                <a:t>Andrew.A.Rios@usace.army.mil</a:t>
              </a:r>
            </a:p>
          </p:txBody>
        </p:sp>
        <p:sp>
          <p:nvSpPr>
            <p:cNvPr id="19" name="Rectangle 18">
              <a:extLst>
                <a:ext uri="{FF2B5EF4-FFF2-40B4-BE49-F238E27FC236}">
                  <a16:creationId xmlns:a16="http://schemas.microsoft.com/office/drawing/2014/main" id="{5FD9CFD6-7040-9172-D33C-8897786AE25C}"/>
                </a:ext>
              </a:extLst>
            </p:cNvPr>
            <p:cNvSpPr/>
            <p:nvPr/>
          </p:nvSpPr>
          <p:spPr>
            <a:xfrm>
              <a:off x="2887789" y="5619939"/>
              <a:ext cx="3340014" cy="258532"/>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21F20"/>
                  </a:solidFill>
                  <a:effectLst/>
                  <a:uLnTx/>
                  <a:uFillTx/>
                  <a:latin typeface="Arial"/>
                  <a:ea typeface="+mn-ea"/>
                  <a:cs typeface="+mn-cs"/>
                </a:rPr>
                <a:t> </a:t>
              </a:r>
            </a:p>
          </p:txBody>
        </p:sp>
      </p:grpSp>
      <p:sp>
        <p:nvSpPr>
          <p:cNvPr id="23" name="TextBox 22">
            <a:extLst>
              <a:ext uri="{FF2B5EF4-FFF2-40B4-BE49-F238E27FC236}">
                <a16:creationId xmlns:a16="http://schemas.microsoft.com/office/drawing/2014/main" id="{B331D9C0-E4FF-02CE-6BCE-6028FAC017DA}"/>
              </a:ext>
            </a:extLst>
          </p:cNvPr>
          <p:cNvSpPr txBox="1"/>
          <p:nvPr/>
        </p:nvSpPr>
        <p:spPr>
          <a:xfrm>
            <a:off x="7250545" y="5621933"/>
            <a:ext cx="4470399" cy="954107"/>
          </a:xfrm>
          <a:prstGeom prst="rect">
            <a:avLst/>
          </a:prstGeom>
          <a:noFill/>
        </p:spPr>
        <p:txBody>
          <a:bodyPr wrap="square">
            <a:spAutoFit/>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00000"/>
                </a:solidFill>
                <a:latin typeface="Arial"/>
              </a:rPr>
              <a:t>Roger Minami</a:t>
            </a:r>
            <a:endParaRPr kumimoji="0" lang="en-US" sz="1400" b="1" i="0" u="none" strike="noStrike" kern="1200" cap="none" spc="0" normalizeH="0" baseline="0" noProof="0" dirty="0">
              <a:ln>
                <a:noFill/>
              </a:ln>
              <a:solidFill>
                <a:srgbClr val="000000"/>
              </a:solidFill>
              <a:effectLst/>
              <a:uLnTx/>
              <a:uFillTx/>
              <a:latin typeface="Arial"/>
              <a:ea typeface="+mn-ea"/>
              <a:cs typeface="+mn-cs"/>
            </a:endParaRPr>
          </a:p>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00000"/>
                </a:solidFill>
                <a:latin typeface="Arial"/>
              </a:rPr>
              <a:t>Procurement Analyst</a:t>
            </a:r>
            <a:r>
              <a:rPr kumimoji="0" lang="en-US" sz="1400" b="1" i="0" u="none" strike="noStrike" kern="1200" cap="none" spc="0" normalizeH="0" baseline="0" noProof="0" dirty="0">
                <a:ln>
                  <a:noFill/>
                </a:ln>
                <a:solidFill>
                  <a:srgbClr val="000000"/>
                </a:solidFill>
                <a:effectLst/>
                <a:uLnTx/>
                <a:uFillTx/>
                <a:latin typeface="Arial"/>
                <a:ea typeface="+mn-ea"/>
                <a:cs typeface="+mn-cs"/>
              </a:rPr>
              <a:t>, Office of SB Programs</a:t>
            </a:r>
          </a:p>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Kinya.r.Minami@usace.army.mil</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pic>
        <p:nvPicPr>
          <p:cNvPr id="4" name="Picture 3">
            <a:extLst>
              <a:ext uri="{FF2B5EF4-FFF2-40B4-BE49-F238E27FC236}">
                <a16:creationId xmlns:a16="http://schemas.microsoft.com/office/drawing/2014/main" id="{BFE3057E-2E20-89AC-97AB-7868EBAC0A50}"/>
              </a:ext>
            </a:extLst>
          </p:cNvPr>
          <p:cNvPicPr>
            <a:picLocks noChangeAspect="1"/>
          </p:cNvPicPr>
          <p:nvPr/>
        </p:nvPicPr>
        <p:blipFill>
          <a:blip r:embed="rId8"/>
          <a:stretch>
            <a:fillRect/>
          </a:stretch>
        </p:blipFill>
        <p:spPr>
          <a:xfrm>
            <a:off x="5093475" y="2771162"/>
            <a:ext cx="1395731" cy="1475175"/>
          </a:xfrm>
          <a:prstGeom prst="rect">
            <a:avLst/>
          </a:prstGeom>
        </p:spPr>
      </p:pic>
      <p:pic>
        <p:nvPicPr>
          <p:cNvPr id="5" name="Picture 4">
            <a:extLst>
              <a:ext uri="{FF2B5EF4-FFF2-40B4-BE49-F238E27FC236}">
                <a16:creationId xmlns:a16="http://schemas.microsoft.com/office/drawing/2014/main" id="{608F17FA-7959-FC10-1FAD-98BA5D24BA5C}"/>
              </a:ext>
            </a:extLst>
          </p:cNvPr>
          <p:cNvPicPr>
            <a:picLocks noChangeAspect="1"/>
          </p:cNvPicPr>
          <p:nvPr/>
        </p:nvPicPr>
        <p:blipFill>
          <a:blip r:embed="rId9"/>
          <a:stretch>
            <a:fillRect/>
          </a:stretch>
        </p:blipFill>
        <p:spPr>
          <a:xfrm>
            <a:off x="5761046" y="4177126"/>
            <a:ext cx="1426464" cy="1584081"/>
          </a:xfrm>
          <a:prstGeom prst="rect">
            <a:avLst/>
          </a:prstGeom>
        </p:spPr>
      </p:pic>
      <p:pic>
        <p:nvPicPr>
          <p:cNvPr id="7" name="Picture 6">
            <a:extLst>
              <a:ext uri="{FF2B5EF4-FFF2-40B4-BE49-F238E27FC236}">
                <a16:creationId xmlns:a16="http://schemas.microsoft.com/office/drawing/2014/main" id="{1B828F0C-BCC6-BA43-3C56-D702E6D8A042}"/>
              </a:ext>
            </a:extLst>
          </p:cNvPr>
          <p:cNvPicPr>
            <a:picLocks noChangeAspect="1"/>
          </p:cNvPicPr>
          <p:nvPr/>
        </p:nvPicPr>
        <p:blipFill>
          <a:blip r:embed="rId10"/>
          <a:stretch>
            <a:fillRect/>
          </a:stretch>
        </p:blipFill>
        <p:spPr>
          <a:xfrm>
            <a:off x="370676" y="1152945"/>
            <a:ext cx="11450648" cy="5544324"/>
          </a:xfrm>
          <a:prstGeom prst="rect">
            <a:avLst/>
          </a:prstGeom>
        </p:spPr>
      </p:pic>
    </p:spTree>
    <p:extLst>
      <p:ext uri="{BB962C8B-B14F-4D97-AF65-F5344CB8AC3E}">
        <p14:creationId xmlns:p14="http://schemas.microsoft.com/office/powerpoint/2010/main" val="1865795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a:t>Prime Contracting Opportunities: IIS Interagency &amp; international Services (Subject to Change)</a:t>
            </a:r>
          </a:p>
        </p:txBody>
      </p:sp>
      <p:sp>
        <p:nvSpPr>
          <p:cNvPr id="3" name="Date Placeholder 2"/>
          <p:cNvSpPr>
            <a:spLocks noGrp="1"/>
          </p:cNvSpPr>
          <p:nvPr>
            <p:ph type="dt" sz="half" idx="2"/>
          </p:nvPr>
        </p:nvSpPr>
        <p:spPr>
          <a:xfrm>
            <a:off x="9182100" y="6640512"/>
            <a:ext cx="2743200" cy="182880"/>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9225A36-843B-4599-BB9E-3A5ED1D8C4B7}" type="datetime1">
              <a:rPr kumimoji="0" lang="en-US" sz="900" b="0" i="0" u="none" strike="noStrike" kern="1200" cap="none" spc="0" normalizeH="0" baseline="0" noProof="0" smtClean="0">
                <a:ln>
                  <a:noFill/>
                </a:ln>
                <a:solidFill>
                  <a:srgbClr val="221F20">
                    <a:tint val="75000"/>
                  </a:srgb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3/6/2025</a:t>
            </a:fld>
            <a:endParaRPr kumimoji="0" lang="en-US" sz="900" b="0" i="0" u="none" strike="noStrike" kern="1200" cap="none" spc="0" normalizeH="0" baseline="0" noProof="0" dirty="0">
              <a:ln>
                <a:noFill/>
              </a:ln>
              <a:solidFill>
                <a:srgbClr val="221F20">
                  <a:tint val="75000"/>
                </a:srgbClr>
              </a:solidFill>
              <a:effectLst/>
              <a:uLnTx/>
              <a:uFillTx/>
              <a:latin typeface="Arial"/>
              <a:ea typeface="+mn-ea"/>
              <a:cs typeface="+mn-cs"/>
            </a:endParaRPr>
          </a:p>
        </p:txBody>
      </p:sp>
      <p:graphicFrame>
        <p:nvGraphicFramePr>
          <p:cNvPr id="4" name="Table 3">
            <a:extLst>
              <a:ext uri="{FF2B5EF4-FFF2-40B4-BE49-F238E27FC236}">
                <a16:creationId xmlns:a16="http://schemas.microsoft.com/office/drawing/2014/main" id="{2D9F87E2-F3AD-919B-E18D-749AAF88CEE6}"/>
              </a:ext>
            </a:extLst>
          </p:cNvPr>
          <p:cNvGraphicFramePr>
            <a:graphicFrameLocks noGrp="1"/>
          </p:cNvGraphicFramePr>
          <p:nvPr>
            <p:extLst>
              <p:ext uri="{D42A27DB-BD31-4B8C-83A1-F6EECF244321}">
                <p14:modId xmlns:p14="http://schemas.microsoft.com/office/powerpoint/2010/main" val="3828312328"/>
              </p:ext>
            </p:extLst>
          </p:nvPr>
        </p:nvGraphicFramePr>
        <p:xfrm>
          <a:off x="603680" y="1344820"/>
          <a:ext cx="10804124" cy="4846320"/>
        </p:xfrm>
        <a:graphic>
          <a:graphicData uri="http://schemas.openxmlformats.org/drawingml/2006/table">
            <a:tbl>
              <a:tblPr firstRow="1" bandRow="1">
                <a:tableStyleId>{5C22544A-7EE6-4342-B048-85BDC9FD1C3A}</a:tableStyleId>
              </a:tblPr>
              <a:tblGrid>
                <a:gridCol w="2701031">
                  <a:extLst>
                    <a:ext uri="{9D8B030D-6E8A-4147-A177-3AD203B41FA5}">
                      <a16:colId xmlns:a16="http://schemas.microsoft.com/office/drawing/2014/main" val="1529333254"/>
                    </a:ext>
                  </a:extLst>
                </a:gridCol>
                <a:gridCol w="5137953">
                  <a:extLst>
                    <a:ext uri="{9D8B030D-6E8A-4147-A177-3AD203B41FA5}">
                      <a16:colId xmlns:a16="http://schemas.microsoft.com/office/drawing/2014/main" val="2973224265"/>
                    </a:ext>
                  </a:extLst>
                </a:gridCol>
                <a:gridCol w="1227809">
                  <a:extLst>
                    <a:ext uri="{9D8B030D-6E8A-4147-A177-3AD203B41FA5}">
                      <a16:colId xmlns:a16="http://schemas.microsoft.com/office/drawing/2014/main" val="1551545515"/>
                    </a:ext>
                  </a:extLst>
                </a:gridCol>
                <a:gridCol w="1737331">
                  <a:extLst>
                    <a:ext uri="{9D8B030D-6E8A-4147-A177-3AD203B41FA5}">
                      <a16:colId xmlns:a16="http://schemas.microsoft.com/office/drawing/2014/main" val="1027875848"/>
                    </a:ext>
                  </a:extLst>
                </a:gridCol>
              </a:tblGrid>
              <a:tr h="504034">
                <a:tc>
                  <a:txBody>
                    <a:bodyPr/>
                    <a:lstStyle/>
                    <a:p>
                      <a:r>
                        <a:rPr lang="en-US" sz="1400" b="1" dirty="0">
                          <a:solidFill>
                            <a:schemeClr val="tx2"/>
                          </a:solidFill>
                        </a:rPr>
                        <a:t>Project</a:t>
                      </a:r>
                    </a:p>
                  </a:txBody>
                  <a:tcPr/>
                </a:tc>
                <a:tc>
                  <a:txBody>
                    <a:bodyPr/>
                    <a:lstStyle/>
                    <a:p>
                      <a:r>
                        <a:rPr lang="en-US" sz="1400" b="1" dirty="0">
                          <a:solidFill>
                            <a:schemeClr val="tx2"/>
                          </a:solidFill>
                        </a:rPr>
                        <a:t>Description</a:t>
                      </a:r>
                    </a:p>
                  </a:txBody>
                  <a:tcPr/>
                </a:tc>
                <a:tc>
                  <a:txBody>
                    <a:bodyPr/>
                    <a:lstStyle/>
                    <a:p>
                      <a:r>
                        <a:rPr lang="en-US" sz="1400" b="1" dirty="0">
                          <a:solidFill>
                            <a:schemeClr val="tx2"/>
                          </a:solidFill>
                        </a:rPr>
                        <a:t>Advertise on SAM.GOV</a:t>
                      </a:r>
                    </a:p>
                  </a:txBody>
                  <a:tcPr/>
                </a:tc>
                <a:tc>
                  <a:txBody>
                    <a:bodyPr/>
                    <a:lstStyle/>
                    <a:p>
                      <a:r>
                        <a:rPr lang="en-US" sz="1400" b="1" dirty="0">
                          <a:solidFill>
                            <a:schemeClr val="tx2"/>
                          </a:solidFill>
                        </a:rPr>
                        <a:t>Range</a:t>
                      </a:r>
                    </a:p>
                  </a:txBody>
                  <a:tcPr/>
                </a:tc>
                <a:extLst>
                  <a:ext uri="{0D108BD9-81ED-4DB2-BD59-A6C34878D82A}">
                    <a16:rowId xmlns:a16="http://schemas.microsoft.com/office/drawing/2014/main" val="4245730680"/>
                  </a:ext>
                </a:extLst>
              </a:tr>
              <a:tr h="925308">
                <a:tc>
                  <a:txBody>
                    <a:bodyPr/>
                    <a:lstStyle/>
                    <a:p>
                      <a:pPr algn="l"/>
                      <a:r>
                        <a:rPr lang="en-US" sz="1400" b="0" dirty="0">
                          <a:solidFill>
                            <a:schemeClr val="tx1"/>
                          </a:solidFill>
                        </a:rPr>
                        <a:t>Modernize and Upgrade New Pumphouse and Substation</a:t>
                      </a:r>
                    </a:p>
                    <a:p>
                      <a:endParaRPr lang="en-US" sz="1400" b="0" dirty="0">
                        <a:solidFill>
                          <a:schemeClr val="tx1"/>
                        </a:solidFill>
                      </a:endParaRPr>
                    </a:p>
                    <a:p>
                      <a:r>
                        <a:rPr lang="en-US" sz="1400" b="0" dirty="0">
                          <a:solidFill>
                            <a:schemeClr val="tx1"/>
                          </a:solidFill>
                        </a:rPr>
                        <a:t>Long Beach VA</a:t>
                      </a:r>
                    </a:p>
                  </a:txBody>
                  <a:tcPr/>
                </a:tc>
                <a:tc>
                  <a:txBody>
                    <a:bodyPr/>
                    <a:lstStyle/>
                    <a:p>
                      <a:r>
                        <a:rPr lang="en-US" sz="1400" dirty="0"/>
                        <a:t>(W912PL24B0005 in SAM), New combined pumphouse and substation, followed by demolition of the building 125 pumphouse and substation 12A (Dina Aman)</a:t>
                      </a:r>
                    </a:p>
                    <a:p>
                      <a:endParaRPr lang="en-US" sz="1400" dirty="0"/>
                    </a:p>
                  </a:txBody>
                  <a:tcPr/>
                </a:tc>
                <a:tc>
                  <a:txBody>
                    <a:bodyPr/>
                    <a:lstStyle/>
                    <a:p>
                      <a:r>
                        <a:rPr lang="en-US" sz="1400" b="0" dirty="0">
                          <a:solidFill>
                            <a:schemeClr val="tx1"/>
                          </a:solidFill>
                        </a:rPr>
                        <a:t>Q3-4, FY25</a:t>
                      </a:r>
                    </a:p>
                    <a:p>
                      <a:r>
                        <a:rPr lang="en-US" sz="1400" b="0" dirty="0">
                          <a:solidFill>
                            <a:schemeClr val="tx1"/>
                          </a:solidFill>
                        </a:rPr>
                        <a:t>SBSA</a:t>
                      </a:r>
                    </a:p>
                  </a:txBody>
                  <a:tcPr/>
                </a:tc>
                <a:tc>
                  <a:txBody>
                    <a:bodyPr/>
                    <a:lstStyle/>
                    <a:p>
                      <a:r>
                        <a:rPr lang="en-US" sz="1400" b="0" dirty="0">
                          <a:solidFill>
                            <a:schemeClr val="tx1"/>
                          </a:solidFill>
                        </a:rPr>
                        <a:t>$10M-$25M</a:t>
                      </a:r>
                    </a:p>
                  </a:txBody>
                  <a:tcPr/>
                </a:tc>
                <a:extLst>
                  <a:ext uri="{0D108BD9-81ED-4DB2-BD59-A6C34878D82A}">
                    <a16:rowId xmlns:a16="http://schemas.microsoft.com/office/drawing/2014/main" val="3347477917"/>
                  </a:ext>
                </a:extLst>
              </a:tr>
              <a:tr h="1334207">
                <a:tc>
                  <a:txBody>
                    <a:bodyPr/>
                    <a:lstStyle/>
                    <a:p>
                      <a:r>
                        <a:rPr lang="en-US" sz="1400" b="0" dirty="0">
                          <a:solidFill>
                            <a:schemeClr val="tx1"/>
                          </a:solidFill>
                        </a:rPr>
                        <a:t>Upgrade Central Chiller Plant and DDC Controls</a:t>
                      </a:r>
                    </a:p>
                    <a:p>
                      <a:endParaRPr lang="en-US" sz="1400" b="0" dirty="0">
                        <a:solidFill>
                          <a:schemeClr val="tx1"/>
                        </a:solidFill>
                      </a:endParaRPr>
                    </a:p>
                    <a:p>
                      <a:endParaRPr lang="en-US" sz="1400" b="0" dirty="0">
                        <a:solidFill>
                          <a:schemeClr val="tx1"/>
                        </a:solidFill>
                      </a:endParaRPr>
                    </a:p>
                    <a:p>
                      <a:endParaRPr lang="en-US" sz="1400" b="0" dirty="0">
                        <a:solidFill>
                          <a:schemeClr val="tx1"/>
                        </a:solidFill>
                      </a:endParaRPr>
                    </a:p>
                    <a:p>
                      <a:r>
                        <a:rPr lang="en-US" sz="1400" b="0" dirty="0">
                          <a:solidFill>
                            <a:schemeClr val="tx1"/>
                          </a:solidFill>
                        </a:rPr>
                        <a:t>Long Beach VA</a:t>
                      </a:r>
                    </a:p>
                  </a:txBody>
                  <a:tcPr/>
                </a:tc>
                <a:tc>
                  <a:txBody>
                    <a:bodyPr/>
                    <a:lstStyle/>
                    <a:p>
                      <a:r>
                        <a:rPr lang="en-US" sz="1400" dirty="0"/>
                        <a:t>(W912PL24B0004 in SAM), Replace the existing chillers, upgrade/refurbish existing cooling towers, upgrade/replace the primary, secondary chilled water pumps and condenser water pumps (Dina Aman)</a:t>
                      </a:r>
                      <a:endParaRPr lang="en-US" sz="1400" b="0" dirty="0">
                        <a:solidFill>
                          <a:schemeClr val="tx1"/>
                        </a:solidFill>
                      </a:endParaRPr>
                    </a:p>
                  </a:txBody>
                  <a:tcPr/>
                </a:tc>
                <a:tc>
                  <a:txBody>
                    <a:bodyPr/>
                    <a:lstStyle/>
                    <a:p>
                      <a:r>
                        <a:rPr lang="en-US" sz="1400" b="0" dirty="0">
                          <a:solidFill>
                            <a:schemeClr val="tx1"/>
                          </a:solidFill>
                        </a:rPr>
                        <a:t>Q3-4, FY25</a:t>
                      </a:r>
                    </a:p>
                    <a:p>
                      <a:r>
                        <a:rPr lang="en-US" sz="1400" b="0" dirty="0">
                          <a:solidFill>
                            <a:schemeClr val="tx1"/>
                          </a:solidFill>
                        </a:rPr>
                        <a:t>SDVOSB</a:t>
                      </a:r>
                    </a:p>
                    <a:p>
                      <a:endParaRPr lang="en-US" sz="1400" b="0" dirty="0">
                        <a:solidFill>
                          <a:schemeClr val="tx1"/>
                        </a:solidFill>
                      </a:endParaRP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$5M-$10M</a:t>
                      </a:r>
                    </a:p>
                    <a:p>
                      <a:endParaRPr lang="en-US" sz="1400" b="0" dirty="0">
                        <a:solidFill>
                          <a:schemeClr val="tx1"/>
                        </a:solidFill>
                      </a:endParaRPr>
                    </a:p>
                  </a:txBody>
                  <a:tcPr/>
                </a:tc>
                <a:extLst>
                  <a:ext uri="{0D108BD9-81ED-4DB2-BD59-A6C34878D82A}">
                    <a16:rowId xmlns:a16="http://schemas.microsoft.com/office/drawing/2014/main" val="1964914952"/>
                  </a:ext>
                </a:extLst>
              </a:tr>
              <a:tr h="1786307">
                <a:tc>
                  <a:txBody>
                    <a:bodyPr/>
                    <a:lstStyle/>
                    <a:p>
                      <a:r>
                        <a:rPr lang="en-US" sz="1400" b="0" dirty="0">
                          <a:solidFill>
                            <a:schemeClr val="tx1"/>
                          </a:solidFill>
                        </a:rPr>
                        <a:t>Environmental Services</a:t>
                      </a:r>
                    </a:p>
                    <a:p>
                      <a:endParaRPr lang="en-US" sz="1400" b="0" dirty="0">
                        <a:solidFill>
                          <a:schemeClr val="tx1"/>
                        </a:solidFill>
                      </a:endParaRPr>
                    </a:p>
                    <a:p>
                      <a:endParaRPr lang="en-US" sz="1400" b="0" dirty="0">
                        <a:solidFill>
                          <a:schemeClr val="tx1"/>
                        </a:solidFill>
                      </a:endParaRPr>
                    </a:p>
                    <a:p>
                      <a:endParaRPr lang="en-US" sz="1400" b="0" dirty="0">
                        <a:solidFill>
                          <a:schemeClr val="tx1"/>
                        </a:solidFill>
                      </a:endParaRPr>
                    </a:p>
                    <a:p>
                      <a:endParaRPr lang="en-US" sz="1400" b="0" dirty="0">
                        <a:solidFill>
                          <a:schemeClr val="tx1"/>
                        </a:solidFill>
                      </a:endParaRPr>
                    </a:p>
                    <a:p>
                      <a:endParaRPr lang="en-US" sz="1400" b="0" dirty="0">
                        <a:solidFill>
                          <a:schemeClr val="tx1"/>
                        </a:solidFill>
                      </a:endParaRPr>
                    </a:p>
                    <a:p>
                      <a:endParaRPr lang="en-US" sz="1400" b="0" dirty="0">
                        <a:solidFill>
                          <a:schemeClr val="tx1"/>
                        </a:solidFill>
                      </a:endParaRPr>
                    </a:p>
                    <a:p>
                      <a:r>
                        <a:rPr lang="en-US" sz="1400" b="0" dirty="0">
                          <a:solidFill>
                            <a:schemeClr val="tx1"/>
                          </a:solidFill>
                        </a:rPr>
                        <a:t>Dewey-Humboldt, AZ</a:t>
                      </a:r>
                    </a:p>
                  </a:txBody>
                  <a:tcPr/>
                </a:tc>
                <a:tc>
                  <a:txBody>
                    <a:bodyPr/>
                    <a:lstStyle/>
                    <a:p>
                      <a:r>
                        <a:rPr lang="en-US" sz="1400" b="0" dirty="0">
                          <a:solidFill>
                            <a:schemeClr val="tx1"/>
                          </a:solidFill>
                        </a:rPr>
                        <a:t>Iron-King Mine-Humboldt Smelter (IKM-HS).</a:t>
                      </a:r>
                    </a:p>
                    <a:p>
                      <a:endParaRPr lang="en-US" sz="1400" b="0" dirty="0">
                        <a:solidFill>
                          <a:schemeClr val="tx1"/>
                        </a:solidFill>
                      </a:endParaRPr>
                    </a:p>
                    <a:p>
                      <a:r>
                        <a:rPr lang="en-US" sz="1400" b="0" dirty="0">
                          <a:solidFill>
                            <a:schemeClr val="tx1"/>
                          </a:solidFill>
                        </a:rPr>
                        <a:t>(MATOC or SATOC: TBD)(Claudia Garcia)</a:t>
                      </a:r>
                    </a:p>
                    <a:p>
                      <a:endParaRPr lang="en-US" sz="1400" b="0" dirty="0">
                        <a:solidFill>
                          <a:schemeClr val="tx1"/>
                        </a:solidFill>
                      </a:endParaRPr>
                    </a:p>
                    <a:p>
                      <a:r>
                        <a:rPr lang="en-US" sz="1400" b="0" dirty="0">
                          <a:solidFill>
                            <a:schemeClr val="tx1"/>
                          </a:solidFill>
                        </a:rPr>
                        <a:t>(W912PL25S0007-Design)</a:t>
                      </a:r>
                    </a:p>
                    <a:p>
                      <a:r>
                        <a:rPr lang="en-US" sz="1400" b="0" dirty="0">
                          <a:solidFill>
                            <a:schemeClr val="tx1"/>
                          </a:solidFill>
                        </a:rPr>
                        <a:t>(W912PL25S0008-Remediation)</a:t>
                      </a:r>
                    </a:p>
                    <a:p>
                      <a:pPr marL="0" marR="0" lvl="0" indent="0" algn="l" defTabSz="51435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(W912PL25S0009-Construction)</a:t>
                      </a:r>
                    </a:p>
                    <a:p>
                      <a:endParaRPr lang="en-US" sz="1400" b="0" dirty="0">
                        <a:solidFill>
                          <a:schemeClr val="tx1"/>
                        </a:solidFill>
                      </a:endParaRPr>
                    </a:p>
                  </a:txBody>
                  <a:tcPr/>
                </a:tc>
                <a:tc>
                  <a:txBody>
                    <a:bodyPr/>
                    <a:lstStyle/>
                    <a:p>
                      <a:r>
                        <a:rPr lang="en-US" sz="1400" b="0" dirty="0">
                          <a:solidFill>
                            <a:schemeClr val="tx1"/>
                          </a:solidFill>
                        </a:rPr>
                        <a:t>Q4, FY25</a:t>
                      </a:r>
                    </a:p>
                    <a:p>
                      <a:endParaRPr lang="en-US" sz="1400" b="0" dirty="0">
                        <a:solidFill>
                          <a:schemeClr val="tx1"/>
                        </a:solidFill>
                      </a:endParaRPr>
                    </a:p>
                    <a:p>
                      <a:r>
                        <a:rPr lang="en-US" sz="1400" b="0" dirty="0">
                          <a:solidFill>
                            <a:schemeClr val="tx1"/>
                          </a:solidFill>
                        </a:rPr>
                        <a:t>0007-UNR</a:t>
                      </a:r>
                    </a:p>
                    <a:p>
                      <a:r>
                        <a:rPr lang="en-US" sz="1400" b="0" dirty="0">
                          <a:solidFill>
                            <a:schemeClr val="tx1"/>
                          </a:solidFill>
                        </a:rPr>
                        <a:t>0008-SBSA</a:t>
                      </a:r>
                    </a:p>
                    <a:p>
                      <a:r>
                        <a:rPr lang="en-US" sz="1400" b="0" dirty="0">
                          <a:solidFill>
                            <a:schemeClr val="tx1"/>
                          </a:solidFill>
                        </a:rPr>
                        <a:t>009-SBSA</a:t>
                      </a:r>
                    </a:p>
                  </a:txBody>
                  <a:tcPr/>
                </a:tc>
                <a:tc>
                  <a:txBody>
                    <a:bodyPr/>
                    <a:lstStyle/>
                    <a:p>
                      <a:r>
                        <a:rPr lang="en-US" sz="1400" b="0" dirty="0">
                          <a:solidFill>
                            <a:schemeClr val="tx1"/>
                          </a:solidFill>
                        </a:rPr>
                        <a:t>Design: $49M</a:t>
                      </a:r>
                    </a:p>
                    <a:p>
                      <a:endParaRPr lang="en-US" sz="1400" b="0" dirty="0">
                        <a:solidFill>
                          <a:schemeClr val="tx1"/>
                        </a:solidFill>
                      </a:endParaRPr>
                    </a:p>
                    <a:p>
                      <a:r>
                        <a:rPr lang="en-US" sz="1400" b="0" dirty="0">
                          <a:solidFill>
                            <a:schemeClr val="tx1"/>
                          </a:solidFill>
                        </a:rPr>
                        <a:t>Construction: $249M</a:t>
                      </a:r>
                    </a:p>
                    <a:p>
                      <a:endParaRPr lang="en-US" sz="1400" b="0" dirty="0">
                        <a:solidFill>
                          <a:schemeClr val="tx1"/>
                        </a:solidFill>
                      </a:endParaRPr>
                    </a:p>
                    <a:p>
                      <a:r>
                        <a:rPr lang="en-US" sz="1400" b="0" dirty="0">
                          <a:solidFill>
                            <a:schemeClr val="tx1"/>
                          </a:solidFill>
                        </a:rPr>
                        <a:t>Remediation: $100M</a:t>
                      </a:r>
                    </a:p>
                  </a:txBody>
                  <a:tcPr/>
                </a:tc>
                <a:extLst>
                  <a:ext uri="{0D108BD9-81ED-4DB2-BD59-A6C34878D82A}">
                    <a16:rowId xmlns:a16="http://schemas.microsoft.com/office/drawing/2014/main" val="40928966"/>
                  </a:ext>
                </a:extLst>
              </a:tr>
            </a:tbl>
          </a:graphicData>
        </a:graphic>
      </p:graphicFrame>
    </p:spTree>
    <p:extLst>
      <p:ext uri="{BB962C8B-B14F-4D97-AF65-F5344CB8AC3E}">
        <p14:creationId xmlns:p14="http://schemas.microsoft.com/office/powerpoint/2010/main" val="2446303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7015" y="-84018"/>
            <a:ext cx="10185088" cy="942173"/>
          </a:xfrm>
        </p:spPr>
        <p:txBody>
          <a:bodyPr/>
          <a:lstStyle/>
          <a:p>
            <a:r>
              <a:rPr lang="en-US" sz="1800" dirty="0"/>
              <a:t>Prime Contracting Opportunities: Military program (Subject to Change)</a:t>
            </a:r>
          </a:p>
        </p:txBody>
      </p:sp>
      <p:sp>
        <p:nvSpPr>
          <p:cNvPr id="3" name="Date Placeholder 2"/>
          <p:cNvSpPr>
            <a:spLocks noGrp="1"/>
          </p:cNvSpPr>
          <p:nvPr>
            <p:ph type="dt" sz="half" idx="2"/>
          </p:nvPr>
        </p:nvSpPr>
        <p:spPr>
          <a:xfrm>
            <a:off x="9182100" y="6640512"/>
            <a:ext cx="2743200" cy="182880"/>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9225A36-843B-4599-BB9E-3A5ED1D8C4B7}" type="datetime1">
              <a:rPr kumimoji="0" lang="en-US" sz="900" b="0" i="0" u="none" strike="noStrike" kern="1200" cap="none" spc="0" normalizeH="0" baseline="0" noProof="0" smtClean="0">
                <a:ln>
                  <a:noFill/>
                </a:ln>
                <a:solidFill>
                  <a:srgbClr val="221F20">
                    <a:tint val="75000"/>
                  </a:srgb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3/6/2025</a:t>
            </a:fld>
            <a:endParaRPr kumimoji="0" lang="en-US" sz="900" b="0" i="0" u="none" strike="noStrike" kern="1200" cap="none" spc="0" normalizeH="0" baseline="0" noProof="0" dirty="0">
              <a:ln>
                <a:noFill/>
              </a:ln>
              <a:solidFill>
                <a:srgbClr val="221F20">
                  <a:tint val="75000"/>
                </a:srgbClr>
              </a:solidFill>
              <a:effectLst/>
              <a:uLnTx/>
              <a:uFillTx/>
              <a:latin typeface="Arial"/>
              <a:ea typeface="+mn-ea"/>
              <a:cs typeface="+mn-cs"/>
            </a:endParaRPr>
          </a:p>
        </p:txBody>
      </p:sp>
      <p:graphicFrame>
        <p:nvGraphicFramePr>
          <p:cNvPr id="6" name="Table 5">
            <a:extLst>
              <a:ext uri="{FF2B5EF4-FFF2-40B4-BE49-F238E27FC236}">
                <a16:creationId xmlns:a16="http://schemas.microsoft.com/office/drawing/2014/main" id="{B98006B4-A385-FEE1-7EBA-D97395BB6F80}"/>
              </a:ext>
            </a:extLst>
          </p:cNvPr>
          <p:cNvGraphicFramePr>
            <a:graphicFrameLocks noGrp="1"/>
          </p:cNvGraphicFramePr>
          <p:nvPr>
            <p:extLst>
              <p:ext uri="{D42A27DB-BD31-4B8C-83A1-F6EECF244321}">
                <p14:modId xmlns:p14="http://schemas.microsoft.com/office/powerpoint/2010/main" val="466775791"/>
              </p:ext>
            </p:extLst>
          </p:nvPr>
        </p:nvGraphicFramePr>
        <p:xfrm>
          <a:off x="355107" y="1216240"/>
          <a:ext cx="11105968" cy="5161032"/>
        </p:xfrm>
        <a:graphic>
          <a:graphicData uri="http://schemas.openxmlformats.org/drawingml/2006/table">
            <a:tbl>
              <a:tblPr firstRow="1" bandRow="1">
                <a:tableStyleId>{5C22544A-7EE6-4342-B048-85BDC9FD1C3A}</a:tableStyleId>
              </a:tblPr>
              <a:tblGrid>
                <a:gridCol w="2776492">
                  <a:extLst>
                    <a:ext uri="{9D8B030D-6E8A-4147-A177-3AD203B41FA5}">
                      <a16:colId xmlns:a16="http://schemas.microsoft.com/office/drawing/2014/main" val="3532971220"/>
                    </a:ext>
                  </a:extLst>
                </a:gridCol>
                <a:gridCol w="2776492">
                  <a:extLst>
                    <a:ext uri="{9D8B030D-6E8A-4147-A177-3AD203B41FA5}">
                      <a16:colId xmlns:a16="http://schemas.microsoft.com/office/drawing/2014/main" val="137228859"/>
                    </a:ext>
                  </a:extLst>
                </a:gridCol>
                <a:gridCol w="2776492">
                  <a:extLst>
                    <a:ext uri="{9D8B030D-6E8A-4147-A177-3AD203B41FA5}">
                      <a16:colId xmlns:a16="http://schemas.microsoft.com/office/drawing/2014/main" val="2790685465"/>
                    </a:ext>
                  </a:extLst>
                </a:gridCol>
                <a:gridCol w="2776492">
                  <a:extLst>
                    <a:ext uri="{9D8B030D-6E8A-4147-A177-3AD203B41FA5}">
                      <a16:colId xmlns:a16="http://schemas.microsoft.com/office/drawing/2014/main" val="1996762345"/>
                    </a:ext>
                  </a:extLst>
                </a:gridCol>
              </a:tblGrid>
              <a:tr h="411321">
                <a:tc>
                  <a:txBody>
                    <a:bodyPr/>
                    <a:lstStyle/>
                    <a:p>
                      <a:r>
                        <a:rPr lang="en-US" sz="1400" dirty="0">
                          <a:solidFill>
                            <a:schemeClr val="tx2"/>
                          </a:solidFill>
                        </a:rPr>
                        <a:t>Project</a:t>
                      </a:r>
                    </a:p>
                  </a:txBody>
                  <a:tcPr/>
                </a:tc>
                <a:tc>
                  <a:txBody>
                    <a:bodyPr/>
                    <a:lstStyle/>
                    <a:p>
                      <a:r>
                        <a:rPr lang="en-US" sz="1400" dirty="0">
                          <a:solidFill>
                            <a:schemeClr val="tx2"/>
                          </a:solidFill>
                        </a:rPr>
                        <a:t>Description</a:t>
                      </a:r>
                    </a:p>
                  </a:txBody>
                  <a:tcPr/>
                </a:tc>
                <a:tc>
                  <a:txBody>
                    <a:bodyPr/>
                    <a:lstStyle/>
                    <a:p>
                      <a:r>
                        <a:rPr lang="en-US" sz="1400" dirty="0">
                          <a:solidFill>
                            <a:schemeClr val="tx2"/>
                          </a:solidFill>
                        </a:rPr>
                        <a:t>Advertise on SAM.GOV</a:t>
                      </a:r>
                    </a:p>
                  </a:txBody>
                  <a:tcPr/>
                </a:tc>
                <a:tc>
                  <a:txBody>
                    <a:bodyPr/>
                    <a:lstStyle/>
                    <a:p>
                      <a:r>
                        <a:rPr lang="en-US" sz="1400" dirty="0">
                          <a:solidFill>
                            <a:schemeClr val="tx2"/>
                          </a:solidFill>
                        </a:rPr>
                        <a:t>Range</a:t>
                      </a:r>
                    </a:p>
                  </a:txBody>
                  <a:tcPr/>
                </a:tc>
                <a:extLst>
                  <a:ext uri="{0D108BD9-81ED-4DB2-BD59-A6C34878D82A}">
                    <a16:rowId xmlns:a16="http://schemas.microsoft.com/office/drawing/2014/main" val="3511137821"/>
                  </a:ext>
                </a:extLst>
              </a:tr>
              <a:tr h="1330045">
                <a:tc>
                  <a:txBody>
                    <a:bodyPr/>
                    <a:lstStyle/>
                    <a:p>
                      <a:r>
                        <a:rPr lang="en-US" sz="1100" dirty="0"/>
                        <a:t>Child Development Center</a:t>
                      </a:r>
                    </a:p>
                    <a:p>
                      <a:endParaRPr lang="en-US" sz="1100" dirty="0"/>
                    </a:p>
                    <a:p>
                      <a:r>
                        <a:rPr lang="en-US" sz="1100" dirty="0"/>
                        <a:t>Luke AFB, AZ</a:t>
                      </a:r>
                    </a:p>
                  </a:txBody>
                  <a:tcPr/>
                </a:tc>
                <a:tc>
                  <a:txBody>
                    <a:bodyPr/>
                    <a:lstStyle/>
                    <a:p>
                      <a:r>
                        <a:rPr lang="en-US" sz="1100" dirty="0"/>
                        <a:t>Construct a 3,394-SM building, steel-framed, concrete slab and foundation system, masonry block exterior, and standing seam metal roof (Bill Prout)</a:t>
                      </a:r>
                    </a:p>
                    <a:p>
                      <a:endParaRPr lang="en-US" sz="1100" dirty="0"/>
                    </a:p>
                    <a:p>
                      <a:r>
                        <a:rPr lang="en-US" sz="1100" dirty="0"/>
                        <a:t>(DB)(Market Research Underway)</a:t>
                      </a:r>
                    </a:p>
                    <a:p>
                      <a:r>
                        <a:rPr lang="en-US" sz="1100" dirty="0"/>
                        <a:t>(No SAM Posting Yet)</a:t>
                      </a: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100" dirty="0"/>
                        <a:t>4th QTR, FY25-1</a:t>
                      </a:r>
                      <a:r>
                        <a:rPr lang="en-US" sz="1100" baseline="30000" dirty="0"/>
                        <a:t>st</a:t>
                      </a:r>
                      <a:r>
                        <a:rPr lang="en-US" sz="1100" dirty="0"/>
                        <a:t> QTR, FY26</a:t>
                      </a:r>
                    </a:p>
                    <a:p>
                      <a:endParaRPr lang="en-US" sz="1100" dirty="0"/>
                    </a:p>
                  </a:txBody>
                  <a:tcPr/>
                </a:tc>
                <a:tc>
                  <a:txBody>
                    <a:bodyPr/>
                    <a:lstStyle/>
                    <a:p>
                      <a:r>
                        <a:rPr lang="en-US" sz="1100" dirty="0"/>
                        <a:t>$25M-$50M</a:t>
                      </a:r>
                    </a:p>
                  </a:txBody>
                  <a:tcPr/>
                </a:tc>
                <a:extLst>
                  <a:ext uri="{0D108BD9-81ED-4DB2-BD59-A6C34878D82A}">
                    <a16:rowId xmlns:a16="http://schemas.microsoft.com/office/drawing/2014/main" val="1126007555"/>
                  </a:ext>
                </a:extLst>
              </a:tr>
              <a:tr h="917949">
                <a:tc>
                  <a:txBody>
                    <a:bodyPr/>
                    <a:lstStyle/>
                    <a:p>
                      <a:r>
                        <a:rPr lang="en-US" sz="1100" dirty="0"/>
                        <a:t>DB Construction MATOC-East Branch</a:t>
                      </a:r>
                    </a:p>
                    <a:p>
                      <a:endParaRPr lang="en-US" sz="1100" dirty="0"/>
                    </a:p>
                    <a:p>
                      <a:endParaRPr lang="en-US" sz="1100" dirty="0"/>
                    </a:p>
                    <a:p>
                      <a:r>
                        <a:rPr lang="en-US" sz="1013" b="0" i="0" kern="1200" dirty="0">
                          <a:solidFill>
                            <a:schemeClr val="dk1"/>
                          </a:solidFill>
                          <a:effectLst/>
                          <a:latin typeface="+mn-lt"/>
                          <a:ea typeface="+mn-ea"/>
                          <a:cs typeface="+mn-cs"/>
                        </a:rPr>
                        <a:t>Nevada includes Clark County, Lincoln and Nye Counties and Arizona include Maricopa and Pima counties.</a:t>
                      </a:r>
                      <a:endParaRPr lang="en-US" sz="1100" dirty="0"/>
                    </a:p>
                  </a:txBody>
                  <a:tcPr/>
                </a:tc>
                <a:tc>
                  <a:txBody>
                    <a:bodyPr/>
                    <a:lstStyle/>
                    <a:p>
                      <a:r>
                        <a:rPr lang="en-US" sz="1013" b="0" i="0" kern="1200" dirty="0">
                          <a:solidFill>
                            <a:schemeClr val="dk1"/>
                          </a:solidFill>
                          <a:effectLst/>
                          <a:latin typeface="+mn-lt"/>
                          <a:ea typeface="+mn-ea"/>
                          <a:cs typeface="+mn-cs"/>
                        </a:rPr>
                        <a:t>Three but no more than five firm-fixed price (FFP) individual Indefinite Delivery Contracts (IDCs) and subsequent FFP Task Orders (TOs) (James Elsberry/John Oshima)</a:t>
                      </a:r>
                      <a:endParaRPr lang="en-US" sz="1100" dirty="0"/>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100" dirty="0"/>
                        <a:t>4th QTR, FY25</a:t>
                      </a:r>
                    </a:p>
                    <a:p>
                      <a:endParaRPr lang="en-US" sz="1100" dirty="0"/>
                    </a:p>
                  </a:txBody>
                  <a:tcPr/>
                </a:tc>
                <a:tc>
                  <a:txBody>
                    <a:bodyPr/>
                    <a:lstStyle/>
                    <a:p>
                      <a:r>
                        <a:rPr lang="en-US" sz="1100" dirty="0"/>
                        <a:t>Up to $99M</a:t>
                      </a:r>
                    </a:p>
                  </a:txBody>
                  <a:tcPr/>
                </a:tc>
                <a:extLst>
                  <a:ext uri="{0D108BD9-81ED-4DB2-BD59-A6C34878D82A}">
                    <a16:rowId xmlns:a16="http://schemas.microsoft.com/office/drawing/2014/main" val="4210977291"/>
                  </a:ext>
                </a:extLst>
              </a:tr>
              <a:tr h="917949">
                <a:tc>
                  <a:txBody>
                    <a:bodyPr/>
                    <a:lstStyle/>
                    <a:p>
                      <a:r>
                        <a:rPr lang="en-US" sz="1100" dirty="0"/>
                        <a:t>Training Support Center</a:t>
                      </a:r>
                    </a:p>
                    <a:p>
                      <a:endParaRPr lang="en-US" sz="1100" dirty="0"/>
                    </a:p>
                    <a:p>
                      <a:r>
                        <a:rPr lang="en-US" sz="1100" dirty="0"/>
                        <a:t>Ft. Irwin, CA</a:t>
                      </a:r>
                    </a:p>
                  </a:txBody>
                  <a:tcPr/>
                </a:tc>
                <a:tc>
                  <a:txBody>
                    <a:bodyPr/>
                    <a:lstStyle/>
                    <a:p>
                      <a:r>
                        <a:rPr lang="en-US" sz="1100" dirty="0"/>
                        <a:t>Construction of a 60K-SF TSC to be part of the National Training Center </a:t>
                      </a:r>
                    </a:p>
                    <a:p>
                      <a:r>
                        <a:rPr lang="en-US" sz="1100" dirty="0"/>
                        <a:t>(Eric Negrete)</a:t>
                      </a:r>
                    </a:p>
                    <a:p>
                      <a:endParaRPr lang="en-US" sz="1100" dirty="0"/>
                    </a:p>
                    <a:p>
                      <a:r>
                        <a:rPr lang="en-US" sz="1100" dirty="0"/>
                        <a:t>(SB Set-Aside)(DBB)</a:t>
                      </a:r>
                    </a:p>
                    <a:p>
                      <a:r>
                        <a:rPr lang="en-US" sz="1100" dirty="0"/>
                        <a:t>(W912PL25R0005 &amp; W912PL25S0001)</a:t>
                      </a: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100" dirty="0"/>
                        <a:t>4th QTR, FY25-1</a:t>
                      </a:r>
                      <a:r>
                        <a:rPr lang="en-US" sz="1100" baseline="30000" dirty="0"/>
                        <a:t>st</a:t>
                      </a:r>
                      <a:r>
                        <a:rPr lang="en-US" sz="1100" dirty="0"/>
                        <a:t> QTR, FY26</a:t>
                      </a:r>
                    </a:p>
                    <a:p>
                      <a:endParaRPr lang="en-US" sz="1100" dirty="0"/>
                    </a:p>
                  </a:txBody>
                  <a:tcPr/>
                </a:tc>
                <a:tc>
                  <a:txBody>
                    <a:bodyPr/>
                    <a:lstStyle/>
                    <a:p>
                      <a:r>
                        <a:rPr lang="en-US" sz="1100" dirty="0"/>
                        <a:t>$25M-$50M</a:t>
                      </a:r>
                    </a:p>
                  </a:txBody>
                  <a:tcPr/>
                </a:tc>
                <a:extLst>
                  <a:ext uri="{0D108BD9-81ED-4DB2-BD59-A6C34878D82A}">
                    <a16:rowId xmlns:a16="http://schemas.microsoft.com/office/drawing/2014/main" val="1173722968"/>
                  </a:ext>
                </a:extLst>
              </a:tr>
              <a:tr h="724851">
                <a:tc>
                  <a:txBody>
                    <a:bodyPr/>
                    <a:lstStyle/>
                    <a:p>
                      <a:r>
                        <a:rPr lang="en-US" sz="1100" dirty="0"/>
                        <a:t>Disaster Resiliency Program Phase 2</a:t>
                      </a:r>
                    </a:p>
                    <a:p>
                      <a:endParaRPr lang="en-US" sz="1100" dirty="0"/>
                    </a:p>
                    <a:p>
                      <a:r>
                        <a:rPr lang="en-US" sz="1100" dirty="0"/>
                        <a:t>Creech AFB, NV</a:t>
                      </a:r>
                    </a:p>
                  </a:txBody>
                  <a:tcPr/>
                </a:tc>
                <a:tc>
                  <a:txBody>
                    <a:bodyPr/>
                    <a:lstStyle/>
                    <a:p>
                      <a:r>
                        <a:rPr lang="en-US" sz="1100" dirty="0"/>
                        <a:t>79,335-SF Aircraft Maintenance Facility (AMF) hangar, a 4,429-SF covered Aerospace Ground Equipment (AGE) storage yard, and 100,167-SF of airfield pavements</a:t>
                      </a:r>
                    </a:p>
                    <a:p>
                      <a:r>
                        <a:rPr lang="en-US" sz="1100" dirty="0"/>
                        <a:t>(James Elsberry/John Oshima)</a:t>
                      </a:r>
                    </a:p>
                    <a:p>
                      <a:r>
                        <a:rPr lang="en-US" sz="1100" dirty="0"/>
                        <a:t>(DB)(W912PL25S0003)</a:t>
                      </a: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100" dirty="0"/>
                        <a:t>3rd QTR, FY25</a:t>
                      </a:r>
                    </a:p>
                    <a:p>
                      <a:endParaRPr lang="en-US" sz="1100" dirty="0"/>
                    </a:p>
                  </a:txBody>
                  <a:tcPr/>
                </a:tc>
                <a:tc>
                  <a:txBody>
                    <a:bodyPr/>
                    <a:lstStyle/>
                    <a:p>
                      <a:r>
                        <a:rPr lang="en-US" sz="1100" dirty="0"/>
                        <a:t>$100M-$250M</a:t>
                      </a:r>
                    </a:p>
                  </a:txBody>
                  <a:tcPr/>
                </a:tc>
                <a:extLst>
                  <a:ext uri="{0D108BD9-81ED-4DB2-BD59-A6C34878D82A}">
                    <a16:rowId xmlns:a16="http://schemas.microsoft.com/office/drawing/2014/main" val="643323162"/>
                  </a:ext>
                </a:extLst>
              </a:tr>
            </a:tbl>
          </a:graphicData>
        </a:graphic>
      </p:graphicFrame>
    </p:spTree>
    <p:extLst>
      <p:ext uri="{BB962C8B-B14F-4D97-AF65-F5344CB8AC3E}">
        <p14:creationId xmlns:p14="http://schemas.microsoft.com/office/powerpoint/2010/main" val="2593003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4436" y="102855"/>
            <a:ext cx="9484755" cy="785419"/>
          </a:xfrm>
        </p:spPr>
        <p:txBody>
          <a:bodyPr/>
          <a:lstStyle/>
          <a:p>
            <a:r>
              <a:rPr lang="en-US" sz="1800" kern="0" dirty="0"/>
              <a:t>Prime Contracting Opportunities: CIVIL WORKS, AE and Navigation </a:t>
            </a:r>
            <a:br>
              <a:rPr lang="en-US" sz="1800" kern="0" dirty="0"/>
            </a:br>
            <a:r>
              <a:rPr lang="en-US" sz="1050" kern="0" dirty="0"/>
              <a:t>(SUBJECT TO CHANGE)</a:t>
            </a:r>
            <a:endParaRPr lang="en-US" sz="1050" dirty="0"/>
          </a:p>
        </p:txBody>
      </p:sp>
      <p:sp>
        <p:nvSpPr>
          <p:cNvPr id="3" name="Date Placeholder 2"/>
          <p:cNvSpPr>
            <a:spLocks noGrp="1"/>
          </p:cNvSpPr>
          <p:nvPr>
            <p:ph type="dt" sz="half" idx="2"/>
          </p:nvPr>
        </p:nvSpPr>
        <p:spPr>
          <a:xfrm>
            <a:off x="9182100" y="6640512"/>
            <a:ext cx="2743200" cy="182880"/>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9225A36-843B-4599-BB9E-3A5ED1D8C4B7}" type="datetime1">
              <a:rPr kumimoji="0" lang="en-US" sz="900" b="0" i="0" u="none" strike="noStrike" kern="1200" cap="none" spc="0" normalizeH="0" baseline="0" noProof="0" smtClean="0">
                <a:ln>
                  <a:noFill/>
                </a:ln>
                <a:solidFill>
                  <a:srgbClr val="221F20">
                    <a:tint val="75000"/>
                  </a:srgb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3/6/2025</a:t>
            </a:fld>
            <a:endParaRPr kumimoji="0" lang="en-US" sz="900" b="0" i="0" u="none" strike="noStrike" kern="1200" cap="none" spc="0" normalizeH="0" baseline="0" noProof="0" dirty="0">
              <a:ln>
                <a:noFill/>
              </a:ln>
              <a:solidFill>
                <a:srgbClr val="221F20">
                  <a:tint val="75000"/>
                </a:srgbClr>
              </a:solidFill>
              <a:effectLst/>
              <a:uLnTx/>
              <a:uFillTx/>
              <a:latin typeface="Arial"/>
              <a:ea typeface="+mn-ea"/>
              <a:cs typeface="+mn-cs"/>
            </a:endParaRPr>
          </a:p>
        </p:txBody>
      </p:sp>
      <p:graphicFrame>
        <p:nvGraphicFramePr>
          <p:cNvPr id="8" name="Table 4">
            <a:extLst>
              <a:ext uri="{FF2B5EF4-FFF2-40B4-BE49-F238E27FC236}">
                <a16:creationId xmlns:a16="http://schemas.microsoft.com/office/drawing/2014/main" id="{06096C68-CFEA-9D00-E802-06961C529E2C}"/>
              </a:ext>
            </a:extLst>
          </p:cNvPr>
          <p:cNvGraphicFramePr>
            <a:graphicFrameLocks noGrp="1"/>
          </p:cNvGraphicFramePr>
          <p:nvPr>
            <p:extLst>
              <p:ext uri="{D42A27DB-BD31-4B8C-83A1-F6EECF244321}">
                <p14:modId xmlns:p14="http://schemas.microsoft.com/office/powerpoint/2010/main" val="4217561959"/>
              </p:ext>
            </p:extLst>
          </p:nvPr>
        </p:nvGraphicFramePr>
        <p:xfrm>
          <a:off x="344676" y="999437"/>
          <a:ext cx="11461897" cy="1493520"/>
        </p:xfrm>
        <a:graphic>
          <a:graphicData uri="http://schemas.openxmlformats.org/drawingml/2006/table">
            <a:tbl>
              <a:tblPr firstRow="1" bandRow="1">
                <a:tableStyleId>{5C22544A-7EE6-4342-B048-85BDC9FD1C3A}</a:tableStyleId>
              </a:tblPr>
              <a:tblGrid>
                <a:gridCol w="3043544">
                  <a:extLst>
                    <a:ext uri="{9D8B030D-6E8A-4147-A177-3AD203B41FA5}">
                      <a16:colId xmlns:a16="http://schemas.microsoft.com/office/drawing/2014/main" val="2247129749"/>
                    </a:ext>
                  </a:extLst>
                </a:gridCol>
                <a:gridCol w="4515212">
                  <a:extLst>
                    <a:ext uri="{9D8B030D-6E8A-4147-A177-3AD203B41FA5}">
                      <a16:colId xmlns:a16="http://schemas.microsoft.com/office/drawing/2014/main" val="3024585909"/>
                    </a:ext>
                  </a:extLst>
                </a:gridCol>
                <a:gridCol w="1491523">
                  <a:extLst>
                    <a:ext uri="{9D8B030D-6E8A-4147-A177-3AD203B41FA5}">
                      <a16:colId xmlns:a16="http://schemas.microsoft.com/office/drawing/2014/main" val="2232440958"/>
                    </a:ext>
                  </a:extLst>
                </a:gridCol>
                <a:gridCol w="1239708">
                  <a:extLst>
                    <a:ext uri="{9D8B030D-6E8A-4147-A177-3AD203B41FA5}">
                      <a16:colId xmlns:a16="http://schemas.microsoft.com/office/drawing/2014/main" val="539080249"/>
                    </a:ext>
                  </a:extLst>
                </a:gridCol>
                <a:gridCol w="1171910">
                  <a:extLst>
                    <a:ext uri="{9D8B030D-6E8A-4147-A177-3AD203B41FA5}">
                      <a16:colId xmlns:a16="http://schemas.microsoft.com/office/drawing/2014/main" val="3275382849"/>
                    </a:ext>
                  </a:extLst>
                </a:gridCol>
              </a:tblGrid>
              <a:tr h="416377">
                <a:tc>
                  <a:txBody>
                    <a:bodyPr/>
                    <a:lstStyle/>
                    <a:p>
                      <a:r>
                        <a:rPr lang="en-US" sz="1200" dirty="0">
                          <a:solidFill>
                            <a:schemeClr val="tx2"/>
                          </a:solidFill>
                        </a:rPr>
                        <a:t>Civil Works Current Projects</a:t>
                      </a:r>
                    </a:p>
                  </a:txBody>
                  <a:tcPr/>
                </a:tc>
                <a:tc>
                  <a:txBody>
                    <a:bodyPr/>
                    <a:lstStyle/>
                    <a:p>
                      <a:r>
                        <a:rPr lang="en-US" sz="1200" dirty="0">
                          <a:solidFill>
                            <a:schemeClr val="tx2"/>
                          </a:solidFill>
                        </a:rPr>
                        <a:t>Description</a:t>
                      </a:r>
                    </a:p>
                  </a:txBody>
                  <a:tcPr/>
                </a:tc>
                <a:tc>
                  <a:txBody>
                    <a:bodyPr/>
                    <a:lstStyle/>
                    <a:p>
                      <a:r>
                        <a:rPr lang="en-US" sz="1200" dirty="0">
                          <a:solidFill>
                            <a:schemeClr val="tx2"/>
                          </a:solidFill>
                        </a:rPr>
                        <a:t>ADV</a:t>
                      </a:r>
                    </a:p>
                  </a:txBody>
                  <a:tcPr/>
                </a:tc>
                <a:tc>
                  <a:txBody>
                    <a:bodyPr/>
                    <a:lstStyle/>
                    <a:p>
                      <a:r>
                        <a:rPr lang="en-US" sz="1200" dirty="0">
                          <a:solidFill>
                            <a:schemeClr val="tx2"/>
                          </a:solidFill>
                        </a:rPr>
                        <a:t>Range</a:t>
                      </a:r>
                    </a:p>
                  </a:txBody>
                  <a:tcPr/>
                </a:tc>
                <a:tc>
                  <a:txBody>
                    <a:bodyPr/>
                    <a:lstStyle/>
                    <a:p>
                      <a:r>
                        <a:rPr lang="en-US" sz="1200" dirty="0">
                          <a:solidFill>
                            <a:schemeClr val="tx2"/>
                          </a:solidFill>
                        </a:rPr>
                        <a:t>Anticipated Set Aside</a:t>
                      </a:r>
                    </a:p>
                  </a:txBody>
                  <a:tcPr/>
                </a:tc>
                <a:extLst>
                  <a:ext uri="{0D108BD9-81ED-4DB2-BD59-A6C34878D82A}">
                    <a16:rowId xmlns:a16="http://schemas.microsoft.com/office/drawing/2014/main" val="587395580"/>
                  </a:ext>
                </a:extLst>
              </a:tr>
              <a:tr h="471894">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dirty="0">
                          <a:solidFill>
                            <a:schemeClr val="tx1"/>
                          </a:solidFill>
                        </a:rPr>
                        <a:t>Murrieta Creek, CA</a:t>
                      </a:r>
                    </a:p>
                    <a:p>
                      <a:endParaRPr lang="en-US" sz="1400" dirty="0">
                        <a:solidFill>
                          <a:schemeClr val="tx1"/>
                        </a:solidFill>
                      </a:endParaRP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dirty="0"/>
                        <a:t>Phase 2B-Buried riprap bank protection and ecosystem restoration (Damien Lariviere)</a:t>
                      </a: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dirty="0"/>
                        <a:t>Q3-Q4, FY25</a:t>
                      </a:r>
                    </a:p>
                    <a:p>
                      <a:endParaRPr lang="en-US" sz="1400" dirty="0"/>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dirty="0"/>
                        <a:t>$25M-$50M</a:t>
                      </a:r>
                    </a:p>
                    <a:p>
                      <a:pPr marL="0" marR="0" lvl="0" indent="0" algn="l" defTabSz="514350" rtl="0" eaLnBrk="1" fontAlgn="auto" latinLnBrk="0" hangingPunct="1">
                        <a:lnSpc>
                          <a:spcPct val="100000"/>
                        </a:lnSpc>
                        <a:spcBef>
                          <a:spcPts val="0"/>
                        </a:spcBef>
                        <a:spcAft>
                          <a:spcPts val="0"/>
                        </a:spcAft>
                        <a:buClrTx/>
                        <a:buSzTx/>
                        <a:buFontTx/>
                        <a:buNone/>
                        <a:tabLst/>
                        <a:defRPr/>
                      </a:pPr>
                      <a:endParaRPr lang="en-US" sz="1400" dirty="0"/>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dirty="0"/>
                        <a:t>SBSA</a:t>
                      </a:r>
                    </a:p>
                    <a:p>
                      <a:endParaRPr lang="en-US" sz="1400" dirty="0"/>
                    </a:p>
                  </a:txBody>
                  <a:tcPr/>
                </a:tc>
                <a:extLst>
                  <a:ext uri="{0D108BD9-81ED-4DB2-BD59-A6C34878D82A}">
                    <a16:rowId xmlns:a16="http://schemas.microsoft.com/office/drawing/2014/main" val="3205843872"/>
                  </a:ext>
                </a:extLst>
              </a:tr>
              <a:tr h="471894">
                <a:tc>
                  <a:txBody>
                    <a:bodyPr/>
                    <a:lstStyle/>
                    <a:p>
                      <a:r>
                        <a:rPr lang="en-US" sz="1400" dirty="0">
                          <a:solidFill>
                            <a:schemeClr val="tx1"/>
                          </a:solidFill>
                        </a:rPr>
                        <a:t>LA County, San Bernardino, Orange County, Arizona and Nevada</a:t>
                      </a: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fr-FR" sz="1400" dirty="0"/>
                        <a:t>FY26 Channel </a:t>
                      </a:r>
                      <a:r>
                        <a:rPr lang="fr-FR" sz="1400" dirty="0" err="1"/>
                        <a:t>Levee</a:t>
                      </a:r>
                      <a:r>
                        <a:rPr lang="fr-FR" sz="1400" dirty="0"/>
                        <a:t> Maintenance Services</a:t>
                      </a:r>
                    </a:p>
                    <a:p>
                      <a:pPr marL="0" marR="0" lvl="0" indent="0" algn="l" defTabSz="514350" rtl="0" eaLnBrk="1" fontAlgn="auto" latinLnBrk="0" hangingPunct="1">
                        <a:lnSpc>
                          <a:spcPct val="100000"/>
                        </a:lnSpc>
                        <a:spcBef>
                          <a:spcPts val="0"/>
                        </a:spcBef>
                        <a:spcAft>
                          <a:spcPts val="0"/>
                        </a:spcAft>
                        <a:buClrTx/>
                        <a:buSzTx/>
                        <a:buFontTx/>
                        <a:buNone/>
                        <a:tabLst/>
                        <a:defRPr/>
                      </a:pPr>
                      <a:r>
                        <a:rPr lang="fr-FR" sz="1400" dirty="0"/>
                        <a:t>(Trevor Snyder)</a:t>
                      </a:r>
                      <a:endParaRPr lang="en-US" sz="1400" dirty="0"/>
                    </a:p>
                  </a:txBody>
                  <a:tcPr/>
                </a:tc>
                <a:tc>
                  <a:txBody>
                    <a:bodyPr/>
                    <a:lstStyle/>
                    <a:p>
                      <a:r>
                        <a:rPr lang="en-US" sz="1400" dirty="0"/>
                        <a:t>Q4, FY25</a:t>
                      </a: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dirty="0"/>
                        <a:t>$25M-$50M</a:t>
                      </a:r>
                    </a:p>
                  </a:txBody>
                  <a:tcPr/>
                </a:tc>
                <a:tc>
                  <a:txBody>
                    <a:bodyPr/>
                    <a:lstStyle/>
                    <a:p>
                      <a:r>
                        <a:rPr lang="en-US" sz="1400" dirty="0"/>
                        <a:t>SBSA</a:t>
                      </a:r>
                    </a:p>
                  </a:txBody>
                  <a:tcPr/>
                </a:tc>
                <a:extLst>
                  <a:ext uri="{0D108BD9-81ED-4DB2-BD59-A6C34878D82A}">
                    <a16:rowId xmlns:a16="http://schemas.microsoft.com/office/drawing/2014/main" val="4243639684"/>
                  </a:ext>
                </a:extLst>
              </a:tr>
            </a:tbl>
          </a:graphicData>
        </a:graphic>
      </p:graphicFrame>
      <p:graphicFrame>
        <p:nvGraphicFramePr>
          <p:cNvPr id="4" name="Table 3">
            <a:extLst>
              <a:ext uri="{FF2B5EF4-FFF2-40B4-BE49-F238E27FC236}">
                <a16:creationId xmlns:a16="http://schemas.microsoft.com/office/drawing/2014/main" id="{DF09EB8B-A3A1-D7A6-E253-611E3297A51F}"/>
              </a:ext>
            </a:extLst>
          </p:cNvPr>
          <p:cNvGraphicFramePr>
            <a:graphicFrameLocks noGrp="1"/>
          </p:cNvGraphicFramePr>
          <p:nvPr>
            <p:extLst>
              <p:ext uri="{D42A27DB-BD31-4B8C-83A1-F6EECF244321}">
                <p14:modId xmlns:p14="http://schemas.microsoft.com/office/powerpoint/2010/main" val="1267949991"/>
              </p:ext>
            </p:extLst>
          </p:nvPr>
        </p:nvGraphicFramePr>
        <p:xfrm>
          <a:off x="361509" y="5007129"/>
          <a:ext cx="11461895" cy="1493520"/>
        </p:xfrm>
        <a:graphic>
          <a:graphicData uri="http://schemas.openxmlformats.org/drawingml/2006/table">
            <a:tbl>
              <a:tblPr firstRow="1" bandRow="1">
                <a:tableStyleId>{5C22544A-7EE6-4342-B048-85BDC9FD1C3A}</a:tableStyleId>
              </a:tblPr>
              <a:tblGrid>
                <a:gridCol w="2958742">
                  <a:extLst>
                    <a:ext uri="{9D8B030D-6E8A-4147-A177-3AD203B41FA5}">
                      <a16:colId xmlns:a16="http://schemas.microsoft.com/office/drawing/2014/main" val="1478435463"/>
                    </a:ext>
                  </a:extLst>
                </a:gridCol>
                <a:gridCol w="5334222">
                  <a:extLst>
                    <a:ext uri="{9D8B030D-6E8A-4147-A177-3AD203B41FA5}">
                      <a16:colId xmlns:a16="http://schemas.microsoft.com/office/drawing/2014/main" val="1023386821"/>
                    </a:ext>
                  </a:extLst>
                </a:gridCol>
                <a:gridCol w="897902">
                  <a:extLst>
                    <a:ext uri="{9D8B030D-6E8A-4147-A177-3AD203B41FA5}">
                      <a16:colId xmlns:a16="http://schemas.microsoft.com/office/drawing/2014/main" val="4164169715"/>
                    </a:ext>
                  </a:extLst>
                </a:gridCol>
                <a:gridCol w="1216241">
                  <a:extLst>
                    <a:ext uri="{9D8B030D-6E8A-4147-A177-3AD203B41FA5}">
                      <a16:colId xmlns:a16="http://schemas.microsoft.com/office/drawing/2014/main" val="1601286173"/>
                    </a:ext>
                  </a:extLst>
                </a:gridCol>
                <a:gridCol w="1054788">
                  <a:extLst>
                    <a:ext uri="{9D8B030D-6E8A-4147-A177-3AD203B41FA5}">
                      <a16:colId xmlns:a16="http://schemas.microsoft.com/office/drawing/2014/main" val="3234612248"/>
                    </a:ext>
                  </a:extLst>
                </a:gridCol>
              </a:tblGrid>
              <a:tr h="443760">
                <a:tc>
                  <a:txBody>
                    <a:bodyPr/>
                    <a:lstStyle/>
                    <a:p>
                      <a:r>
                        <a:rPr lang="en-US" sz="1200" dirty="0">
                          <a:solidFill>
                            <a:schemeClr val="tx2"/>
                          </a:solidFill>
                        </a:rPr>
                        <a:t>Current Projects</a:t>
                      </a:r>
                    </a:p>
                  </a:txBody>
                  <a:tcPr/>
                </a:tc>
                <a:tc>
                  <a:txBody>
                    <a:bodyPr/>
                    <a:lstStyle/>
                    <a:p>
                      <a:r>
                        <a:rPr lang="en-US" sz="1200" dirty="0">
                          <a:solidFill>
                            <a:schemeClr val="tx2"/>
                          </a:solidFill>
                        </a:rPr>
                        <a:t>Description</a:t>
                      </a:r>
                    </a:p>
                  </a:txBody>
                  <a:tcPr/>
                </a:tc>
                <a:tc>
                  <a:txBody>
                    <a:bodyPr/>
                    <a:lstStyle/>
                    <a:p>
                      <a:r>
                        <a:rPr lang="en-US" sz="1200" dirty="0">
                          <a:solidFill>
                            <a:schemeClr val="tx2"/>
                          </a:solidFill>
                        </a:rPr>
                        <a:t>ADV</a:t>
                      </a:r>
                    </a:p>
                  </a:txBody>
                  <a:tcPr/>
                </a:tc>
                <a:tc>
                  <a:txBody>
                    <a:bodyPr/>
                    <a:lstStyle/>
                    <a:p>
                      <a:r>
                        <a:rPr lang="en-US" sz="1200" dirty="0">
                          <a:solidFill>
                            <a:schemeClr val="tx2"/>
                          </a:solidFill>
                        </a:rPr>
                        <a:t>Range</a:t>
                      </a:r>
                    </a:p>
                  </a:txBody>
                  <a:tcPr/>
                </a:tc>
                <a:tc>
                  <a:txBody>
                    <a:bodyPr/>
                    <a:lstStyle/>
                    <a:p>
                      <a:r>
                        <a:rPr lang="en-US" sz="1200" dirty="0">
                          <a:solidFill>
                            <a:schemeClr val="tx2"/>
                          </a:solidFill>
                        </a:rPr>
                        <a:t>Anticipated Set Aside</a:t>
                      </a:r>
                    </a:p>
                  </a:txBody>
                  <a:tcPr/>
                </a:tc>
                <a:extLst>
                  <a:ext uri="{0D108BD9-81ED-4DB2-BD59-A6C34878D82A}">
                    <a16:rowId xmlns:a16="http://schemas.microsoft.com/office/drawing/2014/main" val="3136463677"/>
                  </a:ext>
                </a:extLst>
              </a:tr>
              <a:tr h="401922">
                <a:tc>
                  <a:txBody>
                    <a:bodyPr/>
                    <a:lstStyle/>
                    <a:p>
                      <a:r>
                        <a:rPr lang="en-US" sz="1400" dirty="0"/>
                        <a:t>Civil Works MATOC</a:t>
                      </a:r>
                    </a:p>
                  </a:txBody>
                  <a:tcPr/>
                </a:tc>
                <a:tc>
                  <a:txBody>
                    <a:bodyPr/>
                    <a:lstStyle/>
                    <a:p>
                      <a:r>
                        <a:rPr lang="en-US" sz="1400" dirty="0"/>
                        <a:t>(5-Year Base)(Civil Works Plus Vertical Design)</a:t>
                      </a:r>
                    </a:p>
                    <a:p>
                      <a:r>
                        <a:rPr lang="en-US" sz="1400" dirty="0"/>
                        <a:t>(No SAM Posting Yet)</a:t>
                      </a:r>
                      <a:r>
                        <a:rPr lang="en-US" sz="1400" dirty="0">
                          <a:solidFill>
                            <a:schemeClr val="tx1"/>
                          </a:solidFill>
                        </a:rPr>
                        <a:t> (Vincent Andrada/Paul Underwood)</a:t>
                      </a:r>
                      <a:endParaRPr lang="en-US" sz="1400" dirty="0"/>
                    </a:p>
                  </a:txBody>
                  <a:tcPr/>
                </a:tc>
                <a:tc>
                  <a:txBody>
                    <a:bodyPr/>
                    <a:lstStyle/>
                    <a:p>
                      <a:r>
                        <a:rPr lang="en-US" sz="1400" dirty="0"/>
                        <a:t>TBD</a:t>
                      </a:r>
                    </a:p>
                  </a:txBody>
                  <a:tcPr/>
                </a:tc>
                <a:tc>
                  <a:txBody>
                    <a:bodyPr/>
                    <a:lstStyle/>
                    <a:p>
                      <a:r>
                        <a:rPr lang="en-US" sz="1400" dirty="0"/>
                        <a:t>$48M Capacity</a:t>
                      </a:r>
                    </a:p>
                  </a:txBody>
                  <a:tcPr/>
                </a:tc>
                <a:tc>
                  <a:txBody>
                    <a:bodyPr/>
                    <a:lstStyle/>
                    <a:p>
                      <a:r>
                        <a:rPr lang="en-US" sz="1400" dirty="0"/>
                        <a:t>UNR and SB</a:t>
                      </a:r>
                    </a:p>
                  </a:txBody>
                  <a:tcPr/>
                </a:tc>
                <a:extLst>
                  <a:ext uri="{0D108BD9-81ED-4DB2-BD59-A6C34878D82A}">
                    <a16:rowId xmlns:a16="http://schemas.microsoft.com/office/drawing/2014/main" val="3698972367"/>
                  </a:ext>
                </a:extLst>
              </a:tr>
              <a:tr h="394776">
                <a:tc>
                  <a:txBody>
                    <a:bodyPr/>
                    <a:lstStyle/>
                    <a:p>
                      <a:r>
                        <a:rPr lang="en-US" sz="1400" dirty="0"/>
                        <a:t>Hydrology and Hydraulics SATOC</a:t>
                      </a:r>
                    </a:p>
                  </a:txBody>
                  <a:tcPr/>
                </a:tc>
                <a:tc>
                  <a:txBody>
                    <a:bodyPr/>
                    <a:lstStyle/>
                    <a:p>
                      <a:r>
                        <a:rPr lang="en-US" sz="1400" dirty="0"/>
                        <a:t>(5-Year Base)(Hydrology, Hydraulics, Sediment Engineering)(No SAM Posting Yet)</a:t>
                      </a:r>
                      <a:r>
                        <a:rPr lang="en-US" sz="1400" dirty="0">
                          <a:solidFill>
                            <a:schemeClr val="tx1"/>
                          </a:solidFill>
                        </a:rPr>
                        <a:t> (Vincent Andrada/Paul Underwood)</a:t>
                      </a:r>
                      <a:endParaRPr lang="en-US" sz="1400" dirty="0"/>
                    </a:p>
                  </a:txBody>
                  <a:tcPr/>
                </a:tc>
                <a:tc>
                  <a:txBody>
                    <a:bodyPr/>
                    <a:lstStyle/>
                    <a:p>
                      <a:r>
                        <a:rPr lang="en-US" sz="1400" dirty="0"/>
                        <a:t>TBD</a:t>
                      </a:r>
                    </a:p>
                  </a:txBody>
                  <a:tcPr/>
                </a:tc>
                <a:tc>
                  <a:txBody>
                    <a:bodyPr/>
                    <a:lstStyle/>
                    <a:p>
                      <a:r>
                        <a:rPr lang="en-US" sz="1400" dirty="0"/>
                        <a:t>$5M Capacity</a:t>
                      </a:r>
                    </a:p>
                  </a:txBody>
                  <a:tcPr/>
                </a:tc>
                <a:tc>
                  <a:txBody>
                    <a:bodyPr/>
                    <a:lstStyle/>
                    <a:p>
                      <a:r>
                        <a:rPr lang="en-US" sz="1400" dirty="0"/>
                        <a:t>SB</a:t>
                      </a:r>
                    </a:p>
                  </a:txBody>
                  <a:tcPr/>
                </a:tc>
                <a:extLst>
                  <a:ext uri="{0D108BD9-81ED-4DB2-BD59-A6C34878D82A}">
                    <a16:rowId xmlns:a16="http://schemas.microsoft.com/office/drawing/2014/main" val="667558039"/>
                  </a:ext>
                </a:extLst>
              </a:tr>
            </a:tbl>
          </a:graphicData>
        </a:graphic>
      </p:graphicFrame>
      <p:sp>
        <p:nvSpPr>
          <p:cNvPr id="6" name="Rectangle 5">
            <a:extLst>
              <a:ext uri="{FF2B5EF4-FFF2-40B4-BE49-F238E27FC236}">
                <a16:creationId xmlns:a16="http://schemas.microsoft.com/office/drawing/2014/main" id="{4525A725-80FE-59EE-61B2-7AF420C0549A}"/>
              </a:ext>
            </a:extLst>
          </p:cNvPr>
          <p:cNvSpPr/>
          <p:nvPr/>
        </p:nvSpPr>
        <p:spPr>
          <a:xfrm>
            <a:off x="361507" y="4820574"/>
            <a:ext cx="9128722" cy="186555"/>
          </a:xfrm>
          <a:prstGeom prst="rect">
            <a:avLst/>
          </a:prstGeom>
          <a:solidFill>
            <a:srgbClr val="3F4339">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200" b="1" dirty="0">
                <a:solidFill>
                  <a:schemeClr val="tx2"/>
                </a:solidFill>
              </a:rPr>
              <a:t>Prime Contracting Opportunities: AE Program (subject to change)</a:t>
            </a:r>
          </a:p>
        </p:txBody>
      </p:sp>
      <p:graphicFrame>
        <p:nvGraphicFramePr>
          <p:cNvPr id="5" name="Table 4">
            <a:extLst>
              <a:ext uri="{FF2B5EF4-FFF2-40B4-BE49-F238E27FC236}">
                <a16:creationId xmlns:a16="http://schemas.microsoft.com/office/drawing/2014/main" id="{A3A5A354-69C9-2462-A22D-703056A87A43}"/>
              </a:ext>
            </a:extLst>
          </p:cNvPr>
          <p:cNvGraphicFramePr>
            <a:graphicFrameLocks noGrp="1"/>
          </p:cNvGraphicFramePr>
          <p:nvPr>
            <p:extLst>
              <p:ext uri="{D42A27DB-BD31-4B8C-83A1-F6EECF244321}">
                <p14:modId xmlns:p14="http://schemas.microsoft.com/office/powerpoint/2010/main" val="2206762162"/>
              </p:ext>
            </p:extLst>
          </p:nvPr>
        </p:nvGraphicFramePr>
        <p:xfrm>
          <a:off x="361507" y="2492958"/>
          <a:ext cx="11445065" cy="2246168"/>
        </p:xfrm>
        <a:graphic>
          <a:graphicData uri="http://schemas.openxmlformats.org/drawingml/2006/table">
            <a:tbl>
              <a:tblPr firstRow="1" bandRow="1">
                <a:tableStyleId>{5C22544A-7EE6-4342-B048-85BDC9FD1C3A}</a:tableStyleId>
              </a:tblPr>
              <a:tblGrid>
                <a:gridCol w="1966057">
                  <a:extLst>
                    <a:ext uri="{9D8B030D-6E8A-4147-A177-3AD203B41FA5}">
                      <a16:colId xmlns:a16="http://schemas.microsoft.com/office/drawing/2014/main" val="545867126"/>
                    </a:ext>
                  </a:extLst>
                </a:gridCol>
                <a:gridCol w="5865091">
                  <a:extLst>
                    <a:ext uri="{9D8B030D-6E8A-4147-A177-3AD203B41FA5}">
                      <a16:colId xmlns:a16="http://schemas.microsoft.com/office/drawing/2014/main" val="616813528"/>
                    </a:ext>
                  </a:extLst>
                </a:gridCol>
                <a:gridCol w="1256145">
                  <a:extLst>
                    <a:ext uri="{9D8B030D-6E8A-4147-A177-3AD203B41FA5}">
                      <a16:colId xmlns:a16="http://schemas.microsoft.com/office/drawing/2014/main" val="1287432525"/>
                    </a:ext>
                  </a:extLst>
                </a:gridCol>
                <a:gridCol w="1108364">
                  <a:extLst>
                    <a:ext uri="{9D8B030D-6E8A-4147-A177-3AD203B41FA5}">
                      <a16:colId xmlns:a16="http://schemas.microsoft.com/office/drawing/2014/main" val="3311647889"/>
                    </a:ext>
                  </a:extLst>
                </a:gridCol>
                <a:gridCol w="1249408">
                  <a:extLst>
                    <a:ext uri="{9D8B030D-6E8A-4147-A177-3AD203B41FA5}">
                      <a16:colId xmlns:a16="http://schemas.microsoft.com/office/drawing/2014/main" val="233381016"/>
                    </a:ext>
                  </a:extLst>
                </a:gridCol>
              </a:tblGrid>
              <a:tr h="438152">
                <a:tc>
                  <a:txBody>
                    <a:bodyPr/>
                    <a:lstStyle/>
                    <a:p>
                      <a:r>
                        <a:rPr lang="en-US" sz="1200" dirty="0">
                          <a:solidFill>
                            <a:schemeClr val="tx2"/>
                          </a:solidFill>
                        </a:rPr>
                        <a:t>Navigation Current Projects</a:t>
                      </a:r>
                    </a:p>
                  </a:txBody>
                  <a:tcPr/>
                </a:tc>
                <a:tc>
                  <a:txBody>
                    <a:bodyPr/>
                    <a:lstStyle/>
                    <a:p>
                      <a:r>
                        <a:rPr lang="en-US" sz="1200" dirty="0">
                          <a:solidFill>
                            <a:schemeClr val="tx2"/>
                          </a:solidFill>
                        </a:rPr>
                        <a:t>Description</a:t>
                      </a:r>
                    </a:p>
                  </a:txBody>
                  <a:tcPr/>
                </a:tc>
                <a:tc>
                  <a:txBody>
                    <a:bodyPr/>
                    <a:lstStyle/>
                    <a:p>
                      <a:r>
                        <a:rPr lang="en-US" sz="1200" dirty="0">
                          <a:solidFill>
                            <a:schemeClr val="tx2"/>
                          </a:solidFill>
                        </a:rPr>
                        <a:t>ADV</a:t>
                      </a:r>
                    </a:p>
                  </a:txBody>
                  <a:tcPr/>
                </a:tc>
                <a:tc>
                  <a:txBody>
                    <a:bodyPr/>
                    <a:lstStyle/>
                    <a:p>
                      <a:r>
                        <a:rPr lang="en-US" sz="1200" dirty="0">
                          <a:solidFill>
                            <a:schemeClr val="tx2"/>
                          </a:solidFill>
                        </a:rPr>
                        <a:t>Range</a:t>
                      </a:r>
                    </a:p>
                  </a:txBody>
                  <a:tcPr/>
                </a:tc>
                <a:tc>
                  <a:txBody>
                    <a:bodyPr/>
                    <a:lstStyle/>
                    <a:p>
                      <a:r>
                        <a:rPr lang="en-US" sz="1200" dirty="0">
                          <a:solidFill>
                            <a:schemeClr val="tx2"/>
                          </a:solidFill>
                        </a:rPr>
                        <a:t>Anticipated Set-Aside</a:t>
                      </a:r>
                    </a:p>
                  </a:txBody>
                  <a:tcPr/>
                </a:tc>
                <a:extLst>
                  <a:ext uri="{0D108BD9-81ED-4DB2-BD59-A6C34878D82A}">
                    <a16:rowId xmlns:a16="http://schemas.microsoft.com/office/drawing/2014/main" val="1707262119"/>
                  </a:ext>
                </a:extLst>
              </a:tr>
              <a:tr h="905513">
                <a:tc>
                  <a:txBody>
                    <a:bodyPr/>
                    <a:lstStyle/>
                    <a:p>
                      <a:r>
                        <a:rPr lang="en-US" sz="1400" b="0" dirty="0"/>
                        <a:t>Lower Newport Harbor </a:t>
                      </a:r>
                    </a:p>
                    <a:p>
                      <a:r>
                        <a:rPr lang="en-US" sz="1400" b="0" dirty="0"/>
                        <a:t>Maintenance Dredging </a:t>
                      </a:r>
                    </a:p>
                    <a:p>
                      <a:endParaRPr lang="en-US" sz="1400" b="0" dirty="0"/>
                    </a:p>
                    <a:p>
                      <a:r>
                        <a:rPr lang="en-US" sz="1400" b="0" dirty="0"/>
                        <a:t>Newport Beach, CA</a:t>
                      </a:r>
                    </a:p>
                  </a:txBody>
                  <a:tcPr/>
                </a:tc>
                <a:tc>
                  <a:txBody>
                    <a:bodyPr/>
                    <a:lstStyle/>
                    <a:p>
                      <a:r>
                        <a:rPr lang="en-US" sz="1400" kern="1200" dirty="0">
                          <a:solidFill>
                            <a:schemeClr val="dk1"/>
                          </a:solidFill>
                          <a:effectLst/>
                          <a:latin typeface="+mn-lt"/>
                          <a:ea typeface="+mn-ea"/>
                          <a:cs typeface="+mn-cs"/>
                        </a:rPr>
                        <a:t>Dredge </a:t>
                      </a:r>
                      <a:r>
                        <a:rPr lang="en-US" sz="1400" kern="1200" dirty="0" err="1">
                          <a:solidFill>
                            <a:schemeClr val="dk1"/>
                          </a:solidFill>
                          <a:effectLst/>
                          <a:latin typeface="+mn-lt"/>
                          <a:ea typeface="+mn-ea"/>
                          <a:cs typeface="+mn-cs"/>
                        </a:rPr>
                        <a:t>approx</a:t>
                      </a:r>
                      <a:r>
                        <a:rPr lang="en-US" sz="1400" kern="1200" dirty="0">
                          <a:solidFill>
                            <a:schemeClr val="dk1"/>
                          </a:solidFill>
                          <a:effectLst/>
                          <a:latin typeface="+mn-lt"/>
                          <a:ea typeface="+mn-ea"/>
                          <a:cs typeface="+mn-cs"/>
                        </a:rPr>
                        <a:t> 800K CY. Dredged materials will be transported and placed at the LA-3 Ocean Dredged Material Disposal Site. Dredge </a:t>
                      </a:r>
                      <a:r>
                        <a:rPr lang="en-US" sz="1400" kern="1200" dirty="0" err="1">
                          <a:solidFill>
                            <a:schemeClr val="dk1"/>
                          </a:solidFill>
                          <a:effectLst/>
                          <a:latin typeface="+mn-lt"/>
                          <a:ea typeface="+mn-ea"/>
                          <a:cs typeface="+mn-cs"/>
                        </a:rPr>
                        <a:t>approx</a:t>
                      </a:r>
                      <a:r>
                        <a:rPr lang="en-US" sz="1400" kern="1200" dirty="0">
                          <a:solidFill>
                            <a:schemeClr val="dk1"/>
                          </a:solidFill>
                          <a:effectLst/>
                          <a:latin typeface="+mn-lt"/>
                          <a:ea typeface="+mn-ea"/>
                          <a:cs typeface="+mn-cs"/>
                        </a:rPr>
                        <a:t> 125K CY that are unsuitable for open ocean disposal and place at the Port of Long Beach. (Chris Romero/Steve Dwyer)</a:t>
                      </a:r>
                      <a:endParaRPr lang="en-US" sz="1400" dirty="0"/>
                    </a:p>
                  </a:txBody>
                  <a:tcPr/>
                </a:tc>
                <a:tc>
                  <a:txBody>
                    <a:bodyPr/>
                    <a:lstStyle/>
                    <a:p>
                      <a:r>
                        <a:rPr lang="en-US" sz="1400" dirty="0"/>
                        <a:t>Q4, FY25</a:t>
                      </a:r>
                    </a:p>
                  </a:txBody>
                  <a:tcPr/>
                </a:tc>
                <a:tc>
                  <a:txBody>
                    <a:bodyPr/>
                    <a:lstStyle/>
                    <a:p>
                      <a:r>
                        <a:rPr lang="en-US" sz="1400" dirty="0"/>
                        <a:t>$10M-$25M</a:t>
                      </a:r>
                    </a:p>
                  </a:txBody>
                  <a:tcPr/>
                </a:tc>
                <a:tc>
                  <a:txBody>
                    <a:bodyPr/>
                    <a:lstStyle/>
                    <a:p>
                      <a:r>
                        <a:rPr lang="en-US" sz="1400" dirty="0"/>
                        <a:t>UNR</a:t>
                      </a:r>
                    </a:p>
                  </a:txBody>
                  <a:tcPr/>
                </a:tc>
                <a:extLst>
                  <a:ext uri="{0D108BD9-81ED-4DB2-BD59-A6C34878D82A}">
                    <a16:rowId xmlns:a16="http://schemas.microsoft.com/office/drawing/2014/main" val="3659482363"/>
                  </a:ext>
                </a:extLst>
              </a:tr>
              <a:tr h="844088">
                <a:tc>
                  <a:txBody>
                    <a:bodyPr/>
                    <a:lstStyle/>
                    <a:p>
                      <a:r>
                        <a:rPr lang="en-US" sz="1400" dirty="0"/>
                        <a:t>Dana Point Harbor Breakwater Repair Orange County, CA</a:t>
                      </a:r>
                    </a:p>
                  </a:txBody>
                  <a:tcPr/>
                </a:tc>
                <a:tc>
                  <a:txBody>
                    <a:bodyPr/>
                    <a:lstStyle/>
                    <a:p>
                      <a:r>
                        <a:rPr lang="en-US" sz="1400" kern="1200" dirty="0">
                          <a:solidFill>
                            <a:schemeClr val="dk1"/>
                          </a:solidFill>
                          <a:effectLst/>
                          <a:latin typeface="+mn-lt"/>
                          <a:ea typeface="+mn-ea"/>
                          <a:cs typeface="+mn-cs"/>
                        </a:rPr>
                        <a:t>Structural maintenance at the West Breakwater. Replace displaced armor stone from the crest to the toe of the slope, and resetting existing stone to interlock with the new stone. (Chris Romero/Steve Dwyer)</a:t>
                      </a:r>
                      <a:endParaRPr lang="en-US" sz="1400" dirty="0"/>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400" dirty="0"/>
                        <a:t>Q4, FY25</a:t>
                      </a:r>
                    </a:p>
                    <a:p>
                      <a:endParaRPr lang="en-US" sz="1400" dirty="0"/>
                    </a:p>
                  </a:txBody>
                  <a:tcPr/>
                </a:tc>
                <a:tc>
                  <a:txBody>
                    <a:bodyPr/>
                    <a:lstStyle/>
                    <a:p>
                      <a:r>
                        <a:rPr lang="en-US" sz="1400" dirty="0"/>
                        <a:t>$5M-$10M</a:t>
                      </a:r>
                    </a:p>
                  </a:txBody>
                  <a:tcPr/>
                </a:tc>
                <a:tc>
                  <a:txBody>
                    <a:bodyPr/>
                    <a:lstStyle/>
                    <a:p>
                      <a:r>
                        <a:rPr lang="en-US" sz="1400" dirty="0"/>
                        <a:t>UNR</a:t>
                      </a:r>
                    </a:p>
                  </a:txBody>
                  <a:tcPr/>
                </a:tc>
                <a:extLst>
                  <a:ext uri="{0D108BD9-81ED-4DB2-BD59-A6C34878D82A}">
                    <a16:rowId xmlns:a16="http://schemas.microsoft.com/office/drawing/2014/main" val="2194786586"/>
                  </a:ext>
                </a:extLst>
              </a:tr>
            </a:tbl>
          </a:graphicData>
        </a:graphic>
      </p:graphicFrame>
    </p:spTree>
    <p:extLst>
      <p:ext uri="{BB962C8B-B14F-4D97-AF65-F5344CB8AC3E}">
        <p14:creationId xmlns:p14="http://schemas.microsoft.com/office/powerpoint/2010/main" val="2528951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D2D70-5917-B03F-2165-293488071424}"/>
              </a:ext>
            </a:extLst>
          </p:cNvPr>
          <p:cNvSpPr>
            <a:spLocks noGrp="1"/>
          </p:cNvSpPr>
          <p:nvPr>
            <p:ph type="title"/>
          </p:nvPr>
        </p:nvSpPr>
        <p:spPr/>
        <p:txBody>
          <a:bodyPr/>
          <a:lstStyle/>
          <a:p>
            <a:pPr algn="ctr"/>
            <a:r>
              <a:rPr lang="en-US" dirty="0"/>
              <a:t>Contact information</a:t>
            </a:r>
          </a:p>
        </p:txBody>
      </p:sp>
      <p:sp>
        <p:nvSpPr>
          <p:cNvPr id="3" name="Footer Placeholder 2">
            <a:extLst>
              <a:ext uri="{FF2B5EF4-FFF2-40B4-BE49-F238E27FC236}">
                <a16:creationId xmlns:a16="http://schemas.microsoft.com/office/drawing/2014/main" id="{F0B84E4D-D01D-D2B4-ED41-525BA32C00E8}"/>
              </a:ext>
            </a:extLst>
          </p:cNvPr>
          <p:cNvSpPr>
            <a:spLocks noGrp="1"/>
          </p:cNvSpPr>
          <p:nvPr>
            <p:ph type="ftr" sz="quarter" idx="11"/>
          </p:nvPr>
        </p:nvSpPr>
        <p:spPr/>
        <p:txBody>
          <a:bodyPr/>
          <a:lstStyle/>
          <a:p>
            <a:endParaRPr lang="en-US"/>
          </a:p>
        </p:txBody>
      </p:sp>
      <p:sp>
        <p:nvSpPr>
          <p:cNvPr id="4" name="object 15">
            <a:extLst>
              <a:ext uri="{FF2B5EF4-FFF2-40B4-BE49-F238E27FC236}">
                <a16:creationId xmlns:a16="http://schemas.microsoft.com/office/drawing/2014/main" id="{D26C609B-E737-ADEF-D5E5-7E0E33BFD1A9}"/>
              </a:ext>
            </a:extLst>
          </p:cNvPr>
          <p:cNvSpPr txBox="1"/>
          <p:nvPr/>
        </p:nvSpPr>
        <p:spPr>
          <a:xfrm>
            <a:off x="4723566" y="1118386"/>
            <a:ext cx="2891790" cy="228268"/>
          </a:xfrm>
          <a:prstGeom prst="rect">
            <a:avLst/>
          </a:prstGeom>
        </p:spPr>
        <p:txBody>
          <a:bodyPr vert="horz" wrap="square" lIns="0" tIns="12700" rIns="0" bIns="0" rtlCol="0">
            <a:spAutoFit/>
          </a:bodyPr>
          <a:lstStyle/>
          <a:p>
            <a:r>
              <a:rPr lang="en-US" sz="1400" b="0" i="0" u="none" strike="noStrike" baseline="0" dirty="0">
                <a:solidFill>
                  <a:srgbClr val="EF4034"/>
                </a:solidFill>
                <a:latin typeface="Arial" panose="020B0604020202020204" pitchFamily="34" charset="0"/>
              </a:rPr>
              <a:t>AREA  AND RESIDENT OFFICES</a:t>
            </a:r>
            <a:endParaRPr sz="1400" dirty="0">
              <a:latin typeface="Arial"/>
              <a:cs typeface="Arial"/>
            </a:endParaRPr>
          </a:p>
        </p:txBody>
      </p:sp>
      <p:sp>
        <p:nvSpPr>
          <p:cNvPr id="5" name="object 17">
            <a:extLst>
              <a:ext uri="{FF2B5EF4-FFF2-40B4-BE49-F238E27FC236}">
                <a16:creationId xmlns:a16="http://schemas.microsoft.com/office/drawing/2014/main" id="{C7362CF0-6E79-8882-74E9-9CE1326F68DE}"/>
              </a:ext>
            </a:extLst>
          </p:cNvPr>
          <p:cNvSpPr txBox="1"/>
          <p:nvPr/>
        </p:nvSpPr>
        <p:spPr>
          <a:xfrm>
            <a:off x="8993042" y="1096451"/>
            <a:ext cx="2891790" cy="3521477"/>
          </a:xfrm>
          <a:prstGeom prst="rect">
            <a:avLst/>
          </a:prstGeom>
        </p:spPr>
        <p:txBody>
          <a:bodyPr vert="horz" wrap="square" lIns="0" tIns="12700" rIns="0" bIns="0" rtlCol="0">
            <a:spAutoFit/>
          </a:bodyPr>
          <a:lstStyle/>
          <a:p>
            <a:pPr marL="12700">
              <a:lnSpc>
                <a:spcPct val="100000"/>
              </a:lnSpc>
              <a:spcBef>
                <a:spcPts val="100"/>
              </a:spcBef>
            </a:pPr>
            <a:r>
              <a:rPr lang="en-US" sz="1400" spc="-10" dirty="0">
                <a:solidFill>
                  <a:srgbClr val="EF4135"/>
                </a:solidFill>
                <a:latin typeface="Arial"/>
                <a:cs typeface="Arial"/>
              </a:rPr>
              <a:t>CONSTRUCTION DIVISION INFORMATION</a:t>
            </a:r>
            <a:endParaRPr sz="1400" dirty="0">
              <a:latin typeface="Arial"/>
              <a:cs typeface="Arial"/>
            </a:endParaRPr>
          </a:p>
          <a:p>
            <a:pPr algn="l"/>
            <a:endParaRPr lang="en-US" sz="1000" b="0" i="0" u="none" strike="noStrike" baseline="0" dirty="0">
              <a:solidFill>
                <a:srgbClr val="000000"/>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Los Angeles District Website</a:t>
            </a:r>
          </a:p>
          <a:p>
            <a:r>
              <a:rPr lang="en-US" sz="1000" i="0" u="none" strike="noStrike" baseline="0" dirty="0">
                <a:solidFill>
                  <a:srgbClr val="221E1F"/>
                </a:solidFill>
                <a:latin typeface="Arial" panose="020B0604020202020204" pitchFamily="34" charset="0"/>
              </a:rPr>
              <a:t>www.spl.usace.army.mil</a:t>
            </a:r>
          </a:p>
          <a:p>
            <a:endParaRPr lang="en-US" sz="1000" b="1"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Construction Quality Assurance Training</a:t>
            </a:r>
            <a:endParaRPr lang="en-US" sz="1000" b="0" i="0" u="none" strike="noStrike" baseline="0" dirty="0">
              <a:solidFill>
                <a:srgbClr val="221E1F"/>
              </a:solidFill>
              <a:latin typeface="Arial" panose="020B0604020202020204" pitchFamily="34" charset="0"/>
            </a:endParaRPr>
          </a:p>
          <a:p>
            <a:r>
              <a:rPr lang="en-US" sz="1000" i="0" dirty="0">
                <a:solidFill>
                  <a:srgbClr val="333333"/>
                </a:solidFill>
                <a:effectLst/>
                <a:latin typeface="Arial" panose="020B0604020202020204" pitchFamily="34" charset="0"/>
                <a:cs typeface="Arial" panose="020B0604020202020204" pitchFamily="34" charset="0"/>
              </a:rPr>
              <a:t>email </a:t>
            </a:r>
            <a:r>
              <a:rPr lang="en-US" sz="1000" i="0" u="sng" dirty="0">
                <a:solidFill>
                  <a:srgbClr val="0072ED"/>
                </a:solidFill>
                <a:effectLst/>
                <a:latin typeface="Arial" panose="020B0604020202020204" pitchFamily="34" charset="0"/>
                <a:cs typeface="Arial" panose="020B0604020202020204" pitchFamily="34" charset="0"/>
                <a:hlinkClick r:id="rId3"/>
              </a:rPr>
              <a:t>CESPL.CQM.Training@usace.army.mil</a:t>
            </a:r>
            <a:endParaRPr lang="en-US" sz="1000" i="0" dirty="0">
              <a:solidFill>
                <a:srgbClr val="333333"/>
              </a:solidFill>
              <a:effectLst/>
              <a:latin typeface="Arial" panose="020B0604020202020204" pitchFamily="34" charset="0"/>
              <a:cs typeface="Arial" panose="020B0604020202020204" pitchFamily="34" charset="0"/>
            </a:endParaRPr>
          </a:p>
          <a:p>
            <a:endParaRPr lang="en-US" sz="1000" b="0" i="0" u="none" strike="noStrike" baseline="0"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Resident Management System &amp; QCS</a:t>
            </a:r>
            <a:endParaRPr lang="en-US" sz="1000" b="0" i="0" u="none" strike="noStrike" baseline="0" dirty="0">
              <a:solidFill>
                <a:srgbClr val="221E1F"/>
              </a:solidFill>
              <a:latin typeface="Arial" panose="020B0604020202020204" pitchFamily="34" charset="0"/>
            </a:endParaRPr>
          </a:p>
          <a:p>
            <a:r>
              <a:rPr lang="en-US" sz="1000" b="0" i="0" u="none" strike="noStrike" baseline="0" dirty="0">
                <a:solidFill>
                  <a:srgbClr val="221E1F"/>
                </a:solidFill>
                <a:latin typeface="Arial" panose="020B0604020202020204" pitchFamily="34" charset="0"/>
              </a:rPr>
              <a:t>Contact Area or Resident Offices</a:t>
            </a:r>
          </a:p>
          <a:p>
            <a:endParaRPr lang="en-US" sz="1000" b="0" i="0" u="none" strike="noStrike" baseline="0"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Questions Concerning Contract Types</a:t>
            </a:r>
            <a:endParaRPr lang="en-US" sz="1000" b="0" i="0" u="none" strike="noStrike" baseline="0" dirty="0">
              <a:solidFill>
                <a:srgbClr val="221E1F"/>
              </a:solidFill>
              <a:latin typeface="Arial" panose="020B0604020202020204" pitchFamily="34" charset="0"/>
            </a:endParaRPr>
          </a:p>
          <a:p>
            <a:r>
              <a:rPr lang="en-US" sz="1000" b="0" i="0" u="none" strike="noStrike" baseline="0" dirty="0">
                <a:solidFill>
                  <a:srgbClr val="221E1F"/>
                </a:solidFill>
                <a:latin typeface="Arial" panose="020B0604020202020204" pitchFamily="34" charset="0"/>
              </a:rPr>
              <a:t>Area and Resident Engineers and District </a:t>
            </a:r>
          </a:p>
          <a:p>
            <a:r>
              <a:rPr lang="en-US" sz="1000" b="0" i="0" u="none" strike="noStrike" baseline="0" dirty="0">
                <a:solidFill>
                  <a:srgbClr val="221E1F"/>
                </a:solidFill>
                <a:latin typeface="Arial" panose="020B0604020202020204" pitchFamily="34" charset="0"/>
              </a:rPr>
              <a:t>Contracting Office</a:t>
            </a:r>
          </a:p>
          <a:p>
            <a:r>
              <a:rPr lang="en-US" sz="1000" b="0" i="0" u="none" strike="noStrike" baseline="0" dirty="0">
                <a:solidFill>
                  <a:srgbClr val="221E1F"/>
                </a:solidFill>
                <a:latin typeface="Arial" panose="020B0604020202020204" pitchFamily="34" charset="0"/>
              </a:rPr>
              <a:t>(213) 452-3424</a:t>
            </a:r>
          </a:p>
          <a:p>
            <a:endParaRPr lang="en-US" sz="1000" b="0" i="0" u="none" strike="noStrike" baseline="0"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Questions concerning Small Business Opportunities</a:t>
            </a:r>
          </a:p>
          <a:p>
            <a:r>
              <a:rPr lang="en-US" sz="1000" b="0" i="0" u="none" strike="noStrike" baseline="0" dirty="0">
                <a:solidFill>
                  <a:srgbClr val="221E1F"/>
                </a:solidFill>
                <a:latin typeface="Arial" panose="020B0604020202020204" pitchFamily="34" charset="0"/>
              </a:rPr>
              <a:t>Resident or Area Engineers and our Small Business Advocate, Prisco "Eric" Ravelli </a:t>
            </a:r>
          </a:p>
          <a:p>
            <a:r>
              <a:rPr lang="en-US" sz="1000" b="0" i="0" u="none" strike="noStrike" baseline="0" dirty="0">
                <a:solidFill>
                  <a:srgbClr val="221E1F"/>
                </a:solidFill>
                <a:latin typeface="Arial" panose="020B0604020202020204" pitchFamily="34" charset="0"/>
              </a:rPr>
              <a:t>(213)452-39</a:t>
            </a:r>
            <a:endParaRPr sz="1000" dirty="0">
              <a:latin typeface="Arial"/>
              <a:cs typeface="Arial"/>
            </a:endParaRPr>
          </a:p>
        </p:txBody>
      </p:sp>
      <p:sp>
        <p:nvSpPr>
          <p:cNvPr id="7" name="object 21">
            <a:extLst>
              <a:ext uri="{FF2B5EF4-FFF2-40B4-BE49-F238E27FC236}">
                <a16:creationId xmlns:a16="http://schemas.microsoft.com/office/drawing/2014/main" id="{E78BBD41-3C43-01B2-022C-A739479D9CD7}"/>
              </a:ext>
            </a:extLst>
          </p:cNvPr>
          <p:cNvSpPr txBox="1"/>
          <p:nvPr/>
        </p:nvSpPr>
        <p:spPr>
          <a:xfrm>
            <a:off x="3914105" y="1150027"/>
            <a:ext cx="1380934" cy="5214248"/>
          </a:xfrm>
          <a:prstGeom prst="rect">
            <a:avLst/>
          </a:prstGeom>
        </p:spPr>
        <p:txBody>
          <a:bodyPr vert="horz" wrap="square" lIns="0" tIns="12700" rIns="0" bIns="0" rtlCol="0">
            <a:spAutoFit/>
          </a:bodyPr>
          <a:lstStyle/>
          <a:p>
            <a:pPr algn="l"/>
            <a:endParaRPr lang="en-US" sz="1800" b="0" i="0" u="none" strike="noStrike" baseline="0" dirty="0">
              <a:solidFill>
                <a:srgbClr val="000000"/>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Southern California Area Office </a:t>
            </a:r>
          </a:p>
          <a:p>
            <a:r>
              <a:rPr lang="en-US" sz="1000" dirty="0">
                <a:solidFill>
                  <a:srgbClr val="221E1F"/>
                </a:solidFill>
                <a:latin typeface="Arial" panose="020B0604020202020204" pitchFamily="34" charset="0"/>
              </a:rPr>
              <a:t>Area Engineer</a:t>
            </a:r>
          </a:p>
          <a:p>
            <a:r>
              <a:rPr lang="en-US" sz="1000" i="0" u="none" strike="noStrike" baseline="0" dirty="0">
                <a:solidFill>
                  <a:srgbClr val="221E1F"/>
                </a:solidFill>
                <a:latin typeface="Arial" panose="020B0604020202020204" pitchFamily="34" charset="0"/>
              </a:rPr>
              <a:t>Tom We</a:t>
            </a:r>
            <a:r>
              <a:rPr lang="en-US" sz="1000" dirty="0">
                <a:solidFill>
                  <a:srgbClr val="221E1F"/>
                </a:solidFill>
                <a:latin typeface="Arial" panose="020B0604020202020204" pitchFamily="34" charset="0"/>
              </a:rPr>
              <a:t>ber, P.E.</a:t>
            </a:r>
          </a:p>
          <a:p>
            <a:r>
              <a:rPr lang="en-US" sz="1000" i="0" u="none" strike="noStrike" baseline="0" dirty="0">
                <a:solidFill>
                  <a:srgbClr val="221E1F"/>
                </a:solidFill>
                <a:latin typeface="Arial" panose="020B0604020202020204" pitchFamily="34" charset="0"/>
              </a:rPr>
              <a:t>(760) 920-0526</a:t>
            </a:r>
          </a:p>
          <a:p>
            <a:endParaRPr lang="en-US" sz="1000" b="1"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Santa Ana Dams Resident Office </a:t>
            </a:r>
            <a:r>
              <a:rPr lang="en-US" sz="1000" b="0" i="0" u="none" strike="noStrike" baseline="0" dirty="0">
                <a:solidFill>
                  <a:srgbClr val="221E1F"/>
                </a:solidFill>
                <a:latin typeface="Arial" panose="020B0604020202020204" pitchFamily="34" charset="0"/>
              </a:rPr>
              <a:t>Resident Engineer </a:t>
            </a:r>
          </a:p>
          <a:p>
            <a:r>
              <a:rPr lang="en-US" sz="1000" b="0" i="0" u="none" strike="noStrike" baseline="0" dirty="0">
                <a:solidFill>
                  <a:srgbClr val="221E1F"/>
                </a:solidFill>
                <a:latin typeface="Arial" panose="020B0604020202020204" pitchFamily="34" charset="0"/>
              </a:rPr>
              <a:t>Pete Gauer, P.E.</a:t>
            </a:r>
          </a:p>
          <a:p>
            <a:r>
              <a:rPr lang="en-US" sz="1000" b="0" i="0" u="none" strike="noStrike" baseline="0" dirty="0">
                <a:solidFill>
                  <a:srgbClr val="221E1F"/>
                </a:solidFill>
                <a:latin typeface="Arial" panose="020B0604020202020204" pitchFamily="34" charset="0"/>
              </a:rPr>
              <a:t>(951) 898-6153</a:t>
            </a:r>
          </a:p>
          <a:p>
            <a:endParaRPr lang="en-US" sz="1000"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Ft Irwin Resident Office</a:t>
            </a:r>
          </a:p>
          <a:p>
            <a:r>
              <a:rPr lang="en-US" sz="1000" b="0" i="0" u="none" strike="noStrike" baseline="0" dirty="0">
                <a:solidFill>
                  <a:srgbClr val="221E1F"/>
                </a:solidFill>
                <a:latin typeface="Arial" panose="020B0604020202020204" pitchFamily="34" charset="0"/>
              </a:rPr>
              <a:t>Resident Engineer Robby Smith, P.E.</a:t>
            </a:r>
          </a:p>
          <a:p>
            <a:r>
              <a:rPr lang="en-US" sz="1000" b="0" i="0" u="none" strike="noStrike" baseline="0" dirty="0">
                <a:solidFill>
                  <a:srgbClr val="221E1F"/>
                </a:solidFill>
                <a:latin typeface="Arial" panose="020B0604020202020204" pitchFamily="34" charset="0"/>
              </a:rPr>
              <a:t>(760) 256-4527</a:t>
            </a:r>
          </a:p>
          <a:p>
            <a:endParaRPr lang="en-US" sz="1000"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San Diego Resident Office</a:t>
            </a:r>
          </a:p>
          <a:p>
            <a:r>
              <a:rPr lang="en-US" sz="1000" b="0" i="0" u="none" strike="noStrike" baseline="0" dirty="0">
                <a:solidFill>
                  <a:srgbClr val="221E1F"/>
                </a:solidFill>
                <a:latin typeface="Arial" panose="020B0604020202020204" pitchFamily="34" charset="0"/>
              </a:rPr>
              <a:t>Resident Engineer Jared Rowley</a:t>
            </a:r>
          </a:p>
          <a:p>
            <a:r>
              <a:rPr lang="en-US" sz="1000" b="0" i="0" u="none" strike="noStrike" baseline="0" dirty="0">
                <a:solidFill>
                  <a:srgbClr val="221E1F"/>
                </a:solidFill>
                <a:latin typeface="Arial" panose="020B0604020202020204" pitchFamily="34" charset="0"/>
              </a:rPr>
              <a:t>(858) 430-2805</a:t>
            </a:r>
          </a:p>
          <a:p>
            <a:endParaRPr lang="en-US" sz="1000"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High Desert Area Office</a:t>
            </a:r>
          </a:p>
          <a:p>
            <a:r>
              <a:rPr lang="en-US" sz="1000" dirty="0">
                <a:solidFill>
                  <a:srgbClr val="221E1F"/>
                </a:solidFill>
                <a:latin typeface="Arial" panose="020B0604020202020204" pitchFamily="34" charset="0"/>
              </a:rPr>
              <a:t>Area Engineer</a:t>
            </a:r>
          </a:p>
          <a:p>
            <a:r>
              <a:rPr lang="en-US" sz="1000" i="0" u="none" strike="noStrike" baseline="0" dirty="0">
                <a:solidFill>
                  <a:srgbClr val="221E1F"/>
                </a:solidFill>
                <a:latin typeface="Arial" panose="020B0604020202020204" pitchFamily="34" charset="0"/>
              </a:rPr>
              <a:t>John Stephens, P.E.</a:t>
            </a:r>
          </a:p>
          <a:p>
            <a:r>
              <a:rPr lang="en-US" sz="1000" i="0" u="none" strike="noStrike" baseline="0" dirty="0">
                <a:solidFill>
                  <a:srgbClr val="221E1F"/>
                </a:solidFill>
                <a:latin typeface="Arial" panose="020B0604020202020204" pitchFamily="34" charset="0"/>
              </a:rPr>
              <a:t>(661) 265-7222x1236</a:t>
            </a:r>
            <a:endParaRPr lang="en-US" sz="1000" b="1" i="0" u="none" strike="noStrike" baseline="0" dirty="0">
              <a:solidFill>
                <a:srgbClr val="221E1F"/>
              </a:solidFill>
              <a:latin typeface="Arial" panose="020B0604020202020204" pitchFamily="34" charset="0"/>
            </a:endParaRPr>
          </a:p>
          <a:p>
            <a:endParaRPr lang="en-US" sz="1000" b="1" dirty="0">
              <a:solidFill>
                <a:srgbClr val="221E1F"/>
              </a:solidFill>
              <a:latin typeface="Arial" panose="020B0604020202020204" pitchFamily="34" charset="0"/>
            </a:endParaRPr>
          </a:p>
          <a:p>
            <a:endParaRPr lang="en-US" sz="1000" dirty="0">
              <a:solidFill>
                <a:srgbClr val="221E1F"/>
              </a:solidFill>
              <a:latin typeface="Arial" panose="020B0604020202020204" pitchFamily="34" charset="0"/>
            </a:endParaRPr>
          </a:p>
          <a:p>
            <a:endParaRPr sz="1000" dirty="0">
              <a:latin typeface="Arial"/>
              <a:cs typeface="Arial"/>
            </a:endParaRPr>
          </a:p>
        </p:txBody>
      </p:sp>
      <p:sp>
        <p:nvSpPr>
          <p:cNvPr id="8" name="object 22">
            <a:extLst>
              <a:ext uri="{FF2B5EF4-FFF2-40B4-BE49-F238E27FC236}">
                <a16:creationId xmlns:a16="http://schemas.microsoft.com/office/drawing/2014/main" id="{AA4194EF-94D6-C2ED-1CA5-1916286E2360}"/>
              </a:ext>
            </a:extLst>
          </p:cNvPr>
          <p:cNvSpPr txBox="1"/>
          <p:nvPr/>
        </p:nvSpPr>
        <p:spPr>
          <a:xfrm>
            <a:off x="7147188" y="1446647"/>
            <a:ext cx="1515671" cy="4757713"/>
          </a:xfrm>
          <a:prstGeom prst="rect">
            <a:avLst/>
          </a:prstGeom>
        </p:spPr>
        <p:txBody>
          <a:bodyPr vert="horz" wrap="square" lIns="0" tIns="12700" rIns="0" bIns="0" rtlCol="0">
            <a:spAutoFit/>
          </a:bodyPr>
          <a:lstStyle/>
          <a:p>
            <a:pPr marL="12700" marR="5080">
              <a:lnSpc>
                <a:spcPct val="100000"/>
              </a:lnSpc>
              <a:spcBef>
                <a:spcPts val="100"/>
              </a:spcBef>
            </a:pPr>
            <a:r>
              <a:rPr lang="en-US" sz="1000" b="1" i="0" u="none" strike="noStrike" baseline="0" dirty="0">
                <a:solidFill>
                  <a:srgbClr val="221E1F"/>
                </a:solidFill>
                <a:latin typeface="Arial" panose="020B0604020202020204" pitchFamily="34" charset="0"/>
              </a:rPr>
              <a:t>Vandenberg AFB Resident Office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Resident Engineer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David Jorgenson, P.E. (805) 734-4670</a:t>
            </a:r>
            <a:endParaRPr lang="en-US" sz="1000" b="1" dirty="0">
              <a:solidFill>
                <a:srgbClr val="221E1F"/>
              </a:solidFill>
              <a:latin typeface="Arial" panose="020B0604020202020204" pitchFamily="34" charset="0"/>
            </a:endParaRPr>
          </a:p>
          <a:p>
            <a:pPr marL="12700" marR="5080">
              <a:lnSpc>
                <a:spcPct val="100000"/>
              </a:lnSpc>
              <a:spcBef>
                <a:spcPts val="100"/>
              </a:spcBef>
            </a:pPr>
            <a:endParaRPr lang="en-US" sz="1000" b="1" i="0" u="none" strike="noStrike" baseline="0" dirty="0">
              <a:solidFill>
                <a:srgbClr val="221E1F"/>
              </a:solidFill>
              <a:latin typeface="Arial" panose="020B0604020202020204" pitchFamily="34" charset="0"/>
            </a:endParaRPr>
          </a:p>
          <a:p>
            <a:pPr marL="12700" marR="5080">
              <a:lnSpc>
                <a:spcPct val="100000"/>
              </a:lnSpc>
              <a:spcBef>
                <a:spcPts val="100"/>
              </a:spcBef>
            </a:pPr>
            <a:r>
              <a:rPr lang="en-US" sz="1000" b="1" i="0" u="none" strike="noStrike" baseline="0" dirty="0">
                <a:solidFill>
                  <a:srgbClr val="221E1F"/>
                </a:solidFill>
                <a:latin typeface="Arial" panose="020B0604020202020204" pitchFamily="34" charset="0"/>
              </a:rPr>
              <a:t>Arizona Nevada Area Office </a:t>
            </a:r>
          </a:p>
          <a:p>
            <a:pPr marL="12700" marR="5080">
              <a:lnSpc>
                <a:spcPct val="100000"/>
              </a:lnSpc>
              <a:spcBef>
                <a:spcPts val="100"/>
              </a:spcBef>
            </a:pPr>
            <a:r>
              <a:rPr lang="en-US" sz="1000" b="1" dirty="0">
                <a:solidFill>
                  <a:srgbClr val="221E1F"/>
                </a:solidFill>
                <a:latin typeface="Arial" panose="020B0604020202020204" pitchFamily="34" charset="0"/>
              </a:rPr>
              <a:t>Area Engineer</a:t>
            </a:r>
          </a:p>
          <a:p>
            <a:pPr marL="12700" marR="5080">
              <a:lnSpc>
                <a:spcPct val="100000"/>
              </a:lnSpc>
              <a:spcBef>
                <a:spcPts val="100"/>
              </a:spcBef>
            </a:pPr>
            <a:r>
              <a:rPr lang="en-US" sz="1000" dirty="0">
                <a:solidFill>
                  <a:srgbClr val="221E1F"/>
                </a:solidFill>
                <a:latin typeface="Arial" panose="020B0604020202020204" pitchFamily="34" charset="0"/>
              </a:rPr>
              <a:t>Richard Fontanilla, P.E.</a:t>
            </a:r>
          </a:p>
          <a:p>
            <a:pPr marL="12700" marR="5080">
              <a:lnSpc>
                <a:spcPct val="100000"/>
              </a:lnSpc>
              <a:spcBef>
                <a:spcPts val="100"/>
              </a:spcBef>
            </a:pPr>
            <a:r>
              <a:rPr lang="en-US" sz="1000" dirty="0">
                <a:solidFill>
                  <a:srgbClr val="221E1F"/>
                </a:solidFill>
                <a:latin typeface="Arial" panose="020B0604020202020204" pitchFamily="34" charset="0"/>
              </a:rPr>
              <a:t>(602) 230-6851</a:t>
            </a:r>
          </a:p>
          <a:p>
            <a:pPr marL="12700" marR="5080">
              <a:lnSpc>
                <a:spcPct val="100000"/>
              </a:lnSpc>
              <a:spcBef>
                <a:spcPts val="100"/>
              </a:spcBef>
            </a:pPr>
            <a:endParaRPr lang="en-US" sz="1000" b="1" i="0" u="none" strike="noStrike" baseline="0" dirty="0">
              <a:solidFill>
                <a:srgbClr val="221E1F"/>
              </a:solidFill>
              <a:latin typeface="Arial" panose="020B0604020202020204" pitchFamily="34" charset="0"/>
            </a:endParaRPr>
          </a:p>
          <a:p>
            <a:pPr marL="12700" marR="5080">
              <a:lnSpc>
                <a:spcPct val="100000"/>
              </a:lnSpc>
              <a:spcBef>
                <a:spcPts val="100"/>
              </a:spcBef>
            </a:pPr>
            <a:r>
              <a:rPr lang="en-US" sz="1000" b="1" i="0" u="none" strike="noStrike" baseline="0" dirty="0">
                <a:solidFill>
                  <a:srgbClr val="221E1F"/>
                </a:solidFill>
                <a:latin typeface="Arial" panose="020B0604020202020204" pitchFamily="34" charset="0"/>
              </a:rPr>
              <a:t>Road Runner Resident Office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Resident Engineer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Jeff Owens, P.E.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(602) 230-6870 </a:t>
            </a:r>
          </a:p>
          <a:p>
            <a:pPr marL="12700" marR="5080">
              <a:lnSpc>
                <a:spcPct val="100000"/>
              </a:lnSpc>
              <a:spcBef>
                <a:spcPts val="100"/>
              </a:spcBef>
            </a:pPr>
            <a:endParaRPr lang="en-US" sz="1000" dirty="0">
              <a:solidFill>
                <a:srgbClr val="221E1F"/>
              </a:solidFill>
              <a:latin typeface="Arial" panose="020B0604020202020204" pitchFamily="34" charset="0"/>
            </a:endParaRPr>
          </a:p>
          <a:p>
            <a:pPr marL="12700" marR="5080">
              <a:lnSpc>
                <a:spcPct val="100000"/>
              </a:lnSpc>
              <a:spcBef>
                <a:spcPts val="100"/>
              </a:spcBef>
            </a:pPr>
            <a:r>
              <a:rPr lang="en-US" sz="1000" b="1" i="0" u="none" strike="noStrike" baseline="0" dirty="0">
                <a:solidFill>
                  <a:srgbClr val="221E1F"/>
                </a:solidFill>
                <a:latin typeface="Arial" panose="020B0604020202020204" pitchFamily="34" charset="0"/>
              </a:rPr>
              <a:t>Las Vegas Resident Office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Resident Engineer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Teryl Stacey, P.E.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(702) 852-3544 </a:t>
            </a:r>
          </a:p>
          <a:p>
            <a:pPr marL="12700" marR="5080">
              <a:lnSpc>
                <a:spcPct val="100000"/>
              </a:lnSpc>
              <a:spcBef>
                <a:spcPts val="100"/>
              </a:spcBef>
            </a:pPr>
            <a:endParaRPr lang="en-US" sz="1000" dirty="0">
              <a:solidFill>
                <a:srgbClr val="221E1F"/>
              </a:solidFill>
              <a:latin typeface="Arial" panose="020B0604020202020204" pitchFamily="34" charset="0"/>
            </a:endParaRPr>
          </a:p>
          <a:p>
            <a:pPr marL="12700" marR="5080">
              <a:lnSpc>
                <a:spcPct val="100000"/>
              </a:lnSpc>
              <a:spcBef>
                <a:spcPts val="100"/>
              </a:spcBef>
            </a:pPr>
            <a:r>
              <a:rPr lang="en-US" sz="1000" b="1" i="0" u="none" strike="noStrike" baseline="0" dirty="0">
                <a:solidFill>
                  <a:srgbClr val="221E1F"/>
                </a:solidFill>
                <a:latin typeface="Arial" panose="020B0604020202020204" pitchFamily="34" charset="0"/>
              </a:rPr>
              <a:t>Tucson Resident Office </a:t>
            </a:r>
            <a:r>
              <a:rPr lang="en-US" sz="1000" b="0" i="0" u="none" strike="noStrike" baseline="0" dirty="0">
                <a:solidFill>
                  <a:srgbClr val="221E1F"/>
                </a:solidFill>
                <a:latin typeface="Arial" panose="020B0604020202020204" pitchFamily="34" charset="0"/>
              </a:rPr>
              <a:t>Resident Engineer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Bill Crockett, P.E.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(520) 584-1673 </a:t>
            </a:r>
          </a:p>
          <a:p>
            <a:pPr marL="12700" marR="5080">
              <a:lnSpc>
                <a:spcPct val="100000"/>
              </a:lnSpc>
              <a:spcBef>
                <a:spcPts val="100"/>
              </a:spcBef>
            </a:pPr>
            <a:endParaRPr lang="en-US" sz="1000" dirty="0">
              <a:solidFill>
                <a:srgbClr val="221E1F"/>
              </a:solidFill>
              <a:latin typeface="Arial" panose="020B0604020202020204" pitchFamily="34" charset="0"/>
            </a:endParaRPr>
          </a:p>
        </p:txBody>
      </p:sp>
      <p:pic>
        <p:nvPicPr>
          <p:cNvPr id="10" name="Picture 9" descr="A picture containing sky, road, outdoor, cargo container&#10;&#10;Description automatically generated">
            <a:extLst>
              <a:ext uri="{FF2B5EF4-FFF2-40B4-BE49-F238E27FC236}">
                <a16:creationId xmlns:a16="http://schemas.microsoft.com/office/drawing/2014/main" id="{F37D4B1A-4816-8A04-1579-EABEDEBF76C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293917" y="1211537"/>
            <a:ext cx="3329667" cy="2096738"/>
          </a:xfrm>
          <a:prstGeom prst="rect">
            <a:avLst/>
          </a:prstGeom>
        </p:spPr>
      </p:pic>
      <p:pic>
        <p:nvPicPr>
          <p:cNvPr id="11" name="Picture Placeholder 22">
            <a:extLst>
              <a:ext uri="{FF2B5EF4-FFF2-40B4-BE49-F238E27FC236}">
                <a16:creationId xmlns:a16="http://schemas.microsoft.com/office/drawing/2014/main" id="{C1586866-D1EE-5B00-1B57-28D378558829}"/>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307168" y="3985590"/>
            <a:ext cx="3387414" cy="2183182"/>
          </a:xfrm>
          <a:prstGeom prst="rect">
            <a:avLst/>
          </a:prstGeom>
          <a:effectLst>
            <a:softEdge rad="31750"/>
          </a:effectLst>
        </p:spPr>
      </p:pic>
      <p:pic>
        <p:nvPicPr>
          <p:cNvPr id="12" name="Picture 11" descr="A picture containing outdoor object&#10;&#10;Description automatically generated">
            <a:extLst>
              <a:ext uri="{FF2B5EF4-FFF2-40B4-BE49-F238E27FC236}">
                <a16:creationId xmlns:a16="http://schemas.microsoft.com/office/drawing/2014/main" id="{F879F3A2-3288-BDF6-3B56-C37A19C8543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a:xfrm>
            <a:off x="8993042" y="4733926"/>
            <a:ext cx="2621500" cy="2031310"/>
          </a:xfrm>
          <a:prstGeom prst="rect">
            <a:avLst/>
          </a:prstGeom>
        </p:spPr>
      </p:pic>
      <p:sp>
        <p:nvSpPr>
          <p:cNvPr id="13" name="object 21">
            <a:extLst>
              <a:ext uri="{FF2B5EF4-FFF2-40B4-BE49-F238E27FC236}">
                <a16:creationId xmlns:a16="http://schemas.microsoft.com/office/drawing/2014/main" id="{F486850C-BCA0-17BA-CD55-5D90E7812339}"/>
              </a:ext>
            </a:extLst>
          </p:cNvPr>
          <p:cNvSpPr txBox="1"/>
          <p:nvPr/>
        </p:nvSpPr>
        <p:spPr>
          <a:xfrm>
            <a:off x="5471234" y="997631"/>
            <a:ext cx="1380934" cy="5547673"/>
          </a:xfrm>
          <a:prstGeom prst="rect">
            <a:avLst/>
          </a:prstGeom>
        </p:spPr>
        <p:txBody>
          <a:bodyPr vert="horz" wrap="square" lIns="0" tIns="12700" rIns="0" bIns="0" rtlCol="0">
            <a:spAutoFit/>
          </a:bodyPr>
          <a:lstStyle/>
          <a:p>
            <a:pPr algn="l"/>
            <a:endParaRPr lang="en-US" sz="1800" b="0" i="0" u="none" strike="noStrike" baseline="0" dirty="0">
              <a:solidFill>
                <a:srgbClr val="000000"/>
              </a:solidFill>
              <a:latin typeface="Arial" panose="020B0604020202020204" pitchFamily="34" charset="0"/>
            </a:endParaRPr>
          </a:p>
          <a:p>
            <a:endParaRPr lang="en-US" sz="1000" dirty="0">
              <a:solidFill>
                <a:srgbClr val="221E1F"/>
              </a:solidFill>
              <a:latin typeface="Arial" panose="020B0604020202020204" pitchFamily="34" charset="0"/>
            </a:endParaRPr>
          </a:p>
          <a:p>
            <a:r>
              <a:rPr lang="en-US" sz="1000" b="1" i="0" u="none" strike="noStrike" baseline="0" dirty="0">
                <a:solidFill>
                  <a:srgbClr val="221E1F"/>
                </a:solidFill>
                <a:latin typeface="Arial" panose="020B0604020202020204" pitchFamily="34" charset="0"/>
              </a:rPr>
              <a:t>Edwards AFB Resident Office </a:t>
            </a:r>
            <a:r>
              <a:rPr lang="en-US" sz="1000" b="0" i="0" u="none" strike="noStrike" baseline="0" dirty="0">
                <a:solidFill>
                  <a:srgbClr val="221E1F"/>
                </a:solidFill>
                <a:latin typeface="Arial" panose="020B0604020202020204" pitchFamily="34" charset="0"/>
              </a:rPr>
              <a:t>Resident Engineer Robby Smith, P.E.</a:t>
            </a:r>
          </a:p>
          <a:p>
            <a:r>
              <a:rPr lang="en-US" sz="1000" b="0" i="0" u="none" strike="noStrike" baseline="0" dirty="0">
                <a:solidFill>
                  <a:srgbClr val="221E1F"/>
                </a:solidFill>
                <a:latin typeface="Arial" panose="020B0604020202020204" pitchFamily="34" charset="0"/>
              </a:rPr>
              <a:t>(760) 256-4527</a:t>
            </a:r>
          </a:p>
          <a:p>
            <a:endParaRPr lang="en-US" sz="1000" dirty="0">
              <a:solidFill>
                <a:srgbClr val="221E1F"/>
              </a:solidFill>
              <a:latin typeface="Arial" panose="020B0604020202020204" pitchFamily="34" charset="0"/>
            </a:endParaRPr>
          </a:p>
          <a:p>
            <a:pPr marL="12700" marR="5080">
              <a:lnSpc>
                <a:spcPct val="100000"/>
              </a:lnSpc>
              <a:spcBef>
                <a:spcPts val="100"/>
              </a:spcBef>
            </a:pPr>
            <a:r>
              <a:rPr lang="en-US" sz="1000" b="1" i="0" u="none" strike="noStrike" baseline="0" dirty="0">
                <a:solidFill>
                  <a:srgbClr val="221E1F"/>
                </a:solidFill>
                <a:latin typeface="Arial" panose="020B0604020202020204" pitchFamily="34" charset="0"/>
              </a:rPr>
              <a:t>DVA Long Beach Resident Office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Resident Engineer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Kevin Thomas, P.E.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(760) 708-6084 </a:t>
            </a:r>
          </a:p>
          <a:p>
            <a:pPr marL="12700" marR="5080">
              <a:lnSpc>
                <a:spcPct val="100000"/>
              </a:lnSpc>
              <a:spcBef>
                <a:spcPts val="100"/>
              </a:spcBef>
            </a:pPr>
            <a:endParaRPr lang="en-US" sz="1000" dirty="0">
              <a:solidFill>
                <a:srgbClr val="221E1F"/>
              </a:solidFill>
              <a:latin typeface="Arial" panose="020B0604020202020204" pitchFamily="34" charset="0"/>
            </a:endParaRPr>
          </a:p>
          <a:p>
            <a:pPr marL="12700" marR="5080">
              <a:lnSpc>
                <a:spcPct val="100000"/>
              </a:lnSpc>
              <a:spcBef>
                <a:spcPts val="100"/>
              </a:spcBef>
            </a:pPr>
            <a:r>
              <a:rPr lang="en-US" sz="1000" b="1" i="0" u="none" strike="noStrike" baseline="0" dirty="0">
                <a:solidFill>
                  <a:srgbClr val="221E1F"/>
                </a:solidFill>
                <a:latin typeface="Arial" panose="020B0604020202020204" pitchFamily="34" charset="0"/>
              </a:rPr>
              <a:t>DVA San Diego Resident Office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Resident Engineer </a:t>
            </a:r>
          </a:p>
          <a:p>
            <a:pPr marL="12700" marR="5080">
              <a:lnSpc>
                <a:spcPct val="100000"/>
              </a:lnSpc>
              <a:spcBef>
                <a:spcPts val="100"/>
              </a:spcBef>
            </a:pPr>
            <a:r>
              <a:rPr lang="en-US" sz="1000" b="0" i="0" u="none" strike="noStrike" baseline="0" dirty="0">
                <a:solidFill>
                  <a:srgbClr val="221E1F"/>
                </a:solidFill>
                <a:latin typeface="Arial" panose="020B0604020202020204" pitchFamily="34" charset="0"/>
              </a:rPr>
              <a:t>Roberto Paredes, P.E.</a:t>
            </a:r>
          </a:p>
          <a:p>
            <a:pPr marL="12700" marR="5080">
              <a:lnSpc>
                <a:spcPct val="100000"/>
              </a:lnSpc>
              <a:spcBef>
                <a:spcPts val="100"/>
              </a:spcBef>
            </a:pPr>
            <a:r>
              <a:rPr lang="en-US" sz="1000" dirty="0">
                <a:solidFill>
                  <a:srgbClr val="221E1F"/>
                </a:solidFill>
                <a:latin typeface="Arial" panose="020B0604020202020204" pitchFamily="34" charset="0"/>
              </a:rPr>
              <a:t>(858) 379-1920</a:t>
            </a:r>
            <a:r>
              <a:rPr lang="en-US" sz="1000" b="0" i="0" u="none" strike="noStrike" baseline="0" dirty="0">
                <a:solidFill>
                  <a:srgbClr val="221E1F"/>
                </a:solidFill>
                <a:latin typeface="Arial" panose="020B0604020202020204" pitchFamily="34" charset="0"/>
              </a:rPr>
              <a:t> </a:t>
            </a:r>
          </a:p>
          <a:p>
            <a:pPr marL="12700" marR="5080">
              <a:lnSpc>
                <a:spcPct val="100000"/>
              </a:lnSpc>
              <a:spcBef>
                <a:spcPts val="100"/>
              </a:spcBef>
            </a:pPr>
            <a:endParaRPr lang="en-US" sz="1000" dirty="0">
              <a:solidFill>
                <a:srgbClr val="221E1F"/>
              </a:solidFill>
              <a:latin typeface="Arial" panose="020B0604020202020204" pitchFamily="34" charset="0"/>
              <a:cs typeface="Arial"/>
            </a:endParaRPr>
          </a:p>
          <a:p>
            <a:r>
              <a:rPr lang="en-US" sz="1000" b="1" i="0" u="none" strike="noStrike" baseline="0" dirty="0">
                <a:solidFill>
                  <a:srgbClr val="221E1F"/>
                </a:solidFill>
                <a:latin typeface="Arial" panose="020B0604020202020204" pitchFamily="34" charset="0"/>
              </a:rPr>
              <a:t>San Andreas Resident Office </a:t>
            </a:r>
          </a:p>
          <a:p>
            <a:r>
              <a:rPr lang="en-US" sz="1000" b="0" i="0" u="none" strike="noStrike" baseline="0" dirty="0">
                <a:solidFill>
                  <a:srgbClr val="221E1F"/>
                </a:solidFill>
                <a:latin typeface="Arial" panose="020B0604020202020204" pitchFamily="34" charset="0"/>
              </a:rPr>
              <a:t>Resident Engineer </a:t>
            </a:r>
          </a:p>
          <a:p>
            <a:r>
              <a:rPr lang="en-US" sz="1000" b="0" i="0" u="none" strike="noStrike" baseline="0" dirty="0">
                <a:solidFill>
                  <a:srgbClr val="221E1F"/>
                </a:solidFill>
                <a:latin typeface="Arial" panose="020B0604020202020204" pitchFamily="34" charset="0"/>
              </a:rPr>
              <a:t>Jose Rocha</a:t>
            </a:r>
          </a:p>
          <a:p>
            <a:r>
              <a:rPr lang="en-US" sz="1000" b="0" i="0" u="none" strike="noStrike" baseline="0" dirty="0">
                <a:solidFill>
                  <a:srgbClr val="221E1F"/>
                </a:solidFill>
                <a:latin typeface="Arial" panose="020B0604020202020204" pitchFamily="34" charset="0"/>
              </a:rPr>
              <a:t>(626) 401-4084</a:t>
            </a:r>
          </a:p>
          <a:p>
            <a:endParaRPr lang="en-US" sz="1000" dirty="0">
              <a:solidFill>
                <a:srgbClr val="221E1F"/>
              </a:solidFill>
              <a:latin typeface="Arial" panose="020B0604020202020204" pitchFamily="34" charset="0"/>
            </a:endParaRPr>
          </a:p>
          <a:p>
            <a:pPr marL="12700" marR="5080">
              <a:lnSpc>
                <a:spcPct val="100000"/>
              </a:lnSpc>
              <a:spcBef>
                <a:spcPts val="100"/>
              </a:spcBef>
            </a:pPr>
            <a:r>
              <a:rPr lang="en-US" sz="1000" b="1" i="0" u="none" strike="noStrike" baseline="0" dirty="0">
                <a:solidFill>
                  <a:srgbClr val="000000"/>
                </a:solidFill>
                <a:latin typeface="Arial" panose="020B0604020202020204" pitchFamily="34" charset="0"/>
              </a:rPr>
              <a:t>Environmental &amp;Tech Support Branch </a:t>
            </a:r>
          </a:p>
          <a:p>
            <a:pPr marL="12700" marR="5080">
              <a:lnSpc>
                <a:spcPct val="100000"/>
              </a:lnSpc>
              <a:spcBef>
                <a:spcPts val="100"/>
              </a:spcBef>
            </a:pPr>
            <a:r>
              <a:rPr lang="en-US" sz="1000" b="0" i="0" u="none" strike="noStrike" baseline="0" dirty="0">
                <a:solidFill>
                  <a:srgbClr val="000000"/>
                </a:solidFill>
                <a:latin typeface="Arial" panose="020B0604020202020204" pitchFamily="34" charset="0"/>
              </a:rPr>
              <a:t>Thad Fukushige P.E. </a:t>
            </a:r>
          </a:p>
          <a:p>
            <a:pPr marL="12700" marR="5080">
              <a:lnSpc>
                <a:spcPct val="100000"/>
              </a:lnSpc>
              <a:spcBef>
                <a:spcPts val="100"/>
              </a:spcBef>
            </a:pPr>
            <a:r>
              <a:rPr lang="en-US" sz="1000" b="0" i="0" u="none" strike="noStrike" baseline="0" dirty="0">
                <a:solidFill>
                  <a:srgbClr val="000000"/>
                </a:solidFill>
                <a:latin typeface="Arial" panose="020B0604020202020204" pitchFamily="34" charset="0"/>
              </a:rPr>
              <a:t>(626) 401-4048</a:t>
            </a:r>
            <a:endParaRPr lang="en-US" sz="1000" dirty="0">
              <a:latin typeface="Arial"/>
              <a:cs typeface="Arial"/>
            </a:endParaRPr>
          </a:p>
          <a:p>
            <a:endParaRPr lang="en-US" sz="1000" b="0" i="0" u="none" strike="noStrike" baseline="0" dirty="0">
              <a:solidFill>
                <a:srgbClr val="221E1F"/>
              </a:solidFill>
              <a:latin typeface="Arial" panose="020B0604020202020204" pitchFamily="34" charset="0"/>
            </a:endParaRPr>
          </a:p>
          <a:p>
            <a:pPr marL="12700" marR="5080">
              <a:lnSpc>
                <a:spcPct val="100000"/>
              </a:lnSpc>
              <a:spcBef>
                <a:spcPts val="100"/>
              </a:spcBef>
            </a:pPr>
            <a:endParaRPr lang="en-US" sz="1000" dirty="0">
              <a:latin typeface="Arial"/>
              <a:cs typeface="Arial"/>
            </a:endParaRPr>
          </a:p>
          <a:p>
            <a:endParaRPr lang="en-US" sz="1000" b="0" i="0" u="none" strike="noStrike" baseline="0" dirty="0">
              <a:solidFill>
                <a:srgbClr val="221E1F"/>
              </a:solidFill>
              <a:latin typeface="Arial" panose="020B0604020202020204" pitchFamily="34" charset="0"/>
            </a:endParaRPr>
          </a:p>
          <a:p>
            <a:endParaRPr sz="1000" dirty="0">
              <a:latin typeface="Arial"/>
              <a:cs typeface="Arial"/>
            </a:endParaRPr>
          </a:p>
        </p:txBody>
      </p:sp>
    </p:spTree>
    <p:extLst>
      <p:ext uri="{BB962C8B-B14F-4D97-AF65-F5344CB8AC3E}">
        <p14:creationId xmlns:p14="http://schemas.microsoft.com/office/powerpoint/2010/main" val="1502209572"/>
      </p:ext>
    </p:extLst>
  </p:cSld>
  <p:clrMapOvr>
    <a:masterClrMapping/>
  </p:clrMapOvr>
</p:sld>
</file>

<file path=ppt/theme/theme1.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766CC65F684B429FF7180F3D57B586" ma:contentTypeVersion="5" ma:contentTypeDescription="Create a new document." ma:contentTypeScope="" ma:versionID="7c5df1cc8579b1f93b75a8cb43c96f27">
  <xsd:schema xmlns:xsd="http://www.w3.org/2001/XMLSchema" xmlns:xs="http://www.w3.org/2001/XMLSchema" xmlns:p="http://schemas.microsoft.com/office/2006/metadata/properties" xmlns:ns2="069eff90-f266-4243-80b9-4aeb2db121c0" xmlns:ns3="8f6888a7-79e2-4ab1-af8d-1bdb6f7bc1c1" targetNamespace="http://schemas.microsoft.com/office/2006/metadata/properties" ma:root="true" ma:fieldsID="f9ed45560e734aa2cbb97cbfd527457d" ns2:_="" ns3:_="">
    <xsd:import namespace="069eff90-f266-4243-80b9-4aeb2db121c0"/>
    <xsd:import namespace="8f6888a7-79e2-4ab1-af8d-1bdb6f7bc1c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9eff90-f266-4243-80b9-4aeb2db121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f6888a7-79e2-4ab1-af8d-1bdb6f7bc1c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13B8E-68E2-4983-88A6-571E3B9997BD}">
  <ds:schemaRefs>
    <ds:schemaRef ds:uri="069eff90-f266-4243-80b9-4aeb2db121c0"/>
    <ds:schemaRef ds:uri="8f6888a7-79e2-4ab1-af8d-1bdb6f7bc1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B8C2CD5-50C2-4A7C-996A-3D6312B83669}">
  <ds:schemaRefs>
    <ds:schemaRef ds:uri="069eff90-f266-4243-80b9-4aeb2db121c0"/>
    <ds:schemaRef ds:uri="8f6888a7-79e2-4ab1-af8d-1bdb6f7bc1c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7CAE72E-856B-4DF4-A9F6-93C41667E9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2308</TotalTime>
  <Words>4247</Words>
  <Application>Microsoft Office PowerPoint</Application>
  <PresentationFormat>Widescreen</PresentationFormat>
  <Paragraphs>524</Paragraphs>
  <Slides>11</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11</vt:i4>
      </vt:variant>
    </vt:vector>
  </HeadingPairs>
  <TitlesOfParts>
    <vt:vector size="25" baseType="lpstr">
      <vt:lpstr>Aptos Display</vt:lpstr>
      <vt:lpstr>Arial</vt:lpstr>
      <vt:lpstr>Arial Narrow</vt:lpstr>
      <vt:lpstr>Calibri</vt:lpstr>
      <vt:lpstr>Source Sans Pro</vt:lpstr>
      <vt:lpstr>Tahoma</vt:lpstr>
      <vt:lpstr>Times New Roman</vt:lpstr>
      <vt:lpstr>Wingdings</vt:lpstr>
      <vt:lpstr>CUI Upper left Castle template </vt:lpstr>
      <vt:lpstr>traditional template NON CUI</vt:lpstr>
      <vt:lpstr>Traditional template CUI</vt:lpstr>
      <vt:lpstr>2_Upper Left Star and Castle NON CUI</vt:lpstr>
      <vt:lpstr>Upper Left Star and Castle CUI</vt:lpstr>
      <vt:lpstr>Chart Color Templates</vt:lpstr>
      <vt:lpstr>Los Angeles district   Corps of engineers (SPL)</vt:lpstr>
      <vt:lpstr>PowerPoint Presentation</vt:lpstr>
      <vt:lpstr>PowerPoint Presentation</vt:lpstr>
      <vt:lpstr>SPL Missions</vt:lpstr>
      <vt:lpstr>SPL Missions</vt:lpstr>
      <vt:lpstr>Corps of engineers Attendees</vt:lpstr>
      <vt:lpstr>U.S. Army Corps of Engineers Los Angeles District</vt:lpstr>
      <vt:lpstr>Prime Contracting Opportunities: IIS Interagency &amp; international Services (Subject to Change)</vt:lpstr>
      <vt:lpstr>Prime Contracting Opportunities: Military program (Subject to Change)</vt:lpstr>
      <vt:lpstr>Prime Contracting Opportunities: CIVIL WORKS, AE and Navigation  (SUBJECT TO CHANGE)</vt:lpstr>
      <vt:lpstr>Contact information</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Minami, Kinya R CIV USARMY CESPL (USA)</cp:lastModifiedBy>
  <cp:revision>84</cp:revision>
  <dcterms:created xsi:type="dcterms:W3CDTF">2017-02-20T05:10:01Z</dcterms:created>
  <dcterms:modified xsi:type="dcterms:W3CDTF">2025-03-06T14:24:37Z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0x010100F7766CC65F684B429FF7180F3D57B586</vt:lpwstr>
  </property>
</Properties>
</file>