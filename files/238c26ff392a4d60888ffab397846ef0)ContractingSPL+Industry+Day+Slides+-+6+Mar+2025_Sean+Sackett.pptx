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4.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5.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6.xml" ContentType="application/vnd.openxmlformats-officedocument.theme+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7.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8.xml" ContentType="application/vnd.openxmlformats-officedocument.themeOverr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9.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0.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4"/>
    <p:sldMasterId id="2147484142" r:id="rId5"/>
    <p:sldMasterId id="2147484051" r:id="rId6"/>
    <p:sldMasterId id="2147484081" r:id="rId7"/>
    <p:sldMasterId id="2147484110" r:id="rId8"/>
    <p:sldMasterId id="2147484170" r:id="rId9"/>
    <p:sldMasterId id="2147483723" r:id="rId10"/>
  </p:sldMasterIdLst>
  <p:notesMasterIdLst>
    <p:notesMasterId r:id="rId47"/>
  </p:notesMasterIdLst>
  <p:handoutMasterIdLst>
    <p:handoutMasterId r:id="rId48"/>
  </p:handoutMasterIdLst>
  <p:sldIdLst>
    <p:sldId id="274" r:id="rId11"/>
    <p:sldId id="328" r:id="rId12"/>
    <p:sldId id="324" r:id="rId13"/>
    <p:sldId id="329" r:id="rId14"/>
    <p:sldId id="289" r:id="rId15"/>
    <p:sldId id="461" r:id="rId16"/>
    <p:sldId id="513" r:id="rId17"/>
    <p:sldId id="332" r:id="rId18"/>
    <p:sldId id="514" r:id="rId19"/>
    <p:sldId id="333" r:id="rId20"/>
    <p:sldId id="467" r:id="rId21"/>
    <p:sldId id="325" r:id="rId22"/>
    <p:sldId id="512" r:id="rId23"/>
    <p:sldId id="463" r:id="rId24"/>
    <p:sldId id="469" r:id="rId25"/>
    <p:sldId id="468" r:id="rId26"/>
    <p:sldId id="470" r:id="rId27"/>
    <p:sldId id="464" r:id="rId28"/>
    <p:sldId id="473" r:id="rId29"/>
    <p:sldId id="472" r:id="rId30"/>
    <p:sldId id="471" r:id="rId31"/>
    <p:sldId id="465" r:id="rId32"/>
    <p:sldId id="474" r:id="rId33"/>
    <p:sldId id="475" r:id="rId34"/>
    <p:sldId id="476" r:id="rId35"/>
    <p:sldId id="517" r:id="rId36"/>
    <p:sldId id="515" r:id="rId37"/>
    <p:sldId id="516" r:id="rId38"/>
    <p:sldId id="479" r:id="rId39"/>
    <p:sldId id="340" r:id="rId40"/>
    <p:sldId id="424" r:id="rId41"/>
    <p:sldId id="425" r:id="rId42"/>
    <p:sldId id="426" r:id="rId43"/>
    <p:sldId id="427" r:id="rId44"/>
    <p:sldId id="428" r:id="rId45"/>
    <p:sldId id="314" r:id="rId4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863D"/>
    <a:srgbClr val="4D4D4D"/>
    <a:srgbClr val="FFFFFF"/>
    <a:srgbClr val="E4E4E4"/>
    <a:srgbClr val="DEDEDE"/>
    <a:srgbClr val="A29A92"/>
    <a:srgbClr val="00B050"/>
    <a:srgbClr val="C8C8C8"/>
    <a:srgbClr val="FF660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27" autoAdjust="0"/>
    <p:restoredTop sz="96357" autoAdjust="0"/>
  </p:normalViewPr>
  <p:slideViewPr>
    <p:cSldViewPr snapToGrid="0">
      <p:cViewPr varScale="1">
        <p:scale>
          <a:sx n="110" d="100"/>
          <a:sy n="110" d="100"/>
        </p:scale>
        <p:origin x="504" y="108"/>
      </p:cViewPr>
      <p:guideLst/>
    </p:cSldViewPr>
  </p:slideViewPr>
  <p:notesTextViewPr>
    <p:cViewPr>
      <p:scale>
        <a:sx n="1" d="1"/>
        <a:sy n="1" d="1"/>
      </p:scale>
      <p:origin x="0" y="0"/>
    </p:cViewPr>
  </p:notesTextViewPr>
  <p:notesViewPr>
    <p:cSldViewPr snapToGrid="0" showGuides="1">
      <p:cViewPr varScale="1">
        <p:scale>
          <a:sx n="98" d="100"/>
          <a:sy n="98" d="100"/>
        </p:scale>
        <p:origin x="351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handoutMaster" Target="handoutMasters/handoutMaster1.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FY20</a:t>
            </a:r>
            <a:r>
              <a:rPr lang="en-US" baseline="0" dirty="0"/>
              <a:t> - FY24 Total Dollars</a:t>
            </a:r>
            <a:endParaRPr lang="en-US" dirty="0"/>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Sheet1!$A$2:$A$6</c:f>
              <c:strCache>
                <c:ptCount val="5"/>
                <c:pt idx="0">
                  <c:v>FY20 - Obligated</c:v>
                </c:pt>
                <c:pt idx="1">
                  <c:v>FY21 - Olbigated</c:v>
                </c:pt>
                <c:pt idx="2">
                  <c:v>FY22- Olbigated</c:v>
                </c:pt>
                <c:pt idx="3">
                  <c:v>FY23- Olbigated</c:v>
                </c:pt>
                <c:pt idx="4">
                  <c:v>FY24- Olbigated</c:v>
                </c:pt>
              </c:strCache>
            </c:strRef>
          </c:cat>
          <c:val>
            <c:numRef>
              <c:f>Sheet1!$B$2:$B$6</c:f>
              <c:numCache>
                <c:formatCode>"$"#,##0_);\("$"#,##0\)</c:formatCode>
                <c:ptCount val="5"/>
                <c:pt idx="0">
                  <c:v>1459787503</c:v>
                </c:pt>
                <c:pt idx="1">
                  <c:v>725526887</c:v>
                </c:pt>
                <c:pt idx="2">
                  <c:v>374082954</c:v>
                </c:pt>
                <c:pt idx="3">
                  <c:v>611325355</c:v>
                </c:pt>
                <c:pt idx="4">
                  <c:v>463888507</c:v>
                </c:pt>
              </c:numCache>
            </c:numRef>
          </c:val>
          <c:extLst>
            <c:ext xmlns:c16="http://schemas.microsoft.com/office/drawing/2014/chart" uri="{C3380CC4-5D6E-409C-BE32-E72D297353CC}">
              <c16:uniqueId val="{00000000-3376-4431-AEC1-6302F170E833}"/>
            </c:ext>
          </c:extLst>
        </c:ser>
        <c:dLbls>
          <c:dLblPos val="inEnd"/>
          <c:showLegendKey val="0"/>
          <c:showVal val="1"/>
          <c:showCatName val="0"/>
          <c:showSerName val="0"/>
          <c:showPercent val="0"/>
          <c:showBubbleSize val="0"/>
        </c:dLbls>
        <c:gapWidth val="100"/>
        <c:overlap val="-24"/>
        <c:axId val="360497680"/>
        <c:axId val="360498160"/>
      </c:barChart>
      <c:catAx>
        <c:axId val="36049768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360498160"/>
        <c:crosses val="autoZero"/>
        <c:auto val="1"/>
        <c:lblAlgn val="ctr"/>
        <c:lblOffset val="100"/>
        <c:noMultiLvlLbl val="0"/>
      </c:catAx>
      <c:valAx>
        <c:axId val="360498160"/>
        <c:scaling>
          <c:orientation val="minMax"/>
        </c:scaling>
        <c:delete val="0"/>
        <c:axPos val="l"/>
        <c:majorGridlines>
          <c:spPr>
            <a:ln w="9525" cap="flat" cmpd="sng" algn="ctr">
              <a:solidFill>
                <a:schemeClr val="lt1">
                  <a:lumMod val="95000"/>
                  <a:alpha val="10000"/>
                </a:schemeClr>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360497680"/>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a:t>
            </a:r>
            <a:r>
              <a:rPr lang="en-US" baseline="0"/>
              <a:t>20 - FY24 Contract Awards By Volume</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Sheet1!$A$2:$A$6</c:f>
              <c:strCache>
                <c:ptCount val="5"/>
                <c:pt idx="0">
                  <c:v>FY20 - Contracts</c:v>
                </c:pt>
                <c:pt idx="1">
                  <c:v>FY21 - Contracts</c:v>
                </c:pt>
                <c:pt idx="2">
                  <c:v>FY22- Contracts</c:v>
                </c:pt>
                <c:pt idx="3">
                  <c:v>FY23- Contracts</c:v>
                </c:pt>
                <c:pt idx="4">
                  <c:v>FY24- Contracts</c:v>
                </c:pt>
              </c:strCache>
            </c:strRef>
          </c:cat>
          <c:val>
            <c:numRef>
              <c:f>Sheet1!$C$2:$C$6</c:f>
              <c:numCache>
                <c:formatCode>General</c:formatCode>
                <c:ptCount val="5"/>
                <c:pt idx="0">
                  <c:v>909</c:v>
                </c:pt>
                <c:pt idx="1">
                  <c:v>913</c:v>
                </c:pt>
                <c:pt idx="2">
                  <c:v>906</c:v>
                </c:pt>
                <c:pt idx="3">
                  <c:v>759</c:v>
                </c:pt>
                <c:pt idx="4">
                  <c:v>674</c:v>
                </c:pt>
              </c:numCache>
            </c:numRef>
          </c:val>
          <c:extLst>
            <c:ext xmlns:c16="http://schemas.microsoft.com/office/drawing/2014/chart" uri="{C3380CC4-5D6E-409C-BE32-E72D297353CC}">
              <c16:uniqueId val="{00000000-649F-4D54-A16F-206779B1A402}"/>
            </c:ext>
          </c:extLst>
        </c:ser>
        <c:dLbls>
          <c:showLegendKey val="0"/>
          <c:showVal val="0"/>
          <c:showCatName val="0"/>
          <c:showSerName val="0"/>
          <c:showPercent val="0"/>
          <c:showBubbleSize val="0"/>
        </c:dLbls>
        <c:gapWidth val="100"/>
        <c:overlap val="-24"/>
        <c:axId val="625253616"/>
        <c:axId val="625255056"/>
      </c:barChart>
      <c:catAx>
        <c:axId val="62525361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25255056"/>
        <c:crosses val="autoZero"/>
        <c:auto val="1"/>
        <c:lblAlgn val="ctr"/>
        <c:lblOffset val="100"/>
        <c:noMultiLvlLbl val="0"/>
      </c:catAx>
      <c:valAx>
        <c:axId val="625255056"/>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252536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FY20 - FY24</a:t>
            </a:r>
            <a:r>
              <a:rPr lang="en-US" baseline="0"/>
              <a:t> AE Contract Actions</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Sheet1!$B$2:$B$6</c:f>
              <c:strCache>
                <c:ptCount val="5"/>
                <c:pt idx="0">
                  <c:v>FY20 - AE Contracts</c:v>
                </c:pt>
                <c:pt idx="1">
                  <c:v>FY21 -  AE Contracts</c:v>
                </c:pt>
                <c:pt idx="2">
                  <c:v>FY22 -  AE Contracts</c:v>
                </c:pt>
                <c:pt idx="3">
                  <c:v>FY23 -  AE Contracts</c:v>
                </c:pt>
                <c:pt idx="4">
                  <c:v>FY24 -  AE Contracts</c:v>
                </c:pt>
              </c:strCache>
            </c:strRef>
          </c:cat>
          <c:val>
            <c:numRef>
              <c:f>Sheet1!$J$2:$J$6</c:f>
              <c:numCache>
                <c:formatCode>General</c:formatCode>
                <c:ptCount val="5"/>
                <c:pt idx="0">
                  <c:v>43</c:v>
                </c:pt>
                <c:pt idx="1">
                  <c:v>20</c:v>
                </c:pt>
                <c:pt idx="2">
                  <c:v>29</c:v>
                </c:pt>
                <c:pt idx="3">
                  <c:v>14</c:v>
                </c:pt>
                <c:pt idx="4">
                  <c:v>23</c:v>
                </c:pt>
              </c:numCache>
            </c:numRef>
          </c:val>
          <c:extLst>
            <c:ext xmlns:c16="http://schemas.microsoft.com/office/drawing/2014/chart" uri="{C3380CC4-5D6E-409C-BE32-E72D297353CC}">
              <c16:uniqueId val="{00000000-962D-4634-883E-636CA96DA66F}"/>
            </c:ext>
          </c:extLst>
        </c:ser>
        <c:dLbls>
          <c:showLegendKey val="0"/>
          <c:showVal val="0"/>
          <c:showCatName val="0"/>
          <c:showSerName val="0"/>
          <c:showPercent val="0"/>
          <c:showBubbleSize val="0"/>
        </c:dLbls>
        <c:gapWidth val="100"/>
        <c:overlap val="-24"/>
        <c:axId val="626964864"/>
        <c:axId val="626963904"/>
      </c:barChart>
      <c:catAx>
        <c:axId val="62696486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26963904"/>
        <c:crosses val="autoZero"/>
        <c:auto val="1"/>
        <c:lblAlgn val="ctr"/>
        <c:lblOffset val="100"/>
        <c:noMultiLvlLbl val="0"/>
      </c:catAx>
      <c:valAx>
        <c:axId val="626963904"/>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2696486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FY20 - FY24 AE Obligations</a:t>
            </a:r>
            <a:r>
              <a:rPr lang="en-US" baseline="0"/>
              <a:t> by Dollar value</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Sheet1!$B$2:$B$6</c:f>
              <c:strCache>
                <c:ptCount val="5"/>
                <c:pt idx="0">
                  <c:v>FY20 - AE Contracts</c:v>
                </c:pt>
                <c:pt idx="1">
                  <c:v>FY21 -  AE Contracts</c:v>
                </c:pt>
                <c:pt idx="2">
                  <c:v>FY22 -  AE Contracts</c:v>
                </c:pt>
                <c:pt idx="3">
                  <c:v>FY23 -  AE Contracts</c:v>
                </c:pt>
                <c:pt idx="4">
                  <c:v>FY24 -  AE Contracts</c:v>
                </c:pt>
              </c:strCache>
            </c:strRef>
          </c:cat>
          <c:val>
            <c:numRef>
              <c:f>Sheet1!$K$2:$K$6</c:f>
              <c:numCache>
                <c:formatCode>"$"#,##0_);\("$"#,##0\)</c:formatCode>
                <c:ptCount val="5"/>
                <c:pt idx="0">
                  <c:v>11236237.32</c:v>
                </c:pt>
                <c:pt idx="1">
                  <c:v>7812802.2999999998</c:v>
                </c:pt>
                <c:pt idx="2">
                  <c:v>14105861.9</c:v>
                </c:pt>
                <c:pt idx="3">
                  <c:v>5077687.33</c:v>
                </c:pt>
                <c:pt idx="4">
                  <c:v>15038849.560000001</c:v>
                </c:pt>
              </c:numCache>
            </c:numRef>
          </c:val>
          <c:extLst>
            <c:ext xmlns:c16="http://schemas.microsoft.com/office/drawing/2014/chart" uri="{C3380CC4-5D6E-409C-BE32-E72D297353CC}">
              <c16:uniqueId val="{00000000-716C-4650-AA0B-21BB8B4B2BB4}"/>
            </c:ext>
          </c:extLst>
        </c:ser>
        <c:dLbls>
          <c:showLegendKey val="0"/>
          <c:showVal val="0"/>
          <c:showCatName val="0"/>
          <c:showSerName val="0"/>
          <c:showPercent val="0"/>
          <c:showBubbleSize val="0"/>
        </c:dLbls>
        <c:gapWidth val="100"/>
        <c:overlap val="-24"/>
        <c:axId val="693152000"/>
        <c:axId val="693153920"/>
      </c:barChart>
      <c:catAx>
        <c:axId val="69315200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3153920"/>
        <c:crosses val="autoZero"/>
        <c:auto val="1"/>
        <c:lblAlgn val="ctr"/>
        <c:lblOffset val="100"/>
        <c:noMultiLvlLbl val="0"/>
      </c:catAx>
      <c:valAx>
        <c:axId val="693153920"/>
        <c:scaling>
          <c:orientation val="minMax"/>
        </c:scaling>
        <c:delete val="0"/>
        <c:axPos val="l"/>
        <c:majorGridlines>
          <c:spPr>
            <a:ln w="9525" cap="flat" cmpd="sng" algn="ctr">
              <a:solidFill>
                <a:schemeClr val="lt1">
                  <a:lumMod val="95000"/>
                  <a:alpha val="10000"/>
                </a:schemeClr>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31520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FY20</a:t>
            </a:r>
            <a:r>
              <a:rPr lang="en-US" baseline="0"/>
              <a:t> - FY24 Construction Contract Actions</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Sheet1!$H$1</c:f>
              <c:strCache>
                <c:ptCount val="1"/>
                <c:pt idx="0">
                  <c:v>New POCAs ($2M IDIQ each)</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Sheet1!$C$2:$C$6</c:f>
              <c:strCache>
                <c:ptCount val="5"/>
                <c:pt idx="0">
                  <c:v>FY20 - Construction Contracts</c:v>
                </c:pt>
                <c:pt idx="1">
                  <c:v>FY21 -  Construction Contracts</c:v>
                </c:pt>
                <c:pt idx="2">
                  <c:v>FY22 -  Construction Contracts</c:v>
                </c:pt>
                <c:pt idx="3">
                  <c:v>FY23 -  Construction Contracts</c:v>
                </c:pt>
                <c:pt idx="4">
                  <c:v>FY24 -  Construction Contracts</c:v>
                </c:pt>
              </c:strCache>
            </c:strRef>
          </c:cat>
          <c:val>
            <c:numRef>
              <c:f>Sheet1!$H$2:$H$6</c:f>
              <c:numCache>
                <c:formatCode>General</c:formatCode>
                <c:ptCount val="5"/>
                <c:pt idx="0">
                  <c:v>49</c:v>
                </c:pt>
                <c:pt idx="1">
                  <c:v>44</c:v>
                </c:pt>
                <c:pt idx="2">
                  <c:v>24</c:v>
                </c:pt>
                <c:pt idx="3">
                  <c:v>35</c:v>
                </c:pt>
                <c:pt idx="4">
                  <c:v>16</c:v>
                </c:pt>
              </c:numCache>
            </c:numRef>
          </c:val>
          <c:extLst>
            <c:ext xmlns:c16="http://schemas.microsoft.com/office/drawing/2014/chart" uri="{C3380CC4-5D6E-409C-BE32-E72D297353CC}">
              <c16:uniqueId val="{00000000-4CFD-4E13-81C3-E8E365670C9F}"/>
            </c:ext>
          </c:extLst>
        </c:ser>
        <c:ser>
          <c:idx val="1"/>
          <c:order val="1"/>
          <c:tx>
            <c:strRef>
              <c:f>Sheet1!$I$1</c:f>
              <c:strCache>
                <c:ptCount val="1"/>
                <c:pt idx="0">
                  <c:v>Construction Obligations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Sheet1!$C$2:$C$6</c:f>
              <c:strCache>
                <c:ptCount val="5"/>
                <c:pt idx="0">
                  <c:v>FY20 - Construction Contracts</c:v>
                </c:pt>
                <c:pt idx="1">
                  <c:v>FY21 -  Construction Contracts</c:v>
                </c:pt>
                <c:pt idx="2">
                  <c:v>FY22 -  Construction Contracts</c:v>
                </c:pt>
                <c:pt idx="3">
                  <c:v>FY23 -  Construction Contracts</c:v>
                </c:pt>
                <c:pt idx="4">
                  <c:v>FY24 -  Construction Contracts</c:v>
                </c:pt>
              </c:strCache>
            </c:strRef>
          </c:cat>
          <c:val>
            <c:numRef>
              <c:f>Sheet1!$I$2:$I$6</c:f>
              <c:numCache>
                <c:formatCode>General</c:formatCode>
                <c:ptCount val="5"/>
                <c:pt idx="0">
                  <c:v>217</c:v>
                </c:pt>
                <c:pt idx="1">
                  <c:v>155</c:v>
                </c:pt>
                <c:pt idx="2">
                  <c:v>113</c:v>
                </c:pt>
                <c:pt idx="3">
                  <c:v>146</c:v>
                </c:pt>
                <c:pt idx="4">
                  <c:v>100</c:v>
                </c:pt>
              </c:numCache>
            </c:numRef>
          </c:val>
          <c:extLst>
            <c:ext xmlns:c16="http://schemas.microsoft.com/office/drawing/2014/chart" uri="{C3380CC4-5D6E-409C-BE32-E72D297353CC}">
              <c16:uniqueId val="{00000001-4CFD-4E13-81C3-E8E365670C9F}"/>
            </c:ext>
          </c:extLst>
        </c:ser>
        <c:dLbls>
          <c:showLegendKey val="0"/>
          <c:showVal val="0"/>
          <c:showCatName val="0"/>
          <c:showSerName val="0"/>
          <c:showPercent val="0"/>
          <c:showBubbleSize val="0"/>
        </c:dLbls>
        <c:gapWidth val="100"/>
        <c:overlap val="-24"/>
        <c:axId val="695482496"/>
        <c:axId val="695483936"/>
      </c:barChart>
      <c:catAx>
        <c:axId val="69548249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5483936"/>
        <c:crosses val="autoZero"/>
        <c:auto val="1"/>
        <c:lblAlgn val="ctr"/>
        <c:lblOffset val="100"/>
        <c:noMultiLvlLbl val="0"/>
      </c:catAx>
      <c:valAx>
        <c:axId val="695483936"/>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54824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FY20 - FY24</a:t>
            </a:r>
            <a:r>
              <a:rPr lang="en-US" baseline="0"/>
              <a:t> Construction Dollar Values</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Sheet1!$C$2:$C$6</c:f>
              <c:strCache>
                <c:ptCount val="5"/>
                <c:pt idx="0">
                  <c:v>FY20 - Construction Contracts</c:v>
                </c:pt>
                <c:pt idx="1">
                  <c:v>FY21 -  Construction Contracts</c:v>
                </c:pt>
                <c:pt idx="2">
                  <c:v>FY22 -  Construction Contracts</c:v>
                </c:pt>
                <c:pt idx="3">
                  <c:v>FY23 -  Construction Contracts</c:v>
                </c:pt>
                <c:pt idx="4">
                  <c:v>FY24 -  Construction Contracts</c:v>
                </c:pt>
              </c:strCache>
            </c:strRef>
          </c:cat>
          <c:val>
            <c:numRef>
              <c:f>Sheet1!$J$2:$J$6</c:f>
              <c:numCache>
                <c:formatCode>"$"#,##0_);\("$"#,##0\)</c:formatCode>
                <c:ptCount val="5"/>
                <c:pt idx="0">
                  <c:v>1034383877.08</c:v>
                </c:pt>
                <c:pt idx="1">
                  <c:v>530045507.67000002</c:v>
                </c:pt>
                <c:pt idx="2">
                  <c:v>231095768.19999999</c:v>
                </c:pt>
                <c:pt idx="3">
                  <c:v>426422568.5</c:v>
                </c:pt>
                <c:pt idx="4">
                  <c:v>363668411.22000003</c:v>
                </c:pt>
              </c:numCache>
            </c:numRef>
          </c:val>
          <c:extLst>
            <c:ext xmlns:c16="http://schemas.microsoft.com/office/drawing/2014/chart" uri="{C3380CC4-5D6E-409C-BE32-E72D297353CC}">
              <c16:uniqueId val="{00000000-7EC2-4294-B746-C35964786268}"/>
            </c:ext>
          </c:extLst>
        </c:ser>
        <c:dLbls>
          <c:showLegendKey val="0"/>
          <c:showVal val="0"/>
          <c:showCatName val="0"/>
          <c:showSerName val="0"/>
          <c:showPercent val="0"/>
          <c:showBubbleSize val="0"/>
        </c:dLbls>
        <c:gapWidth val="100"/>
        <c:overlap val="-24"/>
        <c:axId val="469793584"/>
        <c:axId val="469796464"/>
      </c:barChart>
      <c:catAx>
        <c:axId val="46979358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69796464"/>
        <c:crosses val="autoZero"/>
        <c:auto val="1"/>
        <c:lblAlgn val="ctr"/>
        <c:lblOffset val="100"/>
        <c:noMultiLvlLbl val="0"/>
      </c:catAx>
      <c:valAx>
        <c:axId val="469796464"/>
        <c:scaling>
          <c:orientation val="minMax"/>
        </c:scaling>
        <c:delete val="0"/>
        <c:axPos val="l"/>
        <c:majorGridlines>
          <c:spPr>
            <a:ln w="9525" cap="flat" cmpd="sng" algn="ctr">
              <a:solidFill>
                <a:schemeClr val="lt1">
                  <a:lumMod val="95000"/>
                  <a:alpha val="10000"/>
                </a:schemeClr>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697935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FY20 - FY24</a:t>
            </a:r>
            <a:r>
              <a:rPr lang="en-US" baseline="0"/>
              <a:t> Environmental Contract Awards</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Sheet1!$D$2:$D$6</c:f>
              <c:strCache>
                <c:ptCount val="5"/>
                <c:pt idx="0">
                  <c:v>FY20 - Environmental Contracts</c:v>
                </c:pt>
                <c:pt idx="1">
                  <c:v>FY21 -  Environmental Contracts</c:v>
                </c:pt>
                <c:pt idx="2">
                  <c:v>FY22 -  Environmental Contracts</c:v>
                </c:pt>
                <c:pt idx="3">
                  <c:v>FY23 -  Environmental Contracts</c:v>
                </c:pt>
                <c:pt idx="4">
                  <c:v>FY24 -  Environmental Contracts</c:v>
                </c:pt>
              </c:strCache>
            </c:strRef>
          </c:cat>
          <c:val>
            <c:numRef>
              <c:f>Sheet1!$N$2:$N$6</c:f>
              <c:numCache>
                <c:formatCode>General</c:formatCode>
                <c:ptCount val="5"/>
                <c:pt idx="0">
                  <c:v>30</c:v>
                </c:pt>
                <c:pt idx="1">
                  <c:v>37</c:v>
                </c:pt>
                <c:pt idx="2">
                  <c:v>49</c:v>
                </c:pt>
                <c:pt idx="3">
                  <c:v>38</c:v>
                </c:pt>
                <c:pt idx="4">
                  <c:v>26</c:v>
                </c:pt>
              </c:numCache>
            </c:numRef>
          </c:val>
          <c:extLst>
            <c:ext xmlns:c16="http://schemas.microsoft.com/office/drawing/2014/chart" uri="{C3380CC4-5D6E-409C-BE32-E72D297353CC}">
              <c16:uniqueId val="{00000000-843C-4C5A-96C5-A4693C9BF6EB}"/>
            </c:ext>
          </c:extLst>
        </c:ser>
        <c:dLbls>
          <c:showLegendKey val="0"/>
          <c:showVal val="0"/>
          <c:showCatName val="0"/>
          <c:showSerName val="0"/>
          <c:showPercent val="0"/>
          <c:showBubbleSize val="0"/>
        </c:dLbls>
        <c:gapWidth val="100"/>
        <c:overlap val="-24"/>
        <c:axId val="821748928"/>
        <c:axId val="821750848"/>
      </c:barChart>
      <c:catAx>
        <c:axId val="82174892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21750848"/>
        <c:crosses val="autoZero"/>
        <c:auto val="1"/>
        <c:lblAlgn val="ctr"/>
        <c:lblOffset val="100"/>
        <c:noMultiLvlLbl val="0"/>
      </c:catAx>
      <c:valAx>
        <c:axId val="82175084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217489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FY20 - FY24 Environmental Dollar</a:t>
            </a:r>
            <a:r>
              <a:rPr lang="en-US" baseline="0"/>
              <a:t> Values</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Sheet1!$D$2:$D$6</c:f>
              <c:strCache>
                <c:ptCount val="5"/>
                <c:pt idx="0">
                  <c:v>FY20 - Environmental Contracts</c:v>
                </c:pt>
                <c:pt idx="1">
                  <c:v>FY21 -  Environmental Contracts</c:v>
                </c:pt>
                <c:pt idx="2">
                  <c:v>FY22 -  Environmental Contracts</c:v>
                </c:pt>
                <c:pt idx="3">
                  <c:v>FY23 -  Environmental Contracts</c:v>
                </c:pt>
                <c:pt idx="4">
                  <c:v>FY24 -  Environmental Contracts</c:v>
                </c:pt>
              </c:strCache>
            </c:strRef>
          </c:cat>
          <c:val>
            <c:numRef>
              <c:f>Sheet1!$O$2:$O$6</c:f>
              <c:numCache>
                <c:formatCode>"$"#,##0_);\("$"#,##0\)</c:formatCode>
                <c:ptCount val="5"/>
                <c:pt idx="0">
                  <c:v>55108529.229999997</c:v>
                </c:pt>
                <c:pt idx="1">
                  <c:v>48785019.640000001</c:v>
                </c:pt>
                <c:pt idx="2">
                  <c:v>26340635.27</c:v>
                </c:pt>
                <c:pt idx="3">
                  <c:v>62448327.93</c:v>
                </c:pt>
                <c:pt idx="4">
                  <c:v>35196528.600000001</c:v>
                </c:pt>
              </c:numCache>
            </c:numRef>
          </c:val>
          <c:extLst>
            <c:ext xmlns:c16="http://schemas.microsoft.com/office/drawing/2014/chart" uri="{C3380CC4-5D6E-409C-BE32-E72D297353CC}">
              <c16:uniqueId val="{00000000-8CD0-4DB4-8E88-EFE4907985DA}"/>
            </c:ext>
          </c:extLst>
        </c:ser>
        <c:dLbls>
          <c:showLegendKey val="0"/>
          <c:showVal val="0"/>
          <c:showCatName val="0"/>
          <c:showSerName val="0"/>
          <c:showPercent val="0"/>
          <c:showBubbleSize val="0"/>
        </c:dLbls>
        <c:gapWidth val="100"/>
        <c:overlap val="-24"/>
        <c:axId val="700860832"/>
        <c:axId val="700862752"/>
      </c:barChart>
      <c:catAx>
        <c:axId val="70086083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00862752"/>
        <c:crosses val="autoZero"/>
        <c:auto val="1"/>
        <c:lblAlgn val="ctr"/>
        <c:lblOffset val="100"/>
        <c:noMultiLvlLbl val="0"/>
      </c:catAx>
      <c:valAx>
        <c:axId val="700862752"/>
        <c:scaling>
          <c:orientation val="minMax"/>
        </c:scaling>
        <c:delete val="0"/>
        <c:axPos val="l"/>
        <c:majorGridlines>
          <c:spPr>
            <a:ln w="9525" cap="flat" cmpd="sng" algn="ctr">
              <a:solidFill>
                <a:schemeClr val="lt1">
                  <a:lumMod val="95000"/>
                  <a:alpha val="10000"/>
                </a:schemeClr>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00860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FY20 - FY24</a:t>
            </a:r>
            <a:r>
              <a:rPr lang="en-US" baseline="0"/>
              <a:t> Service &amp; Supply Contract Awards</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v>Service</c:v>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Sheet1!$E$2:$F$6</c:f>
              <c:multiLvlStrCache>
                <c:ptCount val="5"/>
                <c:lvl>
                  <c:pt idx="0">
                    <c:v>FY20 - Supply Contracts</c:v>
                  </c:pt>
                  <c:pt idx="1">
                    <c:v>FY21 - Supply Contracts</c:v>
                  </c:pt>
                  <c:pt idx="2">
                    <c:v>FY22 -  Supply Contracts</c:v>
                  </c:pt>
                  <c:pt idx="3">
                    <c:v>FY23 -  Supply Contracts</c:v>
                  </c:pt>
                  <c:pt idx="4">
                    <c:v>FY24 -  Supply Contracts</c:v>
                  </c:pt>
                </c:lvl>
                <c:lvl>
                  <c:pt idx="0">
                    <c:v>FY20 - Service Contracts</c:v>
                  </c:pt>
                  <c:pt idx="1">
                    <c:v>FY21 - Service Contracts</c:v>
                  </c:pt>
                  <c:pt idx="2">
                    <c:v>FY22 -  Service Contracts</c:v>
                  </c:pt>
                  <c:pt idx="3">
                    <c:v>FY23 -  Service Contracts</c:v>
                  </c:pt>
                  <c:pt idx="4">
                    <c:v>FY24 -  Service Contracts</c:v>
                  </c:pt>
                </c:lvl>
              </c:multiLvlStrCache>
            </c:multiLvlStrRef>
          </c:cat>
          <c:val>
            <c:numRef>
              <c:f>Sheet1!$R$2:$R$6</c:f>
              <c:numCache>
                <c:formatCode>General</c:formatCode>
                <c:ptCount val="5"/>
                <c:pt idx="0">
                  <c:v>77</c:v>
                </c:pt>
                <c:pt idx="1">
                  <c:v>29</c:v>
                </c:pt>
                <c:pt idx="2">
                  <c:v>27</c:v>
                </c:pt>
                <c:pt idx="3">
                  <c:v>22</c:v>
                </c:pt>
                <c:pt idx="4">
                  <c:v>10</c:v>
                </c:pt>
              </c:numCache>
            </c:numRef>
          </c:val>
          <c:extLst>
            <c:ext xmlns:c16="http://schemas.microsoft.com/office/drawing/2014/chart" uri="{C3380CC4-5D6E-409C-BE32-E72D297353CC}">
              <c16:uniqueId val="{00000000-450E-44DE-AADD-E64B165A7ED5}"/>
            </c:ext>
          </c:extLst>
        </c:ser>
        <c:ser>
          <c:idx val="1"/>
          <c:order val="1"/>
          <c:tx>
            <c:v>Supply</c:v>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Sheet1!$E$2:$F$6</c:f>
              <c:multiLvlStrCache>
                <c:ptCount val="5"/>
                <c:lvl>
                  <c:pt idx="0">
                    <c:v>FY20 - Supply Contracts</c:v>
                  </c:pt>
                  <c:pt idx="1">
                    <c:v>FY21 - Supply Contracts</c:v>
                  </c:pt>
                  <c:pt idx="2">
                    <c:v>FY22 -  Supply Contracts</c:v>
                  </c:pt>
                  <c:pt idx="3">
                    <c:v>FY23 -  Supply Contracts</c:v>
                  </c:pt>
                  <c:pt idx="4">
                    <c:v>FY24 -  Supply Contracts</c:v>
                  </c:pt>
                </c:lvl>
                <c:lvl>
                  <c:pt idx="0">
                    <c:v>FY20 - Service Contracts</c:v>
                  </c:pt>
                  <c:pt idx="1">
                    <c:v>FY21 - Service Contracts</c:v>
                  </c:pt>
                  <c:pt idx="2">
                    <c:v>FY22 -  Service Contracts</c:v>
                  </c:pt>
                  <c:pt idx="3">
                    <c:v>FY23 -  Service Contracts</c:v>
                  </c:pt>
                  <c:pt idx="4">
                    <c:v>FY24 -  Service Contracts</c:v>
                  </c:pt>
                </c:lvl>
              </c:multiLvlStrCache>
            </c:multiLvlStrRef>
          </c:cat>
          <c:val>
            <c:numRef>
              <c:f>Sheet1!$T$2:$T$6</c:f>
              <c:numCache>
                <c:formatCode>General</c:formatCode>
                <c:ptCount val="5"/>
                <c:pt idx="0">
                  <c:v>14</c:v>
                </c:pt>
                <c:pt idx="1">
                  <c:v>16</c:v>
                </c:pt>
                <c:pt idx="2">
                  <c:v>10</c:v>
                </c:pt>
                <c:pt idx="3">
                  <c:v>6</c:v>
                </c:pt>
                <c:pt idx="4">
                  <c:v>3</c:v>
                </c:pt>
              </c:numCache>
            </c:numRef>
          </c:val>
          <c:extLst>
            <c:ext xmlns:c16="http://schemas.microsoft.com/office/drawing/2014/chart" uri="{C3380CC4-5D6E-409C-BE32-E72D297353CC}">
              <c16:uniqueId val="{00000001-450E-44DE-AADD-E64B165A7ED5}"/>
            </c:ext>
          </c:extLst>
        </c:ser>
        <c:dLbls>
          <c:showLegendKey val="0"/>
          <c:showVal val="0"/>
          <c:showCatName val="0"/>
          <c:showSerName val="0"/>
          <c:showPercent val="0"/>
          <c:showBubbleSize val="0"/>
        </c:dLbls>
        <c:gapWidth val="100"/>
        <c:overlap val="-24"/>
        <c:axId val="1199367135"/>
        <c:axId val="1199361375"/>
      </c:barChart>
      <c:catAx>
        <c:axId val="119936713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99361375"/>
        <c:crosses val="autoZero"/>
        <c:auto val="1"/>
        <c:lblAlgn val="ctr"/>
        <c:lblOffset val="100"/>
        <c:noMultiLvlLbl val="0"/>
      </c:catAx>
      <c:valAx>
        <c:axId val="1199361375"/>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199367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FY20 - FY24 Services</a:t>
            </a:r>
            <a:r>
              <a:rPr lang="en-US" baseline="0"/>
              <a:t> and Supply Dollar Values</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v>Service</c:v>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Sheet1!$E$2:$F$6</c:f>
              <c:multiLvlStrCache>
                <c:ptCount val="5"/>
                <c:lvl>
                  <c:pt idx="0">
                    <c:v>FY20 - Supply Contracts</c:v>
                  </c:pt>
                  <c:pt idx="1">
                    <c:v>FY21 - Supply Contracts</c:v>
                  </c:pt>
                  <c:pt idx="2">
                    <c:v>FY22 -  Supply Contracts</c:v>
                  </c:pt>
                  <c:pt idx="3">
                    <c:v>FY23 -  Supply Contracts</c:v>
                  </c:pt>
                  <c:pt idx="4">
                    <c:v>FY24 -  Supply Contracts</c:v>
                  </c:pt>
                </c:lvl>
                <c:lvl>
                  <c:pt idx="0">
                    <c:v>FY20 - Service Contracts</c:v>
                  </c:pt>
                  <c:pt idx="1">
                    <c:v>FY21 - Service Contracts</c:v>
                  </c:pt>
                  <c:pt idx="2">
                    <c:v>FY22 -  Service Contracts</c:v>
                  </c:pt>
                  <c:pt idx="3">
                    <c:v>FY23 -  Service Contracts</c:v>
                  </c:pt>
                  <c:pt idx="4">
                    <c:v>FY24 -  Service Contracts</c:v>
                  </c:pt>
                </c:lvl>
              </c:multiLvlStrCache>
            </c:multiLvlStrRef>
          </c:cat>
          <c:val>
            <c:numRef>
              <c:f>Sheet1!$S$2:$S$6</c:f>
              <c:numCache>
                <c:formatCode>"$"#,##0_);\("$"#,##0\)</c:formatCode>
                <c:ptCount val="5"/>
                <c:pt idx="0">
                  <c:v>14777472.380000001</c:v>
                </c:pt>
                <c:pt idx="1">
                  <c:v>11225411.619999999</c:v>
                </c:pt>
                <c:pt idx="2">
                  <c:v>3340775.55</c:v>
                </c:pt>
                <c:pt idx="3">
                  <c:v>1752787.64</c:v>
                </c:pt>
                <c:pt idx="4">
                  <c:v>661238.15</c:v>
                </c:pt>
              </c:numCache>
            </c:numRef>
          </c:val>
          <c:extLst>
            <c:ext xmlns:c16="http://schemas.microsoft.com/office/drawing/2014/chart" uri="{C3380CC4-5D6E-409C-BE32-E72D297353CC}">
              <c16:uniqueId val="{00000000-F5A3-4526-887B-5DB094A404F5}"/>
            </c:ext>
          </c:extLst>
        </c:ser>
        <c:ser>
          <c:idx val="1"/>
          <c:order val="1"/>
          <c:tx>
            <c:v>Supply</c:v>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Sheet1!$E$2:$F$6</c:f>
              <c:multiLvlStrCache>
                <c:ptCount val="5"/>
                <c:lvl>
                  <c:pt idx="0">
                    <c:v>FY20 - Supply Contracts</c:v>
                  </c:pt>
                  <c:pt idx="1">
                    <c:v>FY21 - Supply Contracts</c:v>
                  </c:pt>
                  <c:pt idx="2">
                    <c:v>FY22 -  Supply Contracts</c:v>
                  </c:pt>
                  <c:pt idx="3">
                    <c:v>FY23 -  Supply Contracts</c:v>
                  </c:pt>
                  <c:pt idx="4">
                    <c:v>FY24 -  Supply Contracts</c:v>
                  </c:pt>
                </c:lvl>
                <c:lvl>
                  <c:pt idx="0">
                    <c:v>FY20 - Service Contracts</c:v>
                  </c:pt>
                  <c:pt idx="1">
                    <c:v>FY21 - Service Contracts</c:v>
                  </c:pt>
                  <c:pt idx="2">
                    <c:v>FY22 -  Service Contracts</c:v>
                  </c:pt>
                  <c:pt idx="3">
                    <c:v>FY23 -  Service Contracts</c:v>
                  </c:pt>
                  <c:pt idx="4">
                    <c:v>FY24 -  Service Contracts</c:v>
                  </c:pt>
                </c:lvl>
              </c:multiLvlStrCache>
            </c:multiLvlStrRef>
          </c:cat>
          <c:val>
            <c:numRef>
              <c:f>Sheet1!$U$2:$U$6</c:f>
              <c:numCache>
                <c:formatCode>"$"#,##0_);\("$"#,##0\)</c:formatCode>
                <c:ptCount val="5"/>
                <c:pt idx="0">
                  <c:v>307604.15999999997</c:v>
                </c:pt>
                <c:pt idx="1">
                  <c:v>293161.34999999998</c:v>
                </c:pt>
                <c:pt idx="2">
                  <c:v>778595.22</c:v>
                </c:pt>
                <c:pt idx="3">
                  <c:v>86466.58</c:v>
                </c:pt>
                <c:pt idx="4">
                  <c:v>43515.66</c:v>
                </c:pt>
              </c:numCache>
            </c:numRef>
          </c:val>
          <c:extLst>
            <c:ext xmlns:c16="http://schemas.microsoft.com/office/drawing/2014/chart" uri="{C3380CC4-5D6E-409C-BE32-E72D297353CC}">
              <c16:uniqueId val="{00000001-F5A3-4526-887B-5DB094A404F5}"/>
            </c:ext>
          </c:extLst>
        </c:ser>
        <c:dLbls>
          <c:showLegendKey val="0"/>
          <c:showVal val="0"/>
          <c:showCatName val="0"/>
          <c:showSerName val="0"/>
          <c:showPercent val="0"/>
          <c:showBubbleSize val="0"/>
        </c:dLbls>
        <c:gapWidth val="100"/>
        <c:overlap val="-24"/>
        <c:axId val="1745045759"/>
        <c:axId val="1745044319"/>
      </c:barChart>
      <c:catAx>
        <c:axId val="1745045759"/>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745044319"/>
        <c:crosses val="autoZero"/>
        <c:auto val="1"/>
        <c:lblAlgn val="ctr"/>
        <c:lblOffset val="100"/>
        <c:noMultiLvlLbl val="0"/>
      </c:catAx>
      <c:valAx>
        <c:axId val="1745044319"/>
        <c:scaling>
          <c:orientation val="minMax"/>
        </c:scaling>
        <c:delete val="0"/>
        <c:axPos val="l"/>
        <c:majorGridlines>
          <c:spPr>
            <a:ln w="9525" cap="flat" cmpd="sng" algn="ctr">
              <a:solidFill>
                <a:schemeClr val="lt1">
                  <a:lumMod val="95000"/>
                  <a:alpha val="10000"/>
                </a:schemeClr>
              </a:solidFill>
              <a:round/>
            </a:ln>
            <a:effectLst/>
          </c:spPr>
        </c:majorGridlines>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745045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sz="quarter" idx="1"/>
          </p:nvPr>
        </p:nvSpPr>
        <p:spPr>
          <a:xfrm>
            <a:off x="3970938" y="1"/>
            <a:ext cx="3037840" cy="466434"/>
          </a:xfrm>
          <a:prstGeom prst="rect">
            <a:avLst/>
          </a:prstGeom>
        </p:spPr>
        <p:txBody>
          <a:bodyPr vert="horz" lIns="93172" tIns="46586" rIns="93172" bIns="46586" rtlCol="0"/>
          <a:lstStyle>
            <a:lvl1pPr algn="r">
              <a:defRPr sz="1300"/>
            </a:lvl1pPr>
          </a:lstStyle>
          <a:p>
            <a:fld id="{52CF3383-DF08-4C90-8557-22EF3027DD43}" type="datetimeFigureOut">
              <a:rPr lang="en-US" smtClean="0"/>
              <a:t>3/4/2025</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2" tIns="46586" rIns="93172" bIns="46586" rtlCol="0" anchor="b"/>
          <a:lstStyle>
            <a:lvl1pPr algn="l">
              <a:defRPr sz="1300"/>
            </a:lvl1pPr>
          </a:lstStyle>
          <a:p>
            <a:endParaRPr lang="en-US"/>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300"/>
            </a:lvl1pPr>
          </a:lstStyle>
          <a:p>
            <a:fld id="{D7D16557-6E8E-4D95-8DF3-2DE1590C714A}" type="datetimeFigureOut">
              <a:rPr lang="en-US" smtClean="0"/>
              <a:t>3/4/2025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300"/>
            </a:lvl1pPr>
          </a:lstStyle>
          <a:p>
            <a:fld id="{BC3A86D8-1D95-4DFF-A26B-8F86AC3AC58E}" type="slidenum">
              <a:rPr lang="en-US" smtClean="0"/>
              <a:t>‹#›</a:t>
            </a:fld>
            <a:endParaRPr lang="en-US"/>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0CE205C-05A8-433A-8E72-98567E5AE867}" type="slidenum">
              <a:rPr lang="en-US" smtClean="0"/>
              <a:pPr>
                <a:defRPr/>
              </a:pPr>
              <a:t>31</a:t>
            </a:fld>
            <a:endParaRPr lang="en-US"/>
          </a:p>
        </p:txBody>
      </p:sp>
    </p:spTree>
    <p:extLst>
      <p:ext uri="{BB962C8B-B14F-4D97-AF65-F5344CB8AC3E}">
        <p14:creationId xmlns:p14="http://schemas.microsoft.com/office/powerpoint/2010/main" val="2395673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971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562901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27995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39245845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572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741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468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375038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1691140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501760378"/>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80287266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73658870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5241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84334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126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99331949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8308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9265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529403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852394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3780271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65720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27407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443135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99942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22949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97382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552096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498186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461439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556249665"/>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373409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2497646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20197952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697280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105146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290452761"/>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4719099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798164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420945057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5719959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7202369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dirty="0"/>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343208891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90209499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118713353"/>
      </p:ext>
    </p:extLst>
  </p:cSld>
  <p:clrMapOvr>
    <a:masterClrMapping/>
  </p:clrMapOvr>
  <p:hf hdr="0" dt="0"/>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dirty="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18358085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9772597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4145102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5087945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44205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04130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402505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36817793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150843740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299873838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52411938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33171661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2468487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1499288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8753715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097512708"/>
      </p:ext>
    </p:extLst>
  </p:cSld>
  <p:clrMapOvr>
    <a:masterClrMapping/>
  </p:clrMapOvr>
  <p:hf hdr="0" dt="0"/>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67920520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365763881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35299516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17509264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5528C085-2938-491A-99A2-7D8EE532F7F9}" type="slidenum">
              <a:rPr lang="en-US"/>
              <a:pPr>
                <a:defRPr/>
              </a:pPr>
              <a:t>‹#›</a:t>
            </a:fld>
            <a:endParaRPr lang="en-US"/>
          </a:p>
        </p:txBody>
      </p:sp>
    </p:spTree>
    <p:extLst>
      <p:ext uri="{BB962C8B-B14F-4D97-AF65-F5344CB8AC3E}">
        <p14:creationId xmlns:p14="http://schemas.microsoft.com/office/powerpoint/2010/main" val="310325535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76890965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347316825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401107571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384004314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97479366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8507183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08090194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069610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88037867"/>
      </p:ext>
    </p:extLst>
  </p:cSld>
  <p:clrMapOvr>
    <a:masterClrMapping/>
  </p:clrMapOvr>
  <p:hf hdr="0" dt="0"/>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59704092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11761343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31414139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450727101"/>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dirty="0"/>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endParaRPr lang="en-US" dirty="0"/>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image" Target="../media/image1.png"/><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theme" Target="../theme/theme3.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image" Target="../media/image5.png"/><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theme" Target="../theme/theme4.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image" Target="../media/image5.png"/><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slideLayout" Target="../slideLayouts/slideLayout135.xml"/><Relationship Id="rId3" Type="http://schemas.openxmlformats.org/officeDocument/2006/relationships/slideLayout" Target="../slideLayouts/slideLayout112.xml"/><Relationship Id="rId21" Type="http://schemas.openxmlformats.org/officeDocument/2006/relationships/slideLayout" Target="../slideLayouts/slideLayout130.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29" Type="http://schemas.openxmlformats.org/officeDocument/2006/relationships/theme" Target="../theme/theme5.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slideLayout" Target="../slideLayouts/slideLayout137.xml"/><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31" Type="http://schemas.openxmlformats.org/officeDocument/2006/relationships/image" Target="../media/image6.png"/><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slideLayout" Target="../slideLayouts/slideLayout136.xml"/><Relationship Id="rId30"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5.xml"/><Relationship Id="rId13" Type="http://schemas.openxmlformats.org/officeDocument/2006/relationships/slideLayout" Target="../slideLayouts/slideLayout150.xml"/><Relationship Id="rId18" Type="http://schemas.openxmlformats.org/officeDocument/2006/relationships/slideLayout" Target="../slideLayouts/slideLayout155.xml"/><Relationship Id="rId26" Type="http://schemas.openxmlformats.org/officeDocument/2006/relationships/slideLayout" Target="../slideLayouts/slideLayout163.xml"/><Relationship Id="rId3" Type="http://schemas.openxmlformats.org/officeDocument/2006/relationships/slideLayout" Target="../slideLayouts/slideLayout140.xml"/><Relationship Id="rId21" Type="http://schemas.openxmlformats.org/officeDocument/2006/relationships/slideLayout" Target="../slideLayouts/slideLayout158.xml"/><Relationship Id="rId7" Type="http://schemas.openxmlformats.org/officeDocument/2006/relationships/slideLayout" Target="../slideLayouts/slideLayout144.xml"/><Relationship Id="rId12" Type="http://schemas.openxmlformats.org/officeDocument/2006/relationships/slideLayout" Target="../slideLayouts/slideLayout149.xml"/><Relationship Id="rId17" Type="http://schemas.openxmlformats.org/officeDocument/2006/relationships/slideLayout" Target="../slideLayouts/slideLayout154.xml"/><Relationship Id="rId25" Type="http://schemas.openxmlformats.org/officeDocument/2006/relationships/slideLayout" Target="../slideLayouts/slideLayout162.xml"/><Relationship Id="rId2" Type="http://schemas.openxmlformats.org/officeDocument/2006/relationships/slideLayout" Target="../slideLayouts/slideLayout139.xml"/><Relationship Id="rId16" Type="http://schemas.openxmlformats.org/officeDocument/2006/relationships/slideLayout" Target="../slideLayouts/slideLayout153.xml"/><Relationship Id="rId20" Type="http://schemas.openxmlformats.org/officeDocument/2006/relationships/slideLayout" Target="../slideLayouts/slideLayout157.xml"/><Relationship Id="rId29" Type="http://schemas.openxmlformats.org/officeDocument/2006/relationships/image" Target="../media/image1.png"/><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24" Type="http://schemas.openxmlformats.org/officeDocument/2006/relationships/slideLayout" Target="../slideLayouts/slideLayout161.xml"/><Relationship Id="rId5" Type="http://schemas.openxmlformats.org/officeDocument/2006/relationships/slideLayout" Target="../slideLayouts/slideLayout142.xml"/><Relationship Id="rId15" Type="http://schemas.openxmlformats.org/officeDocument/2006/relationships/slideLayout" Target="../slideLayouts/slideLayout152.xml"/><Relationship Id="rId23" Type="http://schemas.openxmlformats.org/officeDocument/2006/relationships/slideLayout" Target="../slideLayouts/slideLayout160.xml"/><Relationship Id="rId28" Type="http://schemas.openxmlformats.org/officeDocument/2006/relationships/theme" Target="../theme/theme6.xml"/><Relationship Id="rId10" Type="http://schemas.openxmlformats.org/officeDocument/2006/relationships/slideLayout" Target="../slideLayouts/slideLayout147.xml"/><Relationship Id="rId19" Type="http://schemas.openxmlformats.org/officeDocument/2006/relationships/slideLayout" Target="../slideLayouts/slideLayout156.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slideLayout" Target="../slideLayouts/slideLayout151.xml"/><Relationship Id="rId22" Type="http://schemas.openxmlformats.org/officeDocument/2006/relationships/slideLayout" Target="../slideLayouts/slideLayout159.xml"/><Relationship Id="rId27" Type="http://schemas.openxmlformats.org/officeDocument/2006/relationships/slideLayout" Target="../slideLayouts/slideLayout164.xml"/><Relationship Id="rId30"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66.xml"/><Relationship Id="rId1" Type="http://schemas.openxmlformats.org/officeDocument/2006/relationships/slideLayout" Target="../slideLayouts/slideLayout165.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Tree>
    <p:extLst>
      <p:ext uri="{BB962C8B-B14F-4D97-AF65-F5344CB8AC3E}">
        <p14:creationId xmlns:p14="http://schemas.microsoft.com/office/powerpoint/2010/main" val="2346450069"/>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4079" r:id="rId19"/>
    <p:sldLayoutId id="2147483987" r:id="rId20"/>
    <p:sldLayoutId id="2147483988" r:id="rId21"/>
    <p:sldLayoutId id="2147483989" r:id="rId22"/>
    <p:sldLayoutId id="2147483990" r:id="rId23"/>
    <p:sldLayoutId id="2147483991" r:id="rId24"/>
    <p:sldLayoutId id="2147483992" r:id="rId25"/>
    <p:sldLayoutId id="2147483993" r:id="rId26"/>
    <p:sldLayoutId id="214748410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30"/>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1"/>
          <a:srcRect/>
          <a:stretch/>
        </p:blipFill>
        <p:spPr>
          <a:xfrm>
            <a:off x="190500" y="86740"/>
            <a:ext cx="1970289" cy="874270"/>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 id="2147484198"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a:srcRect/>
          <a:stretch/>
        </p:blipFill>
        <p:spPr>
          <a:xfrm>
            <a:off x="190500" y="86740"/>
            <a:ext cx="1970289" cy="874270"/>
          </a:xfrm>
          <a:prstGeom prst="rect">
            <a:avLst/>
          </a:prstGeom>
        </p:spPr>
      </p:pic>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4" name="Picture 6"/>
          <p:cNvPicPr>
            <a:picLocks noChangeAspect="1"/>
          </p:cNvPicPr>
          <p:nvPr userDrawn="1"/>
        </p:nvPicPr>
        <p:blipFill>
          <a:blip r:embed="rId4"/>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dirty="0"/>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endParaRPr lang="en-US" dirty="0"/>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4.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5.xml.rels><?xml version="1.0" encoding="UTF-8" standalone="yes"?>
<Relationships xmlns="http://schemas.openxmlformats.org/package/2006/relationships"><Relationship Id="rId3" Type="http://schemas.openxmlformats.org/officeDocument/2006/relationships/hyperlink" Target="mailto:christine.davis@usace.army.mil" TargetMode="External"/><Relationship Id="rId2" Type="http://schemas.openxmlformats.org/officeDocument/2006/relationships/hyperlink" Target="mailto:kinya.r.minami@usace.army.mil" TargetMode="External"/><Relationship Id="rId1" Type="http://schemas.openxmlformats.org/officeDocument/2006/relationships/slideLayout" Target="../slideLayouts/slideLayout1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7.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11.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11.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1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11.xml"/></Relationships>
</file>

<file path=ppt/slides/_rels/slide2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11.xml"/></Relationships>
</file>

<file path=ppt/slides/_rels/slide2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2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11.xml"/></Relationships>
</file>

<file path=ppt/slides/_rels/slide28.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31.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notesSlide" Target="../notesSlides/notesSlide1.xml"/><Relationship Id="rId1" Type="http://schemas.openxmlformats.org/officeDocument/2006/relationships/slideLayout" Target="../slideLayouts/slideLayout137.xml"/><Relationship Id="rId4" Type="http://schemas.openxmlformats.org/officeDocument/2006/relationships/hyperlink" Target="https://cac.piee.eb.mil/xhtml/unauth/home/login.xhtml?logout=Y"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7.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7.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7.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DCD1B8-0FB9-6DE1-D901-F8B0186B1E44}"/>
              </a:ext>
            </a:extLst>
          </p:cNvPr>
          <p:cNvSpPr>
            <a:spLocks noGrp="1"/>
          </p:cNvSpPr>
          <p:nvPr>
            <p:ph type="title"/>
          </p:nvPr>
        </p:nvSpPr>
        <p:spPr/>
        <p:txBody>
          <a:bodyPr/>
          <a:lstStyle/>
          <a:p>
            <a:pPr algn="ctr"/>
            <a:r>
              <a:rPr lang="en-US" dirty="0"/>
              <a:t>Los Angeles District (SPL) Overview</a:t>
            </a:r>
            <a:br>
              <a:rPr lang="en-US" dirty="0"/>
            </a:br>
            <a:r>
              <a:rPr lang="en-US" dirty="0"/>
              <a:t>6 Mar 2025</a:t>
            </a:r>
          </a:p>
        </p:txBody>
      </p:sp>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p:txBody>
          <a:bodyPr/>
          <a:lstStyle/>
          <a:p>
            <a:r>
              <a:rPr lang="en-US" dirty="0"/>
              <a:t>US Army Corps of Engineers</a:t>
            </a:r>
          </a:p>
          <a:p>
            <a:r>
              <a:rPr lang="en-US" dirty="0"/>
              <a:t>Los Angeles District</a:t>
            </a:r>
          </a:p>
          <a:p>
            <a:endParaRPr lang="en-US" dirty="0"/>
          </a:p>
          <a:p>
            <a:r>
              <a:rPr lang="en-US" dirty="0"/>
              <a:t>Sean Sackett</a:t>
            </a:r>
          </a:p>
          <a:p>
            <a:r>
              <a:rPr lang="en-US" dirty="0"/>
              <a:t>Chief, Contracting Division</a:t>
            </a:r>
          </a:p>
          <a:p>
            <a:endParaRPr lang="en-US" dirty="0"/>
          </a:p>
          <a:p>
            <a:endParaRPr lang="en-US" dirty="0"/>
          </a:p>
        </p:txBody>
      </p:sp>
      <p:pic>
        <p:nvPicPr>
          <p:cNvPr id="12" name="Picture Placeholder 8">
            <a:extLst>
              <a:ext uri="{FF2B5EF4-FFF2-40B4-BE49-F238E27FC236}">
                <a16:creationId xmlns:a16="http://schemas.microsoft.com/office/drawing/2014/main" id="{01AD1E0C-10A1-C79C-454D-2108450194E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15" b="15"/>
          <a:stretch/>
        </p:blipFill>
        <p:spPr bwMode="auto">
          <a:xfrm>
            <a:off x="5142512" y="3509022"/>
            <a:ext cx="3314700" cy="3093720"/>
          </a:xfrm>
          <a:prstGeom prst="rect">
            <a:avLst/>
          </a:prstGeom>
          <a:solidFill>
            <a:schemeClr val="tx2"/>
          </a:solidFill>
          <a:ln w="38100" cap="flat" cmpd="sng" algn="ctr">
            <a:noFill/>
            <a:prstDash val="solid"/>
            <a:miter lim="800000"/>
            <a:headEnd/>
            <a:tailEnd/>
          </a:ln>
          <a:effectLst>
            <a:outerShdw blurRad="50800" dist="38100" dir="2700000" algn="tl" rotWithShape="0">
              <a:prstClr val="black">
                <a:alpha val="40000"/>
              </a:prstClr>
            </a:outerShdw>
          </a:effectLst>
        </p:spPr>
      </p:pic>
      <p:pic>
        <p:nvPicPr>
          <p:cNvPr id="6" name="Picture Placeholder 5">
            <a:extLst>
              <a:ext uri="{FF2B5EF4-FFF2-40B4-BE49-F238E27FC236}">
                <a16:creationId xmlns:a16="http://schemas.microsoft.com/office/drawing/2014/main" id="{D128BE26-A123-8BA1-2723-5F0807B613CD}"/>
              </a:ext>
            </a:extLst>
          </p:cNvPr>
          <p:cNvPicPr>
            <a:picLocks noGrp="1" noChangeAspect="1"/>
          </p:cNvPicPr>
          <p:nvPr>
            <p:ph type="pic" sz="quarter" idx="13"/>
          </p:nvPr>
        </p:nvPicPr>
        <p:blipFill>
          <a:blip r:embed="rId3"/>
          <a:srcRect l="4539" r="4539"/>
          <a:stretch>
            <a:fillRect/>
          </a:stretch>
        </p:blipFill>
        <p:spPr>
          <a:prstGeom prst="rect">
            <a:avLst/>
          </a:prstGeom>
        </p:spPr>
      </p:pic>
      <p:pic>
        <p:nvPicPr>
          <p:cNvPr id="18" name="Picture Placeholder 17">
            <a:extLst>
              <a:ext uri="{FF2B5EF4-FFF2-40B4-BE49-F238E27FC236}">
                <a16:creationId xmlns:a16="http://schemas.microsoft.com/office/drawing/2014/main" id="{A4ED73D7-9DBE-FEFC-E496-BFC39A80AD98}"/>
              </a:ext>
            </a:extLst>
          </p:cNvPr>
          <p:cNvPicPr>
            <a:picLocks noGrp="1" noChangeAspect="1"/>
          </p:cNvPicPr>
          <p:nvPr>
            <p:ph type="pic" sz="quarter" idx="16"/>
          </p:nvPr>
        </p:nvPicPr>
        <p:blipFill>
          <a:blip r:embed="rId4"/>
          <a:srcRect l="1101" r="1101"/>
          <a:stretch>
            <a:fillRect/>
          </a:stretch>
        </p:blipFill>
        <p:spPr>
          <a:prstGeom prst="rect">
            <a:avLst/>
          </a:prstGeom>
        </p:spPr>
      </p:pic>
      <p:pic>
        <p:nvPicPr>
          <p:cNvPr id="17" name="Picture Placeholder 16">
            <a:extLst>
              <a:ext uri="{FF2B5EF4-FFF2-40B4-BE49-F238E27FC236}">
                <a16:creationId xmlns:a16="http://schemas.microsoft.com/office/drawing/2014/main" id="{1C24A294-4AB0-DBED-80D2-32EA8056BCAC}"/>
              </a:ext>
            </a:extLst>
          </p:cNvPr>
          <p:cNvPicPr>
            <a:picLocks noGrp="1" noChangeAspect="1"/>
          </p:cNvPicPr>
          <p:nvPr>
            <p:ph type="pic" sz="quarter" idx="15"/>
          </p:nvPr>
        </p:nvPicPr>
        <p:blipFill>
          <a:blip r:embed="rId5"/>
          <a:srcRect l="7147" r="7147"/>
          <a:stretch>
            <a:fillRect/>
          </a:stretch>
        </p:blipFill>
        <p:spPr>
          <a:prstGeom prst="rect">
            <a:avLst/>
          </a:prstGeom>
        </p:spPr>
      </p:pic>
    </p:spTree>
    <p:extLst>
      <p:ext uri="{BB962C8B-B14F-4D97-AF65-F5344CB8AC3E}">
        <p14:creationId xmlns:p14="http://schemas.microsoft.com/office/powerpoint/2010/main" val="195766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Agenda</a:t>
            </a:r>
          </a:p>
        </p:txBody>
      </p:sp>
    </p:spTree>
    <p:extLst>
      <p:ext uri="{BB962C8B-B14F-4D97-AF65-F5344CB8AC3E}">
        <p14:creationId xmlns:p14="http://schemas.microsoft.com/office/powerpoint/2010/main" val="2766185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04B3A0-DB28-D178-8666-E674CF85FD74}"/>
              </a:ext>
            </a:extLst>
          </p:cNvPr>
          <p:cNvSpPr>
            <a:spLocks noGrp="1"/>
          </p:cNvSpPr>
          <p:nvPr>
            <p:ph sz="quarter" idx="15"/>
          </p:nvPr>
        </p:nvSpPr>
        <p:spPr>
          <a:xfrm>
            <a:off x="3176810" y="1228115"/>
            <a:ext cx="5721406" cy="2455611"/>
          </a:xfrm>
          <a:ln>
            <a:solidFill>
              <a:schemeClr val="tx1"/>
            </a:solidFill>
          </a:ln>
        </p:spPr>
        <p:txBody>
          <a:bodyPr/>
          <a:lstStyle/>
          <a:p>
            <a:r>
              <a:rPr lang="en-US" b="1" u="sng" dirty="0"/>
              <a:t>Los Angeles District (SPL) Overview</a:t>
            </a:r>
          </a:p>
          <a:p>
            <a:endParaRPr lang="en-US" dirty="0"/>
          </a:p>
          <a:p>
            <a:pPr marL="342900" indent="-342900">
              <a:buFont typeface="Arial" panose="020B0604020202020204" pitchFamily="34" charset="0"/>
              <a:buChar char="•"/>
            </a:pPr>
            <a:r>
              <a:rPr lang="en-US" dirty="0"/>
              <a:t>Rules for Industry Day </a:t>
            </a:r>
          </a:p>
          <a:p>
            <a:r>
              <a:rPr lang="en-US" dirty="0"/>
              <a:t>			</a:t>
            </a:r>
          </a:p>
          <a:p>
            <a:pPr marL="342900" indent="-342900">
              <a:buFont typeface="Arial" panose="020B0604020202020204" pitchFamily="34" charset="0"/>
              <a:buChar char="•"/>
            </a:pPr>
            <a:r>
              <a:rPr lang="en-US" dirty="0"/>
              <a:t>SPL Overview</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Area of Operations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Historical Workload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Tips for New Firms Seeking </a:t>
            </a:r>
          </a:p>
          <a:p>
            <a:r>
              <a:rPr lang="en-US" dirty="0"/>
              <a:t>        Work with the Government</a:t>
            </a:r>
          </a:p>
          <a:p>
            <a:endParaRPr lang="en-US" dirty="0"/>
          </a:p>
          <a:p>
            <a:pPr marL="342900" indent="-342900">
              <a:buFont typeface="Arial" panose="020B0604020202020204" pitchFamily="34" charset="0"/>
              <a:buChar char="•"/>
            </a:pPr>
            <a:endParaRPr lang="en-US" dirty="0"/>
          </a:p>
          <a:p>
            <a:endParaRPr lang="en-US" dirty="0"/>
          </a:p>
        </p:txBody>
      </p:sp>
      <p:sp>
        <p:nvSpPr>
          <p:cNvPr id="3" name="Title 2">
            <a:extLst>
              <a:ext uri="{FF2B5EF4-FFF2-40B4-BE49-F238E27FC236}">
                <a16:creationId xmlns:a16="http://schemas.microsoft.com/office/drawing/2014/main" id="{8C356C45-B47B-FE7E-B1E9-1CB075A93104}"/>
              </a:ext>
            </a:extLst>
          </p:cNvPr>
          <p:cNvSpPr>
            <a:spLocks noGrp="1"/>
          </p:cNvSpPr>
          <p:nvPr>
            <p:ph type="title"/>
          </p:nvPr>
        </p:nvSpPr>
        <p:spPr/>
        <p:txBody>
          <a:bodyPr/>
          <a:lstStyle/>
          <a:p>
            <a:pPr algn="ctr"/>
            <a:r>
              <a:rPr lang="en-US" dirty="0"/>
              <a:t>Agenda</a:t>
            </a:r>
          </a:p>
        </p:txBody>
      </p:sp>
      <p:sp>
        <p:nvSpPr>
          <p:cNvPr id="4" name="Content Placeholder 3">
            <a:extLst>
              <a:ext uri="{FF2B5EF4-FFF2-40B4-BE49-F238E27FC236}">
                <a16:creationId xmlns:a16="http://schemas.microsoft.com/office/drawing/2014/main" id="{2517B4A7-DB39-734F-CF24-12F398DF785F}"/>
              </a:ext>
            </a:extLst>
          </p:cNvPr>
          <p:cNvSpPr>
            <a:spLocks noGrp="1"/>
          </p:cNvSpPr>
          <p:nvPr>
            <p:ph sz="quarter" idx="19"/>
          </p:nvPr>
        </p:nvSpPr>
        <p:spPr>
          <a:xfrm>
            <a:off x="7391336" y="1228115"/>
            <a:ext cx="2487100" cy="5600700"/>
          </a:xfrm>
        </p:spPr>
        <p:txBody>
          <a:bodyPr/>
          <a:lstStyle/>
          <a:p>
            <a:r>
              <a:rPr lang="en-US" b="1" u="sng" dirty="0"/>
              <a:t>Timeline</a:t>
            </a:r>
          </a:p>
          <a:p>
            <a:endParaRPr lang="en-US" dirty="0"/>
          </a:p>
          <a:p>
            <a:pPr marL="171450" indent="-171450">
              <a:buFont typeface="Arial" panose="020B0604020202020204" pitchFamily="34" charset="0"/>
              <a:buChar char="•"/>
            </a:pPr>
            <a:r>
              <a:rPr lang="en-US" dirty="0"/>
              <a:t>08:45 – 08:50 </a:t>
            </a:r>
          </a:p>
          <a:p>
            <a:endParaRPr lang="en-US" dirty="0"/>
          </a:p>
          <a:p>
            <a:pPr marL="171450" indent="-171450">
              <a:buFont typeface="Arial" panose="020B0604020202020204" pitchFamily="34" charset="0"/>
              <a:buChar char="•"/>
            </a:pPr>
            <a:r>
              <a:rPr lang="en-US" dirty="0"/>
              <a:t>08:50 – 08:55</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08:55 – 09:00</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09:00 – 09:10</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09:10 – 09:15</a:t>
            </a:r>
          </a:p>
          <a:p>
            <a:pPr marL="171450" indent="-171450">
              <a:buFont typeface="Arial" panose="020B0604020202020204" pitchFamily="34" charset="0"/>
              <a:buChar char="•"/>
            </a:pPr>
            <a:endParaRPr lang="en-US" dirty="0"/>
          </a:p>
          <a:p>
            <a:endParaRPr lang="en-US" dirty="0"/>
          </a:p>
          <a:p>
            <a:pPr marL="171450" indent="-171450">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2B376636-F906-C375-40F0-DEA9ED7CA7E9}"/>
              </a:ext>
            </a:extLst>
          </p:cNvPr>
          <p:cNvPicPr>
            <a:picLocks noChangeAspect="1"/>
          </p:cNvPicPr>
          <p:nvPr/>
        </p:nvPicPr>
        <p:blipFill rotWithShape="1">
          <a:blip r:embed="rId2"/>
          <a:srcRect l="7107" t="6988" r="5051" b="6488"/>
          <a:stretch/>
        </p:blipFill>
        <p:spPr>
          <a:xfrm>
            <a:off x="5126960" y="128981"/>
            <a:ext cx="910553" cy="896886"/>
          </a:xfrm>
          <a:prstGeom prst="rect">
            <a:avLst/>
          </a:prstGeom>
        </p:spPr>
      </p:pic>
    </p:spTree>
    <p:extLst>
      <p:ext uri="{BB962C8B-B14F-4D97-AF65-F5344CB8AC3E}">
        <p14:creationId xmlns:p14="http://schemas.microsoft.com/office/powerpoint/2010/main" val="17603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Rules for industry day</a:t>
            </a:r>
          </a:p>
        </p:txBody>
      </p:sp>
    </p:spTree>
    <p:extLst>
      <p:ext uri="{BB962C8B-B14F-4D97-AF65-F5344CB8AC3E}">
        <p14:creationId xmlns:p14="http://schemas.microsoft.com/office/powerpoint/2010/main" val="969258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8DF29E-489F-BC59-6A3A-59C9A9FC0406}"/>
              </a:ext>
            </a:extLst>
          </p:cNvPr>
          <p:cNvSpPr>
            <a:spLocks noGrp="1"/>
          </p:cNvSpPr>
          <p:nvPr>
            <p:ph sz="quarter" idx="10"/>
          </p:nvPr>
        </p:nvSpPr>
        <p:spPr>
          <a:xfrm>
            <a:off x="566866" y="1542404"/>
            <a:ext cx="10565324" cy="2202282"/>
          </a:xfrm>
        </p:spPr>
        <p:txBody>
          <a:bodyPr numCol="1"/>
          <a:lstStyle/>
          <a:p>
            <a:pPr marL="342900" indent="-342900">
              <a:buFont typeface="Arial" panose="020B0604020202020204" pitchFamily="34" charset="0"/>
              <a:buChar char="•"/>
            </a:pPr>
            <a:r>
              <a:rPr lang="en-US" sz="1400" dirty="0"/>
              <a:t>Unofficial and </a:t>
            </a:r>
            <a:r>
              <a:rPr lang="en-US" sz="1400" u="sng" dirty="0"/>
              <a:t>non-binding</a:t>
            </a:r>
            <a:r>
              <a:rPr lang="en-US" sz="1400" dirty="0"/>
              <a:t>. If you have follow-on questions, please submit them to us in writing.  E-mail: </a:t>
            </a:r>
            <a:r>
              <a:rPr lang="en-US" sz="1400" dirty="0">
                <a:hlinkClick r:id="rId2"/>
              </a:rPr>
              <a:t>kinya.r.minami@usace.army.mil</a:t>
            </a:r>
            <a:r>
              <a:rPr lang="en-US" sz="1400" dirty="0"/>
              <a:t> and </a:t>
            </a:r>
            <a:r>
              <a:rPr lang="en-US" sz="1400" dirty="0">
                <a:hlinkClick r:id="rId3"/>
              </a:rPr>
              <a:t>christine.davis@usace.army.mil</a:t>
            </a:r>
            <a:r>
              <a:rPr lang="en-US" sz="1400" dirty="0"/>
              <a:t>.  </a:t>
            </a:r>
            <a:endParaRPr lang="en-US" sz="1400" u="sng" dirty="0"/>
          </a:p>
          <a:p>
            <a:endParaRPr lang="en-US" sz="1400" dirty="0"/>
          </a:p>
          <a:p>
            <a:pPr marL="342900" indent="-342900">
              <a:buFont typeface="Arial" panose="020B0604020202020204" pitchFamily="34" charset="0"/>
              <a:buChar char="•"/>
            </a:pPr>
            <a:r>
              <a:rPr lang="en-US" sz="1400" dirty="0">
                <a:solidFill>
                  <a:srgbClr val="FF0000"/>
                </a:solidFill>
              </a:rPr>
              <a:t>No recording devices </a:t>
            </a:r>
            <a:r>
              <a:rPr lang="en-US" sz="1400" dirty="0"/>
              <a:t>permitted.</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Please hold your questions until the end of the presentation during the Q&amp;A portion.  </a:t>
            </a:r>
          </a:p>
          <a:p>
            <a:endParaRPr lang="en-US" sz="1400" dirty="0"/>
          </a:p>
          <a:p>
            <a:endParaRPr lang="en-US" sz="2400" dirty="0"/>
          </a:p>
        </p:txBody>
      </p:sp>
      <p:sp>
        <p:nvSpPr>
          <p:cNvPr id="3" name="Title 2">
            <a:extLst>
              <a:ext uri="{FF2B5EF4-FFF2-40B4-BE49-F238E27FC236}">
                <a16:creationId xmlns:a16="http://schemas.microsoft.com/office/drawing/2014/main" id="{4C72575C-211E-24AF-6415-F719EC533352}"/>
              </a:ext>
            </a:extLst>
          </p:cNvPr>
          <p:cNvSpPr>
            <a:spLocks noGrp="1"/>
          </p:cNvSpPr>
          <p:nvPr>
            <p:ph type="title"/>
          </p:nvPr>
        </p:nvSpPr>
        <p:spPr>
          <a:xfrm>
            <a:off x="2787805" y="135217"/>
            <a:ext cx="9764511" cy="832920"/>
          </a:xfrm>
        </p:spPr>
        <p:txBody>
          <a:bodyPr/>
          <a:lstStyle/>
          <a:p>
            <a:r>
              <a:rPr lang="en-US" dirty="0"/>
              <a:t>Rules for the Industry day</a:t>
            </a:r>
          </a:p>
        </p:txBody>
      </p:sp>
    </p:spTree>
    <p:extLst>
      <p:ext uri="{BB962C8B-B14F-4D97-AF65-F5344CB8AC3E}">
        <p14:creationId xmlns:p14="http://schemas.microsoft.com/office/powerpoint/2010/main" val="3296699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SPL Overview</a:t>
            </a:r>
          </a:p>
        </p:txBody>
      </p:sp>
    </p:spTree>
    <p:extLst>
      <p:ext uri="{BB962C8B-B14F-4D97-AF65-F5344CB8AC3E}">
        <p14:creationId xmlns:p14="http://schemas.microsoft.com/office/powerpoint/2010/main" val="341619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330A613-3CD3-6917-4565-AFF68176DEA2}"/>
              </a:ext>
            </a:extLst>
          </p:cNvPr>
          <p:cNvPicPr>
            <a:picLocks noGrp="1" noChangeAspect="1"/>
          </p:cNvPicPr>
          <p:nvPr>
            <p:ph sz="quarter" idx="10"/>
          </p:nvPr>
        </p:nvPicPr>
        <p:blipFill>
          <a:blip r:embed="rId2"/>
          <a:stretch>
            <a:fillRect/>
          </a:stretch>
        </p:blipFill>
        <p:spPr>
          <a:xfrm>
            <a:off x="261258" y="125838"/>
            <a:ext cx="11564982" cy="6606324"/>
          </a:xfrm>
          <a:ln>
            <a:solidFill>
              <a:schemeClr val="tx1"/>
            </a:solidFill>
          </a:ln>
        </p:spPr>
      </p:pic>
    </p:spTree>
    <p:extLst>
      <p:ext uri="{BB962C8B-B14F-4D97-AF65-F5344CB8AC3E}">
        <p14:creationId xmlns:p14="http://schemas.microsoft.com/office/powerpoint/2010/main" val="601211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Area of operations</a:t>
            </a:r>
          </a:p>
        </p:txBody>
      </p:sp>
    </p:spTree>
    <p:extLst>
      <p:ext uri="{BB962C8B-B14F-4D97-AF65-F5344CB8AC3E}">
        <p14:creationId xmlns:p14="http://schemas.microsoft.com/office/powerpoint/2010/main" val="3563597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DCFA6E-FC9B-FB32-0BD7-047953B0084C}"/>
              </a:ext>
            </a:extLst>
          </p:cNvPr>
          <p:cNvPicPr>
            <a:picLocks noChangeAspect="1"/>
          </p:cNvPicPr>
          <p:nvPr/>
        </p:nvPicPr>
        <p:blipFill>
          <a:blip r:embed="rId2"/>
          <a:stretch>
            <a:fillRect/>
          </a:stretch>
        </p:blipFill>
        <p:spPr>
          <a:xfrm>
            <a:off x="5744308" y="1406037"/>
            <a:ext cx="5029200" cy="4591050"/>
          </a:xfrm>
          <a:prstGeom prst="rect">
            <a:avLst/>
          </a:prstGeom>
          <a:ln>
            <a:solidFill>
              <a:schemeClr val="tx1"/>
            </a:solidFill>
          </a:ln>
        </p:spPr>
      </p:pic>
      <p:sp>
        <p:nvSpPr>
          <p:cNvPr id="5" name="TextBox 4">
            <a:extLst>
              <a:ext uri="{FF2B5EF4-FFF2-40B4-BE49-F238E27FC236}">
                <a16:creationId xmlns:a16="http://schemas.microsoft.com/office/drawing/2014/main" id="{A026B7D9-5B6D-9B6F-D878-03E26AE68ADE}"/>
              </a:ext>
            </a:extLst>
          </p:cNvPr>
          <p:cNvSpPr txBox="1"/>
          <p:nvPr/>
        </p:nvSpPr>
        <p:spPr>
          <a:xfrm>
            <a:off x="6053177" y="860913"/>
            <a:ext cx="4720331" cy="369332"/>
          </a:xfrm>
          <a:prstGeom prst="rect">
            <a:avLst/>
          </a:prstGeom>
          <a:noFill/>
        </p:spPr>
        <p:txBody>
          <a:bodyPr wrap="none" rtlCol="0">
            <a:spAutoFit/>
          </a:bodyPr>
          <a:lstStyle/>
          <a:p>
            <a:r>
              <a:rPr lang="en-US" dirty="0"/>
              <a:t>Los Angeles District’s Area of Responsibility </a:t>
            </a:r>
          </a:p>
        </p:txBody>
      </p:sp>
      <p:sp>
        <p:nvSpPr>
          <p:cNvPr id="7" name="TextBox 6">
            <a:extLst>
              <a:ext uri="{FF2B5EF4-FFF2-40B4-BE49-F238E27FC236}">
                <a16:creationId xmlns:a16="http://schemas.microsoft.com/office/drawing/2014/main" id="{8B29F493-A9C0-16A1-09C8-19424DE7CD80}"/>
              </a:ext>
            </a:extLst>
          </p:cNvPr>
          <p:cNvSpPr txBox="1"/>
          <p:nvPr/>
        </p:nvSpPr>
        <p:spPr>
          <a:xfrm>
            <a:off x="678063" y="2378059"/>
            <a:ext cx="4878259" cy="1754326"/>
          </a:xfrm>
          <a:prstGeom prst="rect">
            <a:avLst/>
          </a:prstGeom>
          <a:noFill/>
        </p:spPr>
        <p:txBody>
          <a:bodyPr wrap="none" rtlCol="0">
            <a:spAutoFit/>
          </a:bodyPr>
          <a:lstStyle/>
          <a:p>
            <a:r>
              <a:rPr lang="en-US" dirty="0"/>
              <a:t>The boundaries of the Los Angeles District</a:t>
            </a:r>
          </a:p>
          <a:p>
            <a:r>
              <a:rPr lang="en-US" dirty="0"/>
              <a:t>touch the four western states of California, </a:t>
            </a:r>
          </a:p>
          <a:p>
            <a:r>
              <a:rPr lang="en-US" dirty="0"/>
              <a:t>Nevada, Arizona, and Utah.  The 226,000 </a:t>
            </a:r>
          </a:p>
          <a:p>
            <a:r>
              <a:rPr lang="en-US" dirty="0"/>
              <a:t>Square mile area includes 420 miles of </a:t>
            </a:r>
          </a:p>
          <a:p>
            <a:r>
              <a:rPr lang="en-US" dirty="0"/>
              <a:t>coastline,14 harbors, and the highest, lowest, </a:t>
            </a:r>
          </a:p>
          <a:p>
            <a:r>
              <a:rPr lang="en-US" dirty="0"/>
              <a:t>and hottest spots in the contiguous 48 states</a:t>
            </a:r>
          </a:p>
        </p:txBody>
      </p:sp>
    </p:spTree>
    <p:extLst>
      <p:ext uri="{BB962C8B-B14F-4D97-AF65-F5344CB8AC3E}">
        <p14:creationId xmlns:p14="http://schemas.microsoft.com/office/powerpoint/2010/main" val="2399067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FY20 – FY24 </a:t>
            </a:r>
            <a:br>
              <a:rPr lang="en-US" dirty="0"/>
            </a:br>
            <a:r>
              <a:rPr lang="en-US" dirty="0"/>
              <a:t>Historical workload</a:t>
            </a:r>
          </a:p>
        </p:txBody>
      </p:sp>
    </p:spTree>
    <p:extLst>
      <p:ext uri="{BB962C8B-B14F-4D97-AF65-F5344CB8AC3E}">
        <p14:creationId xmlns:p14="http://schemas.microsoft.com/office/powerpoint/2010/main" val="150482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Dollar value</a:t>
            </a:r>
            <a:endParaRPr lang="en-US" dirty="0"/>
          </a:p>
        </p:txBody>
      </p:sp>
      <p:graphicFrame>
        <p:nvGraphicFramePr>
          <p:cNvPr id="14" name="Content Placeholder 13">
            <a:extLst>
              <a:ext uri="{FF2B5EF4-FFF2-40B4-BE49-F238E27FC236}">
                <a16:creationId xmlns:a16="http://schemas.microsoft.com/office/drawing/2014/main" id="{4F98492B-003F-36D3-F773-A64ACB3B39FE}"/>
              </a:ext>
            </a:extLst>
          </p:cNvPr>
          <p:cNvGraphicFramePr>
            <a:graphicFrameLocks noGrp="1"/>
          </p:cNvGraphicFramePr>
          <p:nvPr>
            <p:ph sz="quarter" idx="10"/>
            <p:extLst>
              <p:ext uri="{D42A27DB-BD31-4B8C-83A1-F6EECF244321}">
                <p14:modId xmlns:p14="http://schemas.microsoft.com/office/powerpoint/2010/main" val="284683107"/>
              </p:ext>
            </p:extLst>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14322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39122C-9AB7-F079-2442-73CCD6EA3068}"/>
              </a:ext>
            </a:extLst>
          </p:cNvPr>
          <p:cNvSpPr>
            <a:spLocks noGrp="1"/>
          </p:cNvSpPr>
          <p:nvPr>
            <p:ph type="title"/>
          </p:nvPr>
        </p:nvSpPr>
        <p:spPr/>
        <p:txBody>
          <a:bodyPr/>
          <a:lstStyle/>
          <a:p>
            <a:pPr algn="ctr"/>
            <a:r>
              <a:rPr lang="en-US" sz="2400" dirty="0"/>
              <a:t>5 Year history - Contract Awards by Volume</a:t>
            </a:r>
          </a:p>
        </p:txBody>
      </p:sp>
      <p:graphicFrame>
        <p:nvGraphicFramePr>
          <p:cNvPr id="15" name="Chart 14">
            <a:extLst>
              <a:ext uri="{FF2B5EF4-FFF2-40B4-BE49-F238E27FC236}">
                <a16:creationId xmlns:a16="http://schemas.microsoft.com/office/drawing/2014/main" id="{09A1909B-3018-223F-86E4-0CCE9FDFB5CC}"/>
              </a:ext>
            </a:extLst>
          </p:cNvPr>
          <p:cNvGraphicFramePr>
            <a:graphicFrameLocks/>
          </p:cNvGraphicFramePr>
          <p:nvPr>
            <p:extLst>
              <p:ext uri="{D42A27DB-BD31-4B8C-83A1-F6EECF244321}">
                <p14:modId xmlns:p14="http://schemas.microsoft.com/office/powerpoint/2010/main" val="2399010219"/>
              </p:ext>
            </p:extLst>
          </p:nvPr>
        </p:nvGraphicFramePr>
        <p:xfrm>
          <a:off x="739139" y="1132115"/>
          <a:ext cx="10529752" cy="55299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18882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10A8E7-2BC6-8E7C-A4B7-B7E4114EB5D7}"/>
              </a:ext>
            </a:extLst>
          </p:cNvPr>
          <p:cNvSpPr>
            <a:spLocks noGrp="1"/>
          </p:cNvSpPr>
          <p:nvPr>
            <p:ph sz="quarter" idx="10"/>
          </p:nvPr>
        </p:nvSpPr>
        <p:spPr>
          <a:xfrm>
            <a:off x="266700" y="1028700"/>
            <a:ext cx="13534758" cy="5600700"/>
          </a:xfrm>
        </p:spPr>
        <p:txBody>
          <a:bodyPr/>
          <a:lstStyle/>
          <a:p>
            <a:pPr marL="342900" indent="-342900">
              <a:buFont typeface="Arial" panose="020B0604020202020204" pitchFamily="34" charset="0"/>
              <a:buChar char="•"/>
            </a:pPr>
            <a:r>
              <a:rPr lang="en-US" dirty="0"/>
              <a:t>Average Number of Actions: 832</a:t>
            </a:r>
          </a:p>
          <a:p>
            <a:endParaRPr lang="en-US" dirty="0"/>
          </a:p>
          <a:p>
            <a:pPr marL="342900" indent="-342900">
              <a:buFont typeface="Arial" panose="020B0604020202020204" pitchFamily="34" charset="0"/>
              <a:buChar char="•"/>
            </a:pPr>
            <a:r>
              <a:rPr lang="en-US" dirty="0"/>
              <a:t>Average Number of Obligations: $726,922,241</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endParaRPr lang="en-US" dirty="0"/>
          </a:p>
          <a:p>
            <a:pPr lvl="1" indent="0">
              <a:buNone/>
            </a:pPr>
            <a:endParaRPr lang="en-US" dirty="0"/>
          </a:p>
        </p:txBody>
      </p:sp>
      <p:sp>
        <p:nvSpPr>
          <p:cNvPr id="3" name="Title 2">
            <a:extLst>
              <a:ext uri="{FF2B5EF4-FFF2-40B4-BE49-F238E27FC236}">
                <a16:creationId xmlns:a16="http://schemas.microsoft.com/office/drawing/2014/main" id="{A100CB71-F2B5-5579-65EA-2547D46A4770}"/>
              </a:ext>
            </a:extLst>
          </p:cNvPr>
          <p:cNvSpPr>
            <a:spLocks noGrp="1"/>
          </p:cNvSpPr>
          <p:nvPr>
            <p:ph type="title"/>
          </p:nvPr>
        </p:nvSpPr>
        <p:spPr/>
        <p:txBody>
          <a:bodyPr/>
          <a:lstStyle/>
          <a:p>
            <a:pPr algn="ctr"/>
            <a:r>
              <a:rPr lang="en-US" dirty="0"/>
              <a:t>5-year History – Contract Analysis</a:t>
            </a:r>
          </a:p>
        </p:txBody>
      </p:sp>
    </p:spTree>
    <p:extLst>
      <p:ext uri="{BB962C8B-B14F-4D97-AF65-F5344CB8AC3E}">
        <p14:creationId xmlns:p14="http://schemas.microsoft.com/office/powerpoint/2010/main" val="1862787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Architect-Engineer Awards</a:t>
            </a:r>
          </a:p>
        </p:txBody>
      </p:sp>
    </p:spTree>
    <p:extLst>
      <p:ext uri="{BB962C8B-B14F-4D97-AF65-F5344CB8AC3E}">
        <p14:creationId xmlns:p14="http://schemas.microsoft.com/office/powerpoint/2010/main" val="913315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Contract Awards</a:t>
            </a:r>
            <a:endParaRPr lang="en-US" dirty="0"/>
          </a:p>
        </p:txBody>
      </p:sp>
      <p:graphicFrame>
        <p:nvGraphicFramePr>
          <p:cNvPr id="5" name="Content Placeholder 4">
            <a:extLst>
              <a:ext uri="{FF2B5EF4-FFF2-40B4-BE49-F238E27FC236}">
                <a16:creationId xmlns:a16="http://schemas.microsoft.com/office/drawing/2014/main" id="{F4DE914C-323D-40C5-ED7A-4B92FB88DC71}"/>
              </a:ext>
            </a:extLst>
          </p:cNvPr>
          <p:cNvGraphicFramePr>
            <a:graphicFrameLocks noGrp="1"/>
          </p:cNvGraphicFramePr>
          <p:nvPr>
            <p:ph sz="quarter" idx="10"/>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32201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Dollar value</a:t>
            </a:r>
            <a:endParaRPr lang="en-US" dirty="0"/>
          </a:p>
        </p:txBody>
      </p:sp>
      <p:graphicFrame>
        <p:nvGraphicFramePr>
          <p:cNvPr id="5" name="Content Placeholder 4">
            <a:extLst>
              <a:ext uri="{FF2B5EF4-FFF2-40B4-BE49-F238E27FC236}">
                <a16:creationId xmlns:a16="http://schemas.microsoft.com/office/drawing/2014/main" id="{4C64251E-751A-110E-D38B-19B93687E774}"/>
              </a:ext>
            </a:extLst>
          </p:cNvPr>
          <p:cNvGraphicFramePr>
            <a:graphicFrameLocks noGrp="1"/>
          </p:cNvGraphicFramePr>
          <p:nvPr>
            <p:ph sz="quarter" idx="10"/>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57370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10A8E7-2BC6-8E7C-A4B7-B7E4114EB5D7}"/>
              </a:ext>
            </a:extLst>
          </p:cNvPr>
          <p:cNvSpPr>
            <a:spLocks noGrp="1"/>
          </p:cNvSpPr>
          <p:nvPr>
            <p:ph sz="quarter" idx="10"/>
          </p:nvPr>
        </p:nvSpPr>
        <p:spPr>
          <a:xfrm>
            <a:off x="266700" y="1028700"/>
            <a:ext cx="15553308" cy="5600700"/>
          </a:xfrm>
        </p:spPr>
        <p:txBody>
          <a:bodyPr/>
          <a:lstStyle/>
          <a:p>
            <a:pPr marL="342900" indent="-342900">
              <a:buFont typeface="Arial" panose="020B0604020202020204" pitchFamily="34" charset="0"/>
              <a:buChar char="•"/>
            </a:pPr>
            <a:r>
              <a:rPr lang="en-US" dirty="0"/>
              <a:t>Average Number of AE Actions: 26</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Average Number of AE Obligations: $10,654,288</a:t>
            </a:r>
          </a:p>
          <a:p>
            <a:pPr lvl="1" indent="0">
              <a:buNone/>
            </a:pPr>
            <a:endParaRPr lang="en-US" dirty="0"/>
          </a:p>
          <a:p>
            <a:pPr marL="569913" lvl="1" indent="-342900">
              <a:buFont typeface="Arial" panose="020B0604020202020204" pitchFamily="34" charset="0"/>
              <a:buChar char="•"/>
            </a:pPr>
            <a:r>
              <a:rPr lang="en-US" dirty="0"/>
              <a:t>$249M AE Vertical Design MATOC Awarded in Oct 2024</a:t>
            </a:r>
          </a:p>
        </p:txBody>
      </p:sp>
      <p:sp>
        <p:nvSpPr>
          <p:cNvPr id="3" name="Title 2">
            <a:extLst>
              <a:ext uri="{FF2B5EF4-FFF2-40B4-BE49-F238E27FC236}">
                <a16:creationId xmlns:a16="http://schemas.microsoft.com/office/drawing/2014/main" id="{A100CB71-F2B5-5579-65EA-2547D46A4770}"/>
              </a:ext>
            </a:extLst>
          </p:cNvPr>
          <p:cNvSpPr>
            <a:spLocks noGrp="1"/>
          </p:cNvSpPr>
          <p:nvPr>
            <p:ph type="title"/>
          </p:nvPr>
        </p:nvSpPr>
        <p:spPr/>
        <p:txBody>
          <a:bodyPr/>
          <a:lstStyle/>
          <a:p>
            <a:pPr algn="ctr"/>
            <a:r>
              <a:rPr lang="en-US" dirty="0"/>
              <a:t>5-year History – AE Analysis</a:t>
            </a:r>
          </a:p>
        </p:txBody>
      </p:sp>
    </p:spTree>
    <p:extLst>
      <p:ext uri="{BB962C8B-B14F-4D97-AF65-F5344CB8AC3E}">
        <p14:creationId xmlns:p14="http://schemas.microsoft.com/office/powerpoint/2010/main" val="779216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Construction Awards</a:t>
            </a:r>
          </a:p>
        </p:txBody>
      </p:sp>
    </p:spTree>
    <p:extLst>
      <p:ext uri="{BB962C8B-B14F-4D97-AF65-F5344CB8AC3E}">
        <p14:creationId xmlns:p14="http://schemas.microsoft.com/office/powerpoint/2010/main" val="3128600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Contract Awards</a:t>
            </a:r>
            <a:endParaRPr lang="en-US" dirty="0"/>
          </a:p>
        </p:txBody>
      </p:sp>
      <p:graphicFrame>
        <p:nvGraphicFramePr>
          <p:cNvPr id="5" name="Content Placeholder 4">
            <a:extLst>
              <a:ext uri="{FF2B5EF4-FFF2-40B4-BE49-F238E27FC236}">
                <a16:creationId xmlns:a16="http://schemas.microsoft.com/office/drawing/2014/main" id="{631A69E5-EA67-2F0E-EC6D-B20E30B07266}"/>
              </a:ext>
            </a:extLst>
          </p:cNvPr>
          <p:cNvGraphicFramePr>
            <a:graphicFrameLocks noGrp="1"/>
          </p:cNvGraphicFramePr>
          <p:nvPr>
            <p:ph sz="quarter" idx="10"/>
            <p:extLst>
              <p:ext uri="{D42A27DB-BD31-4B8C-83A1-F6EECF244321}">
                <p14:modId xmlns:p14="http://schemas.microsoft.com/office/powerpoint/2010/main" val="286291695"/>
              </p:ext>
            </p:extLst>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73335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Dollar value</a:t>
            </a:r>
            <a:endParaRPr lang="en-US" dirty="0"/>
          </a:p>
        </p:txBody>
      </p:sp>
      <p:graphicFrame>
        <p:nvGraphicFramePr>
          <p:cNvPr id="7" name="Content Placeholder 6">
            <a:extLst>
              <a:ext uri="{FF2B5EF4-FFF2-40B4-BE49-F238E27FC236}">
                <a16:creationId xmlns:a16="http://schemas.microsoft.com/office/drawing/2014/main" id="{15A2C147-C124-ECDA-E179-66F9C7F959F4}"/>
              </a:ext>
            </a:extLst>
          </p:cNvPr>
          <p:cNvGraphicFramePr>
            <a:graphicFrameLocks noGrp="1"/>
          </p:cNvGraphicFramePr>
          <p:nvPr>
            <p:ph sz="quarter" idx="10"/>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583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10A8E7-2BC6-8E7C-A4B7-B7E4114EB5D7}"/>
              </a:ext>
            </a:extLst>
          </p:cNvPr>
          <p:cNvSpPr>
            <a:spLocks noGrp="1"/>
          </p:cNvSpPr>
          <p:nvPr>
            <p:ph sz="quarter" idx="10"/>
          </p:nvPr>
        </p:nvSpPr>
        <p:spPr>
          <a:xfrm>
            <a:off x="95784" y="1090362"/>
            <a:ext cx="20952508" cy="5600700"/>
          </a:xfrm>
        </p:spPr>
        <p:txBody>
          <a:bodyPr/>
          <a:lstStyle/>
          <a:p>
            <a:pPr marL="342900" indent="-342900">
              <a:buFont typeface="Arial" panose="020B0604020202020204" pitchFamily="34" charset="0"/>
              <a:buChar char="•"/>
            </a:pPr>
            <a:r>
              <a:rPr lang="en-US" dirty="0"/>
              <a:t>Average Number of Construction Actions: 147</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Average Number of POCAs ($2M IDIQ each): 34</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Average Number of Construction Obligations: $517,123,227</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Evaluating Increase to POCA Limit Thresholds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Exploring Design-Build MATOC Acquisition Tools</a:t>
            </a:r>
          </a:p>
          <a:p>
            <a:endParaRPr lang="en-US" dirty="0"/>
          </a:p>
        </p:txBody>
      </p:sp>
      <p:sp>
        <p:nvSpPr>
          <p:cNvPr id="3" name="Title 2">
            <a:extLst>
              <a:ext uri="{FF2B5EF4-FFF2-40B4-BE49-F238E27FC236}">
                <a16:creationId xmlns:a16="http://schemas.microsoft.com/office/drawing/2014/main" id="{A100CB71-F2B5-5579-65EA-2547D46A4770}"/>
              </a:ext>
            </a:extLst>
          </p:cNvPr>
          <p:cNvSpPr>
            <a:spLocks noGrp="1"/>
          </p:cNvSpPr>
          <p:nvPr>
            <p:ph type="title"/>
          </p:nvPr>
        </p:nvSpPr>
        <p:spPr/>
        <p:txBody>
          <a:bodyPr/>
          <a:lstStyle/>
          <a:p>
            <a:pPr algn="ctr"/>
            <a:r>
              <a:rPr lang="en-US" dirty="0"/>
              <a:t>5-year History – Construction Analysis</a:t>
            </a:r>
          </a:p>
        </p:txBody>
      </p:sp>
    </p:spTree>
    <p:extLst>
      <p:ext uri="{BB962C8B-B14F-4D97-AF65-F5344CB8AC3E}">
        <p14:creationId xmlns:p14="http://schemas.microsoft.com/office/powerpoint/2010/main" val="3858396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Environmental Awards</a:t>
            </a:r>
          </a:p>
        </p:txBody>
      </p:sp>
    </p:spTree>
    <p:extLst>
      <p:ext uri="{BB962C8B-B14F-4D97-AF65-F5344CB8AC3E}">
        <p14:creationId xmlns:p14="http://schemas.microsoft.com/office/powerpoint/2010/main" val="2326980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Contract Awards</a:t>
            </a:r>
            <a:endParaRPr lang="en-US" dirty="0"/>
          </a:p>
        </p:txBody>
      </p:sp>
      <p:graphicFrame>
        <p:nvGraphicFramePr>
          <p:cNvPr id="7" name="Content Placeholder 6">
            <a:extLst>
              <a:ext uri="{FF2B5EF4-FFF2-40B4-BE49-F238E27FC236}">
                <a16:creationId xmlns:a16="http://schemas.microsoft.com/office/drawing/2014/main" id="{A235127C-D487-7CE8-B560-FB291B18635E}"/>
              </a:ext>
            </a:extLst>
          </p:cNvPr>
          <p:cNvGraphicFramePr>
            <a:graphicFrameLocks noGrp="1"/>
          </p:cNvGraphicFramePr>
          <p:nvPr>
            <p:ph sz="quarter" idx="10"/>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09921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Dollar value</a:t>
            </a:r>
            <a:endParaRPr lang="en-US" dirty="0"/>
          </a:p>
        </p:txBody>
      </p:sp>
      <p:graphicFrame>
        <p:nvGraphicFramePr>
          <p:cNvPr id="5" name="Content Placeholder 4">
            <a:extLst>
              <a:ext uri="{FF2B5EF4-FFF2-40B4-BE49-F238E27FC236}">
                <a16:creationId xmlns:a16="http://schemas.microsoft.com/office/drawing/2014/main" id="{9A94EB78-0A07-171B-5E98-7D4429DE2626}"/>
              </a:ext>
            </a:extLst>
          </p:cNvPr>
          <p:cNvGraphicFramePr>
            <a:graphicFrameLocks noGrp="1"/>
          </p:cNvGraphicFramePr>
          <p:nvPr>
            <p:ph sz="quarter" idx="10"/>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61042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10A8E7-2BC6-8E7C-A4B7-B7E4114EB5D7}"/>
              </a:ext>
            </a:extLst>
          </p:cNvPr>
          <p:cNvSpPr>
            <a:spLocks noGrp="1"/>
          </p:cNvSpPr>
          <p:nvPr>
            <p:ph sz="quarter" idx="10"/>
          </p:nvPr>
        </p:nvSpPr>
        <p:spPr>
          <a:xfrm>
            <a:off x="95784" y="1090362"/>
            <a:ext cx="20952508" cy="5600700"/>
          </a:xfrm>
        </p:spPr>
        <p:txBody>
          <a:bodyPr/>
          <a:lstStyle/>
          <a:p>
            <a:pPr marL="342900" indent="-342900">
              <a:buFont typeface="Arial" panose="020B0604020202020204" pitchFamily="34" charset="0"/>
              <a:buChar char="•"/>
            </a:pPr>
            <a:r>
              <a:rPr lang="en-US" dirty="0"/>
              <a:t>Average Number of Environmental Actions: 36</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Average Number of Environmental Obligations: $45,575,808</a:t>
            </a:r>
          </a:p>
          <a:p>
            <a:endParaRPr lang="en-US" dirty="0"/>
          </a:p>
        </p:txBody>
      </p:sp>
      <p:sp>
        <p:nvSpPr>
          <p:cNvPr id="3" name="Title 2">
            <a:extLst>
              <a:ext uri="{FF2B5EF4-FFF2-40B4-BE49-F238E27FC236}">
                <a16:creationId xmlns:a16="http://schemas.microsoft.com/office/drawing/2014/main" id="{A100CB71-F2B5-5579-65EA-2547D46A4770}"/>
              </a:ext>
            </a:extLst>
          </p:cNvPr>
          <p:cNvSpPr>
            <a:spLocks noGrp="1"/>
          </p:cNvSpPr>
          <p:nvPr>
            <p:ph type="title"/>
          </p:nvPr>
        </p:nvSpPr>
        <p:spPr/>
        <p:txBody>
          <a:bodyPr/>
          <a:lstStyle/>
          <a:p>
            <a:pPr algn="ctr"/>
            <a:r>
              <a:rPr lang="en-US" dirty="0"/>
              <a:t>5-year History – Environmental Analysis</a:t>
            </a:r>
          </a:p>
        </p:txBody>
      </p:sp>
    </p:spTree>
    <p:extLst>
      <p:ext uri="{BB962C8B-B14F-4D97-AF65-F5344CB8AC3E}">
        <p14:creationId xmlns:p14="http://schemas.microsoft.com/office/powerpoint/2010/main" val="1089992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Service and Supply Awards</a:t>
            </a:r>
          </a:p>
        </p:txBody>
      </p:sp>
    </p:spTree>
    <p:extLst>
      <p:ext uri="{BB962C8B-B14F-4D97-AF65-F5344CB8AC3E}">
        <p14:creationId xmlns:p14="http://schemas.microsoft.com/office/powerpoint/2010/main" val="20818953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Contract Awards</a:t>
            </a:r>
            <a:endParaRPr lang="en-US" dirty="0"/>
          </a:p>
        </p:txBody>
      </p:sp>
      <p:graphicFrame>
        <p:nvGraphicFramePr>
          <p:cNvPr id="9" name="Content Placeholder 8">
            <a:extLst>
              <a:ext uri="{FF2B5EF4-FFF2-40B4-BE49-F238E27FC236}">
                <a16:creationId xmlns:a16="http://schemas.microsoft.com/office/drawing/2014/main" id="{E0A290F9-2D5D-9732-D7CE-F2D088436AC6}"/>
              </a:ext>
            </a:extLst>
          </p:cNvPr>
          <p:cNvGraphicFramePr>
            <a:graphicFrameLocks noGrp="1"/>
          </p:cNvGraphicFramePr>
          <p:nvPr>
            <p:ph sz="quarter" idx="10"/>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49981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5C67C9-34BE-EE36-E391-EFA8BA897E57}"/>
              </a:ext>
            </a:extLst>
          </p:cNvPr>
          <p:cNvSpPr>
            <a:spLocks noGrp="1"/>
          </p:cNvSpPr>
          <p:nvPr>
            <p:ph type="title"/>
          </p:nvPr>
        </p:nvSpPr>
        <p:spPr/>
        <p:txBody>
          <a:bodyPr/>
          <a:lstStyle/>
          <a:p>
            <a:r>
              <a:rPr kumimoji="0" lang="en-US" sz="2400" b="1" i="0" u="none" strike="noStrike" kern="1200" cap="all" spc="0" normalizeH="0" baseline="0" noProof="0" dirty="0">
                <a:ln>
                  <a:noFill/>
                </a:ln>
                <a:solidFill>
                  <a:srgbClr val="221F20">
                    <a:lumMod val="90000"/>
                    <a:lumOff val="10000"/>
                  </a:srgbClr>
                </a:solidFill>
                <a:effectLst/>
                <a:uLnTx/>
                <a:uFillTx/>
                <a:latin typeface="Arial" pitchFamily="34" charset="0"/>
                <a:ea typeface="ＭＳ Ｐゴシック" charset="0"/>
                <a:cs typeface="Arial" pitchFamily="34" charset="0"/>
              </a:rPr>
              <a:t>5 Year history – Obligations by Dollar value</a:t>
            </a:r>
            <a:endParaRPr lang="en-US" dirty="0"/>
          </a:p>
        </p:txBody>
      </p:sp>
      <p:graphicFrame>
        <p:nvGraphicFramePr>
          <p:cNvPr id="6" name="Content Placeholder 5">
            <a:extLst>
              <a:ext uri="{FF2B5EF4-FFF2-40B4-BE49-F238E27FC236}">
                <a16:creationId xmlns:a16="http://schemas.microsoft.com/office/drawing/2014/main" id="{DC5748E0-FE9F-F714-4959-8991D35ECE46}"/>
              </a:ext>
            </a:extLst>
          </p:cNvPr>
          <p:cNvGraphicFramePr>
            <a:graphicFrameLocks noGrp="1"/>
          </p:cNvGraphicFramePr>
          <p:nvPr>
            <p:ph sz="quarter" idx="10"/>
          </p:nvPr>
        </p:nvGraphicFramePr>
        <p:xfrm>
          <a:off x="266700" y="1028700"/>
          <a:ext cx="11658600" cy="5600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44382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10A8E7-2BC6-8E7C-A4B7-B7E4114EB5D7}"/>
              </a:ext>
            </a:extLst>
          </p:cNvPr>
          <p:cNvSpPr>
            <a:spLocks noGrp="1"/>
          </p:cNvSpPr>
          <p:nvPr>
            <p:ph sz="quarter" idx="10"/>
          </p:nvPr>
        </p:nvSpPr>
        <p:spPr>
          <a:xfrm>
            <a:off x="95784" y="1090362"/>
            <a:ext cx="20952508" cy="5600700"/>
          </a:xfrm>
        </p:spPr>
        <p:txBody>
          <a:bodyPr/>
          <a:lstStyle/>
          <a:p>
            <a:pPr marL="342900" indent="-342900">
              <a:buFont typeface="Arial" panose="020B0604020202020204" pitchFamily="34" charset="0"/>
              <a:buChar char="•"/>
            </a:pPr>
            <a:r>
              <a:rPr lang="en-US" dirty="0"/>
              <a:t>Average Number of Actions by categories</a:t>
            </a:r>
          </a:p>
          <a:p>
            <a:pPr marL="569913" lvl="1" indent="-342900">
              <a:buFont typeface="Arial" panose="020B0604020202020204" pitchFamily="34" charset="0"/>
              <a:buChar char="•"/>
            </a:pPr>
            <a:r>
              <a:rPr lang="en-US" sz="1600" dirty="0"/>
              <a:t>Services: 33</a:t>
            </a:r>
          </a:p>
          <a:p>
            <a:pPr marL="569913" lvl="1" indent="-342900">
              <a:buFont typeface="Arial" panose="020B0604020202020204" pitchFamily="34" charset="0"/>
              <a:buChar char="•"/>
            </a:pPr>
            <a:r>
              <a:rPr lang="en-US" sz="1600" dirty="0"/>
              <a:t>Supplies: 10</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Average Number of Dollars by categories</a:t>
            </a:r>
          </a:p>
          <a:p>
            <a:pPr marL="569913" lvl="1" indent="-342900">
              <a:buFont typeface="Arial" panose="020B0604020202020204" pitchFamily="34" charset="0"/>
              <a:buChar char="•"/>
            </a:pPr>
            <a:r>
              <a:rPr lang="en-US" sz="1600" dirty="0"/>
              <a:t>Services: $6,351,537</a:t>
            </a:r>
          </a:p>
          <a:p>
            <a:pPr marL="569913" lvl="1" indent="-342900">
              <a:buFont typeface="Arial" panose="020B0604020202020204" pitchFamily="34" charset="0"/>
              <a:buChar char="•"/>
            </a:pPr>
            <a:r>
              <a:rPr lang="en-US" sz="1600" dirty="0"/>
              <a:t>Supplies: $301,869</a:t>
            </a:r>
            <a:endParaRPr lang="en-US" dirty="0"/>
          </a:p>
          <a:p>
            <a:endParaRPr lang="en-US" dirty="0"/>
          </a:p>
          <a:p>
            <a:pPr lvl="1" indent="0">
              <a:buNone/>
            </a:pPr>
            <a:endParaRPr lang="en-US" dirty="0"/>
          </a:p>
        </p:txBody>
      </p:sp>
      <p:sp>
        <p:nvSpPr>
          <p:cNvPr id="3" name="Title 2">
            <a:extLst>
              <a:ext uri="{FF2B5EF4-FFF2-40B4-BE49-F238E27FC236}">
                <a16:creationId xmlns:a16="http://schemas.microsoft.com/office/drawing/2014/main" id="{A100CB71-F2B5-5579-65EA-2547D46A4770}"/>
              </a:ext>
            </a:extLst>
          </p:cNvPr>
          <p:cNvSpPr>
            <a:spLocks noGrp="1"/>
          </p:cNvSpPr>
          <p:nvPr>
            <p:ph type="title"/>
          </p:nvPr>
        </p:nvSpPr>
        <p:spPr/>
        <p:txBody>
          <a:bodyPr/>
          <a:lstStyle/>
          <a:p>
            <a:pPr algn="ctr"/>
            <a:r>
              <a:rPr lang="en-US" dirty="0"/>
              <a:t>5-year History – Service and Supplies</a:t>
            </a:r>
          </a:p>
        </p:txBody>
      </p:sp>
    </p:spTree>
    <p:extLst>
      <p:ext uri="{BB962C8B-B14F-4D97-AF65-F5344CB8AC3E}">
        <p14:creationId xmlns:p14="http://schemas.microsoft.com/office/powerpoint/2010/main" val="1590743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Tips for new firms seeking </a:t>
            </a:r>
            <a:br>
              <a:rPr lang="en-US" dirty="0"/>
            </a:br>
            <a:r>
              <a:rPr lang="en-US" dirty="0"/>
              <a:t>government contracts</a:t>
            </a:r>
          </a:p>
        </p:txBody>
      </p:sp>
    </p:spTree>
    <p:extLst>
      <p:ext uri="{BB962C8B-B14F-4D97-AF65-F5344CB8AC3E}">
        <p14:creationId xmlns:p14="http://schemas.microsoft.com/office/powerpoint/2010/main" val="2903050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43798-3458-4C5E-86C3-A241CBA7F83F}"/>
              </a:ext>
            </a:extLst>
          </p:cNvPr>
          <p:cNvSpPr>
            <a:spLocks noGrp="1"/>
          </p:cNvSpPr>
          <p:nvPr>
            <p:ph type="title"/>
          </p:nvPr>
        </p:nvSpPr>
        <p:spPr>
          <a:xfrm>
            <a:off x="1981200" y="274638"/>
            <a:ext cx="8229600" cy="1325562"/>
          </a:xfrm>
        </p:spPr>
        <p:txBody>
          <a:bodyPr>
            <a:normAutofit/>
          </a:bodyPr>
          <a:lstStyle/>
          <a:p>
            <a:pPr algn="ctr"/>
            <a:r>
              <a:rPr lang="en-US" dirty="0">
                <a:solidFill>
                  <a:schemeClr val="tx1"/>
                </a:solidFill>
                <a:effectLst/>
              </a:rPr>
              <a:t>      </a:t>
            </a:r>
            <a:r>
              <a:rPr lang="en-US" u="sng" dirty="0">
                <a:solidFill>
                  <a:schemeClr val="tx1"/>
                </a:solidFill>
              </a:rPr>
              <a:t>Contractor Required Information</a:t>
            </a:r>
            <a:endParaRPr lang="en-US" u="sng" dirty="0"/>
          </a:p>
        </p:txBody>
      </p:sp>
      <p:sp>
        <p:nvSpPr>
          <p:cNvPr id="3" name="Content Placeholder 2">
            <a:extLst>
              <a:ext uri="{FF2B5EF4-FFF2-40B4-BE49-F238E27FC236}">
                <a16:creationId xmlns:a16="http://schemas.microsoft.com/office/drawing/2014/main" id="{79E239DF-827D-4E57-97FB-98A4EB10D7DF}"/>
              </a:ext>
            </a:extLst>
          </p:cNvPr>
          <p:cNvSpPr>
            <a:spLocks noGrp="1"/>
          </p:cNvSpPr>
          <p:nvPr>
            <p:ph idx="1"/>
          </p:nvPr>
        </p:nvSpPr>
        <p:spPr>
          <a:xfrm>
            <a:off x="1981200" y="2235200"/>
            <a:ext cx="8229600" cy="3759200"/>
          </a:xfrm>
        </p:spPr>
        <p:txBody>
          <a:bodyPr/>
          <a:lstStyle/>
          <a:p>
            <a:r>
              <a:rPr lang="en-US" sz="2200" i="1" dirty="0">
                <a:effectLst>
                  <a:outerShdw blurRad="38100" dist="38100" dir="2700000" algn="tl">
                    <a:srgbClr val="000000">
                      <a:alpha val="43137"/>
                    </a:srgbClr>
                  </a:outerShdw>
                </a:effectLst>
              </a:rPr>
              <a:t>System for Award Management (SAM)  and Procurement Integrated Enterprise Environment (PIEE) Solicitation Module</a:t>
            </a:r>
          </a:p>
          <a:p>
            <a:endParaRPr lang="en-US" sz="1800" i="1" dirty="0">
              <a:effectLst>
                <a:outerShdw blurRad="38100" dist="38100" dir="2700000" algn="tl">
                  <a:srgbClr val="000000">
                    <a:alpha val="43137"/>
                  </a:srgbClr>
                </a:outerShdw>
              </a:effectLst>
            </a:endParaRPr>
          </a:p>
          <a:p>
            <a:pPr lvl="1"/>
            <a:r>
              <a:rPr lang="en-US" sz="1800" dirty="0"/>
              <a:t>Contractors must be registered in SAM (</a:t>
            </a:r>
            <a:r>
              <a:rPr lang="en-US" sz="1800" dirty="0">
                <a:hlinkClick r:id="rId3"/>
              </a:rPr>
              <a:t>www.sam.gov</a:t>
            </a:r>
            <a:r>
              <a:rPr lang="en-US" sz="1800" dirty="0"/>
              <a:t>) and PIEE (</a:t>
            </a:r>
            <a:r>
              <a:rPr lang="en-US" sz="1800" dirty="0">
                <a:hlinkClick r:id="rId4"/>
              </a:rPr>
              <a:t>https://cac.piee.eb.mil/xhtml/unauth/home/login.xhtml?logout=Y</a:t>
            </a:r>
            <a:r>
              <a:rPr lang="en-US" sz="1800" dirty="0"/>
              <a:t>)</a:t>
            </a:r>
          </a:p>
          <a:p>
            <a:pPr lvl="1"/>
            <a:r>
              <a:rPr lang="en-US" sz="1800" dirty="0"/>
              <a:t>Certifications &amp; Representations</a:t>
            </a:r>
          </a:p>
          <a:p>
            <a:pPr lvl="1"/>
            <a:r>
              <a:rPr lang="en-US" sz="1800" dirty="0"/>
              <a:t>Search W912PL</a:t>
            </a:r>
          </a:p>
        </p:txBody>
      </p:sp>
    </p:spTree>
    <p:extLst>
      <p:ext uri="{BB962C8B-B14F-4D97-AF65-F5344CB8AC3E}">
        <p14:creationId xmlns:p14="http://schemas.microsoft.com/office/powerpoint/2010/main" val="2543136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9355-44DF-4BF7-8A56-43E25D100A48}"/>
              </a:ext>
            </a:extLst>
          </p:cNvPr>
          <p:cNvSpPr>
            <a:spLocks noGrp="1"/>
          </p:cNvSpPr>
          <p:nvPr>
            <p:ph type="title"/>
          </p:nvPr>
        </p:nvSpPr>
        <p:spPr>
          <a:xfrm>
            <a:off x="1981200" y="274638"/>
            <a:ext cx="8229600" cy="517842"/>
          </a:xfrm>
        </p:spPr>
        <p:txBody>
          <a:bodyPr>
            <a:normAutofit/>
          </a:bodyPr>
          <a:lstStyle/>
          <a:p>
            <a:pPr algn="ctr"/>
            <a:r>
              <a:rPr lang="en-US" u="sng" dirty="0"/>
              <a:t>SAM.GOV</a:t>
            </a:r>
          </a:p>
        </p:txBody>
      </p:sp>
      <p:pic>
        <p:nvPicPr>
          <p:cNvPr id="4" name="Content Placeholder 3" descr="SAMgov  Home">
            <a:extLst>
              <a:ext uri="{FF2B5EF4-FFF2-40B4-BE49-F238E27FC236}">
                <a16:creationId xmlns:a16="http://schemas.microsoft.com/office/drawing/2014/main" id="{D31416C7-C1F7-4F74-93C5-A0A4368FB78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53740" y="934720"/>
            <a:ext cx="5760721" cy="5421630"/>
          </a:xfrm>
          <a:prstGeom prst="rect">
            <a:avLst/>
          </a:prstGeom>
          <a:noFill/>
          <a:ln>
            <a:noFill/>
          </a:ln>
        </p:spPr>
      </p:pic>
    </p:spTree>
    <p:extLst>
      <p:ext uri="{BB962C8B-B14F-4D97-AF65-F5344CB8AC3E}">
        <p14:creationId xmlns:p14="http://schemas.microsoft.com/office/powerpoint/2010/main" val="2328731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21721-D89C-4173-A8D7-C0EDB71B9C44}"/>
              </a:ext>
            </a:extLst>
          </p:cNvPr>
          <p:cNvSpPr>
            <a:spLocks noGrp="1"/>
          </p:cNvSpPr>
          <p:nvPr>
            <p:ph type="title"/>
          </p:nvPr>
        </p:nvSpPr>
        <p:spPr>
          <a:xfrm>
            <a:off x="1981200" y="274638"/>
            <a:ext cx="8229600" cy="588962"/>
          </a:xfrm>
        </p:spPr>
        <p:txBody>
          <a:bodyPr>
            <a:normAutofit fontScale="90000"/>
          </a:bodyPr>
          <a:lstStyle/>
          <a:p>
            <a:pPr algn="ctr"/>
            <a:r>
              <a:rPr lang="en-US" sz="2500" u="sng" dirty="0"/>
              <a:t>Procurement Integrated Enterprise Environment (PIEE)</a:t>
            </a:r>
          </a:p>
        </p:txBody>
      </p:sp>
      <p:pic>
        <p:nvPicPr>
          <p:cNvPr id="4" name="Content Placeholder 3" descr="Procurement Integrated Enterprise Environment">
            <a:extLst>
              <a:ext uri="{FF2B5EF4-FFF2-40B4-BE49-F238E27FC236}">
                <a16:creationId xmlns:a16="http://schemas.microsoft.com/office/drawing/2014/main" id="{A64063A5-6863-443C-8014-02786A5BF44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25784" y="863600"/>
            <a:ext cx="3725644" cy="3596640"/>
          </a:xfrm>
          <a:prstGeom prst="rect">
            <a:avLst/>
          </a:prstGeom>
          <a:noFill/>
          <a:ln>
            <a:noFill/>
          </a:ln>
        </p:spPr>
      </p:pic>
      <p:pic>
        <p:nvPicPr>
          <p:cNvPr id="6" name="Picture 5">
            <a:extLst>
              <a:ext uri="{FF2B5EF4-FFF2-40B4-BE49-F238E27FC236}">
                <a16:creationId xmlns:a16="http://schemas.microsoft.com/office/drawing/2014/main" id="{5ED9F318-CFB3-4666-8D38-7F36D3F12D46}"/>
              </a:ext>
            </a:extLst>
          </p:cNvPr>
          <p:cNvPicPr>
            <a:picLocks noChangeAspect="1"/>
          </p:cNvPicPr>
          <p:nvPr/>
        </p:nvPicPr>
        <p:blipFill>
          <a:blip r:embed="rId3"/>
          <a:stretch>
            <a:fillRect/>
          </a:stretch>
        </p:blipFill>
        <p:spPr>
          <a:xfrm>
            <a:off x="3751557" y="4460240"/>
            <a:ext cx="4627925" cy="1835308"/>
          </a:xfrm>
          <a:prstGeom prst="rect">
            <a:avLst/>
          </a:prstGeom>
        </p:spPr>
      </p:pic>
      <p:sp>
        <p:nvSpPr>
          <p:cNvPr id="14" name="Arrow: Down 13">
            <a:extLst>
              <a:ext uri="{FF2B5EF4-FFF2-40B4-BE49-F238E27FC236}">
                <a16:creationId xmlns:a16="http://schemas.microsoft.com/office/drawing/2014/main" id="{AA6FB047-28E2-4C2A-B21A-2544CEFCA7E1}"/>
              </a:ext>
            </a:extLst>
          </p:cNvPr>
          <p:cNvSpPr/>
          <p:nvPr/>
        </p:nvSpPr>
        <p:spPr>
          <a:xfrm>
            <a:off x="4577082" y="4378960"/>
            <a:ext cx="198119" cy="274320"/>
          </a:xfrm>
          <a:prstGeom prst="down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6507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AD7BD-2CD0-4CB6-98DE-0EE868C3B6CD}"/>
              </a:ext>
            </a:extLst>
          </p:cNvPr>
          <p:cNvSpPr>
            <a:spLocks noGrp="1"/>
          </p:cNvSpPr>
          <p:nvPr>
            <p:ph type="title"/>
          </p:nvPr>
        </p:nvSpPr>
        <p:spPr>
          <a:xfrm>
            <a:off x="1981200" y="274638"/>
            <a:ext cx="8229600" cy="568642"/>
          </a:xfrm>
        </p:spPr>
        <p:txBody>
          <a:bodyPr>
            <a:normAutofit/>
          </a:bodyPr>
          <a:lstStyle/>
          <a:p>
            <a:r>
              <a:rPr lang="en-US" sz="3000" u="sng" dirty="0"/>
              <a:t>Solicitation Search</a:t>
            </a:r>
          </a:p>
        </p:txBody>
      </p:sp>
      <p:pic>
        <p:nvPicPr>
          <p:cNvPr id="5" name="Content Placeholder 4">
            <a:extLst>
              <a:ext uri="{FF2B5EF4-FFF2-40B4-BE49-F238E27FC236}">
                <a16:creationId xmlns:a16="http://schemas.microsoft.com/office/drawing/2014/main" id="{D60D6BD5-BBAE-41C8-AC86-141BCAE264A2}"/>
              </a:ext>
            </a:extLst>
          </p:cNvPr>
          <p:cNvPicPr>
            <a:picLocks noGrp="1" noChangeAspect="1"/>
          </p:cNvPicPr>
          <p:nvPr>
            <p:ph idx="1"/>
          </p:nvPr>
        </p:nvPicPr>
        <p:blipFill>
          <a:blip r:embed="rId2"/>
          <a:stretch>
            <a:fillRect/>
          </a:stretch>
        </p:blipFill>
        <p:spPr>
          <a:xfrm>
            <a:off x="3129281" y="843280"/>
            <a:ext cx="6471920" cy="5303520"/>
          </a:xfrm>
        </p:spPr>
      </p:pic>
      <p:sp>
        <p:nvSpPr>
          <p:cNvPr id="6" name="Arrow: Down 5">
            <a:extLst>
              <a:ext uri="{FF2B5EF4-FFF2-40B4-BE49-F238E27FC236}">
                <a16:creationId xmlns:a16="http://schemas.microsoft.com/office/drawing/2014/main" id="{A2CD8433-8DF7-4B00-99F0-FF41B5FB1D01}"/>
              </a:ext>
            </a:extLst>
          </p:cNvPr>
          <p:cNvSpPr/>
          <p:nvPr/>
        </p:nvSpPr>
        <p:spPr>
          <a:xfrm>
            <a:off x="5547360" y="1411923"/>
            <a:ext cx="548640" cy="1371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7022573-8BCE-46DE-BAB4-BFF4640F033F}"/>
              </a:ext>
            </a:extLst>
          </p:cNvPr>
          <p:cNvSpPr txBox="1"/>
          <p:nvPr/>
        </p:nvSpPr>
        <p:spPr>
          <a:xfrm>
            <a:off x="5532121" y="1549082"/>
            <a:ext cx="1666240" cy="246221"/>
          </a:xfrm>
          <a:prstGeom prst="rect">
            <a:avLst/>
          </a:prstGeom>
          <a:noFill/>
        </p:spPr>
        <p:txBody>
          <a:bodyPr wrap="square" rtlCol="0">
            <a:spAutoFit/>
          </a:bodyPr>
          <a:lstStyle/>
          <a:p>
            <a:r>
              <a:rPr lang="en-US" sz="1000" dirty="0"/>
              <a:t>W912PL</a:t>
            </a:r>
          </a:p>
        </p:txBody>
      </p:sp>
    </p:spTree>
    <p:extLst>
      <p:ext uri="{BB962C8B-B14F-4D97-AF65-F5344CB8AC3E}">
        <p14:creationId xmlns:p14="http://schemas.microsoft.com/office/powerpoint/2010/main" val="30505241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C4C92-DDEA-4B0B-934B-92B996678547}"/>
              </a:ext>
            </a:extLst>
          </p:cNvPr>
          <p:cNvSpPr>
            <a:spLocks noGrp="1"/>
          </p:cNvSpPr>
          <p:nvPr>
            <p:ph type="title"/>
          </p:nvPr>
        </p:nvSpPr>
        <p:spPr>
          <a:xfrm>
            <a:off x="1981200" y="274638"/>
            <a:ext cx="8229600" cy="538162"/>
          </a:xfrm>
        </p:spPr>
        <p:txBody>
          <a:bodyPr>
            <a:normAutofit/>
          </a:bodyPr>
          <a:lstStyle/>
          <a:p>
            <a:pPr algn="ctr"/>
            <a:r>
              <a:rPr lang="en-US" sz="3000" u="sng" dirty="0"/>
              <a:t>Solicitation Search</a:t>
            </a:r>
            <a:endParaRPr lang="en-US" sz="3000" dirty="0"/>
          </a:p>
        </p:txBody>
      </p:sp>
      <p:pic>
        <p:nvPicPr>
          <p:cNvPr id="7" name="Picture 6">
            <a:extLst>
              <a:ext uri="{FF2B5EF4-FFF2-40B4-BE49-F238E27FC236}">
                <a16:creationId xmlns:a16="http://schemas.microsoft.com/office/drawing/2014/main" id="{D91A50B5-BDA4-174C-233A-55E6EEFD48F9}"/>
              </a:ext>
            </a:extLst>
          </p:cNvPr>
          <p:cNvPicPr>
            <a:picLocks noChangeAspect="1"/>
          </p:cNvPicPr>
          <p:nvPr/>
        </p:nvPicPr>
        <p:blipFill>
          <a:blip r:embed="rId2"/>
          <a:srcRect l="14643" t="11087" r="16249"/>
          <a:stretch/>
        </p:blipFill>
        <p:spPr>
          <a:xfrm>
            <a:off x="2159726" y="812800"/>
            <a:ext cx="8425544" cy="5815330"/>
          </a:xfrm>
          <a:prstGeom prst="rect">
            <a:avLst/>
          </a:prstGeom>
        </p:spPr>
      </p:pic>
    </p:spTree>
    <p:extLst>
      <p:ext uri="{BB962C8B-B14F-4D97-AF65-F5344CB8AC3E}">
        <p14:creationId xmlns:p14="http://schemas.microsoft.com/office/powerpoint/2010/main" val="2379469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pPr algn="ctr"/>
            <a:r>
              <a:rPr lang="en-US" dirty="0"/>
              <a:t>Thank you</a:t>
            </a:r>
            <a:br>
              <a:rPr lang="en-US" dirty="0"/>
            </a:br>
            <a:r>
              <a:rPr lang="en-US" dirty="0"/>
              <a:t>Come and visit the contracting booth!</a:t>
            </a:r>
          </a:p>
        </p:txBody>
      </p:sp>
      <p:pic>
        <p:nvPicPr>
          <p:cNvPr id="3" name="Picture 2">
            <a:extLst>
              <a:ext uri="{FF2B5EF4-FFF2-40B4-BE49-F238E27FC236}">
                <a16:creationId xmlns:a16="http://schemas.microsoft.com/office/drawing/2014/main" id="{74CCBF00-23C8-E8F2-7F79-4C7089C93A8B}"/>
              </a:ext>
            </a:extLst>
          </p:cNvPr>
          <p:cNvPicPr>
            <a:picLocks noChangeAspect="1"/>
          </p:cNvPicPr>
          <p:nvPr/>
        </p:nvPicPr>
        <p:blipFill>
          <a:blip r:embed="rId2"/>
          <a:stretch>
            <a:fillRect/>
          </a:stretch>
        </p:blipFill>
        <p:spPr>
          <a:xfrm>
            <a:off x="3482341" y="3993968"/>
            <a:ext cx="1612173" cy="1612173"/>
          </a:xfrm>
          <a:prstGeom prst="rect">
            <a:avLst/>
          </a:prstGeom>
        </p:spPr>
      </p:pic>
      <p:pic>
        <p:nvPicPr>
          <p:cNvPr id="4" name="Picture 3">
            <a:extLst>
              <a:ext uri="{FF2B5EF4-FFF2-40B4-BE49-F238E27FC236}">
                <a16:creationId xmlns:a16="http://schemas.microsoft.com/office/drawing/2014/main" id="{EF9E8E2A-AF24-0359-9EDB-D8C1D6573646}"/>
              </a:ext>
            </a:extLst>
          </p:cNvPr>
          <p:cNvPicPr>
            <a:picLocks noChangeAspect="1"/>
          </p:cNvPicPr>
          <p:nvPr/>
        </p:nvPicPr>
        <p:blipFill>
          <a:blip r:embed="rId3"/>
          <a:stretch>
            <a:fillRect/>
          </a:stretch>
        </p:blipFill>
        <p:spPr>
          <a:xfrm>
            <a:off x="6007562" y="3858165"/>
            <a:ext cx="2661782" cy="1773828"/>
          </a:xfrm>
          <a:prstGeom prst="rect">
            <a:avLst/>
          </a:prstGeom>
        </p:spPr>
      </p:pic>
    </p:spTree>
    <p:extLst>
      <p:ext uri="{BB962C8B-B14F-4D97-AF65-F5344CB8AC3E}">
        <p14:creationId xmlns:p14="http://schemas.microsoft.com/office/powerpoint/2010/main" val="1018743242"/>
      </p:ext>
    </p:extLst>
  </p:cSld>
  <p:clrMapOvr>
    <a:masterClrMapping/>
  </p:clrMapOvr>
</p:sld>
</file>

<file path=ppt/theme/theme1.xml><?xml version="1.0" encoding="utf-8"?>
<a:theme xmlns:a="http://schemas.openxmlformats.org/drawingml/2006/main" name="Upper left castle template public">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7.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5BF8E658DB0A54B8187A6E67B60E163" ma:contentTypeVersion="1" ma:contentTypeDescription="Create a new document." ma:contentTypeScope="" ma:versionID="c6ebd6e787ccb7ddf9dd3b4ce2582720">
  <xsd:schema xmlns:xsd="http://www.w3.org/2001/XMLSchema" xmlns:xs="http://www.w3.org/2001/XMLSchema" xmlns:p="http://schemas.microsoft.com/office/2006/metadata/properties" xmlns:ns2="18f88ba2-4714-4ce4-8806-1d85d427829f" targetNamespace="http://schemas.microsoft.com/office/2006/metadata/properties" ma:root="true" ma:fieldsID="0d88d59f9d9af5d62dd518897c4f87b3" ns2:_="">
    <xsd:import namespace="18f88ba2-4714-4ce4-8806-1d85d427829f"/>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f88ba2-4714-4ce4-8806-1d85d427829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CAE72E-856B-4DF4-A9F6-93C41667E9A0}">
  <ds:schemaRefs>
    <ds:schemaRef ds:uri="http://schemas.microsoft.com/sharepoint/v3/contenttype/forms"/>
  </ds:schemaRefs>
</ds:datastoreItem>
</file>

<file path=customXml/itemProps2.xml><?xml version="1.0" encoding="utf-8"?>
<ds:datastoreItem xmlns:ds="http://schemas.openxmlformats.org/officeDocument/2006/customXml" ds:itemID="{84F37E2D-BE1B-421B-A272-B224B69BFC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f88ba2-4714-4ce4-8806-1d85d42782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8C2CD5-50C2-4A7C-996A-3D6312B83669}">
  <ds:schemaRefs>
    <ds:schemaRef ds:uri="http://schemas.microsoft.com/office/2006/metadata/properties"/>
    <ds:schemaRef ds:uri="http://purl.org/dc/terms/"/>
    <ds:schemaRef ds:uri="http://purl.org/dc/dcmitype/"/>
    <ds:schemaRef ds:uri="http://www.w3.org/XML/1998/namespace"/>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18f88ba2-4714-4ce4-8806-1d85d427829f"/>
  </ds:schemaRefs>
</ds:datastoreItem>
</file>

<file path=docProps/app.xml><?xml version="1.0" encoding="utf-8"?>
<Properties xmlns="http://schemas.openxmlformats.org/officeDocument/2006/extended-properties" xmlns:vt="http://schemas.openxmlformats.org/officeDocument/2006/docPropsVTypes">
  <Template/>
  <TotalTime>24567</TotalTime>
  <Words>611</Words>
  <Application>Microsoft Office PowerPoint</Application>
  <PresentationFormat>Widescreen</PresentationFormat>
  <Paragraphs>123</Paragraphs>
  <Slides>36</Slides>
  <Notes>1</Notes>
  <HiddenSlides>0</HiddenSlides>
  <MMClips>0</MMClips>
  <ScaleCrop>false</ScaleCrop>
  <HeadingPairs>
    <vt:vector size="6" baseType="variant">
      <vt:variant>
        <vt:lpstr>Fonts Used</vt:lpstr>
      </vt:variant>
      <vt:variant>
        <vt:i4>2</vt:i4>
      </vt:variant>
      <vt:variant>
        <vt:lpstr>Theme</vt:lpstr>
      </vt:variant>
      <vt:variant>
        <vt:i4>7</vt:i4>
      </vt:variant>
      <vt:variant>
        <vt:lpstr>Slide Titles</vt:lpstr>
      </vt:variant>
      <vt:variant>
        <vt:i4>36</vt:i4>
      </vt:variant>
    </vt:vector>
  </HeadingPairs>
  <TitlesOfParts>
    <vt:vector size="45" baseType="lpstr">
      <vt:lpstr>Arial</vt:lpstr>
      <vt:lpstr>Calibri</vt:lpstr>
      <vt:lpstr>Upper left castle template public</vt:lpstr>
      <vt:lpstr>CUI Upper left Castle template </vt:lpstr>
      <vt:lpstr>traditional template NON CUI</vt:lpstr>
      <vt:lpstr>Traditional template CUI</vt:lpstr>
      <vt:lpstr>2_Upper Left Star and Castle NON CUI</vt:lpstr>
      <vt:lpstr>Upper Left Star and Castle CUI</vt:lpstr>
      <vt:lpstr>Chart Color Templates</vt:lpstr>
      <vt:lpstr>Los Angeles District (SPL) Overview 6 Mar 2025</vt:lpstr>
      <vt:lpstr>Agenda</vt:lpstr>
      <vt:lpstr>Agenda</vt:lpstr>
      <vt:lpstr>Rules for industry day</vt:lpstr>
      <vt:lpstr>Rules for the Industry day</vt:lpstr>
      <vt:lpstr>SPL Overview</vt:lpstr>
      <vt:lpstr>PowerPoint Presentation</vt:lpstr>
      <vt:lpstr>Area of operations</vt:lpstr>
      <vt:lpstr>PowerPoint Presentation</vt:lpstr>
      <vt:lpstr>FY20 – FY24  Historical workload</vt:lpstr>
      <vt:lpstr>5 Year history – Obligations by Dollar value</vt:lpstr>
      <vt:lpstr>5 Year history - Contract Awards by Volume</vt:lpstr>
      <vt:lpstr>5-year History – Contract Analysis</vt:lpstr>
      <vt:lpstr>Architect-Engineer Awards</vt:lpstr>
      <vt:lpstr>5 Year history – Obligations by Contract Awards</vt:lpstr>
      <vt:lpstr>5 Year history – Obligations by Dollar value</vt:lpstr>
      <vt:lpstr>5-year History – AE Analysis</vt:lpstr>
      <vt:lpstr>Construction Awards</vt:lpstr>
      <vt:lpstr>5 Year history – Obligations by Contract Awards</vt:lpstr>
      <vt:lpstr>5 Year history – Obligations by Dollar value</vt:lpstr>
      <vt:lpstr>5-year History – Construction Analysis</vt:lpstr>
      <vt:lpstr>Environmental Awards</vt:lpstr>
      <vt:lpstr>5 Year history – Obligations by Contract Awards</vt:lpstr>
      <vt:lpstr>5 Year history – Obligations by Dollar value</vt:lpstr>
      <vt:lpstr>5-year History – Environmental Analysis</vt:lpstr>
      <vt:lpstr>Service and Supply Awards</vt:lpstr>
      <vt:lpstr>5 Year history – Obligations by Contract Awards</vt:lpstr>
      <vt:lpstr>5 Year history – Obligations by Dollar value</vt:lpstr>
      <vt:lpstr>5-year History – Service and Supplies</vt:lpstr>
      <vt:lpstr>Tips for new firms seeking  government contracts</vt:lpstr>
      <vt:lpstr>      Contractor Required Information</vt:lpstr>
      <vt:lpstr>SAM.GOV</vt:lpstr>
      <vt:lpstr>Procurement Integrated Enterprise Environment (PIEE)</vt:lpstr>
      <vt:lpstr>Solicitation Search</vt:lpstr>
      <vt:lpstr>Solicitation Search</vt:lpstr>
      <vt:lpstr>Thank you Come and visit the contracting booth!</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Sackett, Sean P CIV USARMY CESPL (USA)</cp:lastModifiedBy>
  <cp:revision>472</cp:revision>
  <cp:lastPrinted>2023-10-03T06:03:06Z</cp:lastPrinted>
  <dcterms:created xsi:type="dcterms:W3CDTF">2017-02-20T05:10:01Z</dcterms:created>
  <dcterms:modified xsi:type="dcterms:W3CDTF">2025-03-05T06:23:25Z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0x010100B5BF8E658DB0A54B8187A6E67B60E163</vt:lpwstr>
  </property>
</Properties>
</file>