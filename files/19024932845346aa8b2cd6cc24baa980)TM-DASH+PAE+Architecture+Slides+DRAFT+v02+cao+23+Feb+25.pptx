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87" autoAdjust="0"/>
    <p:restoredTop sz="96182" autoAdjust="0"/>
  </p:normalViewPr>
  <p:slideViewPr>
    <p:cSldViewPr snapToGrid="0">
      <p:cViewPr varScale="1">
        <p:scale>
          <a:sx n="166" d="100"/>
          <a:sy n="166" d="100"/>
        </p:scale>
        <p:origin x="7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LL, JONATHAN E Col USAF AFDW SAF/DAF ABMS CFT" userId="bd368310-d7a3-44d3-a99b-ffbbac9f08c4" providerId="ADAL" clId="{27F07989-CBB6-471B-AED6-A1A0564126E6}"/>
    <pc:docChg chg="delSld modSld sldOrd">
      <pc:chgData name="ZALL, JONATHAN E Col USAF AFDW SAF/DAF ABMS CFT" userId="bd368310-d7a3-44d3-a99b-ffbbac9f08c4" providerId="ADAL" clId="{27F07989-CBB6-471B-AED6-A1A0564126E6}" dt="2025-02-23T17:31:39.323" v="5" actId="47"/>
      <pc:docMkLst>
        <pc:docMk/>
      </pc:docMkLst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860511267" sldId="256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3856086747" sldId="257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3439160117" sldId="258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3416454644" sldId="259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2796131436" sldId="260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1106913489" sldId="261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1743532007" sldId="262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2787865853" sldId="263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4102162854" sldId="264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791150247" sldId="265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2334593536" sldId="266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3909440450" sldId="267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442399641" sldId="268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1734871883" sldId="269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09.769" v="0" actId="47"/>
        <pc:sldMkLst>
          <pc:docMk/>
          <pc:sldMk cId="2836659426" sldId="270"/>
        </pc:sldMkLst>
      </pc:sldChg>
      <pc:sldChg chg="del mod ord modShow">
        <pc:chgData name="ZALL, JONATHAN E Col USAF AFDW SAF/DAF ABMS CFT" userId="bd368310-d7a3-44d3-a99b-ffbbac9f08c4" providerId="ADAL" clId="{27F07989-CBB6-471B-AED6-A1A0564126E6}" dt="2025-02-23T17:31:39.323" v="5" actId="47"/>
        <pc:sldMkLst>
          <pc:docMk/>
          <pc:sldMk cId="1109957425" sldId="271"/>
        </pc:sldMkLst>
      </pc:sldChg>
      <pc:sldChg chg="del">
        <pc:chgData name="ZALL, JONATHAN E Col USAF AFDW SAF/DAF ABMS CFT" userId="bd368310-d7a3-44d3-a99b-ffbbac9f08c4" providerId="ADAL" clId="{27F07989-CBB6-471B-AED6-A1A0564126E6}" dt="2025-02-23T17:30:15.836" v="1" actId="47"/>
        <pc:sldMkLst>
          <pc:docMk/>
          <pc:sldMk cId="398402497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DFA4-92DD-52BA-9538-CE6999F54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9C867-3CD8-9F78-1EBE-602D1412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672C8-41D2-7FD0-4CE8-DE96D7C6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50CD9-0D90-AC38-BF4B-5617892D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22E94-3375-2B05-737F-9CEA37CD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7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65BA-359C-F5A8-2E3D-0E19F1C8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8C243-ED0A-C335-5401-C2CC4BEAD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3B0BF-D2C3-278F-E1BE-B8F7302E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C7A2-7BE8-53ED-DE9C-28F83925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1784-0EA2-1C71-6D9A-22D33AE6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F77F-C7EA-79C6-5E0A-F5CE9C2B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3C72-B85E-6E24-AA29-BA9CFE20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D0980-4884-8F18-8AEE-D3C6C8F1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68115-BB55-DB0C-1368-639937A9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2E864-A3A6-FD83-4FE9-DE8B712B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7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AA1D-6E33-DAE5-E3B4-D4199C69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5BDB-5407-F607-2B1F-6BB994CC6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3DD37-2461-2F4E-46F4-AB9D7C2B0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6E3DA-F763-B5A2-09F2-F9E2A7617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BAD2B-D9DF-947B-FD1B-AB4D63E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94AB0-76FC-C289-1619-A69539FB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BA38-D180-848E-FF0C-4B76DAE1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FA21D-F61F-7B2F-9355-12F707F36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700BE-DE47-866E-C680-9B80BD321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16FCB-3734-8C5B-C165-595BEB556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9B2A0-666C-5841-FE78-234FDE791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681FC-48E8-EC60-F573-67BF2320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961C4-7B33-587B-546B-796CE76A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7103D-7E74-D693-8DBA-89A988F9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3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8876-5492-920F-739E-F6B95CBF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42392-EEB9-A38D-9CA7-E1B7E225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9AE91-C1A4-1D9C-8B02-7349B990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CDA88-979E-C2BD-C5E2-FB613F8C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2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1BB89-08E0-3931-9FE3-898B593C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81DA1-17E3-F74A-184F-06C90DCB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B9C3-C182-6A2A-A7F6-820FCE2E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1EDD-E78C-BE8D-72E5-F970F1FF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A9AED-A155-73C9-9900-4596CC3F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DFC08-4425-E09E-59A9-10270EEC7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7E44-2695-4F2C-F612-20C1143D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21899-B3BA-68A7-D033-A0D049CD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6CFD5-2EDC-73C7-3B50-A6FAFD9D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1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3256-E5B8-0E3B-2C7A-45E9828F7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23C35-DB81-E8B1-DD12-1A764CB80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84F17-8E4B-3E88-790A-DBEA4F9BE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D62AC-2992-4963-FBBA-41398A9C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0061D-C7B0-1000-023E-58FD5D08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0709-BC24-4556-2E2B-18097B58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5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137E-F3E1-9E61-5AAE-5CD5AF46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909C0-D507-5CBD-F512-399022C5D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4BB6-E08E-E50E-AD92-3619DD70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6DA0-567E-12BC-0F54-B7D5055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B1B6B-3912-A153-1C08-2A0A60A3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8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03138-973D-0C69-A68E-264F536C3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E1B8F-56BB-A9E7-E274-E680B21DD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7661A-FE60-699C-5B97-F6419478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DF142-E3EC-562B-7EF4-FD3D218B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9DA40-C1C2-079F-BFB8-BB8CAE34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D264A-89CA-91D8-F38B-4879A7DE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B81EC-9F3F-667A-06DF-4654F0CF4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C1868-1756-3847-3CBF-9AB3CDD43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6F9A6-0303-47DD-A7BB-B02F14251725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1944-DCD7-65A9-3654-A0390051A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7D6-7F83-9FF3-7B37-7EB9960C5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9AE13-8157-4255-853E-F96406BE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0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AFAD-73BD-79F6-0E26-8D5A2E8E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loud 128">
            <a:extLst>
              <a:ext uri="{FF2B5EF4-FFF2-40B4-BE49-F238E27FC236}">
                <a16:creationId xmlns:a16="http://schemas.microsoft.com/office/drawing/2014/main" id="{0B2422BB-1A61-8C5F-A5B3-4E9D09286555}"/>
              </a:ext>
            </a:extLst>
          </p:cNvPr>
          <p:cNvSpPr/>
          <p:nvPr/>
        </p:nvSpPr>
        <p:spPr>
          <a:xfrm>
            <a:off x="7296956" y="5548746"/>
            <a:ext cx="1477466" cy="937388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329A4CC6-8925-94BE-A885-043E8EECBC52}"/>
              </a:ext>
            </a:extLst>
          </p:cNvPr>
          <p:cNvCxnSpPr>
            <a:cxnSpLocks/>
            <a:endCxn id="127" idx="2"/>
          </p:cNvCxnSpPr>
          <p:nvPr/>
        </p:nvCxnSpPr>
        <p:spPr>
          <a:xfrm rot="5400000">
            <a:off x="6133759" y="4040658"/>
            <a:ext cx="1568618" cy="267042"/>
          </a:xfrm>
          <a:prstGeom prst="bentConnector5">
            <a:avLst>
              <a:gd name="adj1" fmla="val 23675"/>
              <a:gd name="adj2" fmla="val -707360"/>
              <a:gd name="adj3" fmla="val 152647"/>
            </a:avLst>
          </a:prstGeom>
          <a:ln>
            <a:solidFill>
              <a:srgbClr val="00B0F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Cloud 193">
            <a:extLst>
              <a:ext uri="{FF2B5EF4-FFF2-40B4-BE49-F238E27FC236}">
                <a16:creationId xmlns:a16="http://schemas.microsoft.com/office/drawing/2014/main" id="{F8A2DD1F-B4D4-DA66-8BDC-52D2E0D62216}"/>
              </a:ext>
            </a:extLst>
          </p:cNvPr>
          <p:cNvSpPr/>
          <p:nvPr/>
        </p:nvSpPr>
        <p:spPr>
          <a:xfrm>
            <a:off x="3874547" y="597132"/>
            <a:ext cx="1477466" cy="937388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58611DB-4BDA-529C-6556-8180DCC10B0F}"/>
              </a:ext>
            </a:extLst>
          </p:cNvPr>
          <p:cNvSpPr/>
          <p:nvPr/>
        </p:nvSpPr>
        <p:spPr>
          <a:xfrm>
            <a:off x="141806" y="156476"/>
            <a:ext cx="2215098" cy="4609114"/>
          </a:xfrm>
          <a:prstGeom prst="rect">
            <a:avLst/>
          </a:prstGeom>
          <a:noFill/>
          <a:ln cap="rnd">
            <a:prstDash val="sys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White Force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B59030-389D-18A1-BEA7-19DBF540B72E}"/>
              </a:ext>
            </a:extLst>
          </p:cNvPr>
          <p:cNvSpPr/>
          <p:nvPr/>
        </p:nvSpPr>
        <p:spPr>
          <a:xfrm>
            <a:off x="377337" y="2753794"/>
            <a:ext cx="1199938" cy="567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85537E7F-B517-D977-293C-23C2C427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56" y="2772540"/>
            <a:ext cx="1166203" cy="526999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B819D7BC-A2F3-18A5-82C2-AA0C8D3A0B31}"/>
              </a:ext>
            </a:extLst>
          </p:cNvPr>
          <p:cNvSpPr/>
          <p:nvPr/>
        </p:nvSpPr>
        <p:spPr>
          <a:xfrm>
            <a:off x="387117" y="2783133"/>
            <a:ext cx="1190974" cy="513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rgbClr val="7030A0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BM “Scope”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BC3 or NGTS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FA8DA-A7A7-F3BF-E7C0-EFC26D50D509}"/>
              </a:ext>
            </a:extLst>
          </p:cNvPr>
          <p:cNvSpPr/>
          <p:nvPr/>
        </p:nvSpPr>
        <p:spPr>
          <a:xfrm>
            <a:off x="73348" y="78237"/>
            <a:ext cx="12023917" cy="6661927"/>
          </a:xfrm>
          <a:prstGeom prst="rect">
            <a:avLst/>
          </a:prstGeom>
          <a:noFill/>
          <a:ln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H2O Center</a:t>
            </a:r>
          </a:p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30E855-61CA-0D74-BE12-E4F96EA8DCA0}"/>
              </a:ext>
            </a:extLst>
          </p:cNvPr>
          <p:cNvGrpSpPr/>
          <p:nvPr/>
        </p:nvGrpSpPr>
        <p:grpSpPr>
          <a:xfrm>
            <a:off x="5347387" y="1393881"/>
            <a:ext cx="2117415" cy="1283660"/>
            <a:chOff x="3238887" y="3154977"/>
            <a:chExt cx="2117415" cy="12836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A875D5-9DF4-5752-BE16-0F5FAB723885}"/>
                </a:ext>
              </a:extLst>
            </p:cNvPr>
            <p:cNvSpPr/>
            <p:nvPr/>
          </p:nvSpPr>
          <p:spPr>
            <a:xfrm>
              <a:off x="3238887" y="3154977"/>
              <a:ext cx="2116600" cy="12632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F79F029-5D7F-C9DB-97D1-1CF21670A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3177" y="3184244"/>
              <a:ext cx="2066723" cy="12132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241CC9-D34E-C4DF-F7A2-CA32952E1180}"/>
                </a:ext>
              </a:extLst>
            </p:cNvPr>
            <p:cNvSpPr/>
            <p:nvPr/>
          </p:nvSpPr>
          <p:spPr>
            <a:xfrm>
              <a:off x="3239702" y="3175351"/>
              <a:ext cx="2116600" cy="1263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BM “Scope”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(map &amp; track display/interaction)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BC3 or NGTS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7F491F-6D37-010F-3481-46C255C52C74}"/>
              </a:ext>
            </a:extLst>
          </p:cNvPr>
          <p:cNvGrpSpPr/>
          <p:nvPr/>
        </p:nvGrpSpPr>
        <p:grpSpPr>
          <a:xfrm>
            <a:off x="7499731" y="2077428"/>
            <a:ext cx="1200272" cy="596038"/>
            <a:chOff x="5405901" y="3838524"/>
            <a:chExt cx="1200272" cy="59603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35D675-12CA-7C66-382A-655A28BD6F7A}"/>
                </a:ext>
              </a:extLst>
            </p:cNvPr>
            <p:cNvSpPr/>
            <p:nvPr/>
          </p:nvSpPr>
          <p:spPr>
            <a:xfrm>
              <a:off x="5405901" y="3858083"/>
              <a:ext cx="1200272" cy="562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5A3E7C6-9992-27B2-8910-4106853FF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8438" y="3880514"/>
              <a:ext cx="380691" cy="249773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FCC5B48-B589-F143-05C4-21D3C3923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0440" y="3881329"/>
              <a:ext cx="380691" cy="24977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7B00C39-9E81-7114-1D70-CE8148E41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9253" y="4145378"/>
              <a:ext cx="380691" cy="249773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D9FD066-6A20-8F11-E3E8-EA2BF2AA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1255" y="4146193"/>
              <a:ext cx="380691" cy="249773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0DA5A76-2F34-58E0-FAB2-B9DAB05A4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7552" y="3882144"/>
              <a:ext cx="380691" cy="249773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3605A49-B4AD-0696-E569-943E0FE18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8367" y="4147008"/>
              <a:ext cx="380691" cy="249773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5716E32-1C84-9934-2A60-5AA7ADBEB579}"/>
                </a:ext>
              </a:extLst>
            </p:cNvPr>
            <p:cNvSpPr/>
            <p:nvPr/>
          </p:nvSpPr>
          <p:spPr>
            <a:xfrm>
              <a:off x="5411606" y="3838524"/>
              <a:ext cx="1184788" cy="596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Chat &amp; Voice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Teams or …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B4119D-BEF8-CDBF-6F2A-89DF3C40CCA7}"/>
              </a:ext>
            </a:extLst>
          </p:cNvPr>
          <p:cNvGrpSpPr/>
          <p:nvPr/>
        </p:nvGrpSpPr>
        <p:grpSpPr>
          <a:xfrm>
            <a:off x="6671479" y="2706411"/>
            <a:ext cx="389545" cy="686383"/>
            <a:chOff x="2729290" y="5303670"/>
            <a:chExt cx="389545" cy="686383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72485DB-46AB-CB63-C6D3-8C694EB8E877}"/>
                </a:ext>
              </a:extLst>
            </p:cNvPr>
            <p:cNvSpPr/>
            <p:nvPr/>
          </p:nvSpPr>
          <p:spPr>
            <a:xfrm>
              <a:off x="2797787" y="5303670"/>
              <a:ext cx="235593" cy="247050"/>
            </a:xfrm>
            <a:prstGeom prst="ellipse">
              <a:avLst/>
            </a:prstGeom>
            <a:noFill/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6E594B0-7991-EFE4-E8ED-1846FA28F950}"/>
                </a:ext>
              </a:extLst>
            </p:cNvPr>
            <p:cNvCxnSpPr>
              <a:cxnSpLocks/>
            </p:cNvCxnSpPr>
            <p:nvPr/>
          </p:nvCxnSpPr>
          <p:spPr>
            <a:xfrm>
              <a:off x="2917693" y="5550720"/>
              <a:ext cx="0" cy="28591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1694118-DA00-4C47-87F8-1A4620A9CA7B}"/>
                </a:ext>
              </a:extLst>
            </p:cNvPr>
            <p:cNvCxnSpPr>
              <a:cxnSpLocks/>
            </p:cNvCxnSpPr>
            <p:nvPr/>
          </p:nvCxnSpPr>
          <p:spPr>
            <a:xfrm>
              <a:off x="2921716" y="5843609"/>
              <a:ext cx="104594" cy="13598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610F594-5055-668B-77DB-ECF1DBA9B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031" y="5840121"/>
              <a:ext cx="112639" cy="149932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6590DC8-A249-120E-AD60-5838B8BD6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9290" y="5621036"/>
              <a:ext cx="38954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12547F6-03BA-73B1-9C3F-90B30DE0A82E}"/>
              </a:ext>
            </a:extLst>
          </p:cNvPr>
          <p:cNvSpPr/>
          <p:nvPr/>
        </p:nvSpPr>
        <p:spPr>
          <a:xfrm>
            <a:off x="6592666" y="3013018"/>
            <a:ext cx="53281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Crew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2FF390C-B21F-3BC7-E4CC-4CDFE4862289}"/>
              </a:ext>
            </a:extLst>
          </p:cNvPr>
          <p:cNvGrpSpPr/>
          <p:nvPr/>
        </p:nvGrpSpPr>
        <p:grpSpPr>
          <a:xfrm>
            <a:off x="376518" y="493873"/>
            <a:ext cx="1200754" cy="567221"/>
            <a:chOff x="371628" y="1085544"/>
            <a:chExt cx="1200754" cy="56722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FD99773-A2E7-D3D8-5D3E-FBBDD075ECEC}"/>
                </a:ext>
              </a:extLst>
            </p:cNvPr>
            <p:cNvSpPr/>
            <p:nvPr/>
          </p:nvSpPr>
          <p:spPr>
            <a:xfrm>
              <a:off x="371628" y="1085544"/>
              <a:ext cx="1199938" cy="5672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01CB9DA-D452-C75B-BAFC-80D3138904F4}"/>
                </a:ext>
              </a:extLst>
            </p:cNvPr>
            <p:cNvSpPr/>
            <p:nvPr/>
          </p:nvSpPr>
          <p:spPr>
            <a:xfrm>
              <a:off x="381408" y="1114883"/>
              <a:ext cx="1190974" cy="5134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SIM</a:t>
              </a:r>
              <a:r>
                <a:rPr lang="en-US" b="1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 Driver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MACE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9AF5EA5-0974-193B-B028-2F87773C5783}"/>
              </a:ext>
            </a:extLst>
          </p:cNvPr>
          <p:cNvGrpSpPr/>
          <p:nvPr/>
        </p:nvGrpSpPr>
        <p:grpSpPr>
          <a:xfrm>
            <a:off x="375072" y="1071687"/>
            <a:ext cx="1200272" cy="596038"/>
            <a:chOff x="370182" y="475129"/>
            <a:chExt cx="1200272" cy="596038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6B8AD9E-4FB3-817E-F8A7-F132F79EFF49}"/>
                </a:ext>
              </a:extLst>
            </p:cNvPr>
            <p:cNvSpPr/>
            <p:nvPr/>
          </p:nvSpPr>
          <p:spPr>
            <a:xfrm>
              <a:off x="370182" y="494688"/>
              <a:ext cx="1200272" cy="562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7BE1BD6-0745-3CF7-6ABF-626637400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719" y="517119"/>
              <a:ext cx="380691" cy="249773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8D6B218-5A03-F93B-E8A5-8DBEF8AD9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721" y="517934"/>
              <a:ext cx="380691" cy="249773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1335B2F-7F6B-2FDC-D53B-8FCAF4B5F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534" y="781983"/>
              <a:ext cx="380691" cy="249773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E01C1AD-1D0A-ED52-806C-3810D0CBC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536" y="782798"/>
              <a:ext cx="380691" cy="249773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5D06393-EE88-5C39-3B4A-1B53BDEC0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1833" y="518749"/>
              <a:ext cx="380691" cy="249773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A550364-DF1C-A6DD-F370-C4D71F7F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2648" y="783613"/>
              <a:ext cx="380691" cy="249773"/>
            </a:xfrm>
            <a:prstGeom prst="rect">
              <a:avLst/>
            </a:prstGeom>
          </p:spPr>
        </p:pic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63E17D9-A99F-4234-DB78-BBEF4502F736}"/>
                </a:ext>
              </a:extLst>
            </p:cNvPr>
            <p:cNvSpPr/>
            <p:nvPr/>
          </p:nvSpPr>
          <p:spPr>
            <a:xfrm>
              <a:off x="375887" y="475129"/>
              <a:ext cx="1184788" cy="596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Chat &amp; Voice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Teams or …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C0F8E0C-83A2-EF41-073E-48EAB070531C}"/>
              </a:ext>
            </a:extLst>
          </p:cNvPr>
          <p:cNvGrpSpPr/>
          <p:nvPr/>
        </p:nvGrpSpPr>
        <p:grpSpPr>
          <a:xfrm>
            <a:off x="779059" y="1695782"/>
            <a:ext cx="389545" cy="686383"/>
            <a:chOff x="2729290" y="5303670"/>
            <a:chExt cx="389545" cy="686383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7084913-DBFF-20B0-7A71-BA8A6B18791D}"/>
                </a:ext>
              </a:extLst>
            </p:cNvPr>
            <p:cNvSpPr/>
            <p:nvPr/>
          </p:nvSpPr>
          <p:spPr>
            <a:xfrm>
              <a:off x="2797787" y="5303670"/>
              <a:ext cx="235593" cy="247050"/>
            </a:xfrm>
            <a:prstGeom prst="ellipse">
              <a:avLst/>
            </a:prstGeom>
            <a:noFill/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08692BF-4452-917E-39A0-B1A5FFE29E9A}"/>
                </a:ext>
              </a:extLst>
            </p:cNvPr>
            <p:cNvCxnSpPr>
              <a:cxnSpLocks/>
            </p:cNvCxnSpPr>
            <p:nvPr/>
          </p:nvCxnSpPr>
          <p:spPr>
            <a:xfrm>
              <a:off x="2917693" y="5550720"/>
              <a:ext cx="0" cy="28591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0CF79BF-D46C-B115-A8CB-C9C788F06692}"/>
                </a:ext>
              </a:extLst>
            </p:cNvPr>
            <p:cNvCxnSpPr>
              <a:cxnSpLocks/>
            </p:cNvCxnSpPr>
            <p:nvPr/>
          </p:nvCxnSpPr>
          <p:spPr>
            <a:xfrm>
              <a:off x="2921716" y="5843609"/>
              <a:ext cx="104594" cy="13598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815A16E-CBA7-31E9-93CE-F7956B3A19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031" y="5840121"/>
              <a:ext cx="112639" cy="149932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CFACC25-E22C-0A09-C701-9D6683F5AE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9290" y="5621036"/>
              <a:ext cx="38954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12EF4877-172C-420E-89F5-194EC01C4ED0}"/>
              </a:ext>
            </a:extLst>
          </p:cNvPr>
          <p:cNvSpPr/>
          <p:nvPr/>
        </p:nvSpPr>
        <p:spPr>
          <a:xfrm>
            <a:off x="673606" y="2002389"/>
            <a:ext cx="586091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Driver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7D6AAD8-50E2-0E80-CE7D-CF30DA1757A3}"/>
              </a:ext>
            </a:extLst>
          </p:cNvPr>
          <p:cNvSpPr/>
          <p:nvPr/>
        </p:nvSpPr>
        <p:spPr>
          <a:xfrm>
            <a:off x="1594093" y="1860230"/>
            <a:ext cx="53281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x4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4AD79AE-7391-B6DA-CB67-3E85407315F1}"/>
              </a:ext>
            </a:extLst>
          </p:cNvPr>
          <p:cNvGrpSpPr/>
          <p:nvPr/>
        </p:nvGrpSpPr>
        <p:grpSpPr>
          <a:xfrm>
            <a:off x="375891" y="3331608"/>
            <a:ext cx="1200272" cy="596038"/>
            <a:chOff x="370182" y="475129"/>
            <a:chExt cx="1200272" cy="59603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467D092-B4D5-6281-8B64-27F307FF14B9}"/>
                </a:ext>
              </a:extLst>
            </p:cNvPr>
            <p:cNvSpPr/>
            <p:nvPr/>
          </p:nvSpPr>
          <p:spPr>
            <a:xfrm>
              <a:off x="370182" y="494688"/>
              <a:ext cx="1200272" cy="562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B0B7181D-9E00-87AC-4AF3-37D3954DF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719" y="517119"/>
              <a:ext cx="380691" cy="249773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4F5F7E19-87DC-80BB-353F-67943CE3A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721" y="517934"/>
              <a:ext cx="380691" cy="249773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1775CE31-222F-CBC0-BF8D-7D260D9D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534" y="781983"/>
              <a:ext cx="380691" cy="249773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2E6385BA-3D7A-2834-A46C-7D52BFE8C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536" y="782798"/>
              <a:ext cx="380691" cy="249773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35506A21-B685-F129-E2A8-44E9FD76E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1833" y="518749"/>
              <a:ext cx="380691" cy="249773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60797576-CCF0-9327-9D08-E4CE6E6A6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2648" y="783613"/>
              <a:ext cx="380691" cy="249773"/>
            </a:xfrm>
            <a:prstGeom prst="rect">
              <a:avLst/>
            </a:prstGeom>
          </p:spPr>
        </p:pic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DD5A066-FB94-7C63-1103-DDDDF897DEFD}"/>
                </a:ext>
              </a:extLst>
            </p:cNvPr>
            <p:cNvSpPr/>
            <p:nvPr/>
          </p:nvSpPr>
          <p:spPr>
            <a:xfrm>
              <a:off x="375887" y="475129"/>
              <a:ext cx="1184788" cy="5960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Chat &amp; Voice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Teams or …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B9D087E-B050-A15E-CA15-0808E788B930}"/>
              </a:ext>
            </a:extLst>
          </p:cNvPr>
          <p:cNvGrpSpPr/>
          <p:nvPr/>
        </p:nvGrpSpPr>
        <p:grpSpPr>
          <a:xfrm>
            <a:off x="779878" y="3955703"/>
            <a:ext cx="389545" cy="686383"/>
            <a:chOff x="2729290" y="5303670"/>
            <a:chExt cx="389545" cy="686383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ED31D446-9413-5FAC-DB95-3CA69D480706}"/>
                </a:ext>
              </a:extLst>
            </p:cNvPr>
            <p:cNvSpPr/>
            <p:nvPr/>
          </p:nvSpPr>
          <p:spPr>
            <a:xfrm>
              <a:off x="2797787" y="5303670"/>
              <a:ext cx="235593" cy="247050"/>
            </a:xfrm>
            <a:prstGeom prst="ellipse">
              <a:avLst/>
            </a:prstGeom>
            <a:noFill/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9B1312B-5EF9-437A-2B3A-2E6B10D4098A}"/>
                </a:ext>
              </a:extLst>
            </p:cNvPr>
            <p:cNvCxnSpPr>
              <a:cxnSpLocks/>
            </p:cNvCxnSpPr>
            <p:nvPr/>
          </p:nvCxnSpPr>
          <p:spPr>
            <a:xfrm>
              <a:off x="2917693" y="5550720"/>
              <a:ext cx="0" cy="28591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FB04592-71E3-706E-C6B4-624AB86EA258}"/>
                </a:ext>
              </a:extLst>
            </p:cNvPr>
            <p:cNvCxnSpPr>
              <a:cxnSpLocks/>
            </p:cNvCxnSpPr>
            <p:nvPr/>
          </p:nvCxnSpPr>
          <p:spPr>
            <a:xfrm>
              <a:off x="2921716" y="5843609"/>
              <a:ext cx="104594" cy="13598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23C4402-678B-6151-4DA2-985C5EE28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1031" y="5840121"/>
              <a:ext cx="112639" cy="149932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319E37C-3354-9C79-8F41-CCA2A9085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9290" y="5621036"/>
              <a:ext cx="38954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7B683C2-ADE2-5B91-A499-89271FB4BD78}"/>
              </a:ext>
            </a:extLst>
          </p:cNvPr>
          <p:cNvSpPr/>
          <p:nvPr/>
        </p:nvSpPr>
        <p:spPr>
          <a:xfrm>
            <a:off x="612885" y="4262310"/>
            <a:ext cx="70917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Agency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E1EDE0F-88A3-0D10-D743-ABA3156EC4BB}"/>
              </a:ext>
            </a:extLst>
          </p:cNvPr>
          <p:cNvSpPr/>
          <p:nvPr/>
        </p:nvSpPr>
        <p:spPr>
          <a:xfrm>
            <a:off x="1599029" y="4120152"/>
            <a:ext cx="719921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x4+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71095CD-8634-73D7-4527-994452FF2CCC}"/>
              </a:ext>
            </a:extLst>
          </p:cNvPr>
          <p:cNvSpPr/>
          <p:nvPr/>
        </p:nvSpPr>
        <p:spPr>
          <a:xfrm>
            <a:off x="7221143" y="2858369"/>
            <a:ext cx="53281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x4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8CC170A-12C9-D3D1-FBA3-EB083E5462BB}"/>
              </a:ext>
            </a:extLst>
          </p:cNvPr>
          <p:cNvSpPr/>
          <p:nvPr/>
        </p:nvSpPr>
        <p:spPr>
          <a:xfrm>
            <a:off x="3288385" y="3160387"/>
            <a:ext cx="1590233" cy="825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BCAE53C-24DC-DBAC-8D3C-816838DF1A9E}"/>
              </a:ext>
            </a:extLst>
          </p:cNvPr>
          <p:cNvSpPr/>
          <p:nvPr/>
        </p:nvSpPr>
        <p:spPr>
          <a:xfrm>
            <a:off x="3296659" y="3175057"/>
            <a:ext cx="1572391" cy="797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DIS</a:t>
            </a:r>
            <a:r>
              <a:rPr lang="en-US" b="1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 + </a:t>
            </a:r>
            <a:r>
              <a:rPr lang="en-US" b="1" dirty="0">
                <a:solidFill>
                  <a:srgbClr val="7030A0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Data Link Processor</a:t>
            </a:r>
            <a:endParaRPr lang="en-US" sz="1400" dirty="0">
              <a:solidFill>
                <a:srgbClr val="7030A0"/>
              </a:solidFill>
              <a:effectLst>
                <a:glow rad="50800">
                  <a:schemeClr val="bg1">
                    <a:alpha val="88000"/>
                  </a:schemeClr>
                </a:glow>
              </a:effectLst>
              <a:latin typeface="Arial Narrow" panose="020B0606020202030204" pitchFamily="34" charset="0"/>
            </a:endParaRPr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2C8B511-9D37-B5E2-C048-1D2E3BB4099B}"/>
              </a:ext>
            </a:extLst>
          </p:cNvPr>
          <p:cNvCxnSpPr>
            <a:cxnSpLocks/>
            <a:stCxn id="74" idx="3"/>
            <a:endCxn id="37" idx="2"/>
          </p:cNvCxnSpPr>
          <p:nvPr/>
        </p:nvCxnSpPr>
        <p:spPr>
          <a:xfrm>
            <a:off x="1575344" y="1372412"/>
            <a:ext cx="6524523" cy="1286906"/>
          </a:xfrm>
          <a:prstGeom prst="bentConnector4">
            <a:avLst>
              <a:gd name="adj1" fmla="val 15779"/>
              <a:gd name="adj2" fmla="val 376789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8337FB54-748A-4FE4-0146-3243FA799DB6}"/>
              </a:ext>
            </a:extLst>
          </p:cNvPr>
          <p:cNvCxnSpPr>
            <a:cxnSpLocks/>
            <a:stCxn id="69" idx="3"/>
            <a:endCxn id="130" idx="0"/>
          </p:cNvCxnSpPr>
          <p:nvPr/>
        </p:nvCxnSpPr>
        <p:spPr>
          <a:xfrm>
            <a:off x="1576456" y="777484"/>
            <a:ext cx="2507046" cy="2382903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43DC6108-9DFA-7167-133C-FF8065B08465}"/>
              </a:ext>
            </a:extLst>
          </p:cNvPr>
          <p:cNvCxnSpPr>
            <a:cxnSpLocks/>
          </p:cNvCxnSpPr>
          <p:nvPr/>
        </p:nvCxnSpPr>
        <p:spPr>
          <a:xfrm flipH="1">
            <a:off x="1583575" y="3649287"/>
            <a:ext cx="1018309" cy="0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3660DB02-4B64-4402-E823-482BEC20E391}"/>
              </a:ext>
            </a:extLst>
          </p:cNvPr>
          <p:cNvCxnSpPr>
            <a:cxnSpLocks/>
            <a:stCxn id="4" idx="0"/>
            <a:endCxn id="130" idx="2"/>
          </p:cNvCxnSpPr>
          <p:nvPr/>
        </p:nvCxnSpPr>
        <p:spPr>
          <a:xfrm rot="16200000" flipH="1" flipV="1">
            <a:off x="3948411" y="1528971"/>
            <a:ext cx="2592367" cy="2322185"/>
          </a:xfrm>
          <a:prstGeom prst="bentConnector5">
            <a:avLst>
              <a:gd name="adj1" fmla="val -8818"/>
              <a:gd name="adj2" fmla="val 55667"/>
              <a:gd name="adj3" fmla="val 115071"/>
            </a:avLst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550925B8-D53E-9648-1D4F-EFA1F5A35846}"/>
              </a:ext>
            </a:extLst>
          </p:cNvPr>
          <p:cNvCxnSpPr>
            <a:cxnSpLocks/>
            <a:stCxn id="103" idx="3"/>
            <a:endCxn id="130" idx="2"/>
          </p:cNvCxnSpPr>
          <p:nvPr/>
        </p:nvCxnSpPr>
        <p:spPr>
          <a:xfrm>
            <a:off x="1578091" y="3039850"/>
            <a:ext cx="2505411" cy="946398"/>
          </a:xfrm>
          <a:prstGeom prst="bentConnector4">
            <a:avLst>
              <a:gd name="adj1" fmla="val 57855"/>
              <a:gd name="adj2" fmla="val 141283"/>
            </a:avLst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A5294C4D-CE35-9E2A-D5D7-945AC0BFDD25}"/>
              </a:ext>
            </a:extLst>
          </p:cNvPr>
          <p:cNvCxnSpPr>
            <a:cxnSpLocks/>
            <a:endCxn id="226" idx="1"/>
          </p:cNvCxnSpPr>
          <p:nvPr/>
        </p:nvCxnSpPr>
        <p:spPr>
          <a:xfrm>
            <a:off x="8101914" y="6012289"/>
            <a:ext cx="955713" cy="0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8234373-6E7F-DB2A-4584-1056746995B1}"/>
              </a:ext>
            </a:extLst>
          </p:cNvPr>
          <p:cNvGrpSpPr/>
          <p:nvPr/>
        </p:nvGrpSpPr>
        <p:grpSpPr>
          <a:xfrm>
            <a:off x="9052888" y="5486176"/>
            <a:ext cx="910778" cy="1051560"/>
            <a:chOff x="9085127" y="5515660"/>
            <a:chExt cx="1590233" cy="825861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91C93DA6-F3EA-E7DE-7F96-96B2A98B9354}"/>
                </a:ext>
              </a:extLst>
            </p:cNvPr>
            <p:cNvSpPr/>
            <p:nvPr/>
          </p:nvSpPr>
          <p:spPr>
            <a:xfrm>
              <a:off x="9085127" y="5515660"/>
              <a:ext cx="1590233" cy="8258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1EBACBA-B5FD-6D1D-C50A-E557034FD870}"/>
                </a:ext>
              </a:extLst>
            </p:cNvPr>
            <p:cNvSpPr/>
            <p:nvPr/>
          </p:nvSpPr>
          <p:spPr>
            <a:xfrm>
              <a:off x="9093401" y="5530330"/>
              <a:ext cx="1572391" cy="7970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Text Scraper?</a:t>
              </a:r>
              <a:endParaRPr lang="en-US" sz="1400" dirty="0">
                <a:solidFill>
                  <a:srgbClr val="FF0000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66F937C-B53C-619F-86C4-0B41D21F72CF}"/>
              </a:ext>
            </a:extLst>
          </p:cNvPr>
          <p:cNvGrpSpPr/>
          <p:nvPr/>
        </p:nvGrpSpPr>
        <p:grpSpPr>
          <a:xfrm>
            <a:off x="1576456" y="777484"/>
            <a:ext cx="7728565" cy="4713076"/>
            <a:chOff x="1576456" y="777484"/>
            <a:chExt cx="7728565" cy="471307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C2DDB00-C562-346C-2817-F51E64D34512}"/>
                </a:ext>
              </a:extLst>
            </p:cNvPr>
            <p:cNvGrpSpPr/>
            <p:nvPr/>
          </p:nvGrpSpPr>
          <p:grpSpPr>
            <a:xfrm>
              <a:off x="7498345" y="1367447"/>
              <a:ext cx="1200272" cy="714429"/>
              <a:chOff x="8932291" y="2433486"/>
              <a:chExt cx="1200272" cy="596038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ED7E3043-7F2E-B981-6B9A-A633BAFF8DB1}"/>
                  </a:ext>
                </a:extLst>
              </p:cNvPr>
              <p:cNvSpPr/>
              <p:nvPr/>
            </p:nvSpPr>
            <p:spPr>
              <a:xfrm>
                <a:off x="8932291" y="2453045"/>
                <a:ext cx="1200272" cy="562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874F82E3-3BF6-B49F-8BED-F6EC343A8DF1}"/>
                  </a:ext>
                </a:extLst>
              </p:cNvPr>
              <p:cNvSpPr/>
              <p:nvPr/>
            </p:nvSpPr>
            <p:spPr>
              <a:xfrm>
                <a:off x="8937997" y="2433486"/>
                <a:ext cx="1184788" cy="596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:r>
                  <a:rPr lang="en-US" b="1" dirty="0">
                    <a:solidFill>
                      <a:srgbClr val="00B050"/>
                    </a:solidFill>
                    <a:effectLst>
                      <a:glow rad="50800">
                        <a:schemeClr val="bg1">
                          <a:alpha val="88000"/>
                        </a:schemeClr>
                      </a:glow>
                    </a:effectLst>
                    <a:latin typeface="Arial Narrow" panose="020B0606020202030204" pitchFamily="34" charset="0"/>
                  </a:rPr>
                  <a:t>Your PAE Microservice</a:t>
                </a:r>
                <a:endParaRPr lang="en-US" dirty="0">
                  <a:solidFill>
                    <a:srgbClr val="00B050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endParaRPr>
              </a:p>
            </p:txBody>
          </p:sp>
        </p:grpSp>
        <p:cxnSp>
          <p:nvCxnSpPr>
            <p:cNvPr id="187" name="Connector: Elbow 186">
              <a:extLst>
                <a:ext uri="{FF2B5EF4-FFF2-40B4-BE49-F238E27FC236}">
                  <a16:creationId xmlns:a16="http://schemas.microsoft.com/office/drawing/2014/main" id="{AD31A5AD-7D21-F8FD-2E0C-B671668F695F}"/>
                </a:ext>
              </a:extLst>
            </p:cNvPr>
            <p:cNvCxnSpPr>
              <a:cxnSpLocks/>
              <a:stCxn id="127" idx="2"/>
              <a:endCxn id="178" idx="3"/>
            </p:cNvCxnSpPr>
            <p:nvPr/>
          </p:nvCxnSpPr>
          <p:spPr>
            <a:xfrm rot="5400000" flipH="1" flipV="1">
              <a:off x="6126290" y="2386162"/>
              <a:ext cx="3230583" cy="1914070"/>
            </a:xfrm>
            <a:prstGeom prst="bentConnector4">
              <a:avLst>
                <a:gd name="adj1" fmla="val -25474"/>
                <a:gd name="adj2" fmla="val 112607"/>
              </a:avLst>
            </a:prstGeom>
            <a:ln>
              <a:solidFill>
                <a:srgbClr val="00B0F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: Elbow 195">
              <a:extLst>
                <a:ext uri="{FF2B5EF4-FFF2-40B4-BE49-F238E27FC236}">
                  <a16:creationId xmlns:a16="http://schemas.microsoft.com/office/drawing/2014/main" id="{94929758-8C7D-3E0B-99B0-50492909497C}"/>
                </a:ext>
              </a:extLst>
            </p:cNvPr>
            <p:cNvCxnSpPr>
              <a:cxnSpLocks/>
              <a:stCxn id="69" idx="3"/>
              <a:endCxn id="178" idx="0"/>
            </p:cNvCxnSpPr>
            <p:nvPr/>
          </p:nvCxnSpPr>
          <p:spPr>
            <a:xfrm>
              <a:off x="1576456" y="777484"/>
              <a:ext cx="6522025" cy="613407"/>
            </a:xfrm>
            <a:prstGeom prst="bentConnector2">
              <a:avLst/>
            </a:prstGeom>
            <a:ln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: Elbow 217">
              <a:extLst>
                <a:ext uri="{FF2B5EF4-FFF2-40B4-BE49-F238E27FC236}">
                  <a16:creationId xmlns:a16="http://schemas.microsoft.com/office/drawing/2014/main" id="{5E634972-F749-890E-9498-A2226A9E386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610440" y="863578"/>
              <a:ext cx="2595357" cy="3649981"/>
            </a:xfrm>
            <a:prstGeom prst="bentConnector5">
              <a:avLst>
                <a:gd name="adj1" fmla="val -8808"/>
                <a:gd name="adj2" fmla="val 71827"/>
                <a:gd name="adj3" fmla="val 115054"/>
              </a:avLst>
            </a:prstGeom>
            <a:ln>
              <a:solidFill>
                <a:srgbClr val="7030A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: Elbow 230">
              <a:extLst>
                <a:ext uri="{FF2B5EF4-FFF2-40B4-BE49-F238E27FC236}">
                  <a16:creationId xmlns:a16="http://schemas.microsoft.com/office/drawing/2014/main" id="{D9A2528E-A573-B022-1B67-5CF54DBAACE0}"/>
                </a:ext>
              </a:extLst>
            </p:cNvPr>
            <p:cNvCxnSpPr>
              <a:cxnSpLocks/>
            </p:cNvCxnSpPr>
            <p:nvPr/>
          </p:nvCxnSpPr>
          <p:spPr>
            <a:xfrm>
              <a:off x="8698519" y="1561654"/>
              <a:ext cx="606502" cy="3928906"/>
            </a:xfrm>
            <a:prstGeom prst="bentConnector2">
              <a:avLst/>
            </a:prstGeom>
            <a:ln>
              <a:solidFill>
                <a:srgbClr val="FF0000"/>
              </a:solidFill>
              <a:prstDash val="sysDot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625FCDF6-6526-C03C-06FB-DF3FABCCF3B6}"/>
                </a:ext>
              </a:extLst>
            </p:cNvPr>
            <p:cNvSpPr/>
            <p:nvPr/>
          </p:nvSpPr>
          <p:spPr>
            <a:xfrm>
              <a:off x="7766557" y="1122434"/>
              <a:ext cx="298286" cy="2575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glow rad="50800">
                      <a:schemeClr val="bg1">
                        <a:alpha val="88000"/>
                      </a:schemeClr>
                    </a:glow>
                  </a:effectLst>
                  <a:latin typeface="Arial Narrow" panose="020B0606020202030204" pitchFamily="34" charset="0"/>
                </a:rPr>
                <a:t>or</a:t>
              </a:r>
            </a:p>
          </p:txBody>
        </p:sp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35C094AD-3E18-687A-6B1E-4B196466B1D0}"/>
              </a:ext>
            </a:extLst>
          </p:cNvPr>
          <p:cNvSpPr/>
          <p:nvPr/>
        </p:nvSpPr>
        <p:spPr>
          <a:xfrm>
            <a:off x="3512414" y="6089850"/>
            <a:ext cx="2315855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</a:rPr>
              <a:t>Chat + Voice Transcript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AB095FD9-9CB3-9666-AB06-C8E5CB0D1C63}"/>
              </a:ext>
            </a:extLst>
          </p:cNvPr>
          <p:cNvSpPr/>
          <p:nvPr/>
        </p:nvSpPr>
        <p:spPr>
          <a:xfrm>
            <a:off x="9395254" y="111210"/>
            <a:ext cx="2656703" cy="12274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u="sng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Your PAE Microservice</a:t>
            </a:r>
            <a:r>
              <a:rPr lang="en-US" b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: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Web-based?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Running on OS?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Machine vs Human Ratio?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E82EE36-5494-4A54-3C59-4D567DBBEF08}"/>
              </a:ext>
            </a:extLst>
          </p:cNvPr>
          <p:cNvSpPr/>
          <p:nvPr/>
        </p:nvSpPr>
        <p:spPr>
          <a:xfrm>
            <a:off x="9399374" y="1400432"/>
            <a:ext cx="2689654" cy="3921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b="1" u="sng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Input Sources</a:t>
            </a:r>
            <a:r>
              <a:rPr lang="en-US" b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:</a:t>
            </a:r>
          </a:p>
          <a:p>
            <a:pPr algn="ctr"/>
            <a:endParaRPr lang="en-US" sz="600" b="1" dirty="0">
              <a:solidFill>
                <a:srgbClr val="00B050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Text Documents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(Objectives, Plans &amp; Tasks, Ops Limits)</a:t>
            </a:r>
          </a:p>
          <a:p>
            <a:pPr algn="ctr"/>
            <a:endParaRPr lang="en-US" sz="600" dirty="0">
              <a:solidFill>
                <a:srgbClr val="00B050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Tactical Picture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(Entities of Interest, Current Situation)</a:t>
            </a:r>
          </a:p>
          <a:p>
            <a:pPr algn="ctr"/>
            <a:endParaRPr lang="en-US" sz="600" dirty="0">
              <a:solidFill>
                <a:srgbClr val="00B050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effectLst/>
                <a:latin typeface="Arial Narrow" panose="020B0606020202030204" pitchFamily="34" charset="0"/>
              </a:rPr>
              <a:t>Chat &amp; Voice Comms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(Entities of Interest, Current Situation)</a:t>
            </a:r>
          </a:p>
          <a:p>
            <a:pPr algn="ctr"/>
            <a:endParaRPr lang="en-US" dirty="0">
              <a:solidFill>
                <a:srgbClr val="00B050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b="1" u="sng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Outputs</a:t>
            </a:r>
            <a:r>
              <a:rPr lang="en-US" b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:  </a:t>
            </a:r>
            <a:r>
              <a:rPr lang="en-US" i="1" dirty="0" err="1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BattleEffects</a:t>
            </a:r>
            <a:r>
              <a:rPr lang="en-US" i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(</a:t>
            </a:r>
            <a:r>
              <a:rPr lang="en-US" i="1" dirty="0">
                <a:solidFill>
                  <a:srgbClr val="00B05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𝕖 </a:t>
            </a:r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)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“</a:t>
            </a:r>
            <a:r>
              <a:rPr lang="en-US" b="1" i="1" dirty="0">
                <a:solidFill>
                  <a:srgbClr val="00B05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ê </a:t>
            </a:r>
            <a:r>
              <a:rPr lang="en-US" i="1" dirty="0" err="1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ffectOperator</a:t>
            </a:r>
            <a:r>
              <a:rPr lang="en-US" i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” </a:t>
            </a:r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(e.g., F-Kill)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+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“</a:t>
            </a:r>
            <a:r>
              <a:rPr lang="en-US" b="1" i="1" dirty="0">
                <a:solidFill>
                  <a:srgbClr val="00B05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𝔸</a:t>
            </a:r>
            <a:r>
              <a:rPr lang="en-US" b="1" i="1" spc="-100" dirty="0">
                <a:solidFill>
                  <a:srgbClr val="00B05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 err="1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ctionable</a:t>
            </a:r>
            <a:r>
              <a:rPr lang="en-US" i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”</a:t>
            </a:r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(e.g., Target X)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+</a:t>
            </a:r>
          </a:p>
          <a:p>
            <a:pPr algn="ctr"/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“</a:t>
            </a:r>
            <a:r>
              <a:rPr lang="en-US" b="1" i="1" dirty="0">
                <a:solidFill>
                  <a:srgbClr val="00B05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𝕥 </a:t>
            </a:r>
            <a:r>
              <a:rPr lang="en-US" i="1" dirty="0" err="1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imeWindow</a:t>
            </a:r>
            <a:r>
              <a:rPr lang="en-US" i="1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effectLst/>
                <a:latin typeface="Arial Narrow" panose="020B0606020202030204" pitchFamily="34" charset="0"/>
              </a:rPr>
              <a:t>” </a:t>
            </a:r>
            <a:r>
              <a:rPr lang="en-US" sz="14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(e.g., in next 5 min)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9C6D069-986E-8F28-1CED-334EC40BAF2B}"/>
              </a:ext>
            </a:extLst>
          </p:cNvPr>
          <p:cNvSpPr/>
          <p:nvPr/>
        </p:nvSpPr>
        <p:spPr>
          <a:xfrm>
            <a:off x="189469" y="4835612"/>
            <a:ext cx="2228335" cy="1820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u="sng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Scenario</a:t>
            </a:r>
            <a:r>
              <a:rPr lang="en-US" b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The 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Crew</a:t>
            </a:r>
            <a:r>
              <a:rPr lang="en-US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is a mid-echelon all-domain Battle Management agency supporting lower-echelon &amp; theater/national BM units, as well as Battle Managing their own Area of Operations 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1C8A936-8A5E-243E-BDA2-EE6EB9EA5A95}"/>
              </a:ext>
            </a:extLst>
          </p:cNvPr>
          <p:cNvSpPr/>
          <p:nvPr/>
        </p:nvSpPr>
        <p:spPr>
          <a:xfrm>
            <a:off x="5726247" y="4132627"/>
            <a:ext cx="2116600" cy="8258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E69952F-8D7E-5E71-377F-65E9A2CEAC19}"/>
              </a:ext>
            </a:extLst>
          </p:cNvPr>
          <p:cNvSpPr/>
          <p:nvPr/>
        </p:nvSpPr>
        <p:spPr>
          <a:xfrm>
            <a:off x="5737474" y="4147297"/>
            <a:ext cx="2092852" cy="797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rgbClr val="00B0F0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Database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effectLst>
                  <a:glow rad="50800">
                    <a:schemeClr val="bg1">
                      <a:alpha val="88000"/>
                    </a:schemeClr>
                  </a:glow>
                </a:effectLst>
                <a:latin typeface="Arial Narrow" panose="020B0606020202030204" pitchFamily="34" charset="0"/>
              </a:rPr>
              <a:t>(Text documents for plans, objectives, &amp; operational limits)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8172239F-0B41-E855-6F12-E57FC55837D2}"/>
              </a:ext>
            </a:extLst>
          </p:cNvPr>
          <p:cNvSpPr/>
          <p:nvPr/>
        </p:nvSpPr>
        <p:spPr>
          <a:xfrm>
            <a:off x="2490922" y="648758"/>
            <a:ext cx="125634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</a:rPr>
              <a:t>DIS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964F7F9-95FC-0F1E-598A-52B2EC7BA548}"/>
              </a:ext>
            </a:extLst>
          </p:cNvPr>
          <p:cNvSpPr/>
          <p:nvPr/>
        </p:nvSpPr>
        <p:spPr>
          <a:xfrm>
            <a:off x="3446512" y="4236337"/>
            <a:ext cx="1256340" cy="257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b="1" dirty="0">
                <a:solidFill>
                  <a:srgbClr val="7030A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</a:rPr>
              <a:t>JREAP-C or…</a:t>
            </a:r>
          </a:p>
        </p:txBody>
      </p:sp>
    </p:spTree>
    <p:extLst>
      <p:ext uri="{BB962C8B-B14F-4D97-AF65-F5344CB8AC3E}">
        <p14:creationId xmlns:p14="http://schemas.microsoft.com/office/powerpoint/2010/main" val="292125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2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A8AFBA-DA77-0CC9-373D-129922F75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96" y="127688"/>
            <a:ext cx="6220928" cy="3381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727C40-A7C4-0C3D-EAF1-E03A14A57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752" y="4190886"/>
            <a:ext cx="3538167" cy="2409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87B1BA-BF09-D8E4-4EBF-374D2D42D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707" y="4184823"/>
            <a:ext cx="4943347" cy="2042982"/>
          </a:xfrm>
          <a:prstGeom prst="rect">
            <a:avLst/>
          </a:prstGeom>
        </p:spPr>
      </p:pic>
      <p:sp>
        <p:nvSpPr>
          <p:cNvPr id="251" name="Rectangle 250">
            <a:extLst>
              <a:ext uri="{FF2B5EF4-FFF2-40B4-BE49-F238E27FC236}">
                <a16:creationId xmlns:a16="http://schemas.microsoft.com/office/drawing/2014/main" id="{145FA958-0A0D-3934-7FEF-BFEDAC720A16}"/>
              </a:ext>
            </a:extLst>
          </p:cNvPr>
          <p:cNvSpPr/>
          <p:nvPr/>
        </p:nvSpPr>
        <p:spPr>
          <a:xfrm>
            <a:off x="6911546" y="156518"/>
            <a:ext cx="5173361" cy="3921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b="1" u="sng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Tier-3 Subfunctions of PAE</a:t>
            </a:r>
            <a:r>
              <a:rPr lang="en-US" b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:</a:t>
            </a:r>
          </a:p>
          <a:p>
            <a:pPr algn="ctr"/>
            <a:endParaRPr lang="en-US" sz="600" b="1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Infer plausible Effect Operators that can be applied to the Entity of Interest</a:t>
            </a:r>
          </a:p>
          <a:p>
            <a:pPr algn="ctr"/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Correlating the Entity of Interest to an Objective Entity</a:t>
            </a: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Infer that the Entity of Interest may impact an Objective Entity, or Mission Entity, or Command Value</a:t>
            </a: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Mapping Operational Limits (constraints and restraints) to the Entity of Interest</a:t>
            </a: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Calculating a Time Window for a given Battle Effect</a:t>
            </a: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endParaRPr lang="en-US" sz="1400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5292A-3092-B7DF-49C8-581CF6D8DA51}"/>
              </a:ext>
            </a:extLst>
          </p:cNvPr>
          <p:cNvSpPr/>
          <p:nvPr/>
        </p:nvSpPr>
        <p:spPr>
          <a:xfrm>
            <a:off x="144162" y="4147751"/>
            <a:ext cx="2833817" cy="2479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b="1" u="sng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Triggers for PAE</a:t>
            </a:r>
            <a:r>
              <a:rPr lang="en-US" b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:</a:t>
            </a:r>
          </a:p>
          <a:p>
            <a:pPr algn="ctr"/>
            <a:endParaRPr lang="en-US" sz="600" b="1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Battle Objects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Battle Events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Battle Relationships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&amp;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BattleCOAs</a:t>
            </a:r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The beginning of the </a:t>
            </a:r>
            <a:r>
              <a:rPr lang="en-US" i="1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BattleCOA</a:t>
            </a:r>
            <a:r>
              <a:rPr lang="en-US" i="1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story…</a:t>
            </a:r>
          </a:p>
          <a:p>
            <a:pPr algn="ctr"/>
            <a:endParaRPr lang="en-US" sz="1400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9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DFF4DAB9CB464C846CC88F61B50804" ma:contentTypeVersion="15" ma:contentTypeDescription="Create a new document." ma:contentTypeScope="" ma:versionID="cf94dd4adcb86e547a33e44b6a22cdbf">
  <xsd:schema xmlns:xsd="http://www.w3.org/2001/XMLSchema" xmlns:xs="http://www.w3.org/2001/XMLSchema" xmlns:p="http://schemas.microsoft.com/office/2006/metadata/properties" xmlns:ns2="30d4047a-1f11-4681-8f04-ce7d58e4e2fa" xmlns:ns3="60e648d0-341d-4664-872e-1b1a3fe07e25" xmlns:ns4="bac4e3eb-747f-43bc-bf10-c1bbb893ecac" targetNamespace="http://schemas.microsoft.com/office/2006/metadata/properties" ma:root="true" ma:fieldsID="21790bda4e50b10fa44a6352749b7f4f" ns2:_="" ns3:_="" ns4:_="">
    <xsd:import namespace="30d4047a-1f11-4681-8f04-ce7d58e4e2fa"/>
    <xsd:import namespace="60e648d0-341d-4664-872e-1b1a3fe07e25"/>
    <xsd:import namespace="bac4e3eb-747f-43bc-bf10-c1bbb893ec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4047a-1f11-4681-8f04-ce7d58e4e2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5476efd-2625-4ffb-b020-68dbe4abf3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648d0-341d-4664-872e-1b1a3fe07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4e3eb-747f-43bc-bf10-c1bbb893ecac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4a3bd9c-5849-4c4a-917c-42c22e63b53c}" ma:internalName="TaxCatchAll" ma:showField="CatchAllData" ma:web="60e648d0-341d-4664-872e-1b1a3fe07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c4e3eb-747f-43bc-bf10-c1bbb893ecac" xsi:nil="true"/>
    <lcf76f155ced4ddcb4097134ff3c332f xmlns="30d4047a-1f11-4681-8f04-ce7d58e4e2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415B58-0338-4A1F-835F-B450B09E8AB0}"/>
</file>

<file path=customXml/itemProps2.xml><?xml version="1.0" encoding="utf-8"?>
<ds:datastoreItem xmlns:ds="http://schemas.openxmlformats.org/officeDocument/2006/customXml" ds:itemID="{6E72E9D5-9ECD-411E-B1FF-AA753A7EE281}"/>
</file>

<file path=customXml/itemProps3.xml><?xml version="1.0" encoding="utf-8"?>
<ds:datastoreItem xmlns:ds="http://schemas.openxmlformats.org/officeDocument/2006/customXml" ds:itemID="{50A88816-EC02-42C0-9C63-5FA50D2A3F34}"/>
</file>

<file path=docMetadata/LabelInfo.xml><?xml version="1.0" encoding="utf-8"?>
<clbl:labelList xmlns:clbl="http://schemas.microsoft.com/office/2020/mipLabelMetadata">
  <clbl:label id="{8331b18d-2d87-48ef-a35f-ac8818ebf9b4}" enabled="0" method="" siteId="{8331b18d-2d87-48ef-a35f-ac8818ebf9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301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Arial Narrow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ZALL, JONATHAN E Col USAF AFDW SAF/DAF ABMS CFT</dc:creator>
  <cp:lastModifiedBy>ZALL, JONATHAN E Col USAF AFDW SAF/DAF ABMS CFT</cp:lastModifiedBy>
  <cp:revision>3</cp:revision>
  <dcterms:created xsi:type="dcterms:W3CDTF">2025-02-06T18:47:52Z</dcterms:created>
  <dcterms:modified xsi:type="dcterms:W3CDTF">2025-02-23T17:31:41Z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0x01010032DFF4DAB9CB464C846CC88F61B50804</vt:lpwstr>
  </property>
</Properties>
</file>