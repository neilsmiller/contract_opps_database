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3" r:id="rId4"/>
    <p:sldMasterId id="2147483741" r:id="rId5"/>
    <p:sldMasterId id="2147483744" r:id="rId6"/>
  </p:sldMasterIdLst>
  <p:notesMasterIdLst>
    <p:notesMasterId r:id="rId22"/>
  </p:notesMasterIdLst>
  <p:handoutMasterIdLst>
    <p:handoutMasterId r:id="rId23"/>
  </p:handoutMasterIdLst>
  <p:sldIdLst>
    <p:sldId id="262" r:id="rId7"/>
    <p:sldId id="260" r:id="rId8"/>
    <p:sldId id="264" r:id="rId9"/>
    <p:sldId id="266" r:id="rId10"/>
    <p:sldId id="271" r:id="rId11"/>
    <p:sldId id="281" r:id="rId12"/>
    <p:sldId id="272" r:id="rId13"/>
    <p:sldId id="280" r:id="rId14"/>
    <p:sldId id="273" r:id="rId15"/>
    <p:sldId id="274" r:id="rId16"/>
    <p:sldId id="265" r:id="rId17"/>
    <p:sldId id="278" r:id="rId18"/>
    <p:sldId id="277" r:id="rId19"/>
    <p:sldId id="275" r:id="rId20"/>
    <p:sldId id="27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ECBD512-C15D-4140-E860-58A7D6CCC3D8}" name="Ryan, Michael Paul CIV DLA AVIATION (USA)" initials="RMPCDA(" userId="Ryan, Michael Paul CIV DLA AVIATION (USA)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Binder, Martin G CIV DLA OFFICE OF DIRECTOR (US)" initials="BMGCDOOD(" lastIdx="8" clrIdx="0">
    <p:extLst>
      <p:ext uri="{19B8F6BF-5375-455C-9EA6-DF929625EA0E}">
        <p15:presenceInfo xmlns:p15="http://schemas.microsoft.com/office/powerpoint/2012/main" userId="S::martin.binder@dla.mil::2b3a7270-961d-440a-a828-380e9af95ad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A3"/>
    <a:srgbClr val="002060"/>
    <a:srgbClr val="002F8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979485-C3EF-4256-BDF0-C2F226846EFB}" v="3" dt="2025-04-23T11:06:28.7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26" autoAdjust="0"/>
    <p:restoredTop sz="94863" autoAdjust="0"/>
  </p:normalViewPr>
  <p:slideViewPr>
    <p:cSldViewPr snapToGrid="0">
      <p:cViewPr varScale="1">
        <p:scale>
          <a:sx n="99" d="100"/>
          <a:sy n="99" d="100"/>
        </p:scale>
        <p:origin x="21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0" d="100"/>
          <a:sy n="50" d="100"/>
        </p:scale>
        <p:origin x="2712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ngelosi, Lance CIV DLA AVIATION (USA)" userId="d56534cd-83bc-4727-83af-1ae9621d5c9f" providerId="ADAL" clId="{76979485-C3EF-4256-BDF0-C2F226846EFB}"/>
    <pc:docChg chg="modSld">
      <pc:chgData name="Cangelosi, Lance CIV DLA AVIATION (USA)" userId="d56534cd-83bc-4727-83af-1ae9621d5c9f" providerId="ADAL" clId="{76979485-C3EF-4256-BDF0-C2F226846EFB}" dt="2025-04-23T11:06:46.080" v="127" actId="20577"/>
      <pc:docMkLst>
        <pc:docMk/>
      </pc:docMkLst>
      <pc:sldChg chg="modSp mod">
        <pc:chgData name="Cangelosi, Lance CIV DLA AVIATION (USA)" userId="d56534cd-83bc-4727-83af-1ae9621d5c9f" providerId="ADAL" clId="{76979485-C3EF-4256-BDF0-C2F226846EFB}" dt="2025-04-23T11:06:46.080" v="127" actId="20577"/>
        <pc:sldMkLst>
          <pc:docMk/>
          <pc:sldMk cId="1542517312" sldId="260"/>
        </pc:sldMkLst>
        <pc:graphicFrameChg chg="mod modGraphic">
          <ac:chgData name="Cangelosi, Lance CIV DLA AVIATION (USA)" userId="d56534cd-83bc-4727-83af-1ae9621d5c9f" providerId="ADAL" clId="{76979485-C3EF-4256-BDF0-C2F226846EFB}" dt="2025-04-23T11:06:46.080" v="127" actId="20577"/>
          <ac:graphicFrameMkLst>
            <pc:docMk/>
            <pc:sldMk cId="1542517312" sldId="260"/>
            <ac:graphicFrameMk id="2" creationId="{971D319C-0886-408A-8359-BC1425E5067F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47B1CE-3B17-4955-8832-F2CBB02D3529}" type="datetimeFigureOut">
              <a:rPr lang="en-US" smtClean="0"/>
              <a:t>4/23/2025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2E227-8179-4484-9A99-BCCB14DE495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1746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C30E3-DE1F-4117-9557-DA92E6C8B57D}" type="datetimeFigureOut">
              <a:rPr lang="en-US" smtClean="0"/>
              <a:t>4/23/2025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" y="274320"/>
            <a:ext cx="6400800" cy="4800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28600" y="5120640"/>
            <a:ext cx="6400800" cy="37490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69680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69679"/>
            <a:ext cx="29718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A5C0E-4909-4CFA-9D5C-28EC43D03F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64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spcBef>
        <a:spcPts val="1200"/>
      </a:spcBef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14350" indent="-171450" algn="l" defTabSz="914400" rtl="0" eaLnBrk="1" latinLnBrk="0" hangingPunct="1">
      <a:spcBef>
        <a:spcPts val="600"/>
      </a:spcBef>
      <a:buFont typeface="Arial" panose="020B0604020202020204" pitchFamily="34" charset="0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852488" indent="-171450" algn="l" defTabSz="914400" rtl="0" eaLnBrk="1" latinLnBrk="0" hangingPunct="1"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201738" indent="-171450" algn="l" defTabSz="914400" rtl="0" eaLnBrk="1" latinLnBrk="0" hangingPunct="1">
      <a:spcBef>
        <a:spcPts val="600"/>
      </a:spcBef>
      <a:buFont typeface="Arial" panose="020B0604020202020204" pitchFamily="34" charset="0"/>
      <a:buChar char="–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541463" indent="-171450" algn="l" defTabSz="914400" rtl="0" eaLnBrk="1" latinLnBrk="0" hangingPunct="1">
      <a:spcBef>
        <a:spcPts val="600"/>
      </a:spcBef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" y="274638"/>
            <a:ext cx="6400800" cy="4800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Office of Counsel- Mr. Mitchell Krock is on travel and unable to attend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CA5C0E-4909-4CFA-9D5C-28EC43D03F2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0069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" y="274638"/>
            <a:ext cx="6400800" cy="48006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CA5C0E-4909-4CFA-9D5C-28EC43D03F2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707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Cov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126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preserve="1">
  <p:cSld name="Custom Layou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8"/>
          <p:cNvSpPr txBox="1">
            <a:spLocks noGrp="1"/>
          </p:cNvSpPr>
          <p:nvPr>
            <p:ph type="title"/>
          </p:nvPr>
        </p:nvSpPr>
        <p:spPr>
          <a:xfrm>
            <a:off x="274320" y="2627812"/>
            <a:ext cx="3810000" cy="1974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Aria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body" idx="1"/>
          </p:nvPr>
        </p:nvSpPr>
        <p:spPr>
          <a:xfrm>
            <a:off x="274320" y="4602480"/>
            <a:ext cx="3810000" cy="366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Arial"/>
              <a:buNone/>
              <a:defRPr sz="1800" b="1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1F3864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1F3864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57615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>
  <p:cSld name="Title and Conten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211772" y="1113972"/>
            <a:ext cx="7886700" cy="329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6793230" y="6458267"/>
            <a:ext cx="206629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4780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92240" y="6492240"/>
            <a:ext cx="1828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As of 24 Oct 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0310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76DA034-8790-47DB-B313-2AB7FC923CB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365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92240" y="6492240"/>
            <a:ext cx="1828800" cy="365125"/>
          </a:xfrm>
          <a:prstGeom prst="rect">
            <a:avLst/>
          </a:prstGeom>
        </p:spPr>
        <p:txBody>
          <a:bodyPr anchor="ctr" anchorCtr="0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6490310"/>
            <a:ext cx="2743200" cy="365125"/>
          </a:xfrm>
          <a:prstGeom prst="rect">
            <a:avLst/>
          </a:prstGeom>
        </p:spPr>
        <p:txBody>
          <a:bodyPr anchor="ctr" anchorCtr="0"/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anchor="ctr" anchorCtr="0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76DA034-8790-47DB-B313-2AB7FC923CB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657600" y="365760"/>
            <a:ext cx="5029200" cy="8229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6633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7600" y="365760"/>
            <a:ext cx="5029200" cy="82296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8229600" cy="475488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92240" y="6492875"/>
            <a:ext cx="1828800" cy="365125"/>
          </a:xfr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353F-5ECB-4B50-B3EA-C871EA4E3F3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492240"/>
            <a:ext cx="2743200" cy="36576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000" baseline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>
              <a:defRPr sz="1600">
                <a:latin typeface="+mn-lt"/>
              </a:defRPr>
            </a:lvl2pPr>
            <a:lvl3pPr>
              <a:defRPr sz="1400">
                <a:latin typeface="+mn-lt"/>
              </a:defRPr>
            </a:lvl3pPr>
            <a:lvl4pPr>
              <a:defRPr sz="1200">
                <a:latin typeface="+mn-lt"/>
              </a:defRPr>
            </a:lvl4pPr>
            <a:lvl5pPr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Source:  Of any significant figures</a:t>
            </a:r>
            <a:br>
              <a:rPr lang="en-US" dirty="0"/>
            </a:br>
            <a:r>
              <a:rPr lang="en-US" dirty="0"/>
              <a:t>As of Civilian Date (i.e. Month 00, 20YY)</a:t>
            </a:r>
          </a:p>
        </p:txBody>
      </p:sp>
    </p:spTree>
    <p:extLst>
      <p:ext uri="{BB962C8B-B14F-4D97-AF65-F5344CB8AC3E}">
        <p14:creationId xmlns:p14="http://schemas.microsoft.com/office/powerpoint/2010/main" val="286832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0353F-5ECB-4B50-B3EA-C871EA4E3F3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487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Plecema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6">
            <a:extLst>
              <a:ext uri="{FF2B5EF4-FFF2-40B4-BE49-F238E27FC236}">
                <a16:creationId xmlns:a16="http://schemas.microsoft.com/office/drawing/2014/main" id="{0462F01B-483B-E259-6866-A221CF73A8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3498367" y="-3741"/>
            <a:ext cx="5423345" cy="378083"/>
          </a:xfrm>
          <a:prstGeom prst="rect">
            <a:avLst/>
          </a:prstGeom>
        </p:spPr>
        <p:txBody>
          <a:bodyPr/>
          <a:lstStyle>
            <a:lvl1pPr algn="r"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8">
            <a:extLst>
              <a:ext uri="{FF2B5EF4-FFF2-40B4-BE49-F238E27FC236}">
                <a16:creationId xmlns:a16="http://schemas.microsoft.com/office/drawing/2014/main" id="{FF26351C-50D1-4C29-C125-9C82C146E5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9069" y="462118"/>
            <a:ext cx="3152642" cy="37679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900">
                <a:solidFill>
                  <a:srgbClr val="C9AD62"/>
                </a:solidFill>
                <a:latin typeface="Raleway Black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C7EE80-4C05-F9D0-6D7D-5335791CB2D2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7469" y="6568446"/>
            <a:ext cx="5299073" cy="238990"/>
            <a:chOff x="306192" y="7421091"/>
            <a:chExt cx="7065430" cy="270855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4FE2EB60-7AC4-19D4-E91C-CEAB4FD554C0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186756" y="7421091"/>
              <a:ext cx="2184866" cy="261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3429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all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Warfighter Always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1832D7D5-E5F1-8960-8571-A2D10322F3A6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306192" y="7430337"/>
              <a:ext cx="5321690" cy="261609"/>
              <a:chOff x="306192" y="7404579"/>
              <a:chExt cx="5321690" cy="261609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BCECDCE-9704-5BD2-07EB-E10870BCFBB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6192" y="7404579"/>
                <a:ext cx="5321690" cy="261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3429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9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PEOP</a:t>
                </a: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A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LE  </a:t>
                </a:r>
                <a:r>
                  <a:rPr lang="en-US" sz="900" b="1" dirty="0">
                    <a:solidFill>
                      <a:srgbClr val="CAAD62"/>
                    </a:solidFill>
                  </a:rPr>
                  <a:t>	  </a:t>
                </a: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A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PRECISION          </a:t>
                </a:r>
                <a:r>
                  <a:rPr lang="en-US" sz="900" b="1" dirty="0">
                    <a:solidFill>
                      <a:srgbClr val="CAAD62"/>
                    </a:solidFill>
                  </a:rPr>
                  <a:t>P</a:t>
                </a: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A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OSTURE           PARTNERSHIPS</a:t>
                </a:r>
                <a:endParaRPr lang="en-US" sz="900" dirty="0">
                  <a:solidFill>
                    <a:srgbClr val="CAAD62"/>
                  </a:solidFill>
                </a:endParaRPr>
              </a:p>
            </p:txBody>
          </p:sp>
          <p:sp>
            <p:nvSpPr>
              <p:cNvPr id="6" name="Star: 5 Points 5">
                <a:extLst>
                  <a:ext uri="{FF2B5EF4-FFF2-40B4-BE49-F238E27FC236}">
                    <a16:creationId xmlns:a16="http://schemas.microsoft.com/office/drawing/2014/main" id="{3567D9CE-EFF0-8AB8-6705-56D3D74AD07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64099" y="7454367"/>
                <a:ext cx="135925" cy="135925"/>
              </a:xfrm>
              <a:prstGeom prst="star5">
                <a:avLst/>
              </a:prstGeom>
              <a:solidFill>
                <a:srgbClr val="C9AD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15" name="Star: 5 Points 14">
                <a:extLst>
                  <a:ext uri="{FF2B5EF4-FFF2-40B4-BE49-F238E27FC236}">
                    <a16:creationId xmlns:a16="http://schemas.microsoft.com/office/drawing/2014/main" id="{63581E2E-BE54-C212-BD67-20294E66334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96771" y="7457241"/>
                <a:ext cx="135925" cy="135925"/>
              </a:xfrm>
              <a:prstGeom prst="star5">
                <a:avLst/>
              </a:prstGeom>
              <a:solidFill>
                <a:srgbClr val="C9AD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16" name="Star: 5 Points 15">
                <a:extLst>
                  <a:ext uri="{FF2B5EF4-FFF2-40B4-BE49-F238E27FC236}">
                    <a16:creationId xmlns:a16="http://schemas.microsoft.com/office/drawing/2014/main" id="{DFABEEBD-8E0A-004A-1414-94AD7B52422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601787" y="7460115"/>
                <a:ext cx="135925" cy="135925"/>
              </a:xfrm>
              <a:prstGeom prst="star5">
                <a:avLst/>
              </a:prstGeom>
              <a:solidFill>
                <a:srgbClr val="C9AD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89B08B12-FA1E-FDBD-5B31-DF8672305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29868" y="6521049"/>
            <a:ext cx="2301004" cy="36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C9AD62"/>
                </a:solidFill>
                <a:latin typeface="Raleway Black" pitchFamily="2" charset="0"/>
              </a:defRPr>
            </a:lvl1pPr>
          </a:lstStyle>
          <a:p>
            <a:fld id="{165700FE-BCEC-4E84-BA78-D55E132666CC}" type="slidenum">
              <a:rPr lang="en-US" smtClean="0"/>
              <a:pPr/>
              <a:t>‹#›</a:t>
            </a:fld>
            <a:r>
              <a:rPr lang="en-US" dirty="0"/>
              <a:t> of xx</a:t>
            </a:r>
          </a:p>
        </p:txBody>
      </p:sp>
    </p:spTree>
    <p:extLst>
      <p:ext uri="{BB962C8B-B14F-4D97-AF65-F5344CB8AC3E}">
        <p14:creationId xmlns:p14="http://schemas.microsoft.com/office/powerpoint/2010/main" val="4167505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2_Plecemate Slide_CU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26">
            <a:extLst>
              <a:ext uri="{FF2B5EF4-FFF2-40B4-BE49-F238E27FC236}">
                <a16:creationId xmlns:a16="http://schemas.microsoft.com/office/drawing/2014/main" id="{0462F01B-483B-E259-6866-A221CF73A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367" y="-3741"/>
            <a:ext cx="5423345" cy="378083"/>
          </a:xfrm>
          <a:prstGeom prst="rect">
            <a:avLst/>
          </a:prstGeom>
        </p:spPr>
        <p:txBody>
          <a:bodyPr/>
          <a:lstStyle>
            <a:lvl1pPr algn="r"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28">
            <a:extLst>
              <a:ext uri="{FF2B5EF4-FFF2-40B4-BE49-F238E27FC236}">
                <a16:creationId xmlns:a16="http://schemas.microsoft.com/office/drawing/2014/main" id="{FF26351C-50D1-4C29-C125-9C82C146E5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9069" y="462118"/>
            <a:ext cx="3152642" cy="37679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900">
                <a:solidFill>
                  <a:srgbClr val="C9AD62"/>
                </a:solidFill>
                <a:latin typeface="Raleway Black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31553C8-9D03-0BB1-1C5B-FDCF6FD62EED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7469" y="6568446"/>
            <a:ext cx="5299073" cy="238990"/>
            <a:chOff x="306192" y="7421091"/>
            <a:chExt cx="7065430" cy="27085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218CB0F-DB56-9DB1-F1D7-B79034F750D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186756" y="7421091"/>
              <a:ext cx="2184866" cy="261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3429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all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Warfighter Always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ACCC674-F640-A842-CDDC-87E7DE59096B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306192" y="7430337"/>
              <a:ext cx="5321690" cy="261609"/>
              <a:chOff x="306192" y="7404579"/>
              <a:chExt cx="5321690" cy="261609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BCDDE62-004B-F11D-5E37-609A77BBB1E2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6192" y="7404579"/>
                <a:ext cx="5321690" cy="261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3429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9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PEOP</a:t>
                </a: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A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LE  </a:t>
                </a:r>
                <a:r>
                  <a:rPr lang="en-US" sz="900" b="1" dirty="0">
                    <a:solidFill>
                      <a:srgbClr val="CAAD62"/>
                    </a:solidFill>
                  </a:rPr>
                  <a:t>	  </a:t>
                </a: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A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PRECISION          </a:t>
                </a:r>
                <a:r>
                  <a:rPr lang="en-US" sz="900" b="1" dirty="0">
                    <a:solidFill>
                      <a:srgbClr val="CAAD62"/>
                    </a:solidFill>
                  </a:rPr>
                  <a:t>P</a:t>
                </a: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A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OSTURE           PARTNERSHIPS</a:t>
                </a:r>
                <a:endParaRPr lang="en-US" sz="900" dirty="0">
                  <a:solidFill>
                    <a:srgbClr val="CAAD62"/>
                  </a:solidFill>
                </a:endParaRPr>
              </a:p>
            </p:txBody>
          </p:sp>
          <p:sp>
            <p:nvSpPr>
              <p:cNvPr id="20" name="Star: 5 Points 19">
                <a:extLst>
                  <a:ext uri="{FF2B5EF4-FFF2-40B4-BE49-F238E27FC236}">
                    <a16:creationId xmlns:a16="http://schemas.microsoft.com/office/drawing/2014/main" id="{313812E0-3716-17DC-B0BB-40CBC418EF4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64099" y="7454367"/>
                <a:ext cx="135925" cy="135925"/>
              </a:xfrm>
              <a:prstGeom prst="star5">
                <a:avLst/>
              </a:prstGeom>
              <a:solidFill>
                <a:srgbClr val="C9AD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21" name="Star: 5 Points 20">
                <a:extLst>
                  <a:ext uri="{FF2B5EF4-FFF2-40B4-BE49-F238E27FC236}">
                    <a16:creationId xmlns:a16="http://schemas.microsoft.com/office/drawing/2014/main" id="{D4718D9B-2BBD-C13C-AE2F-D1E9E90DF33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96771" y="7457241"/>
                <a:ext cx="135925" cy="135925"/>
              </a:xfrm>
              <a:prstGeom prst="star5">
                <a:avLst/>
              </a:prstGeom>
              <a:solidFill>
                <a:srgbClr val="C9AD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22" name="Star: 5 Points 21">
                <a:extLst>
                  <a:ext uri="{FF2B5EF4-FFF2-40B4-BE49-F238E27FC236}">
                    <a16:creationId xmlns:a16="http://schemas.microsoft.com/office/drawing/2014/main" id="{F94E5D83-39F9-823E-6D34-EE3E7ACF9A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601787" y="7460115"/>
                <a:ext cx="135925" cy="135925"/>
              </a:xfrm>
              <a:prstGeom prst="star5">
                <a:avLst/>
              </a:prstGeom>
              <a:solidFill>
                <a:srgbClr val="C9AD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7EE95DD6-9498-A79C-82ED-E6A6ABFA2CB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362798" y="6396418"/>
            <a:ext cx="415459" cy="15886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57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1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Times New Roman" panose="02020603050405020304" pitchFamily="18" charset="0"/>
              </a:rPr>
              <a:t>CUI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8E27FF7-4831-CEFE-2CA4-4066B714AE95}"/>
              </a:ext>
            </a:extLst>
          </p:cNvPr>
          <p:cNvSpPr/>
          <p:nvPr userDrawn="1"/>
        </p:nvSpPr>
        <p:spPr>
          <a:xfrm>
            <a:off x="4362798" y="79582"/>
            <a:ext cx="415459" cy="158864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2571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1" b="1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j-lt"/>
                <a:ea typeface="+mn-ea"/>
                <a:cs typeface="Times New Roman" panose="02020603050405020304" pitchFamily="18" charset="0"/>
              </a:rPr>
              <a:t>CUI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8AA2A1D-24BF-931A-0BBA-EF8C64029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29868" y="6521049"/>
            <a:ext cx="2301004" cy="36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C9AD62"/>
                </a:solidFill>
                <a:latin typeface="Raleway Black" pitchFamily="2" charset="0"/>
              </a:defRPr>
            </a:lvl1pPr>
          </a:lstStyle>
          <a:p>
            <a:fld id="{165700FE-BCEC-4E84-BA78-D55E132666CC}" type="slidenum">
              <a:rPr lang="en-US" smtClean="0"/>
              <a:pPr/>
              <a:t>‹#›</a:t>
            </a:fld>
            <a:r>
              <a:rPr lang="en-US" dirty="0"/>
              <a:t> of xx</a:t>
            </a:r>
          </a:p>
        </p:txBody>
      </p:sp>
    </p:spTree>
    <p:extLst>
      <p:ext uri="{BB962C8B-B14F-4D97-AF65-F5344CB8AC3E}">
        <p14:creationId xmlns:p14="http://schemas.microsoft.com/office/powerpoint/2010/main" val="1369541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1_End Slide_Warfighter_w/St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902EDC-6E33-786E-C7BA-5938B679D06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7469" y="6568446"/>
            <a:ext cx="5299073" cy="238990"/>
            <a:chOff x="306192" y="7421091"/>
            <a:chExt cx="7065430" cy="2708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956500B-6F17-2E2E-BF7F-9260A28A20A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186756" y="7421091"/>
              <a:ext cx="2184866" cy="261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3429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all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Warfighter Always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466952-0C21-4B6A-227D-8566C5185756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306192" y="7430337"/>
              <a:ext cx="5321690" cy="261609"/>
              <a:chOff x="306192" y="7404579"/>
              <a:chExt cx="5321690" cy="261609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2354F4-A76D-FD99-C873-D3ACC8AF473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6192" y="7404579"/>
                <a:ext cx="5321690" cy="261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3429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9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PEOP</a:t>
                </a: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A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LE  </a:t>
                </a:r>
                <a:r>
                  <a:rPr lang="en-US" sz="900" b="1" dirty="0">
                    <a:solidFill>
                      <a:srgbClr val="CAAD62"/>
                    </a:solidFill>
                  </a:rPr>
                  <a:t>	  </a:t>
                </a: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A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PRECISION          </a:t>
                </a:r>
                <a:r>
                  <a:rPr lang="en-US" sz="900" b="1" dirty="0">
                    <a:solidFill>
                      <a:srgbClr val="CAAD62"/>
                    </a:solidFill>
                  </a:rPr>
                  <a:t>P</a:t>
                </a: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A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OSTURE           PARTNERSHIPS</a:t>
                </a:r>
                <a:endParaRPr lang="en-US" sz="900" dirty="0">
                  <a:solidFill>
                    <a:srgbClr val="CAAD62"/>
                  </a:solidFill>
                </a:endParaRPr>
              </a:p>
            </p:txBody>
          </p:sp>
          <p:sp>
            <p:nvSpPr>
              <p:cNvPr id="8" name="Star: 5 Points 7">
                <a:extLst>
                  <a:ext uri="{FF2B5EF4-FFF2-40B4-BE49-F238E27FC236}">
                    <a16:creationId xmlns:a16="http://schemas.microsoft.com/office/drawing/2014/main" id="{1C2FFB9E-CBD8-C0D7-A295-BD3E54C47E4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64099" y="7454367"/>
                <a:ext cx="135925" cy="135925"/>
              </a:xfrm>
              <a:prstGeom prst="star5">
                <a:avLst/>
              </a:prstGeom>
              <a:solidFill>
                <a:srgbClr val="C9AD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9" name="Star: 5 Points 8">
                <a:extLst>
                  <a:ext uri="{FF2B5EF4-FFF2-40B4-BE49-F238E27FC236}">
                    <a16:creationId xmlns:a16="http://schemas.microsoft.com/office/drawing/2014/main" id="{59A55DF1-24FF-311C-36E5-86E5829115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96771" y="7457241"/>
                <a:ext cx="135925" cy="135925"/>
              </a:xfrm>
              <a:prstGeom prst="star5">
                <a:avLst/>
              </a:prstGeom>
              <a:solidFill>
                <a:srgbClr val="C9AD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10" name="Star: 5 Points 9">
                <a:extLst>
                  <a:ext uri="{FF2B5EF4-FFF2-40B4-BE49-F238E27FC236}">
                    <a16:creationId xmlns:a16="http://schemas.microsoft.com/office/drawing/2014/main" id="{336109CB-27B2-7EEC-FCB1-FB059E0AAB8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601787" y="7460115"/>
                <a:ext cx="135925" cy="135925"/>
              </a:xfrm>
              <a:prstGeom prst="star5">
                <a:avLst/>
              </a:prstGeom>
              <a:solidFill>
                <a:srgbClr val="C9AD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DD8E1F3-E924-A6A0-8564-832CD5F40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29868" y="6521049"/>
            <a:ext cx="2301004" cy="36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C9AD62"/>
                </a:solidFill>
                <a:latin typeface="Raleway Black" pitchFamily="2" charset="0"/>
              </a:defRPr>
            </a:lvl1pPr>
          </a:lstStyle>
          <a:p>
            <a:fld id="{165700FE-BCEC-4E84-BA78-D55E132666CC}" type="slidenum">
              <a:rPr lang="en-US" smtClean="0"/>
              <a:pPr/>
              <a:t>‹#›</a:t>
            </a:fld>
            <a:r>
              <a:rPr lang="en-US" dirty="0"/>
              <a:t> of xx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EFBF111-7BFC-7E28-7CBD-BBB25A7D80B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296264" y="1471596"/>
            <a:ext cx="2551472" cy="367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809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nd Slide_Transpar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7F902EDC-6E33-786E-C7BA-5938B679D068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87469" y="6568446"/>
            <a:ext cx="5299073" cy="238990"/>
            <a:chOff x="306192" y="7421091"/>
            <a:chExt cx="7065430" cy="27085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956500B-6F17-2E2E-BF7F-9260A28A20A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186756" y="7421091"/>
              <a:ext cx="2184866" cy="2616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34291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1" i="0" u="none" strike="noStrike" kern="1200" cap="all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Warfighter Always</a:t>
              </a:r>
              <a:endParaRPr lang="en-US" sz="900" dirty="0">
                <a:solidFill>
                  <a:schemeClr val="bg1"/>
                </a:solidFill>
              </a:endParaRP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3466952-0C21-4B6A-227D-8566C5185756}"/>
                </a:ext>
              </a:extLst>
            </p:cNvPr>
            <p:cNvGrpSpPr>
              <a:grpSpLocks noGrp="1" noUngrp="1" noRot="1" noMove="1" noResize="1"/>
            </p:cNvGrpSpPr>
            <p:nvPr userDrawn="1"/>
          </p:nvGrpSpPr>
          <p:grpSpPr>
            <a:xfrm>
              <a:off x="306192" y="7430337"/>
              <a:ext cx="5321690" cy="261609"/>
              <a:chOff x="306192" y="7404579"/>
              <a:chExt cx="5321690" cy="261609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32354F4-A76D-FD99-C873-D3ACC8AF473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6192" y="7404579"/>
                <a:ext cx="5321690" cy="2616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342917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9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PEOP</a:t>
                </a: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A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LE  </a:t>
                </a:r>
                <a:r>
                  <a:rPr lang="en-US" sz="900" b="1" dirty="0">
                    <a:solidFill>
                      <a:srgbClr val="CAAD62"/>
                    </a:solidFill>
                  </a:rPr>
                  <a:t>	  </a:t>
                </a: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A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PRECISION          </a:t>
                </a:r>
                <a:r>
                  <a:rPr lang="en-US" sz="900" b="1" dirty="0">
                    <a:solidFill>
                      <a:srgbClr val="CAAD62"/>
                    </a:solidFill>
                  </a:rPr>
                  <a:t>P</a:t>
                </a:r>
                <a:r>
                  <a:rPr kumimoji="0" lang="en-US" sz="900" b="1" i="0" u="none" strike="noStrike" kern="1200" spc="0" normalizeH="0" baseline="0" noProof="0" dirty="0">
                    <a:ln>
                      <a:noFill/>
                    </a:ln>
                    <a:solidFill>
                      <a:srgbClr val="CAAD62"/>
                    </a:solidFill>
                    <a:effectLst/>
                    <a:uLnTx/>
                    <a:uFillTx/>
                    <a:latin typeface="+mn-lt"/>
                    <a:ea typeface="+mn-ea"/>
                    <a:cs typeface="+mn-cs"/>
                  </a:rPr>
                  <a:t>OSTURE           PARTNERSHIPS</a:t>
                </a:r>
                <a:endParaRPr lang="en-US" sz="900" dirty="0">
                  <a:solidFill>
                    <a:srgbClr val="CAAD62"/>
                  </a:solidFill>
                </a:endParaRPr>
              </a:p>
            </p:txBody>
          </p:sp>
          <p:sp>
            <p:nvSpPr>
              <p:cNvPr id="8" name="Star: 5 Points 7">
                <a:extLst>
                  <a:ext uri="{FF2B5EF4-FFF2-40B4-BE49-F238E27FC236}">
                    <a16:creationId xmlns:a16="http://schemas.microsoft.com/office/drawing/2014/main" id="{1C2FFB9E-CBD8-C0D7-A295-BD3E54C47E4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1164099" y="7454367"/>
                <a:ext cx="135925" cy="135925"/>
              </a:xfrm>
              <a:prstGeom prst="star5">
                <a:avLst/>
              </a:prstGeom>
              <a:solidFill>
                <a:srgbClr val="C9AD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9" name="Star: 5 Points 8">
                <a:extLst>
                  <a:ext uri="{FF2B5EF4-FFF2-40B4-BE49-F238E27FC236}">
                    <a16:creationId xmlns:a16="http://schemas.microsoft.com/office/drawing/2014/main" id="{59A55DF1-24FF-311C-36E5-86E5829115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396771" y="7457241"/>
                <a:ext cx="135925" cy="135925"/>
              </a:xfrm>
              <a:prstGeom prst="star5">
                <a:avLst/>
              </a:prstGeom>
              <a:solidFill>
                <a:srgbClr val="C9AD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  <p:sp>
            <p:nvSpPr>
              <p:cNvPr id="10" name="Star: 5 Points 9">
                <a:extLst>
                  <a:ext uri="{FF2B5EF4-FFF2-40B4-BE49-F238E27FC236}">
                    <a16:creationId xmlns:a16="http://schemas.microsoft.com/office/drawing/2014/main" id="{336109CB-27B2-7EEC-FCB1-FB059E0AAB8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601787" y="7460115"/>
                <a:ext cx="135925" cy="135925"/>
              </a:xfrm>
              <a:prstGeom prst="star5">
                <a:avLst/>
              </a:prstGeom>
              <a:solidFill>
                <a:srgbClr val="C9AD6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DD8E1F3-E924-A6A0-8564-832CD5F40B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629868" y="6521049"/>
            <a:ext cx="2301004" cy="3655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C9AD62"/>
                </a:solidFill>
                <a:latin typeface="Raleway Black" pitchFamily="2" charset="0"/>
              </a:defRPr>
            </a:lvl1pPr>
          </a:lstStyle>
          <a:p>
            <a:fld id="{165700FE-BCEC-4E84-BA78-D55E132666CC}" type="slidenum">
              <a:rPr lang="en-US" smtClean="0"/>
              <a:pPr/>
              <a:t>‹#›</a:t>
            </a:fld>
            <a:r>
              <a:rPr lang="en-US" dirty="0"/>
              <a:t> of xx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D46162-30A0-44B5-50B9-0795FBFE4FE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3296264" y="1471596"/>
            <a:ext cx="2551472" cy="367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2978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85A9BB-D9B7-26AD-2C70-4235872DBAC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05257"/>
            <a:ext cx="9144000" cy="605070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8247615-18BF-E1BC-952D-20E7CD635BB4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1"/>
            <a:ext cx="9144000" cy="6857999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4144C51-4AFC-D751-6FD0-D2758F0F02B7}"/>
              </a:ext>
            </a:extLst>
          </p:cNvPr>
          <p:cNvGrpSpPr>
            <a:grpSpLocks/>
          </p:cNvGrpSpPr>
          <p:nvPr userDrawn="1"/>
        </p:nvGrpSpPr>
        <p:grpSpPr>
          <a:xfrm>
            <a:off x="885712" y="470822"/>
            <a:ext cx="1430899" cy="848490"/>
            <a:chOff x="1187093" y="4410699"/>
            <a:chExt cx="1967348" cy="96243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7DEDBBD-D042-117A-852E-F20BC7E8680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369250" y="4410699"/>
              <a:ext cx="785191" cy="962439"/>
            </a:xfrm>
            <a:prstGeom prst="rect">
              <a:avLst/>
            </a:prstGeo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Picture 5" descr="A close up of a sign&#10;&#10;Description automatically generated">
              <a:extLst>
                <a:ext uri="{FF2B5EF4-FFF2-40B4-BE49-F238E27FC236}">
                  <a16:creationId xmlns:a16="http://schemas.microsoft.com/office/drawing/2014/main" id="{D6C5E275-476A-2A28-AF0B-B6D1A60225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87093" y="4441928"/>
              <a:ext cx="841276" cy="841276"/>
            </a:xfrm>
            <a:prstGeom prst="rect">
              <a:avLst/>
            </a:prstGeom>
            <a:effectLst>
              <a:outerShdw blurRad="50800" dist="38100" dir="10800000" algn="r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441490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</p:sldLayoutIdLst>
  <p:hf hdr="0" ftr="0" dt="0"/>
  <p:txStyles>
    <p:titleStyle>
      <a:lvl1pPr algn="ctr" defTabSz="754416" rtl="0" eaLnBrk="1" latinLnBrk="0" hangingPunct="1">
        <a:lnSpc>
          <a:spcPct val="100000"/>
        </a:lnSpc>
        <a:spcBef>
          <a:spcPct val="0"/>
        </a:spcBef>
        <a:buNone/>
        <a:defRPr sz="1981" b="1" kern="1200">
          <a:solidFill>
            <a:srgbClr val="C9AD62"/>
          </a:solidFill>
          <a:latin typeface="+mj-lt"/>
          <a:ea typeface="+mj-ea"/>
          <a:cs typeface="+mj-cs"/>
        </a:defRPr>
      </a:lvl1pPr>
    </p:titleStyle>
    <p:bodyStyle>
      <a:lvl1pPr marL="188604" indent="-188604" algn="l" defTabSz="754416" rtl="0" eaLnBrk="1" latinLnBrk="0" hangingPunct="1">
        <a:lnSpc>
          <a:spcPct val="90000"/>
        </a:lnSpc>
        <a:spcBef>
          <a:spcPts val="990"/>
        </a:spcBef>
        <a:spcAft>
          <a:spcPts val="0"/>
        </a:spcAft>
        <a:buFont typeface="Arial" panose="020B0604020202020204" pitchFamily="34" charset="0"/>
        <a:buChar char="•"/>
        <a:defRPr sz="1981" kern="1200">
          <a:solidFill>
            <a:srgbClr val="171610"/>
          </a:solidFill>
          <a:latin typeface="+mn-lt"/>
          <a:ea typeface="+mn-ea"/>
          <a:cs typeface="+mn-cs"/>
        </a:defRPr>
      </a:lvl1pPr>
      <a:lvl2pPr marL="565812" indent="-188604" algn="l" defTabSz="754416" rtl="0" eaLnBrk="1" latinLnBrk="0" hangingPunct="1">
        <a:lnSpc>
          <a:spcPct val="90000"/>
        </a:lnSpc>
        <a:spcBef>
          <a:spcPts val="495"/>
        </a:spcBef>
        <a:spcAft>
          <a:spcPts val="0"/>
        </a:spcAft>
        <a:buFont typeface="Courier New" panose="02070309020205020404" pitchFamily="49" charset="0"/>
        <a:buChar char="o"/>
        <a:defRPr sz="1815" kern="1200">
          <a:solidFill>
            <a:srgbClr val="171610"/>
          </a:solidFill>
          <a:latin typeface="+mn-lt"/>
          <a:ea typeface="+mn-ea"/>
          <a:cs typeface="+mn-cs"/>
        </a:defRPr>
      </a:lvl2pPr>
      <a:lvl3pPr marL="943021" indent="-188604" algn="l" defTabSz="754416" rtl="0" eaLnBrk="1" latinLnBrk="0" hangingPunct="1">
        <a:lnSpc>
          <a:spcPct val="90000"/>
        </a:lnSpc>
        <a:spcBef>
          <a:spcPts val="495"/>
        </a:spcBef>
        <a:spcAft>
          <a:spcPts val="0"/>
        </a:spcAft>
        <a:buFont typeface="Wingdings" panose="05000000000000000000" pitchFamily="2" charset="2"/>
        <a:buChar char="§"/>
        <a:defRPr sz="1650" kern="1200">
          <a:solidFill>
            <a:srgbClr val="171610"/>
          </a:solidFill>
          <a:latin typeface="+mn-lt"/>
          <a:ea typeface="+mn-ea"/>
          <a:cs typeface="+mn-cs"/>
        </a:defRPr>
      </a:lvl3pPr>
      <a:lvl4pPr marL="1320228" indent="-188604" algn="l" defTabSz="754416" rtl="0" eaLnBrk="1" latinLnBrk="0" hangingPunct="1">
        <a:lnSpc>
          <a:spcPct val="90000"/>
        </a:lnSpc>
        <a:spcBef>
          <a:spcPts val="495"/>
        </a:spcBef>
        <a:spcAft>
          <a:spcPts val="0"/>
        </a:spcAft>
        <a:buFont typeface="Arial" panose="020B0604020202020204" pitchFamily="34" charset="0"/>
        <a:buChar char="–"/>
        <a:defRPr sz="1485" kern="1200">
          <a:solidFill>
            <a:srgbClr val="171610"/>
          </a:solidFill>
          <a:latin typeface="+mn-lt"/>
          <a:ea typeface="+mn-ea"/>
          <a:cs typeface="+mn-cs"/>
        </a:defRPr>
      </a:lvl4pPr>
      <a:lvl5pPr marL="1697436" indent="-188604" algn="l" defTabSz="754416" rtl="0" eaLnBrk="1" latinLnBrk="0" hangingPunct="1">
        <a:lnSpc>
          <a:spcPct val="90000"/>
        </a:lnSpc>
        <a:spcBef>
          <a:spcPts val="495"/>
        </a:spcBef>
        <a:spcAft>
          <a:spcPts val="0"/>
        </a:spcAft>
        <a:buFont typeface="Arial" panose="020B0604020202020204" pitchFamily="34" charset="0"/>
        <a:buChar char="•"/>
        <a:defRPr sz="1320" kern="1200">
          <a:solidFill>
            <a:srgbClr val="171610"/>
          </a:solidFill>
          <a:latin typeface="+mn-lt"/>
          <a:ea typeface="+mn-ea"/>
          <a:cs typeface="+mn-cs"/>
        </a:defRPr>
      </a:lvl5pPr>
      <a:lvl6pPr marL="2074645" indent="-188604" algn="l" defTabSz="75441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852" indent="-188604" algn="l" defTabSz="75441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9061" indent="-188604" algn="l" defTabSz="75441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268" indent="-188604" algn="l" defTabSz="75441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208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416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625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832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6040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249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456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665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7DBF41BC-363F-F3C1-8CCA-5EE62CE08350}"/>
              </a:ext>
            </a:extLst>
          </p:cNvPr>
          <p:cNvSpPr/>
          <p:nvPr userDrawn="1"/>
        </p:nvSpPr>
        <p:spPr>
          <a:xfrm>
            <a:off x="0" y="6465660"/>
            <a:ext cx="9144000" cy="44310"/>
          </a:xfrm>
          <a:prstGeom prst="rect">
            <a:avLst/>
          </a:prstGeom>
          <a:gradFill>
            <a:gsLst>
              <a:gs pos="59000">
                <a:srgbClr val="B99E55"/>
              </a:gs>
              <a:gs pos="9000">
                <a:srgbClr val="E8DFC6"/>
              </a:gs>
              <a:gs pos="100000">
                <a:srgbClr val="C7AA6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75" b="1" i="0" u="none" strike="noStrike" cap="all" spc="0" normalizeH="0" baseline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A7841E-DF8A-3BC4-1902-D32FB9562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5566" y="6500667"/>
            <a:ext cx="9155130" cy="36663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R="0" lvl="0" indent="0" algn="ctr" defTabSz="6531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29" b="1" i="0" u="none" strike="noStrike" cap="all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000000"/>
              </a:highlight>
              <a:uLnTx/>
              <a:uFillTx/>
              <a:latin typeface="+mj-lt"/>
            </a:endParaRPr>
          </a:p>
        </p:txBody>
      </p:sp>
      <p:sp>
        <p:nvSpPr>
          <p:cNvPr id="22" name="Rectangle 27">
            <a:extLst>
              <a:ext uri="{FF2B5EF4-FFF2-40B4-BE49-F238E27FC236}">
                <a16:creationId xmlns:a16="http://schemas.microsoft.com/office/drawing/2014/main" id="{D7CDD393-32B0-73E5-920E-076EE437595F}"/>
              </a:ext>
            </a:extLst>
          </p:cNvPr>
          <p:cNvSpPr/>
          <p:nvPr userDrawn="1"/>
        </p:nvSpPr>
        <p:spPr>
          <a:xfrm flipH="1">
            <a:off x="1" y="156500"/>
            <a:ext cx="9144001" cy="726141"/>
          </a:xfrm>
          <a:custGeom>
            <a:avLst/>
            <a:gdLst>
              <a:gd name="connsiteX0" fmla="*/ 0 w 9117825"/>
              <a:gd name="connsiteY0" fmla="*/ 0 h 1412802"/>
              <a:gd name="connsiteX1" fmla="*/ 9117825 w 9117825"/>
              <a:gd name="connsiteY1" fmla="*/ 0 h 1412802"/>
              <a:gd name="connsiteX2" fmla="*/ 9117825 w 9117825"/>
              <a:gd name="connsiteY2" fmla="*/ 1412802 h 1412802"/>
              <a:gd name="connsiteX3" fmla="*/ 0 w 9117825"/>
              <a:gd name="connsiteY3" fmla="*/ 1412802 h 1412802"/>
              <a:gd name="connsiteX4" fmla="*/ 0 w 9117825"/>
              <a:gd name="connsiteY4" fmla="*/ 0 h 1412802"/>
              <a:gd name="connsiteX0" fmla="*/ 0 w 9117825"/>
              <a:gd name="connsiteY0" fmla="*/ 0 h 1412802"/>
              <a:gd name="connsiteX1" fmla="*/ 9117825 w 9117825"/>
              <a:gd name="connsiteY1" fmla="*/ 0 h 1412802"/>
              <a:gd name="connsiteX2" fmla="*/ 9117825 w 9117825"/>
              <a:gd name="connsiteY2" fmla="*/ 724825 h 1412802"/>
              <a:gd name="connsiteX3" fmla="*/ 0 w 9117825"/>
              <a:gd name="connsiteY3" fmla="*/ 1412802 h 1412802"/>
              <a:gd name="connsiteX4" fmla="*/ 0 w 9117825"/>
              <a:gd name="connsiteY4" fmla="*/ 0 h 1412802"/>
              <a:gd name="connsiteX0" fmla="*/ 0 w 9117825"/>
              <a:gd name="connsiteY0" fmla="*/ 0 h 1412802"/>
              <a:gd name="connsiteX1" fmla="*/ 9117825 w 9117825"/>
              <a:gd name="connsiteY1" fmla="*/ 0 h 1412802"/>
              <a:gd name="connsiteX2" fmla="*/ 9117825 w 9117825"/>
              <a:gd name="connsiteY2" fmla="*/ 724825 h 1412802"/>
              <a:gd name="connsiteX3" fmla="*/ 0 w 9117825"/>
              <a:gd name="connsiteY3" fmla="*/ 1412802 h 1412802"/>
              <a:gd name="connsiteX4" fmla="*/ 0 w 9117825"/>
              <a:gd name="connsiteY4" fmla="*/ 0 h 1412802"/>
              <a:gd name="connsiteX0" fmla="*/ 0 w 9117825"/>
              <a:gd name="connsiteY0" fmla="*/ 0 h 1412802"/>
              <a:gd name="connsiteX1" fmla="*/ 9117825 w 9117825"/>
              <a:gd name="connsiteY1" fmla="*/ 0 h 1412802"/>
              <a:gd name="connsiteX2" fmla="*/ 9117825 w 9117825"/>
              <a:gd name="connsiteY2" fmla="*/ 724825 h 1412802"/>
              <a:gd name="connsiteX3" fmla="*/ 0 w 9117825"/>
              <a:gd name="connsiteY3" fmla="*/ 1412802 h 1412802"/>
              <a:gd name="connsiteX4" fmla="*/ 0 w 9117825"/>
              <a:gd name="connsiteY4" fmla="*/ 0 h 1412802"/>
              <a:gd name="connsiteX0" fmla="*/ 0 w 9117825"/>
              <a:gd name="connsiteY0" fmla="*/ 0 h 1412802"/>
              <a:gd name="connsiteX1" fmla="*/ 9117825 w 9117825"/>
              <a:gd name="connsiteY1" fmla="*/ 0 h 1412802"/>
              <a:gd name="connsiteX2" fmla="*/ 9117825 w 9117825"/>
              <a:gd name="connsiteY2" fmla="*/ 724825 h 1412802"/>
              <a:gd name="connsiteX3" fmla="*/ 0 w 9117825"/>
              <a:gd name="connsiteY3" fmla="*/ 1412802 h 1412802"/>
              <a:gd name="connsiteX4" fmla="*/ 0 w 9117825"/>
              <a:gd name="connsiteY4" fmla="*/ 0 h 1412802"/>
              <a:gd name="connsiteX0" fmla="*/ 0 w 9117825"/>
              <a:gd name="connsiteY0" fmla="*/ 0 h 1412802"/>
              <a:gd name="connsiteX1" fmla="*/ 9117825 w 9117825"/>
              <a:gd name="connsiteY1" fmla="*/ 0 h 1412802"/>
              <a:gd name="connsiteX2" fmla="*/ 9117825 w 9117825"/>
              <a:gd name="connsiteY2" fmla="*/ 724825 h 1412802"/>
              <a:gd name="connsiteX3" fmla="*/ 0 w 9117825"/>
              <a:gd name="connsiteY3" fmla="*/ 1412802 h 1412802"/>
              <a:gd name="connsiteX4" fmla="*/ 0 w 9117825"/>
              <a:gd name="connsiteY4" fmla="*/ 0 h 1412802"/>
              <a:gd name="connsiteX0" fmla="*/ 0 w 9117825"/>
              <a:gd name="connsiteY0" fmla="*/ 0 h 1422829"/>
              <a:gd name="connsiteX1" fmla="*/ 9117825 w 9117825"/>
              <a:gd name="connsiteY1" fmla="*/ 0 h 1422829"/>
              <a:gd name="connsiteX2" fmla="*/ 9117825 w 9117825"/>
              <a:gd name="connsiteY2" fmla="*/ 724825 h 1422829"/>
              <a:gd name="connsiteX3" fmla="*/ 0 w 9117825"/>
              <a:gd name="connsiteY3" fmla="*/ 1412802 h 1422829"/>
              <a:gd name="connsiteX4" fmla="*/ 0 w 9117825"/>
              <a:gd name="connsiteY4" fmla="*/ 0 h 1422829"/>
              <a:gd name="connsiteX0" fmla="*/ 0 w 9117825"/>
              <a:gd name="connsiteY0" fmla="*/ 0 h 1426217"/>
              <a:gd name="connsiteX1" fmla="*/ 9117825 w 9117825"/>
              <a:gd name="connsiteY1" fmla="*/ 0 h 1426217"/>
              <a:gd name="connsiteX2" fmla="*/ 9117825 w 9117825"/>
              <a:gd name="connsiteY2" fmla="*/ 724825 h 1426217"/>
              <a:gd name="connsiteX3" fmla="*/ 0 w 9117825"/>
              <a:gd name="connsiteY3" fmla="*/ 1412802 h 1426217"/>
              <a:gd name="connsiteX4" fmla="*/ 0 w 9117825"/>
              <a:gd name="connsiteY4" fmla="*/ 0 h 1426217"/>
              <a:gd name="connsiteX0" fmla="*/ 0 w 9117825"/>
              <a:gd name="connsiteY0" fmla="*/ 0 h 1432832"/>
              <a:gd name="connsiteX1" fmla="*/ 9117825 w 9117825"/>
              <a:gd name="connsiteY1" fmla="*/ 0 h 1432832"/>
              <a:gd name="connsiteX2" fmla="*/ 9117825 w 9117825"/>
              <a:gd name="connsiteY2" fmla="*/ 724825 h 1432832"/>
              <a:gd name="connsiteX3" fmla="*/ 0 w 9117825"/>
              <a:gd name="connsiteY3" fmla="*/ 1412802 h 1432832"/>
              <a:gd name="connsiteX4" fmla="*/ 0 w 9117825"/>
              <a:gd name="connsiteY4" fmla="*/ 0 h 1432832"/>
              <a:gd name="connsiteX0" fmla="*/ 0 w 9117825"/>
              <a:gd name="connsiteY0" fmla="*/ 0 h 1430499"/>
              <a:gd name="connsiteX1" fmla="*/ 9117825 w 9117825"/>
              <a:gd name="connsiteY1" fmla="*/ 0 h 1430499"/>
              <a:gd name="connsiteX2" fmla="*/ 9117825 w 9117825"/>
              <a:gd name="connsiteY2" fmla="*/ 724825 h 1430499"/>
              <a:gd name="connsiteX3" fmla="*/ 0 w 9117825"/>
              <a:gd name="connsiteY3" fmla="*/ 1412802 h 1430499"/>
              <a:gd name="connsiteX4" fmla="*/ 0 w 9117825"/>
              <a:gd name="connsiteY4" fmla="*/ 0 h 1430499"/>
              <a:gd name="connsiteX0" fmla="*/ 0 w 9117825"/>
              <a:gd name="connsiteY0" fmla="*/ 0 h 1431392"/>
              <a:gd name="connsiteX1" fmla="*/ 9117825 w 9117825"/>
              <a:gd name="connsiteY1" fmla="*/ 0 h 1431392"/>
              <a:gd name="connsiteX2" fmla="*/ 9117825 w 9117825"/>
              <a:gd name="connsiteY2" fmla="*/ 724825 h 1431392"/>
              <a:gd name="connsiteX3" fmla="*/ 0 w 9117825"/>
              <a:gd name="connsiteY3" fmla="*/ 1412802 h 1431392"/>
              <a:gd name="connsiteX4" fmla="*/ 0 w 9117825"/>
              <a:gd name="connsiteY4" fmla="*/ 0 h 1431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7825" h="1431392">
                <a:moveTo>
                  <a:pt x="0" y="0"/>
                </a:moveTo>
                <a:lnTo>
                  <a:pt x="9117825" y="0"/>
                </a:lnTo>
                <a:lnTo>
                  <a:pt x="9117825" y="724825"/>
                </a:lnTo>
                <a:cubicBezTo>
                  <a:pt x="4702595" y="510013"/>
                  <a:pt x="5468967" y="1584070"/>
                  <a:pt x="0" y="1412802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59000">
                <a:srgbClr val="B99E55"/>
              </a:gs>
              <a:gs pos="22000">
                <a:srgbClr val="DCCFAA"/>
              </a:gs>
              <a:gs pos="0">
                <a:schemeClr val="bg1"/>
              </a:gs>
              <a:gs pos="100000">
                <a:srgbClr val="C7AA61"/>
              </a:gs>
            </a:gsLst>
            <a:path path="circle">
              <a:fillToRect r="100000" b="100000"/>
            </a:path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75" b="1" i="0" u="none" strike="noStrike" cap="all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</a:endParaRPr>
          </a:p>
        </p:txBody>
      </p:sp>
      <p:sp>
        <p:nvSpPr>
          <p:cNvPr id="23" name="Rectangle 27">
            <a:extLst>
              <a:ext uri="{FF2B5EF4-FFF2-40B4-BE49-F238E27FC236}">
                <a16:creationId xmlns:a16="http://schemas.microsoft.com/office/drawing/2014/main" id="{32B57BA4-04F6-D30A-63F3-91E65BC9EE2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 flipH="1">
            <a:off x="-11129" y="-22129"/>
            <a:ext cx="9155129" cy="799264"/>
          </a:xfrm>
          <a:custGeom>
            <a:avLst/>
            <a:gdLst>
              <a:gd name="connsiteX0" fmla="*/ 0 w 9117825"/>
              <a:gd name="connsiteY0" fmla="*/ 0 h 1412802"/>
              <a:gd name="connsiteX1" fmla="*/ 9117825 w 9117825"/>
              <a:gd name="connsiteY1" fmla="*/ 0 h 1412802"/>
              <a:gd name="connsiteX2" fmla="*/ 9117825 w 9117825"/>
              <a:gd name="connsiteY2" fmla="*/ 1412802 h 1412802"/>
              <a:gd name="connsiteX3" fmla="*/ 0 w 9117825"/>
              <a:gd name="connsiteY3" fmla="*/ 1412802 h 1412802"/>
              <a:gd name="connsiteX4" fmla="*/ 0 w 9117825"/>
              <a:gd name="connsiteY4" fmla="*/ 0 h 1412802"/>
              <a:gd name="connsiteX0" fmla="*/ 0 w 9117825"/>
              <a:gd name="connsiteY0" fmla="*/ 0 h 1412802"/>
              <a:gd name="connsiteX1" fmla="*/ 9117825 w 9117825"/>
              <a:gd name="connsiteY1" fmla="*/ 0 h 1412802"/>
              <a:gd name="connsiteX2" fmla="*/ 9117825 w 9117825"/>
              <a:gd name="connsiteY2" fmla="*/ 724825 h 1412802"/>
              <a:gd name="connsiteX3" fmla="*/ 0 w 9117825"/>
              <a:gd name="connsiteY3" fmla="*/ 1412802 h 1412802"/>
              <a:gd name="connsiteX4" fmla="*/ 0 w 9117825"/>
              <a:gd name="connsiteY4" fmla="*/ 0 h 1412802"/>
              <a:gd name="connsiteX0" fmla="*/ 0 w 9117825"/>
              <a:gd name="connsiteY0" fmla="*/ 0 h 1412802"/>
              <a:gd name="connsiteX1" fmla="*/ 9117825 w 9117825"/>
              <a:gd name="connsiteY1" fmla="*/ 0 h 1412802"/>
              <a:gd name="connsiteX2" fmla="*/ 9117825 w 9117825"/>
              <a:gd name="connsiteY2" fmla="*/ 724825 h 1412802"/>
              <a:gd name="connsiteX3" fmla="*/ 0 w 9117825"/>
              <a:gd name="connsiteY3" fmla="*/ 1412802 h 1412802"/>
              <a:gd name="connsiteX4" fmla="*/ 0 w 9117825"/>
              <a:gd name="connsiteY4" fmla="*/ 0 h 1412802"/>
              <a:gd name="connsiteX0" fmla="*/ 0 w 9117825"/>
              <a:gd name="connsiteY0" fmla="*/ 0 h 1412802"/>
              <a:gd name="connsiteX1" fmla="*/ 9117825 w 9117825"/>
              <a:gd name="connsiteY1" fmla="*/ 0 h 1412802"/>
              <a:gd name="connsiteX2" fmla="*/ 9117825 w 9117825"/>
              <a:gd name="connsiteY2" fmla="*/ 724825 h 1412802"/>
              <a:gd name="connsiteX3" fmla="*/ 0 w 9117825"/>
              <a:gd name="connsiteY3" fmla="*/ 1412802 h 1412802"/>
              <a:gd name="connsiteX4" fmla="*/ 0 w 9117825"/>
              <a:gd name="connsiteY4" fmla="*/ 0 h 1412802"/>
              <a:gd name="connsiteX0" fmla="*/ 0 w 9117825"/>
              <a:gd name="connsiteY0" fmla="*/ 0 h 1412802"/>
              <a:gd name="connsiteX1" fmla="*/ 9117825 w 9117825"/>
              <a:gd name="connsiteY1" fmla="*/ 0 h 1412802"/>
              <a:gd name="connsiteX2" fmla="*/ 9117825 w 9117825"/>
              <a:gd name="connsiteY2" fmla="*/ 724825 h 1412802"/>
              <a:gd name="connsiteX3" fmla="*/ 0 w 9117825"/>
              <a:gd name="connsiteY3" fmla="*/ 1412802 h 1412802"/>
              <a:gd name="connsiteX4" fmla="*/ 0 w 9117825"/>
              <a:gd name="connsiteY4" fmla="*/ 0 h 1412802"/>
              <a:gd name="connsiteX0" fmla="*/ 0 w 9117825"/>
              <a:gd name="connsiteY0" fmla="*/ 0 h 1412802"/>
              <a:gd name="connsiteX1" fmla="*/ 9117825 w 9117825"/>
              <a:gd name="connsiteY1" fmla="*/ 0 h 1412802"/>
              <a:gd name="connsiteX2" fmla="*/ 9117825 w 9117825"/>
              <a:gd name="connsiteY2" fmla="*/ 724825 h 1412802"/>
              <a:gd name="connsiteX3" fmla="*/ 0 w 9117825"/>
              <a:gd name="connsiteY3" fmla="*/ 1412802 h 1412802"/>
              <a:gd name="connsiteX4" fmla="*/ 0 w 9117825"/>
              <a:gd name="connsiteY4" fmla="*/ 0 h 1412802"/>
              <a:gd name="connsiteX0" fmla="*/ 0 w 9117825"/>
              <a:gd name="connsiteY0" fmla="*/ 0 h 1422829"/>
              <a:gd name="connsiteX1" fmla="*/ 9117825 w 9117825"/>
              <a:gd name="connsiteY1" fmla="*/ 0 h 1422829"/>
              <a:gd name="connsiteX2" fmla="*/ 9117825 w 9117825"/>
              <a:gd name="connsiteY2" fmla="*/ 724825 h 1422829"/>
              <a:gd name="connsiteX3" fmla="*/ 0 w 9117825"/>
              <a:gd name="connsiteY3" fmla="*/ 1412802 h 1422829"/>
              <a:gd name="connsiteX4" fmla="*/ 0 w 9117825"/>
              <a:gd name="connsiteY4" fmla="*/ 0 h 1422829"/>
              <a:gd name="connsiteX0" fmla="*/ 0 w 9117825"/>
              <a:gd name="connsiteY0" fmla="*/ 0 h 1426217"/>
              <a:gd name="connsiteX1" fmla="*/ 9117825 w 9117825"/>
              <a:gd name="connsiteY1" fmla="*/ 0 h 1426217"/>
              <a:gd name="connsiteX2" fmla="*/ 9117825 w 9117825"/>
              <a:gd name="connsiteY2" fmla="*/ 724825 h 1426217"/>
              <a:gd name="connsiteX3" fmla="*/ 0 w 9117825"/>
              <a:gd name="connsiteY3" fmla="*/ 1412802 h 1426217"/>
              <a:gd name="connsiteX4" fmla="*/ 0 w 9117825"/>
              <a:gd name="connsiteY4" fmla="*/ 0 h 1426217"/>
              <a:gd name="connsiteX0" fmla="*/ 0 w 9117825"/>
              <a:gd name="connsiteY0" fmla="*/ 0 h 1432832"/>
              <a:gd name="connsiteX1" fmla="*/ 9117825 w 9117825"/>
              <a:gd name="connsiteY1" fmla="*/ 0 h 1432832"/>
              <a:gd name="connsiteX2" fmla="*/ 9117825 w 9117825"/>
              <a:gd name="connsiteY2" fmla="*/ 724825 h 1432832"/>
              <a:gd name="connsiteX3" fmla="*/ 0 w 9117825"/>
              <a:gd name="connsiteY3" fmla="*/ 1412802 h 1432832"/>
              <a:gd name="connsiteX4" fmla="*/ 0 w 9117825"/>
              <a:gd name="connsiteY4" fmla="*/ 0 h 1432832"/>
              <a:gd name="connsiteX0" fmla="*/ 0 w 9117825"/>
              <a:gd name="connsiteY0" fmla="*/ 0 h 1430499"/>
              <a:gd name="connsiteX1" fmla="*/ 9117825 w 9117825"/>
              <a:gd name="connsiteY1" fmla="*/ 0 h 1430499"/>
              <a:gd name="connsiteX2" fmla="*/ 9117825 w 9117825"/>
              <a:gd name="connsiteY2" fmla="*/ 724825 h 1430499"/>
              <a:gd name="connsiteX3" fmla="*/ 0 w 9117825"/>
              <a:gd name="connsiteY3" fmla="*/ 1412802 h 1430499"/>
              <a:gd name="connsiteX4" fmla="*/ 0 w 9117825"/>
              <a:gd name="connsiteY4" fmla="*/ 0 h 1430499"/>
              <a:gd name="connsiteX0" fmla="*/ 0 w 9117825"/>
              <a:gd name="connsiteY0" fmla="*/ 0 h 1431392"/>
              <a:gd name="connsiteX1" fmla="*/ 9117825 w 9117825"/>
              <a:gd name="connsiteY1" fmla="*/ 0 h 1431392"/>
              <a:gd name="connsiteX2" fmla="*/ 9117825 w 9117825"/>
              <a:gd name="connsiteY2" fmla="*/ 724825 h 1431392"/>
              <a:gd name="connsiteX3" fmla="*/ 0 w 9117825"/>
              <a:gd name="connsiteY3" fmla="*/ 1412802 h 1431392"/>
              <a:gd name="connsiteX4" fmla="*/ 0 w 9117825"/>
              <a:gd name="connsiteY4" fmla="*/ 0 h 1431392"/>
              <a:gd name="connsiteX0" fmla="*/ 0 w 9117825"/>
              <a:gd name="connsiteY0" fmla="*/ 0 h 1435570"/>
              <a:gd name="connsiteX1" fmla="*/ 9117825 w 9117825"/>
              <a:gd name="connsiteY1" fmla="*/ 0 h 1435570"/>
              <a:gd name="connsiteX2" fmla="*/ 9117825 w 9117825"/>
              <a:gd name="connsiteY2" fmla="*/ 724825 h 1435570"/>
              <a:gd name="connsiteX3" fmla="*/ 0 w 9117825"/>
              <a:gd name="connsiteY3" fmla="*/ 1412802 h 1435570"/>
              <a:gd name="connsiteX4" fmla="*/ 0 w 9117825"/>
              <a:gd name="connsiteY4" fmla="*/ 0 h 1435570"/>
              <a:gd name="connsiteX0" fmla="*/ 0 w 9117825"/>
              <a:gd name="connsiteY0" fmla="*/ 0 h 1437990"/>
              <a:gd name="connsiteX1" fmla="*/ 9117825 w 9117825"/>
              <a:gd name="connsiteY1" fmla="*/ 0 h 1437990"/>
              <a:gd name="connsiteX2" fmla="*/ 9117825 w 9117825"/>
              <a:gd name="connsiteY2" fmla="*/ 817812 h 1437990"/>
              <a:gd name="connsiteX3" fmla="*/ 0 w 9117825"/>
              <a:gd name="connsiteY3" fmla="*/ 1412802 h 1437990"/>
              <a:gd name="connsiteX4" fmla="*/ 0 w 9117825"/>
              <a:gd name="connsiteY4" fmla="*/ 0 h 1437990"/>
              <a:gd name="connsiteX0" fmla="*/ 0 w 9117825"/>
              <a:gd name="connsiteY0" fmla="*/ 0 h 1423865"/>
              <a:gd name="connsiteX1" fmla="*/ 9117825 w 9117825"/>
              <a:gd name="connsiteY1" fmla="*/ 0 h 1423865"/>
              <a:gd name="connsiteX2" fmla="*/ 9117825 w 9117825"/>
              <a:gd name="connsiteY2" fmla="*/ 817812 h 1423865"/>
              <a:gd name="connsiteX3" fmla="*/ 0 w 9117825"/>
              <a:gd name="connsiteY3" fmla="*/ 1412802 h 1423865"/>
              <a:gd name="connsiteX4" fmla="*/ 0 w 9117825"/>
              <a:gd name="connsiteY4" fmla="*/ 0 h 1423865"/>
              <a:gd name="connsiteX0" fmla="*/ 0 w 9117825"/>
              <a:gd name="connsiteY0" fmla="*/ 0 h 1420649"/>
              <a:gd name="connsiteX1" fmla="*/ 9117825 w 9117825"/>
              <a:gd name="connsiteY1" fmla="*/ 0 h 1420649"/>
              <a:gd name="connsiteX2" fmla="*/ 9117825 w 9117825"/>
              <a:gd name="connsiteY2" fmla="*/ 817812 h 1420649"/>
              <a:gd name="connsiteX3" fmla="*/ 0 w 9117825"/>
              <a:gd name="connsiteY3" fmla="*/ 1412802 h 1420649"/>
              <a:gd name="connsiteX4" fmla="*/ 0 w 9117825"/>
              <a:gd name="connsiteY4" fmla="*/ 0 h 1420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7825" h="1420649">
                <a:moveTo>
                  <a:pt x="0" y="0"/>
                </a:moveTo>
                <a:lnTo>
                  <a:pt x="9117825" y="0"/>
                </a:lnTo>
                <a:lnTo>
                  <a:pt x="9117825" y="817812"/>
                </a:lnTo>
                <a:cubicBezTo>
                  <a:pt x="4721380" y="826170"/>
                  <a:pt x="5478359" y="1500383"/>
                  <a:pt x="0" y="141280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R="0" lvl="0" indent="0" algn="ctr" defTabSz="65318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929" b="1" i="0" u="none" strike="noStrike" cap="all" spc="0" normalizeH="0" baseline="0" noProof="0" dirty="0">
              <a:ln>
                <a:noFill/>
              </a:ln>
              <a:solidFill>
                <a:prstClr val="white"/>
              </a:solidFill>
              <a:effectLst/>
              <a:highlight>
                <a:srgbClr val="000000"/>
              </a:highlight>
              <a:uLnTx/>
              <a:uFillTx/>
              <a:latin typeface="+mj-lt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37105E0-FA3E-7897-57D7-C12ECB10280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94271" y="173115"/>
            <a:ext cx="437957" cy="631555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C5DDDB2E-B723-D17B-5202-35921C1A19A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895" y="193607"/>
            <a:ext cx="469241" cy="552048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34950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</p:sldLayoutIdLst>
  <p:hf hdr="0" ftr="0" dt="0"/>
  <p:txStyles>
    <p:titleStyle>
      <a:lvl1pPr algn="ctr" defTabSz="754416" rtl="0" eaLnBrk="1" latinLnBrk="0" hangingPunct="1">
        <a:lnSpc>
          <a:spcPct val="100000"/>
        </a:lnSpc>
        <a:spcBef>
          <a:spcPct val="0"/>
        </a:spcBef>
        <a:buNone/>
        <a:defRPr sz="1981" b="1" kern="1200">
          <a:solidFill>
            <a:srgbClr val="C9AD62"/>
          </a:solidFill>
          <a:latin typeface="+mj-lt"/>
          <a:ea typeface="+mj-ea"/>
          <a:cs typeface="+mj-cs"/>
        </a:defRPr>
      </a:lvl1pPr>
    </p:titleStyle>
    <p:bodyStyle>
      <a:lvl1pPr marL="188604" indent="-188604" algn="l" defTabSz="754416" rtl="0" eaLnBrk="1" latinLnBrk="0" hangingPunct="1">
        <a:lnSpc>
          <a:spcPct val="90000"/>
        </a:lnSpc>
        <a:spcBef>
          <a:spcPts val="990"/>
        </a:spcBef>
        <a:spcAft>
          <a:spcPts val="0"/>
        </a:spcAft>
        <a:buFont typeface="Arial" panose="020B0604020202020204" pitchFamily="34" charset="0"/>
        <a:buChar char="•"/>
        <a:defRPr sz="1981" kern="1200">
          <a:solidFill>
            <a:srgbClr val="171610"/>
          </a:solidFill>
          <a:latin typeface="+mn-lt"/>
          <a:ea typeface="+mn-ea"/>
          <a:cs typeface="+mn-cs"/>
        </a:defRPr>
      </a:lvl1pPr>
      <a:lvl2pPr marL="565812" indent="-188604" algn="l" defTabSz="754416" rtl="0" eaLnBrk="1" latinLnBrk="0" hangingPunct="1">
        <a:lnSpc>
          <a:spcPct val="90000"/>
        </a:lnSpc>
        <a:spcBef>
          <a:spcPts val="495"/>
        </a:spcBef>
        <a:spcAft>
          <a:spcPts val="0"/>
        </a:spcAft>
        <a:buFont typeface="Courier New" panose="02070309020205020404" pitchFamily="49" charset="0"/>
        <a:buChar char="o"/>
        <a:defRPr sz="1815" kern="1200">
          <a:solidFill>
            <a:srgbClr val="171610"/>
          </a:solidFill>
          <a:latin typeface="+mn-lt"/>
          <a:ea typeface="+mn-ea"/>
          <a:cs typeface="+mn-cs"/>
        </a:defRPr>
      </a:lvl2pPr>
      <a:lvl3pPr marL="943021" indent="-188604" algn="l" defTabSz="754416" rtl="0" eaLnBrk="1" latinLnBrk="0" hangingPunct="1">
        <a:lnSpc>
          <a:spcPct val="90000"/>
        </a:lnSpc>
        <a:spcBef>
          <a:spcPts val="495"/>
        </a:spcBef>
        <a:spcAft>
          <a:spcPts val="0"/>
        </a:spcAft>
        <a:buFont typeface="Wingdings" panose="05000000000000000000" pitchFamily="2" charset="2"/>
        <a:buChar char="§"/>
        <a:defRPr sz="1650" kern="1200">
          <a:solidFill>
            <a:srgbClr val="171610"/>
          </a:solidFill>
          <a:latin typeface="+mn-lt"/>
          <a:ea typeface="+mn-ea"/>
          <a:cs typeface="+mn-cs"/>
        </a:defRPr>
      </a:lvl3pPr>
      <a:lvl4pPr marL="1320228" indent="-188604" algn="l" defTabSz="754416" rtl="0" eaLnBrk="1" latinLnBrk="0" hangingPunct="1">
        <a:lnSpc>
          <a:spcPct val="90000"/>
        </a:lnSpc>
        <a:spcBef>
          <a:spcPts val="495"/>
        </a:spcBef>
        <a:spcAft>
          <a:spcPts val="0"/>
        </a:spcAft>
        <a:buFont typeface="Arial" panose="020B0604020202020204" pitchFamily="34" charset="0"/>
        <a:buChar char="–"/>
        <a:defRPr sz="1485" kern="1200">
          <a:solidFill>
            <a:srgbClr val="171610"/>
          </a:solidFill>
          <a:latin typeface="+mn-lt"/>
          <a:ea typeface="+mn-ea"/>
          <a:cs typeface="+mn-cs"/>
        </a:defRPr>
      </a:lvl4pPr>
      <a:lvl5pPr marL="1697436" indent="-188604" algn="l" defTabSz="754416" rtl="0" eaLnBrk="1" latinLnBrk="0" hangingPunct="1">
        <a:lnSpc>
          <a:spcPct val="90000"/>
        </a:lnSpc>
        <a:spcBef>
          <a:spcPts val="495"/>
        </a:spcBef>
        <a:spcAft>
          <a:spcPts val="0"/>
        </a:spcAft>
        <a:buFont typeface="Arial" panose="020B0604020202020204" pitchFamily="34" charset="0"/>
        <a:buChar char="•"/>
        <a:defRPr sz="1320" kern="1200">
          <a:solidFill>
            <a:srgbClr val="171610"/>
          </a:solidFill>
          <a:latin typeface="+mn-lt"/>
          <a:ea typeface="+mn-ea"/>
          <a:cs typeface="+mn-cs"/>
        </a:defRPr>
      </a:lvl5pPr>
      <a:lvl6pPr marL="2074645" indent="-188604" algn="l" defTabSz="75441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852" indent="-188604" algn="l" defTabSz="75441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9061" indent="-188604" algn="l" defTabSz="75441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268" indent="-188604" algn="l" defTabSz="75441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208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416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625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832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6040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249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456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665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ap&#10;&#10;Description automatically generated">
            <a:extLst>
              <a:ext uri="{FF2B5EF4-FFF2-40B4-BE49-F238E27FC236}">
                <a16:creationId xmlns:a16="http://schemas.microsoft.com/office/drawing/2014/main" id="{FB1FA51D-BC16-AB51-E0A0-52F63231AD5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 rotWithShape="1">
          <a:blip r:embed="rId4">
            <a:duotone>
              <a:schemeClr val="accent5">
                <a:shade val="45000"/>
                <a:satMod val="135000"/>
              </a:schemeClr>
              <a:prstClr val="white"/>
            </a:duotone>
            <a:alphaModFix amt="3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79" t="-934" r="-1" b="3633"/>
          <a:stretch/>
        </p:blipFill>
        <p:spPr>
          <a:xfrm>
            <a:off x="0" y="313916"/>
            <a:ext cx="9144000" cy="635582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3C8653E-B861-B050-CB75-62B864663E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" y="6461984"/>
            <a:ext cx="9153631" cy="415522"/>
          </a:xfrm>
          <a:prstGeom prst="rect">
            <a:avLst/>
          </a:prstGeom>
          <a:solidFill>
            <a:srgbClr val="171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7544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73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51E0B1-25FD-E9FD-982A-C7499597BC4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-9631" y="11"/>
            <a:ext cx="9153631" cy="415522"/>
          </a:xfrm>
          <a:prstGeom prst="rect">
            <a:avLst/>
          </a:prstGeom>
          <a:solidFill>
            <a:srgbClr val="171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75441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73" b="1" i="0" u="none" strike="noStrike" kern="1200" cap="all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9974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</p:sldLayoutIdLst>
  <p:hf hdr="0" ftr="0" dt="0"/>
  <p:txStyles>
    <p:titleStyle>
      <a:lvl1pPr algn="ctr" defTabSz="754416" rtl="0" eaLnBrk="1" latinLnBrk="0" hangingPunct="1">
        <a:lnSpc>
          <a:spcPct val="100000"/>
        </a:lnSpc>
        <a:spcBef>
          <a:spcPct val="0"/>
        </a:spcBef>
        <a:buNone/>
        <a:defRPr sz="1981" b="1" kern="1200">
          <a:solidFill>
            <a:schemeClr val="accent5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188604" indent="-188604" algn="l" defTabSz="754416" rtl="0" eaLnBrk="1" latinLnBrk="0" hangingPunct="1">
        <a:lnSpc>
          <a:spcPct val="90000"/>
        </a:lnSpc>
        <a:spcBef>
          <a:spcPts val="990"/>
        </a:spcBef>
        <a:spcAft>
          <a:spcPts val="0"/>
        </a:spcAft>
        <a:buFont typeface="Arial" panose="020B0604020202020204" pitchFamily="34" charset="0"/>
        <a:buChar char="•"/>
        <a:defRPr sz="1981" kern="1200">
          <a:solidFill>
            <a:schemeClr val="tx1"/>
          </a:solidFill>
          <a:latin typeface="+mn-lt"/>
          <a:ea typeface="+mn-ea"/>
          <a:cs typeface="+mn-cs"/>
        </a:defRPr>
      </a:lvl1pPr>
      <a:lvl2pPr marL="565812" indent="-188604" algn="l" defTabSz="754416" rtl="0" eaLnBrk="1" latinLnBrk="0" hangingPunct="1">
        <a:lnSpc>
          <a:spcPct val="90000"/>
        </a:lnSpc>
        <a:spcBef>
          <a:spcPts val="495"/>
        </a:spcBef>
        <a:spcAft>
          <a:spcPts val="0"/>
        </a:spcAft>
        <a:buFont typeface="Arial" panose="020B0604020202020204" pitchFamily="34" charset="0"/>
        <a:buChar char="–"/>
        <a:defRPr sz="1981" kern="1200">
          <a:solidFill>
            <a:schemeClr val="tx1"/>
          </a:solidFill>
          <a:latin typeface="+mn-lt"/>
          <a:ea typeface="+mn-ea"/>
          <a:cs typeface="+mn-cs"/>
        </a:defRPr>
      </a:lvl2pPr>
      <a:lvl3pPr marL="943021" indent="-188604" algn="l" defTabSz="754416" rtl="0" eaLnBrk="1" latinLnBrk="0" hangingPunct="1">
        <a:lnSpc>
          <a:spcPct val="90000"/>
        </a:lnSpc>
        <a:spcBef>
          <a:spcPts val="495"/>
        </a:spcBef>
        <a:spcAft>
          <a:spcPts val="0"/>
        </a:spcAft>
        <a:buFont typeface="Arial" panose="020B0604020202020204" pitchFamily="34" charset="0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3pPr>
      <a:lvl4pPr marL="1320228" indent="-188604" algn="l" defTabSz="754416" rtl="0" eaLnBrk="1" latinLnBrk="0" hangingPunct="1">
        <a:lnSpc>
          <a:spcPct val="90000"/>
        </a:lnSpc>
        <a:spcBef>
          <a:spcPts val="495"/>
        </a:spcBef>
        <a:spcAft>
          <a:spcPts val="0"/>
        </a:spcAft>
        <a:buFont typeface="Arial" panose="020B0604020202020204" pitchFamily="34" charset="0"/>
        <a:buChar char="–"/>
        <a:defRPr sz="1650" kern="1200">
          <a:solidFill>
            <a:schemeClr val="tx1"/>
          </a:solidFill>
          <a:latin typeface="+mn-lt"/>
          <a:ea typeface="+mn-ea"/>
          <a:cs typeface="+mn-cs"/>
        </a:defRPr>
      </a:lvl4pPr>
      <a:lvl5pPr marL="1697436" indent="-188604" algn="l" defTabSz="754416" rtl="0" eaLnBrk="1" latinLnBrk="0" hangingPunct="1">
        <a:lnSpc>
          <a:spcPct val="90000"/>
        </a:lnSpc>
        <a:spcBef>
          <a:spcPts val="495"/>
        </a:spcBef>
        <a:spcAft>
          <a:spcPts val="0"/>
        </a:spcAft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2074645" indent="-188604" algn="l" defTabSz="75441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451852" indent="-188604" algn="l" defTabSz="75441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829061" indent="-188604" algn="l" defTabSz="75441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206268" indent="-188604" algn="l" defTabSz="754416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208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416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625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832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6040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249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456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665" algn="l" defTabSz="754416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John.Henley@dla.mil" TargetMode="External"/><Relationship Id="rId2" Type="http://schemas.openxmlformats.org/officeDocument/2006/relationships/hyperlink" Target="mailto:Christina.Richardson@dla.mil" TargetMode="External"/><Relationship Id="rId1" Type="http://schemas.openxmlformats.org/officeDocument/2006/relationships/slideLayout" Target="../slideLayouts/slideLayout8.xml"/><Relationship Id="rId4" Type="http://schemas.openxmlformats.org/officeDocument/2006/relationships/hyperlink" Target="mailto:Crystal.Ober@dla.mil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 idx="4294967295"/>
          </p:nvPr>
        </p:nvSpPr>
        <p:spPr>
          <a:xfrm>
            <a:off x="-336884" y="1526119"/>
            <a:ext cx="6968691" cy="109728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Acquisition Recompete (HAR)</a:t>
            </a:r>
            <a:br>
              <a:rPr lang="en-US" sz="32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2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Industry Day</a:t>
            </a:r>
            <a:br>
              <a:rPr lang="en-US" sz="32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</a:br>
            <a:endParaRPr lang="en-US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4294967295"/>
          </p:nvPr>
        </p:nvSpPr>
        <p:spPr>
          <a:xfrm>
            <a:off x="2261936" y="3077822"/>
            <a:ext cx="4114800" cy="1542306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Lance Cangelosi</a:t>
            </a:r>
          </a:p>
          <a:p>
            <a:pPr marL="0" indent="0">
              <a:buNone/>
            </a:pPr>
            <a: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Program Manager</a:t>
            </a:r>
          </a:p>
          <a:p>
            <a:pPr marL="0" indent="0">
              <a:buNone/>
            </a:pPr>
            <a: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DLA Aviation</a:t>
            </a:r>
          </a:p>
          <a:p>
            <a:pPr marL="0" indent="0">
              <a:buNone/>
            </a:pPr>
            <a:r>
              <a:rPr lang="en-US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cs typeface="Times New Roman" panose="02020603050405020304" pitchFamily="18" charset="0"/>
              </a:rPr>
              <a:t>7 May 2025</a:t>
            </a:r>
          </a:p>
          <a:p>
            <a:pPr marL="0" indent="0">
              <a:buNone/>
            </a:pPr>
            <a:endParaRPr lang="en-US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27456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306712" y="82887"/>
            <a:ext cx="5423345" cy="378083"/>
          </a:xfrm>
        </p:spPr>
        <p:txBody>
          <a:bodyPr/>
          <a:lstStyle/>
          <a:p>
            <a:r>
              <a:rPr lang="en-US" sz="3200" dirty="0">
                <a:latin typeface="+mn-lt"/>
                <a:cs typeface="Times New Roman" panose="02020603050405020304" pitchFamily="18" charset="0"/>
              </a:rPr>
              <a:t>Agenda</a:t>
            </a:r>
            <a:endParaRPr lang="en-US" sz="32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70353F-5ECB-4B50-B3EA-C871EA4E3F32}" type="slidenum">
              <a:rPr lang="en-US" smtClean="0"/>
              <a:t>2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1D319C-0886-408A-8359-BC1425E50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700720"/>
              </p:ext>
            </p:extLst>
          </p:nvPr>
        </p:nvGraphicFramePr>
        <p:xfrm>
          <a:off x="413932" y="1908790"/>
          <a:ext cx="8316125" cy="33826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042">
                  <a:extLst>
                    <a:ext uri="{9D8B030D-6E8A-4147-A177-3AD203B41FA5}">
                      <a16:colId xmlns:a16="http://schemas.microsoft.com/office/drawing/2014/main" val="3682510829"/>
                    </a:ext>
                  </a:extLst>
                </a:gridCol>
                <a:gridCol w="2567550">
                  <a:extLst>
                    <a:ext uri="{9D8B030D-6E8A-4147-A177-3AD203B41FA5}">
                      <a16:colId xmlns:a16="http://schemas.microsoft.com/office/drawing/2014/main" val="3819798657"/>
                    </a:ext>
                  </a:extLst>
                </a:gridCol>
                <a:gridCol w="2976533">
                  <a:extLst>
                    <a:ext uri="{9D8B030D-6E8A-4147-A177-3AD203B41FA5}">
                      <a16:colId xmlns:a16="http://schemas.microsoft.com/office/drawing/2014/main" val="1688940502"/>
                    </a:ext>
                  </a:extLst>
                </a:gridCol>
              </a:tblGrid>
              <a:tr h="3346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 May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Location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494837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Opening/Admin Remarks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0900-0945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Bldg 70, DSCR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5589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Current Contract Construct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0945-1030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Bldg 70, DSCR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4748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Break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1030-1045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763627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Question &amp; Answer Session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1045-1130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Bldg 70, DSCR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193527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1130-1300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Bldg 70, DSCR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16415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One-on-One Meetings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Time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Location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06885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ASRC Federal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1300-1345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Bldg</a:t>
                      </a:r>
                      <a:r>
                        <a:rPr lang="en-US" sz="1400" dirty="0"/>
                        <a:t> 70, DSCR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433889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Noble Logistics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1345-1430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Bldg</a:t>
                      </a:r>
                      <a:r>
                        <a:rPr lang="en-US" sz="1400" dirty="0"/>
                        <a:t> 70, DSCR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362569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WENCOR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1430-1515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Bldg</a:t>
                      </a:r>
                      <a:r>
                        <a:rPr lang="en-US" sz="1400" dirty="0"/>
                        <a:t> 70, DSCR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105465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DON Industrial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1515-1600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Bldg</a:t>
                      </a:r>
                      <a:r>
                        <a:rPr lang="en-US" sz="1400"/>
                        <a:t> 70, DSCR.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6956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071EA23-1E97-00CE-BC4E-00AAAB9E4305}"/>
              </a:ext>
            </a:extLst>
          </p:cNvPr>
          <p:cNvSpPr txBox="1"/>
          <p:nvPr/>
        </p:nvSpPr>
        <p:spPr>
          <a:xfrm>
            <a:off x="1218895" y="5671120"/>
            <a:ext cx="67062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*Individual meeting order chosen by a random number generator*</a:t>
            </a:r>
          </a:p>
        </p:txBody>
      </p:sp>
    </p:spTree>
    <p:extLst>
      <p:ext uri="{BB962C8B-B14F-4D97-AF65-F5344CB8AC3E}">
        <p14:creationId xmlns:p14="http://schemas.microsoft.com/office/powerpoint/2010/main" val="1542517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FC534-BD3B-EB57-DD7C-4526705CC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1740" y="0"/>
            <a:ext cx="5423345" cy="378083"/>
          </a:xfrm>
        </p:spPr>
        <p:txBody>
          <a:bodyPr/>
          <a:lstStyle/>
          <a:p>
            <a:r>
              <a:rPr lang="en-US" sz="3200" dirty="0"/>
              <a:t>DLA Participants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1227-5F53-D814-78C5-DA302FA7F8A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50117" y="1460686"/>
            <a:ext cx="7443765" cy="3936628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Director for Strategic Acquisitions  – Mrs. Janelle Allen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Contracting Officer(s) – Ms. Amanda Parker/Mrs. Christina Richardson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Division Chief for Strategic Program Management – Mr. Ryan Finan 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DSCR Small Business Office - Mr. John Henley / Ms. Crystal Ober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Manager - Mr. Lance Cangelosi</a:t>
            </a:r>
          </a:p>
          <a:p>
            <a:pPr algn="ctr"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 of Counsel – Ms. Elan Taylor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BE4B9-4A94-74FC-EB5B-A15089F5C9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70353F-5ECB-4B50-B3EA-C871EA4E3F3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2587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1139-6B3E-A432-6077-0F220AFA9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7527" y="84035"/>
            <a:ext cx="5423345" cy="378083"/>
          </a:xfrm>
        </p:spPr>
        <p:txBody>
          <a:bodyPr>
            <a:noAutofit/>
          </a:bodyPr>
          <a:lstStyle/>
          <a:p>
            <a:r>
              <a:rPr lang="en-US" sz="3200" dirty="0"/>
              <a:t>Background Information</a:t>
            </a:r>
            <a:br>
              <a:rPr lang="en-US" sz="3200" dirty="0"/>
            </a:b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43BC7-C838-F1DC-3E57-6E3691479A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3D71E-10A3-9CDE-5F85-FD6DF8D1C6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70353F-5ECB-4B50-B3EA-C871EA4E3F32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1876A6-27D6-AEFE-2127-99EB48FDC836}"/>
              </a:ext>
            </a:extLst>
          </p:cNvPr>
          <p:cNvSpPr txBox="1"/>
          <p:nvPr/>
        </p:nvSpPr>
        <p:spPr>
          <a:xfrm>
            <a:off x="335201" y="1162828"/>
            <a:ext cx="8140823" cy="3967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</a:rPr>
              <a:t>Hardware and Abrasives (FSG 53)</a:t>
            </a:r>
            <a:br>
              <a:rPr lang="en-US" sz="2400" dirty="0">
                <a:solidFill>
                  <a:prstClr val="black"/>
                </a:solidFill>
              </a:rPr>
            </a:br>
            <a:endParaRPr lang="en-US" sz="2400" dirty="0"/>
          </a:p>
          <a:p>
            <a:pPr marL="228600" marR="0">
              <a:lnSpc>
                <a:spcPts val="1680"/>
              </a:lnSpc>
              <a:buNone/>
            </a:pP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FSC 5301 Historical FSC; FSC 5305 Screws; FSC 5306 ,Bolts; FSC 5307 Studs; FSC 5310 Nuts and Washers; FSC 5315 Nails, Machine Keys, and Pins; FSC 5320 Rivets; FSC 5325 Fastening Devices; FSC 5330 Packing and Gasket Materials; FSC 5331 O-Ring; FSC 5335 Metal Screening; FSC 5341 Brackets; FSC 5342 Hardware, Weapon System; FSC 5345 Disks and Stones, Abrasive; FSC 5346 Historical FSC; FSC 5350 Abrasive Materials</a:t>
            </a:r>
          </a:p>
          <a:p>
            <a:pPr marL="228600" marR="0">
              <a:lnSpc>
                <a:spcPts val="1680"/>
              </a:lnSpc>
              <a:buNone/>
            </a:pPr>
            <a:r>
              <a:rPr lang="en-US" sz="2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FSC 5355 Knobs and Pointers; FSC 5360 Coil, Flat, Leaf, and Wire Springs; FSC 5361 Historical FSC; FSC 5365 Bushings, Rings, Shims, and Spacers; FSC 5390 Historical FSC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; </a:t>
            </a:r>
            <a:r>
              <a:rPr lang="en-US" sz="2000" dirty="0">
                <a:effectLst/>
                <a:ea typeface="Calibri" panose="020F0502020204030204" pitchFamily="34" charset="0"/>
              </a:rPr>
              <a:t>FSC 5395 Historical FSC</a:t>
            </a:r>
            <a:endParaRPr lang="en-US" sz="28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High volume effort with 4-8K orders per month</a:t>
            </a:r>
          </a:p>
        </p:txBody>
      </p:sp>
    </p:spTree>
    <p:extLst>
      <p:ext uri="{BB962C8B-B14F-4D97-AF65-F5344CB8AC3E}">
        <p14:creationId xmlns:p14="http://schemas.microsoft.com/office/powerpoint/2010/main" val="3364567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8B6F-0358-7AF4-DAE6-ECBA42287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367" y="107993"/>
            <a:ext cx="5423345" cy="378083"/>
          </a:xfrm>
        </p:spPr>
        <p:txBody>
          <a:bodyPr/>
          <a:lstStyle/>
          <a:p>
            <a:r>
              <a:rPr lang="en-US" altLang="en-US" sz="3200" dirty="0"/>
              <a:t>Desired Outcomes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58FAD-B448-B9B6-AE45-B45A18EB0B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8290" y="981882"/>
            <a:ext cx="8783422" cy="5390042"/>
          </a:xfrm>
        </p:spPr>
        <p:txBody>
          <a:bodyPr>
            <a:noAutofit/>
          </a:bodyPr>
          <a:lstStyle/>
          <a:p>
            <a:pPr algn="l" defTabSz="914400" eaLnBrk="1" hangingPunct="1">
              <a:spcBef>
                <a:spcPts val="0"/>
              </a:spcBef>
              <a:defRPr/>
            </a:pPr>
            <a:r>
              <a:rPr lang="en-US" altLang="en-US" sz="2000" u="sng" dirty="0">
                <a:solidFill>
                  <a:schemeClr val="tx1"/>
                </a:solidFill>
              </a:rPr>
              <a:t>Hardware Acquisition Recompete-Customer Direct (HARCd) &amp; Hardware Acquisition Recompete-Customer Direct-Expansion (HARCd-E)</a:t>
            </a:r>
          </a:p>
          <a:p>
            <a:pPr marL="342900" indent="61913" algn="l" defTabSz="914400" eaLnBrk="1" hangingPunct="1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568325" algn="l"/>
              </a:tabLst>
              <a:defRPr/>
            </a:pPr>
            <a:r>
              <a:rPr lang="en-US" altLang="en-US" sz="2000" dirty="0">
                <a:solidFill>
                  <a:schemeClr val="tx1"/>
                </a:solidFill>
              </a:rPr>
              <a:t>	</a:t>
            </a:r>
            <a:r>
              <a:rPr lang="en-US" altLang="en-US" sz="2000" b="1" dirty="0">
                <a:solidFill>
                  <a:schemeClr val="tx1"/>
                </a:solidFill>
              </a:rPr>
              <a:t>Integrated supply chain logistics support for the supply, storage, and distribution of Industrial Hardware and all associated tasks:</a:t>
            </a:r>
          </a:p>
          <a:p>
            <a:pPr lvl="1" defTabSz="914400" eaLnBrk="1" hangingPunct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Forecasting</a:t>
            </a:r>
          </a:p>
          <a:p>
            <a:pPr lvl="1" defTabSz="914400" eaLnBrk="1" hangingPunct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Purchasing</a:t>
            </a:r>
          </a:p>
          <a:p>
            <a:pPr lvl="1" defTabSz="914400" eaLnBrk="1" hangingPunct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Management</a:t>
            </a:r>
          </a:p>
          <a:p>
            <a:pPr lvl="1" defTabSz="91440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Information</a:t>
            </a:r>
          </a:p>
          <a:p>
            <a:pPr lvl="1" defTabSz="914400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Inventory</a:t>
            </a:r>
          </a:p>
          <a:p>
            <a:pPr lvl="1" defTabSz="914400" eaLnBrk="1" hangingPunct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Quality Assurance</a:t>
            </a:r>
          </a:p>
          <a:p>
            <a:pPr lvl="1" defTabSz="914400" eaLnBrk="1" hangingPunct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i="1" dirty="0">
                <a:solidFill>
                  <a:schemeClr val="tx1"/>
                </a:solidFill>
              </a:rPr>
              <a:t>Expansion Population will include PIC 1 &amp;C items and is dependent upon Vendor establishing plan for support of I/A Origin Inspection with </a:t>
            </a:r>
            <a:r>
              <a:rPr lang="en-US" altLang="en-US" sz="1600" b="1" i="1" dirty="0">
                <a:solidFill>
                  <a:schemeClr val="tx1"/>
                </a:solidFill>
              </a:rPr>
              <a:t>defined </a:t>
            </a:r>
            <a:r>
              <a:rPr lang="en-US" altLang="en-US" sz="1600" i="1" dirty="0">
                <a:solidFill>
                  <a:schemeClr val="tx1"/>
                </a:solidFill>
              </a:rPr>
              <a:t>timelines.</a:t>
            </a:r>
          </a:p>
          <a:p>
            <a:pPr algn="l" defTabSz="914400" eaLnBrk="1" hangingPunct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endParaRPr lang="en-US" altLang="en-US" sz="2000" dirty="0">
              <a:solidFill>
                <a:schemeClr val="tx1"/>
              </a:solidFill>
            </a:endParaRPr>
          </a:p>
          <a:p>
            <a:pPr algn="l" defTabSz="914400" eaLnBrk="1" hangingPunct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solidFill>
                  <a:schemeClr val="tx1"/>
                </a:solidFill>
              </a:rPr>
              <a:t>In order to: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Provide timely support to all U.S Military, Foreign Military and non-Military customers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Reduce Costs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Maximize Small Business Participation</a:t>
            </a:r>
          </a:p>
          <a:p>
            <a:pPr lvl="1" defTabSz="914400" eaLnBrk="1" hangingPunct="1">
              <a:spcBef>
                <a:spcPts val="0"/>
              </a:spcBef>
              <a:defRPr/>
            </a:pPr>
            <a:endParaRPr lang="en-US" altLang="en-US" sz="1600" dirty="0">
              <a:solidFill>
                <a:schemeClr val="tx1"/>
              </a:solidFill>
            </a:endParaRPr>
          </a:p>
          <a:p>
            <a:pPr algn="l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79554-87B1-CCFF-63F2-03A77A1F4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70353F-5ECB-4B50-B3EA-C871EA4E3F3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489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FC006-054A-B586-9BBD-E00AD288A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D2D9-6790-B73F-7B80-77C970CF8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8367" y="107993"/>
            <a:ext cx="5423345" cy="378083"/>
          </a:xfrm>
        </p:spPr>
        <p:txBody>
          <a:bodyPr/>
          <a:lstStyle/>
          <a:p>
            <a:r>
              <a:rPr lang="en-US" altLang="en-US" sz="3200" dirty="0"/>
              <a:t>Desired Outcomes Cont…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49A9-E6E8-90AD-2CED-CFCFD62D36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8290" y="981882"/>
            <a:ext cx="8783422" cy="5390042"/>
          </a:xfrm>
        </p:spPr>
        <p:txBody>
          <a:bodyPr>
            <a:noAutofit/>
          </a:bodyPr>
          <a:lstStyle/>
          <a:p>
            <a:pPr algn="l" defTabSz="914400" eaLnBrk="1" hangingPunct="1">
              <a:spcBef>
                <a:spcPts val="0"/>
              </a:spcBef>
              <a:defRPr/>
            </a:pPr>
            <a:r>
              <a:rPr lang="en-US" altLang="en-US" sz="2000" u="sng" dirty="0">
                <a:solidFill>
                  <a:schemeClr val="tx1"/>
                </a:solidFill>
              </a:rPr>
              <a:t>Hardware Acquisition Recompete-DLA Direct (HARDd)</a:t>
            </a:r>
          </a:p>
          <a:p>
            <a:pPr marL="342900" indent="61913" algn="l" defTabSz="914400" eaLnBrk="1" hangingPunct="1">
              <a:spcBef>
                <a:spcPts val="0"/>
              </a:spcBef>
              <a:buFont typeface="Arial" panose="020B0604020202020204" pitchFamily="34" charset="0"/>
              <a:buChar char="•"/>
              <a:tabLst>
                <a:tab pos="568325" algn="l"/>
              </a:tabLst>
              <a:defRPr/>
            </a:pPr>
            <a:r>
              <a:rPr lang="en-US" altLang="en-US" sz="2000" dirty="0">
                <a:solidFill>
                  <a:schemeClr val="tx1"/>
                </a:solidFill>
              </a:rPr>
              <a:t>	Multi Award IDIQ procurement:</a:t>
            </a:r>
          </a:p>
          <a:p>
            <a:pPr lvl="1" defTabSz="914400" eaLnBrk="1" hangingPunct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Purchasing</a:t>
            </a:r>
          </a:p>
          <a:p>
            <a:pPr lvl="1" defTabSz="914400" eaLnBrk="1" hangingPunct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Quality Assurance</a:t>
            </a:r>
          </a:p>
          <a:p>
            <a:pPr lvl="1" defTabSz="914400" eaLnBrk="1" hangingPunct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Transportation</a:t>
            </a:r>
          </a:p>
          <a:p>
            <a:pPr algn="l" defTabSz="914400" eaLnBrk="1" hangingPunct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endParaRPr lang="en-US" altLang="en-US" sz="2000" dirty="0">
              <a:solidFill>
                <a:schemeClr val="tx1"/>
              </a:solidFill>
            </a:endParaRPr>
          </a:p>
          <a:p>
            <a:pPr algn="l" defTabSz="914400" eaLnBrk="1" hangingPunct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solidFill>
                  <a:schemeClr val="tx1"/>
                </a:solidFill>
              </a:rPr>
              <a:t>In order to: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Provide timely resupply to DLA Depot wholesale inventory in order to support Worldwide customer demands.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Reduce Production Lead-Times and establish consistent, repeatable acquisition timelines.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Reduce Costs</a:t>
            </a:r>
          </a:p>
          <a:p>
            <a:pPr lvl="1">
              <a:spcBef>
                <a:spcPts val="0"/>
              </a:spcBef>
              <a:buFont typeface="Wingdings" panose="05000000000000000000" pitchFamily="2" charset="2"/>
              <a:buChar char="§"/>
              <a:defRPr/>
            </a:pPr>
            <a:r>
              <a:rPr lang="en-US" altLang="en-US" sz="1600" dirty="0">
                <a:solidFill>
                  <a:schemeClr val="tx1"/>
                </a:solidFill>
              </a:rPr>
              <a:t>Maximize Small Business Participation</a:t>
            </a:r>
          </a:p>
          <a:p>
            <a:pPr lvl="1" defTabSz="914400" eaLnBrk="1" hangingPunct="1">
              <a:spcBef>
                <a:spcPts val="0"/>
              </a:spcBef>
              <a:defRPr/>
            </a:pPr>
            <a:endParaRPr lang="en-US" altLang="en-US" sz="1600" dirty="0">
              <a:solidFill>
                <a:schemeClr val="tx1"/>
              </a:solidFill>
            </a:endParaRPr>
          </a:p>
          <a:p>
            <a:pPr algn="l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DFBB8-4B0B-13E3-EAF2-4605ABBF63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F70353F-5ECB-4B50-B3EA-C871EA4E3F32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C9AD62"/>
                </a:solidFill>
                <a:effectLst/>
                <a:uLnTx/>
                <a:uFillTx/>
                <a:latin typeface="Raleway Black" pitchFamily="2" charset="0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C9AD62"/>
              </a:solidFill>
              <a:effectLst/>
              <a:uLnTx/>
              <a:uFillTx/>
              <a:latin typeface="Raleway Black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8000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AB80E-BB9F-0072-20E8-17BAE6AC4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1365" y="73261"/>
            <a:ext cx="5423345" cy="378083"/>
          </a:xfrm>
        </p:spPr>
        <p:txBody>
          <a:bodyPr/>
          <a:lstStyle/>
          <a:p>
            <a:r>
              <a:rPr lang="en-US" sz="3200" dirty="0"/>
              <a:t>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2A6ED-A59A-6297-1C05-CAD44C18DE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21380" y="1077278"/>
            <a:ext cx="8854334" cy="4321638"/>
          </a:xfrm>
        </p:spPr>
        <p:txBody>
          <a:bodyPr>
            <a:noAutofit/>
          </a:bodyPr>
          <a:lstStyle/>
          <a:p>
            <a:pPr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Customer Direct shipments to all customers, including retail replenishment.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90% Customer Direct Availability (CDA).  On Time Delivery within TDD Standards.  FMS Orders are excluded from TDD standards and require I/A Origin.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TDD Delivery Standards: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buFont typeface="Wingdings" panose="05000000000000000000" pitchFamily="2" charset="2"/>
              <a:buChar char="§"/>
            </a:pPr>
            <a:endParaRPr lang="en-US" sz="1800" dirty="0">
              <a:solidFill>
                <a:schemeClr val="tx1"/>
              </a:solidFill>
            </a:endParaRP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 Backorder Reduction (example)</a:t>
            </a:r>
          </a:p>
          <a:p>
            <a:pPr marL="457200" lvl="1" indent="0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algn="l"/>
            <a:endParaRPr lang="en-US" sz="1800" dirty="0">
              <a:solidFill>
                <a:schemeClr val="tx1"/>
              </a:solidFill>
            </a:endParaRPr>
          </a:p>
          <a:p>
            <a:pPr algn="l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AACF3-A522-BA98-28ED-BFA7342FC8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70353F-5ECB-4B50-B3EA-C871EA4E3F32}" type="slidenum">
              <a:rPr lang="en-US" smtClean="0"/>
              <a:t>7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9D90AB7-3AE5-C969-5F59-4F5A85D42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0636838"/>
              </p:ext>
            </p:extLst>
          </p:nvPr>
        </p:nvGraphicFramePr>
        <p:xfrm>
          <a:off x="3057811" y="2626712"/>
          <a:ext cx="5426075" cy="18535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25525">
                  <a:extLst>
                    <a:ext uri="{9D8B030D-6E8A-4147-A177-3AD203B41FA5}">
                      <a16:colId xmlns:a16="http://schemas.microsoft.com/office/drawing/2014/main" val="1447482429"/>
                    </a:ext>
                  </a:extLst>
                </a:gridCol>
                <a:gridCol w="935355">
                  <a:extLst>
                    <a:ext uri="{9D8B030D-6E8A-4147-A177-3AD203B41FA5}">
                      <a16:colId xmlns:a16="http://schemas.microsoft.com/office/drawing/2014/main" val="3832083873"/>
                    </a:ext>
                  </a:extLst>
                </a:gridCol>
                <a:gridCol w="3465195">
                  <a:extLst>
                    <a:ext uri="{9D8B030D-6E8A-4147-A177-3AD203B41FA5}">
                      <a16:colId xmlns:a16="http://schemas.microsoft.com/office/drawing/2014/main" val="3964974941"/>
                    </a:ext>
                  </a:extLst>
                </a:gridCol>
              </a:tblGrid>
              <a:tr h="0">
                <a:tc grid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TDD DELIVERY STANDARDS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44275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CONUS and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OCONUS Shipment to CCPs/Ports of Embarkation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9599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highlight>
                            <a:srgbClr val="00FF00"/>
                          </a:highlight>
                        </a:rPr>
                        <a:t> 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Issue Priority Designator (IPG)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FOB Destination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553935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Priority 01-03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IPG 1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6 Business Days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731262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Priority 04-08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IPG 2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10 Business Days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89785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Priority 09-15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IPG 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15 Business Days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2135990"/>
                  </a:ext>
                </a:extLst>
              </a:tr>
            </a:tbl>
          </a:graphicData>
        </a:graphic>
      </p:graphicFrame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332CB519-B2A3-4BB8-B7C5-8BE24BA2C9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137183"/>
              </p:ext>
            </p:extLst>
          </p:nvPr>
        </p:nvGraphicFramePr>
        <p:xfrm>
          <a:off x="1202924" y="4779453"/>
          <a:ext cx="6738151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5029">
                  <a:extLst>
                    <a:ext uri="{9D8B030D-6E8A-4147-A177-3AD203B41FA5}">
                      <a16:colId xmlns:a16="http://schemas.microsoft.com/office/drawing/2014/main" val="3175523645"/>
                    </a:ext>
                  </a:extLst>
                </a:gridCol>
                <a:gridCol w="2445305">
                  <a:extLst>
                    <a:ext uri="{9D8B030D-6E8A-4147-A177-3AD203B41FA5}">
                      <a16:colId xmlns:a16="http://schemas.microsoft.com/office/drawing/2014/main" val="3590666023"/>
                    </a:ext>
                  </a:extLst>
                </a:gridCol>
                <a:gridCol w="2117817">
                  <a:extLst>
                    <a:ext uri="{9D8B030D-6E8A-4147-A177-3AD203B41FA5}">
                      <a16:colId xmlns:a16="http://schemas.microsoft.com/office/drawing/2014/main" val="39526345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Backorder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Number of Calendar Days 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Disincentive Percentage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824735"/>
                  </a:ext>
                </a:extLst>
              </a:tr>
              <a:tr h="2271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0-14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2762815"/>
                  </a:ext>
                </a:extLst>
              </a:tr>
              <a:tr h="1533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15-20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039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21-50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182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51-80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4962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&gt;81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-25%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510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880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1AC7B-51D9-26CF-5DC8-5DB5AADF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Requirements 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F36D3-2113-A1C3-54BE-D28CC432F0A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50257" y="1068404"/>
            <a:ext cx="8671454" cy="5005136"/>
          </a:xfrm>
        </p:spPr>
        <p:txBody>
          <a:bodyPr>
            <a:normAutofit/>
          </a:bodyPr>
          <a:lstStyle/>
          <a:p>
            <a:pPr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Small Business Spend (Example)</a:t>
            </a:r>
          </a:p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endParaRPr lang="en-US" sz="1800" dirty="0">
              <a:solidFill>
                <a:schemeClr val="tx1"/>
              </a:solidFill>
            </a:endParaRP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Development of a unified Management Information System (MIS) that integrates with existing Government systems to include: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Vendor Shipment Module (VSM) – DLA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Wide Area Workflow - WAWF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Shipping Instructions Request (SIR) – DCMA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Providing Daily updates to DLA on Order Status, Projected Ship Dates, and Stock Positions for CD items.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</a:rPr>
              <a:t>Maintaining a system to facilitate two-way communication between DLA and Contractor on Delivery Order status (PAR System)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AEB1E-254B-2FF0-C715-73FAE0796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70353F-5ECB-4B50-B3EA-C871EA4E3F32}" type="slidenum">
              <a:rPr lang="en-US" smtClean="0"/>
              <a:t>8</a:t>
            </a:fld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0C95826-82FB-FD10-3F9D-888F0787B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159698"/>
              </p:ext>
            </p:extLst>
          </p:nvPr>
        </p:nvGraphicFramePr>
        <p:xfrm>
          <a:off x="2659435" y="1444918"/>
          <a:ext cx="3622090" cy="1271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1046">
                  <a:extLst>
                    <a:ext uri="{9D8B030D-6E8A-4147-A177-3AD203B41FA5}">
                      <a16:colId xmlns:a16="http://schemas.microsoft.com/office/drawing/2014/main" val="3197661106"/>
                    </a:ext>
                  </a:extLst>
                </a:gridCol>
                <a:gridCol w="1811044">
                  <a:extLst>
                    <a:ext uri="{9D8B030D-6E8A-4147-A177-3AD203B41FA5}">
                      <a16:colId xmlns:a16="http://schemas.microsoft.com/office/drawing/2014/main" val="3599405423"/>
                    </a:ext>
                  </a:extLst>
                </a:gridCol>
              </a:tblGrid>
              <a:tr h="2330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% of Spending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Effect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233811"/>
                  </a:ext>
                </a:extLst>
              </a:tr>
              <a:tr h="2330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&lt;50%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954793"/>
                  </a:ext>
                </a:extLst>
              </a:tr>
              <a:tr h="2330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50%-65%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049977"/>
                  </a:ext>
                </a:extLst>
              </a:tr>
              <a:tr h="233078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&gt;65%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2306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63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2F7D0-4C38-A451-FC82-39C250F48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Market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BAC04-F274-1BE4-F369-1608685F70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72092" y="962464"/>
            <a:ext cx="8199816" cy="5630674"/>
          </a:xfrm>
        </p:spPr>
        <p:txBody>
          <a:bodyPr/>
          <a:lstStyle/>
          <a:p>
            <a:pPr lvl="0" algn="l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</a:rPr>
              <a:t>Request For Information (RFI) – Sources Sought</a:t>
            </a:r>
            <a:br>
              <a:rPr lang="en-US" sz="2400" dirty="0">
                <a:solidFill>
                  <a:prstClr val="black"/>
                </a:solidFill>
              </a:rPr>
            </a:br>
            <a:endParaRPr lang="en-US" sz="2400" dirty="0">
              <a:solidFill>
                <a:prstClr val="black"/>
              </a:solidFill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</a:rPr>
              <a:t>Seeking capabilities and input from industry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</a:rPr>
              <a:t>Strengthen knowledge of commercial marketplace and supply chain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</a:rPr>
              <a:t>Determine optimal way to define and potentially segment population</a:t>
            </a:r>
          </a:p>
          <a:p>
            <a:pPr algn="l">
              <a:buFont typeface="Wingdings" panose="05000000000000000000" pitchFamily="2" charset="2"/>
              <a:buChar char="§"/>
            </a:pPr>
            <a:endParaRPr lang="en-US" sz="2400" dirty="0"/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 Industry Day Feedback will affect outcome of acquisition strategy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 Collective analysis of above efforts will drive final acquisition strategy</a:t>
            </a:r>
          </a:p>
          <a:p>
            <a:pPr algn="l"/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3A991-660C-0592-C076-324C066D8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70353F-5ECB-4B50-B3EA-C871EA4E3F3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49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0351D-901E-CC0E-72F6-77C73BFFB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Notional Timeline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29CB4-005E-0F78-202B-D1FC885F8D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70353F-5ECB-4B50-B3EA-C871EA4E3F32}" type="slidenum">
              <a:rPr lang="en-US" smtClean="0"/>
              <a:t>10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BCF963-9BA1-FD67-DA44-D139CACB525A}"/>
              </a:ext>
            </a:extLst>
          </p:cNvPr>
          <p:cNvSpPr txBox="1"/>
          <p:nvPr/>
        </p:nvSpPr>
        <p:spPr>
          <a:xfrm>
            <a:off x="286643" y="1326009"/>
            <a:ext cx="8185703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ea typeface="Calibri" panose="020F0502020204030204" pitchFamily="34" charset="0"/>
              </a:rPr>
              <a:t>Milestones: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sz="2400" dirty="0">
              <a:effectLst/>
              <a:ea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ea typeface="Calibri" panose="020F0502020204030204" pitchFamily="34" charset="0"/>
              </a:rPr>
              <a:t>Issue Solicitation: Sep 2025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ea typeface="Calibri" panose="020F0502020204030204" pitchFamily="34" charset="0"/>
              </a:rPr>
              <a:t>Proposal Receipt: </a:t>
            </a:r>
            <a:r>
              <a:rPr lang="en-US" sz="2400" dirty="0">
                <a:ea typeface="Calibri" panose="020F0502020204030204" pitchFamily="34" charset="0"/>
              </a:rPr>
              <a:t>Jan 2026</a:t>
            </a:r>
            <a:endParaRPr lang="en-US" sz="2400" dirty="0">
              <a:effectLst/>
              <a:ea typeface="Calibri" panose="020F0502020204030204" pitchFamily="34" charset="0"/>
            </a:endParaRP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ea typeface="Calibri" panose="020F0502020204030204" pitchFamily="34" charset="0"/>
              </a:rPr>
              <a:t>Negotiations: July 2026</a:t>
            </a:r>
          </a:p>
          <a:p>
            <a:pPr marL="285750" marR="0" indent="-285750"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effectLst/>
                <a:ea typeface="Calibri" panose="020F0502020204030204" pitchFamily="34" charset="0"/>
              </a:rPr>
              <a:t>Award by: Jan 2027</a:t>
            </a:r>
          </a:p>
          <a:p>
            <a:pPr marR="0">
              <a:spcBef>
                <a:spcPts val="0"/>
              </a:spcBef>
              <a:spcAft>
                <a:spcPts val="0"/>
              </a:spcAft>
            </a:pPr>
            <a:endParaRPr lang="en-US" sz="2400" dirty="0">
              <a:ea typeface="Calibri" panose="020F0502020204030204" pitchFamily="34" charset="0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a typeface="Calibri" panose="020F0502020204030204" pitchFamily="34" charset="0"/>
              </a:rPr>
              <a:t>Hardware Acquisition Recompete - DD</a:t>
            </a:r>
            <a:r>
              <a:rPr lang="en-US" sz="2400" dirty="0">
                <a:effectLst/>
                <a:ea typeface="Calibri" panose="020F0502020204030204" pitchFamily="34" charset="0"/>
              </a:rPr>
              <a:t> will likely follow by 90 Days</a:t>
            </a:r>
          </a:p>
          <a:p>
            <a:endParaRPr lang="en-US" sz="2400" dirty="0"/>
          </a:p>
          <a:p>
            <a:r>
              <a:rPr lang="en-US" sz="2400" dirty="0"/>
              <a:t>Note:  The current FSG53 contract ends in July 26.  There may be a partial extension of current contract to bridge into new contract(s).</a:t>
            </a:r>
          </a:p>
        </p:txBody>
      </p:sp>
    </p:spTree>
    <p:extLst>
      <p:ext uri="{BB962C8B-B14F-4D97-AF65-F5344CB8AC3E}">
        <p14:creationId xmlns:p14="http://schemas.microsoft.com/office/powerpoint/2010/main" val="2763655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C4759-739F-99DE-6020-04BAD69CA1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60623" y="2050286"/>
            <a:ext cx="3152642" cy="376798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4400" dirty="0">
                <a:solidFill>
                  <a:schemeClr val="tx1"/>
                </a:solidFill>
              </a:rPr>
              <a:t>Break </a:t>
            </a:r>
          </a:p>
          <a:p>
            <a:pPr marL="0" indent="0" algn="ctr">
              <a:buNone/>
            </a:pPr>
            <a:r>
              <a:rPr lang="en-US" sz="4400" dirty="0">
                <a:solidFill>
                  <a:schemeClr val="tx1"/>
                </a:solidFill>
              </a:rPr>
              <a:t>1030-1045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578F74-D5C1-FBFA-4F10-976CB44209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70353F-5ECB-4B50-B3EA-C871EA4E3F32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552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AC019-9A97-5727-2593-7152689CD5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95679" y="2185040"/>
            <a:ext cx="3152642" cy="376798"/>
          </a:xfrm>
        </p:spPr>
        <p:txBody>
          <a:bodyPr/>
          <a:lstStyle/>
          <a:p>
            <a:pPr marL="0" indent="0" algn="ctr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4000" dirty="0">
                <a:solidFill>
                  <a:schemeClr val="tx1"/>
                </a:solidFill>
              </a:rPr>
              <a:t>Q&amp;A 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FF024-CB18-61F6-8DA7-C1F4BE893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70353F-5ECB-4B50-B3EA-C871EA4E3F3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3898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A504C-E72E-8E9E-9F74-1694F24C5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Lunch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AC019-9A97-5727-2593-7152689CD5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56150" y="1395769"/>
            <a:ext cx="5423344" cy="376798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40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4000" dirty="0">
                <a:solidFill>
                  <a:schemeClr val="tx1"/>
                </a:solidFill>
              </a:rPr>
              <a:t>Lunch </a:t>
            </a:r>
          </a:p>
          <a:p>
            <a:pPr marL="0" indent="0" algn="ctr">
              <a:buNone/>
            </a:pPr>
            <a:r>
              <a:rPr lang="en-US" sz="4000" dirty="0">
                <a:solidFill>
                  <a:schemeClr val="tx1"/>
                </a:solidFill>
              </a:rPr>
              <a:t>1130-1300 </a:t>
            </a:r>
          </a:p>
          <a:p>
            <a:pPr marL="0" indent="0" algn="ctr">
              <a:buNone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Piri-Piri (Peruvian) 7722 Jeff Davis Hwy 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Quinto Sol (Mexican) 8809 Jeff Davis Hwy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Half-Way House Restaurant  (American) 10301 Jeff Davis Hwy</a:t>
            </a:r>
          </a:p>
          <a:p>
            <a:pPr marL="0" indent="0" algn="ctr">
              <a:buNone/>
            </a:pPr>
            <a:r>
              <a:rPr lang="en-US" sz="1800" dirty="0">
                <a:solidFill>
                  <a:schemeClr val="tx1"/>
                </a:solidFill>
              </a:rPr>
              <a:t>Panera Bread 12540 Jeff Davis Hwy</a:t>
            </a:r>
          </a:p>
          <a:p>
            <a:pPr marL="0" indent="0">
              <a:buNone/>
            </a:pP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FF024-CB18-61F6-8DA7-C1F4BE893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70353F-5ECB-4B50-B3EA-C871EA4E3F3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178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16EA4-9E37-1FD9-9168-E50DAC18E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Contact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E968D-D1C5-4431-8FF7-18991C8183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89877" y="1007744"/>
            <a:ext cx="6964246" cy="4879903"/>
          </a:xfrm>
        </p:spPr>
        <p:txBody>
          <a:bodyPr>
            <a:noAutofit/>
          </a:bodyPr>
          <a:lstStyle/>
          <a:p>
            <a:pPr algn="ctr"/>
            <a:r>
              <a:rPr lang="en-US" sz="18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Contracting Officer – </a:t>
            </a:r>
            <a:r>
              <a:rPr lang="en-US" sz="1800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Ms. Christina Richardson</a:t>
            </a:r>
          </a:p>
          <a:p>
            <a:pPr algn="ctr"/>
            <a:r>
              <a:rPr lang="en-US" sz="1800" u="sng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  <a:hlinkClick r:id="rId2"/>
              </a:rPr>
              <a:t>Christina.Richardson@dla.mil</a:t>
            </a:r>
            <a:br>
              <a:rPr lang="en-US" sz="1800" u="sng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</a:br>
            <a:br>
              <a:rPr lang="en-US" sz="1800" u="sng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</a:br>
            <a:r>
              <a:rPr lang="en-US" sz="1800" u="sng" dirty="0">
                <a:solidFill>
                  <a:schemeClr val="tx1"/>
                </a:solidFill>
                <a:latin typeface="+mj-lt"/>
                <a:cs typeface="Times New Roman" panose="02020603050405020304" pitchFamily="18" charset="0"/>
              </a:rPr>
              <a:t>Contracting Division Chief – Amanda Parker</a:t>
            </a:r>
          </a:p>
          <a:p>
            <a:pPr algn="ctr"/>
            <a:r>
              <a:rPr lang="en-US" sz="1800" u="sng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Amanda.Parker@dla.mil</a:t>
            </a:r>
            <a:br>
              <a:rPr lang="en-US" sz="1800" u="sng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</a:br>
            <a:endParaRPr lang="en-US" sz="180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en-US" sz="18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Program Manager –Mr. Lance Cangelosi	          </a:t>
            </a:r>
            <a:r>
              <a:rPr lang="en-US" sz="1800" u="sng" dirty="0">
                <a:solidFill>
                  <a:srgbClr val="0070C0"/>
                </a:solidFill>
                <a:latin typeface="+mj-lt"/>
                <a:cs typeface="Times New Roman" panose="02020603050405020304" pitchFamily="18" charset="0"/>
              </a:rPr>
              <a:t>lance.cangelosi@dla.mil</a:t>
            </a:r>
          </a:p>
          <a:p>
            <a:pPr algn="ctr"/>
            <a:endParaRPr lang="en-US" sz="180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en-US" sz="18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DLA-Aviation SBO –Mr. John Henley 	          </a:t>
            </a:r>
            <a:r>
              <a:rPr lang="en-US" sz="1800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  <a:hlinkClick r:id="rId3"/>
              </a:rPr>
              <a:t>John.Henley@dla.mil</a:t>
            </a:r>
            <a:endParaRPr lang="en-US" sz="1800" dirty="0">
              <a:solidFill>
                <a:srgbClr val="0000FF"/>
              </a:solidFill>
              <a:latin typeface="+mj-lt"/>
              <a:cs typeface="Times New Roman" panose="02020603050405020304" pitchFamily="18" charset="0"/>
            </a:endParaRPr>
          </a:p>
          <a:p>
            <a:pPr algn="ctr"/>
            <a:endParaRPr lang="en-US" sz="180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algn="ctr"/>
            <a:r>
              <a:rPr lang="fr-FR" sz="18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DLA-Aviation SBO -Ms. Crystal Ober	        </a:t>
            </a:r>
          </a:p>
          <a:p>
            <a:pPr algn="ctr"/>
            <a:r>
              <a:rPr lang="fr-FR" sz="180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  </a:t>
            </a:r>
            <a:r>
              <a:rPr lang="fr-FR" sz="1800" dirty="0">
                <a:solidFill>
                  <a:srgbClr val="0000FF"/>
                </a:solidFill>
                <a:latin typeface="+mj-lt"/>
                <a:cs typeface="Times New Roman" panose="02020603050405020304" pitchFamily="18" charset="0"/>
                <a:hlinkClick r:id="rId4"/>
              </a:rPr>
              <a:t>Crystal.Ober@dla.mil</a:t>
            </a:r>
            <a:endParaRPr lang="fr-FR" sz="1800" dirty="0">
              <a:solidFill>
                <a:srgbClr val="0000FF"/>
              </a:solidFill>
              <a:latin typeface="+mj-lt"/>
              <a:cs typeface="Times New Roman" panose="02020603050405020304" pitchFamily="18" charset="0"/>
            </a:endParaRPr>
          </a:p>
          <a:p>
            <a:pPr algn="ctr"/>
            <a:endParaRPr lang="fr-FR" sz="1800" dirty="0">
              <a:solidFill>
                <a:srgbClr val="000000"/>
              </a:solidFill>
              <a:latin typeface="+mj-lt"/>
              <a:cs typeface="Times New Roman" panose="02020603050405020304" pitchFamily="18" charset="0"/>
            </a:endParaRPr>
          </a:p>
          <a:p>
            <a:pPr algn="ctr"/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D49A8F-4637-4A4B-4BCE-90A8B369E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70353F-5ECB-4B50-B3EA-C871EA4E3F3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6695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AC019-9A97-5727-2593-7152689CD50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57397" y="1934784"/>
            <a:ext cx="3152642" cy="376798"/>
          </a:xfrm>
        </p:spPr>
        <p:txBody>
          <a:bodyPr/>
          <a:lstStyle/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4000" dirty="0"/>
              <a:t>Closing Comments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FF024-CB18-61F6-8DA7-C1F4BE893A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70353F-5ECB-4B50-B3EA-C871EA4E3F3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762996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Slid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lecemate Slid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End Slide">
  <a:themeElements>
    <a:clrScheme name="DLA 2020 Template">
      <a:dk1>
        <a:sysClr val="windowText" lastClr="000000"/>
      </a:dk1>
      <a:lt1>
        <a:sysClr val="window" lastClr="FFFFFF"/>
      </a:lt1>
      <a:dk2>
        <a:srgbClr val="0076A3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DLA 2020 Template">
      <a:dk1>
        <a:sysClr val="windowText" lastClr="000000"/>
      </a:dk1>
      <a:lt1>
        <a:sysClr val="window" lastClr="FFFFFF"/>
      </a:lt1>
      <a:dk2>
        <a:srgbClr val="0076A3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DLA 2020 Template">
      <a:dk1>
        <a:sysClr val="windowText" lastClr="000000"/>
      </a:dk1>
      <a:lt1>
        <a:sysClr val="window" lastClr="FFFFFF"/>
      </a:lt1>
      <a:dk2>
        <a:srgbClr val="0076A3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mageWidth xmlns="A989D0FC-8845-4818-969C-B633C2EDBD2C" xsi:nil="true"/>
    <ImageHeight xmlns="A989D0FC-8845-4818-969C-B633C2EDBD2C" xsi:nil="true"/>
    <PublishingExpirationDate xmlns="http://schemas.microsoft.com/sharepoint/v3" xsi:nil="true"/>
    <PublishingStartDate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6519C048D05E47A9C59F453FFD36F4" ma:contentTypeVersion="10" ma:contentTypeDescription="Create a new document." ma:contentTypeScope="" ma:versionID="1ab2e94b35dcfaf584de962ab64111c8">
  <xsd:schema xmlns:xsd="http://www.w3.org/2001/XMLSchema" xmlns:xs="http://www.w3.org/2001/XMLSchema" xmlns:p="http://schemas.microsoft.com/office/2006/metadata/properties" xmlns:ns1="http://schemas.microsoft.com/sharepoint/v3" xmlns:ns2="A989D0FC-8845-4818-969C-B633C2EDBD2C" xmlns:ns4="a989d0fc-8845-4818-969c-b633c2edbd2c" targetNamespace="http://schemas.microsoft.com/office/2006/metadata/properties" ma:root="true" ma:fieldsID="1a30c129daa6c5a8b265e8f2bc228bad" ns1:_="" ns2:_="" ns4:_="">
    <xsd:import namespace="http://schemas.microsoft.com/sharepoint/v3"/>
    <xsd:import namespace="A989D0FC-8845-4818-969C-B633C2EDBD2C"/>
    <xsd:import namespace="a989d0fc-8845-4818-969c-b633c2edbd2c"/>
    <xsd:element name="properties">
      <xsd:complexType>
        <xsd:sequence>
          <xsd:element name="documentManagement">
            <xsd:complexType>
              <xsd:all>
                <xsd:element ref="ns2:ImageWidth" minOccurs="0"/>
                <xsd:element ref="ns2:ImageHeight" minOccurs="0"/>
                <xsd:element ref="ns1:PublishingStartDate" minOccurs="0"/>
                <xsd:element ref="ns1:PublishingExpirationDate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2" nillable="true" ma:displayName="Scheduling Start Date" ma:description="" ma:hidden="true" ma:internalName="PublishingStartDate" ma:readOnly="false">
      <xsd:simpleType>
        <xsd:restriction base="dms:Unknown"/>
      </xsd:simpleType>
    </xsd:element>
    <xsd:element name="PublishingExpirationDate" ma:index="13" nillable="true" ma:displayName="Scheduling End Date" ma:description="" ma:hidden="true" ma:internalName="PublishingExpirationDate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89D0FC-8845-4818-969C-B633C2EDBD2C" elementFormDefault="qualified">
    <xsd:import namespace="http://schemas.microsoft.com/office/2006/documentManagement/types"/>
    <xsd:import namespace="http://schemas.microsoft.com/office/infopath/2007/PartnerControls"/>
    <xsd:element name="ImageWidth" ma:index="9" nillable="true" ma:displayName="Picture Width" ma:internalName="ImageWidth" ma:readOnly="false">
      <xsd:simpleType>
        <xsd:restriction base="dms:Unknown"/>
      </xsd:simpleType>
    </xsd:element>
    <xsd:element name="ImageHeight" ma:index="10" nillable="true" ma:displayName="Picture Height" ma:internalName="ImageHeigh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89d0fc-8845-4818-969c-b633c2edbd2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E15FF6E-D555-4EE1-B712-332C194B07C6}">
  <ds:schemaRefs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purl.org/dc/terms/"/>
    <ds:schemaRef ds:uri="http://purl.org/dc/elements/1.1/"/>
    <ds:schemaRef ds:uri="a989d0fc-8845-4818-969c-b633c2edbd2c"/>
    <ds:schemaRef ds:uri="A989D0FC-8845-4818-969C-B633C2EDBD2C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0CD8177C-75AE-495B-B095-568F60FDD9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122CAE8-2AAC-4E09-85DB-1BB3C5C51D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A989D0FC-8845-4818-969C-B633C2EDBD2C"/>
    <ds:schemaRef ds:uri="a989d0fc-8845-4818-969c-b633c2edbd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6757</TotalTime>
  <Words>984</Words>
  <Application>Microsoft Office PowerPoint</Application>
  <PresentationFormat>On-screen Show (4:3)</PresentationFormat>
  <Paragraphs>215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Arial Narrow</vt:lpstr>
      <vt:lpstr>Calibri</vt:lpstr>
      <vt:lpstr>Courier New</vt:lpstr>
      <vt:lpstr>Raleway Black</vt:lpstr>
      <vt:lpstr>Times New Roman</vt:lpstr>
      <vt:lpstr>Wingdings</vt:lpstr>
      <vt:lpstr>Cover Slide</vt:lpstr>
      <vt:lpstr>1_Plecemate Slide</vt:lpstr>
      <vt:lpstr>End Slide</vt:lpstr>
      <vt:lpstr>Hardware Acquisition Recompete (HAR) Industry Day </vt:lpstr>
      <vt:lpstr>Agenda</vt:lpstr>
      <vt:lpstr>DLA Participants</vt:lpstr>
      <vt:lpstr>Background Information </vt:lpstr>
      <vt:lpstr>Desired Outcomes</vt:lpstr>
      <vt:lpstr>Desired Outcomes Cont…</vt:lpstr>
      <vt:lpstr>Requirements</vt:lpstr>
      <vt:lpstr>Requirements Cont’d</vt:lpstr>
      <vt:lpstr>Market Research</vt:lpstr>
      <vt:lpstr>Notional Timeline</vt:lpstr>
      <vt:lpstr>PowerPoint Presentation</vt:lpstr>
      <vt:lpstr>PowerPoint Presentation</vt:lpstr>
      <vt:lpstr>Lunch</vt:lpstr>
      <vt:lpstr>Contact Information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DLA Template CUI Sep 2022</dc:title>
  <dc:creator>Edmiston, Emma J CIV DLA FINANCE (USA)</dc:creator>
  <cp:lastModifiedBy>Cangelosi, Lance CIV DLA AVIATION (USA)</cp:lastModifiedBy>
  <cp:revision>153</cp:revision>
  <dcterms:created xsi:type="dcterms:W3CDTF">2020-08-25T20:47:09Z</dcterms:created>
  <dcterms:modified xsi:type="dcterms:W3CDTF">2025-04-23T11:06:52Z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0x010100E76519C048D05E47A9C59F453FFD36F4</vt:lpwstr>
  </property>
</Properties>
</file>