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3.xml" ContentType="application/vnd.openxmlformats-officedocument.theme+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4.xml" ContentType="application/vnd.openxmlformats-officedocument.theme+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theme/theme5.xml" ContentType="application/vnd.openxmlformats-officedocument.theme+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theme/theme6.xml" ContentType="application/vnd.openxmlformats-officedocument.theme+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theme/theme7.xml" ContentType="application/vnd.openxmlformats-officedocument.theme+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66" r:id="rId4"/>
    <p:sldMasterId id="2147484142" r:id="rId5"/>
    <p:sldMasterId id="2147484051" r:id="rId6"/>
    <p:sldMasterId id="2147484081" r:id="rId7"/>
    <p:sldMasterId id="2147484110" r:id="rId8"/>
    <p:sldMasterId id="2147484170" r:id="rId9"/>
    <p:sldMasterId id="2147483723" r:id="rId10"/>
    <p:sldMasterId id="2147484198" r:id="rId11"/>
  </p:sldMasterIdLst>
  <p:notesMasterIdLst>
    <p:notesMasterId r:id="rId54"/>
  </p:notesMasterIdLst>
  <p:handoutMasterIdLst>
    <p:handoutMasterId r:id="rId55"/>
  </p:handoutMasterIdLst>
  <p:sldIdLst>
    <p:sldId id="922" r:id="rId12"/>
    <p:sldId id="287" r:id="rId13"/>
    <p:sldId id="288" r:id="rId14"/>
    <p:sldId id="289" r:id="rId15"/>
    <p:sldId id="921" r:id="rId16"/>
    <p:sldId id="309" r:id="rId17"/>
    <p:sldId id="310" r:id="rId18"/>
    <p:sldId id="306" r:id="rId19"/>
    <p:sldId id="290" r:id="rId20"/>
    <p:sldId id="943" r:id="rId21"/>
    <p:sldId id="291" r:id="rId22"/>
    <p:sldId id="944" r:id="rId23"/>
    <p:sldId id="292" r:id="rId24"/>
    <p:sldId id="951" r:id="rId25"/>
    <p:sldId id="976" r:id="rId26"/>
    <p:sldId id="977" r:id="rId27"/>
    <p:sldId id="975" r:id="rId28"/>
    <p:sldId id="963" r:id="rId29"/>
    <p:sldId id="979" r:id="rId30"/>
    <p:sldId id="969" r:id="rId31"/>
    <p:sldId id="967" r:id="rId32"/>
    <p:sldId id="957" r:id="rId33"/>
    <p:sldId id="948" r:id="rId34"/>
    <p:sldId id="544" r:id="rId35"/>
    <p:sldId id="545" r:id="rId36"/>
    <p:sldId id="547" r:id="rId37"/>
    <p:sldId id="550" r:id="rId38"/>
    <p:sldId id="307" r:id="rId39"/>
    <p:sldId id="934" r:id="rId40"/>
    <p:sldId id="928" r:id="rId41"/>
    <p:sldId id="932" r:id="rId42"/>
    <p:sldId id="302" r:id="rId43"/>
    <p:sldId id="931" r:id="rId44"/>
    <p:sldId id="930" r:id="rId45"/>
    <p:sldId id="937" r:id="rId46"/>
    <p:sldId id="938" r:id="rId47"/>
    <p:sldId id="939" r:id="rId48"/>
    <p:sldId id="940" r:id="rId49"/>
    <p:sldId id="942" r:id="rId50"/>
    <p:sldId id="941" r:id="rId51"/>
    <p:sldId id="936" r:id="rId52"/>
    <p:sldId id="305"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4770F71-B750-BB45-4048-39C1A278A7D9}" name="Cain, Jason L CIV USARMY CELRL (USA)" initials="CJLCUC(" userId="S::Jason.L.Cain@usace.army.mil::6966a32d-8fbf-4099-a094-71db26cd465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4E4E4"/>
    <a:srgbClr val="4D4D4D"/>
    <a:srgbClr val="DEDEDE"/>
    <a:srgbClr val="A29A92"/>
    <a:srgbClr val="00863D"/>
    <a:srgbClr val="00B050"/>
    <a:srgbClr val="C8C8C8"/>
    <a:srgbClr val="FF6600"/>
    <a:srgbClr val="D9D9D9"/>
  </p:clrMru>
  <p:extLst>
    <p:ext uri="{E76CE94A-603C-4142-B9EB-6D1370010A27}">
      <p14:discardImageEditData xmlns:p14="http://schemas.microsoft.com/office/powerpoint/2010/main" val="1"/>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227" autoAdjust="0"/>
    <p:restoredTop sz="89447" autoAdjust="0"/>
  </p:normalViewPr>
  <p:slideViewPr>
    <p:cSldViewPr snapToGrid="0">
      <p:cViewPr varScale="1">
        <p:scale>
          <a:sx n="73" d="100"/>
          <a:sy n="73" d="100"/>
        </p:scale>
        <p:origin x="970" y="72"/>
      </p:cViewPr>
      <p:guideLst/>
    </p:cSldViewPr>
  </p:slideViewPr>
  <p:notesTextViewPr>
    <p:cViewPr>
      <p:scale>
        <a:sx n="1" d="1"/>
        <a:sy n="1" d="1"/>
      </p:scale>
      <p:origin x="0" y="0"/>
    </p:cViewPr>
  </p:notesTextViewPr>
  <p:notesViewPr>
    <p:cSldViewPr snapToGrid="0" showGuides="1">
      <p:cViewPr varScale="1">
        <p:scale>
          <a:sx n="98" d="100"/>
          <a:sy n="98" d="100"/>
        </p:scale>
        <p:origin x="3516" y="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slide" Target="slides/slide28.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slide" Target="slides/slide31.xml"/><Relationship Id="rId47" Type="http://schemas.openxmlformats.org/officeDocument/2006/relationships/slide" Target="slides/slide36.xml"/><Relationship Id="rId50" Type="http://schemas.openxmlformats.org/officeDocument/2006/relationships/slide" Target="slides/slide39.xml"/><Relationship Id="rId55" Type="http://schemas.openxmlformats.org/officeDocument/2006/relationships/handoutMaster" Target="handoutMasters/handoutMaster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5.xml"/><Relationship Id="rId29" Type="http://schemas.openxmlformats.org/officeDocument/2006/relationships/slide" Target="slides/slide18.xml"/><Relationship Id="rId11" Type="http://schemas.openxmlformats.org/officeDocument/2006/relationships/slideMaster" Target="slideMasters/slideMaster8.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slide" Target="slides/slide29.xml"/><Relationship Id="rId45" Type="http://schemas.openxmlformats.org/officeDocument/2006/relationships/slide" Target="slides/slide34.xml"/><Relationship Id="rId53" Type="http://schemas.openxmlformats.org/officeDocument/2006/relationships/slide" Target="slides/slide42.xml"/><Relationship Id="rId58" Type="http://schemas.openxmlformats.org/officeDocument/2006/relationships/theme" Target="theme/theme1.xml"/><Relationship Id="rId5" Type="http://schemas.openxmlformats.org/officeDocument/2006/relationships/slideMaster" Target="slideMasters/slideMaster2.xml"/><Relationship Id="rId19" Type="http://schemas.openxmlformats.org/officeDocument/2006/relationships/slide" Target="slides/slide8.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slide" Target="slides/slide32.xml"/><Relationship Id="rId48" Type="http://schemas.openxmlformats.org/officeDocument/2006/relationships/slide" Target="slides/slide37.xml"/><Relationship Id="rId56" Type="http://schemas.openxmlformats.org/officeDocument/2006/relationships/presProps" Target="presProps.xml"/><Relationship Id="rId8" Type="http://schemas.openxmlformats.org/officeDocument/2006/relationships/slideMaster" Target="slideMasters/slideMaster5.xml"/><Relationship Id="rId51" Type="http://schemas.openxmlformats.org/officeDocument/2006/relationships/slide" Target="slides/slide40.xml"/><Relationship Id="rId3" Type="http://schemas.openxmlformats.org/officeDocument/2006/relationships/customXml" Target="../customXml/item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slide" Target="slides/slide35.xml"/><Relationship Id="rId59" Type="http://schemas.openxmlformats.org/officeDocument/2006/relationships/tableStyles" Target="tableStyles.xml"/><Relationship Id="rId20" Type="http://schemas.openxmlformats.org/officeDocument/2006/relationships/slide" Target="slides/slide9.xml"/><Relationship Id="rId41" Type="http://schemas.openxmlformats.org/officeDocument/2006/relationships/slide" Target="slides/slide30.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openxmlformats.org/officeDocument/2006/relationships/slide" Target="slides/slide38.xml"/><Relationship Id="rId57" Type="http://schemas.openxmlformats.org/officeDocument/2006/relationships/viewProps" Target="viewProps.xml"/><Relationship Id="rId10" Type="http://schemas.openxmlformats.org/officeDocument/2006/relationships/slideMaster" Target="slideMasters/slideMaster7.xml"/><Relationship Id="rId31" Type="http://schemas.openxmlformats.org/officeDocument/2006/relationships/slide" Target="slides/slide20.xml"/><Relationship Id="rId44" Type="http://schemas.openxmlformats.org/officeDocument/2006/relationships/slide" Target="slides/slide33.xml"/><Relationship Id="rId52" Type="http://schemas.openxmlformats.org/officeDocument/2006/relationships/slide" Target="slides/slide41.xml"/><Relationship Id="rId6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CF3383-DF08-4C90-8557-22EF3027DD43}" type="datetimeFigureOut">
              <a:rPr lang="en-US" smtClean="0"/>
              <a:t>3/4/2025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1793050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D16557-6E8E-4D95-8DF3-2DE1590C714A}" type="datetimeFigureOut">
              <a:rPr lang="en-US" smtClean="0"/>
              <a:t>3/4/2025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3A86D8-1D95-4DFF-A26B-8F86AC3AC58E}" type="slidenum">
              <a:rPr lang="en-US" smtClean="0"/>
              <a:t>‹#›</a:t>
            </a:fld>
            <a:endParaRPr lang="en-US"/>
          </a:p>
        </p:txBody>
      </p:sp>
    </p:spTree>
    <p:extLst>
      <p:ext uri="{BB962C8B-B14F-4D97-AF65-F5344CB8AC3E}">
        <p14:creationId xmlns:p14="http://schemas.microsoft.com/office/powerpoint/2010/main" val="15381302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3A86D8-1D95-4DFF-A26B-8F86AC3AC58E}" type="slidenum">
              <a:rPr lang="en-US" smtClean="0"/>
              <a:t>1</a:t>
            </a:fld>
            <a:endParaRPr lang="en-US"/>
          </a:p>
        </p:txBody>
      </p:sp>
    </p:spTree>
    <p:extLst>
      <p:ext uri="{BB962C8B-B14F-4D97-AF65-F5344CB8AC3E}">
        <p14:creationId xmlns:p14="http://schemas.microsoft.com/office/powerpoint/2010/main" val="23489040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p:cNvSpPr>
            <a:spLocks noGrp="1" noRot="1" noChangeAspect="1" noChangeArrowheads="1" noTextEdit="1"/>
          </p:cNvSpPr>
          <p:nvPr>
            <p:ph type="sldImg"/>
          </p:nvPr>
        </p:nvSpPr>
        <p:spPr>
          <a:xfrm>
            <a:off x="406400" y="696913"/>
            <a:ext cx="6197600" cy="3486150"/>
          </a:xfrm>
          <a:ln/>
        </p:spPr>
      </p:sp>
      <p:sp>
        <p:nvSpPr>
          <p:cNvPr id="53252" name="Rectangle 3"/>
          <p:cNvSpPr>
            <a:spLocks noGrp="1" noChangeArrowheads="1"/>
          </p:cNvSpPr>
          <p:nvPr>
            <p:ph type="body" idx="1"/>
          </p:nvPr>
        </p:nvSpPr>
        <p:spPr>
          <a:noFill/>
          <a:ln/>
        </p:spPr>
        <p:txBody>
          <a:bodyPr/>
          <a:lstStyle/>
          <a:p>
            <a:r>
              <a:rPr lang="en-US" dirty="0"/>
              <a:t>Fort Hunter Liggett – CA</a:t>
            </a:r>
          </a:p>
          <a:p>
            <a:r>
              <a:rPr lang="en-US" dirty="0"/>
              <a:t>-Parks Reserve Forces Training Area – CA</a:t>
            </a:r>
          </a:p>
          <a:p>
            <a:endParaRPr lang="en-US" dirty="0"/>
          </a:p>
          <a:p>
            <a:r>
              <a:rPr lang="en-US" dirty="0"/>
              <a:t>JBMDL</a:t>
            </a:r>
          </a:p>
          <a:p>
            <a:endParaRPr lang="en-US" dirty="0"/>
          </a:p>
          <a:p>
            <a:r>
              <a:rPr lang="en-US" dirty="0"/>
              <a:t>Fort Buchanan, PR </a:t>
            </a:r>
          </a:p>
          <a:p>
            <a:endParaRPr lang="en-US" dirty="0"/>
          </a:p>
          <a:p>
            <a:endParaRPr lang="en-US" dirty="0"/>
          </a:p>
          <a:p>
            <a:endParaRPr lang="en-US" dirty="0"/>
          </a:p>
        </p:txBody>
      </p:sp>
    </p:spTree>
    <p:extLst>
      <p:ext uri="{BB962C8B-B14F-4D97-AF65-F5344CB8AC3E}">
        <p14:creationId xmlns:p14="http://schemas.microsoft.com/office/powerpoint/2010/main" val="30598161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list of general contractors bidding the project is not maintained.  The Government does not know who is bidding the project until a proposal is received. SAM.gov does contain an Interested Vendors List to which you may add your firm’s name.</a:t>
            </a:r>
          </a:p>
          <a:p>
            <a:endParaRPr lang="en-US" dirty="0"/>
          </a:p>
        </p:txBody>
      </p:sp>
      <p:sp>
        <p:nvSpPr>
          <p:cNvPr id="4" name="Slide Number Placeholder 3"/>
          <p:cNvSpPr>
            <a:spLocks noGrp="1"/>
          </p:cNvSpPr>
          <p:nvPr>
            <p:ph type="sldNum" sz="quarter" idx="5"/>
          </p:nvPr>
        </p:nvSpPr>
        <p:spPr/>
        <p:txBody>
          <a:bodyPr/>
          <a:lstStyle/>
          <a:p>
            <a:fld id="{BC3A86D8-1D95-4DFF-A26B-8F86AC3AC58E}" type="slidenum">
              <a:rPr lang="en-US" smtClean="0"/>
              <a:t>9</a:t>
            </a:fld>
            <a:endParaRPr lang="en-US"/>
          </a:p>
        </p:txBody>
      </p:sp>
    </p:spTree>
    <p:extLst>
      <p:ext uri="{BB962C8B-B14F-4D97-AF65-F5344CB8AC3E}">
        <p14:creationId xmlns:p14="http://schemas.microsoft.com/office/powerpoint/2010/main" val="10460833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3A86D8-1D95-4DFF-A26B-8F86AC3AC58E}" type="slidenum">
              <a:rPr lang="en-US" smtClean="0"/>
              <a:t>10</a:t>
            </a:fld>
            <a:endParaRPr lang="en-US"/>
          </a:p>
        </p:txBody>
      </p:sp>
    </p:spTree>
    <p:extLst>
      <p:ext uri="{BB962C8B-B14F-4D97-AF65-F5344CB8AC3E}">
        <p14:creationId xmlns:p14="http://schemas.microsoft.com/office/powerpoint/2010/main" val="2787164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3A86D8-1D95-4DFF-A26B-8F86AC3AC58E}" type="slidenum">
              <a:rPr lang="en-US" smtClean="0"/>
              <a:t>11</a:t>
            </a:fld>
            <a:endParaRPr lang="en-US"/>
          </a:p>
        </p:txBody>
      </p:sp>
    </p:spTree>
    <p:extLst>
      <p:ext uri="{BB962C8B-B14F-4D97-AF65-F5344CB8AC3E}">
        <p14:creationId xmlns:p14="http://schemas.microsoft.com/office/powerpoint/2010/main" val="33013197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3A86D8-1D95-4DFF-A26B-8F86AC3AC58E}" type="slidenum">
              <a:rPr lang="en-US" smtClean="0"/>
              <a:t>12</a:t>
            </a:fld>
            <a:endParaRPr lang="en-US"/>
          </a:p>
        </p:txBody>
      </p:sp>
    </p:spTree>
    <p:extLst>
      <p:ext uri="{BB962C8B-B14F-4D97-AF65-F5344CB8AC3E}">
        <p14:creationId xmlns:p14="http://schemas.microsoft.com/office/powerpoint/2010/main" val="34755930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3A86D8-1D95-4DFF-A26B-8F86AC3AC5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47253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3A86D8-1D95-4DFF-A26B-8F86AC3AC5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23734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3A86D8-1D95-4DFF-A26B-8F86AC3AC5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437777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3A86D8-1D95-4DFF-A26B-8F86AC3AC5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800916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3A86D8-1D95-4DFF-A26B-8F86AC3AC5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996166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3A86D8-1D95-4DFF-A26B-8F86AC3AC5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104422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3A86D8-1D95-4DFF-A26B-8F86AC3AC5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55371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95F074-C40A-4AD2-B1B9-AFFB5AD0A8D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667412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3A86D8-1D95-4DFF-A26B-8F86AC3AC5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154388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3A86D8-1D95-4DFF-A26B-8F86AC3AC58E}" type="slidenum">
              <a:rPr lang="en-US" smtClean="0"/>
              <a:t>31</a:t>
            </a:fld>
            <a:endParaRPr lang="en-US"/>
          </a:p>
        </p:txBody>
      </p:sp>
    </p:spTree>
    <p:extLst>
      <p:ext uri="{BB962C8B-B14F-4D97-AF65-F5344CB8AC3E}">
        <p14:creationId xmlns:p14="http://schemas.microsoft.com/office/powerpoint/2010/main" val="13368126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3A86D8-1D95-4DFF-A26B-8F86AC3AC58E}" type="slidenum">
              <a:rPr lang="en-US" smtClean="0"/>
              <a:t>37</a:t>
            </a:fld>
            <a:endParaRPr lang="en-US"/>
          </a:p>
        </p:txBody>
      </p:sp>
    </p:spTree>
    <p:extLst>
      <p:ext uri="{BB962C8B-B14F-4D97-AF65-F5344CB8AC3E}">
        <p14:creationId xmlns:p14="http://schemas.microsoft.com/office/powerpoint/2010/main" val="31568319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a:t>
            </a:r>
            <a:r>
              <a:rPr lang="en-US" baseline="0" dirty="0"/>
              <a:t> power point presentation will be posted to FBO and will be linked to the industry day announcement.  It will be available for download for 15 days.</a:t>
            </a:r>
            <a:endParaRPr lang="en-US" dirty="0"/>
          </a:p>
          <a:p>
            <a:endParaRPr lang="en-US" dirty="0"/>
          </a:p>
        </p:txBody>
      </p:sp>
      <p:sp>
        <p:nvSpPr>
          <p:cNvPr id="4" name="Slide Number Placeholder 3"/>
          <p:cNvSpPr>
            <a:spLocks noGrp="1"/>
          </p:cNvSpPr>
          <p:nvPr>
            <p:ph type="sldNum" sz="quarter" idx="5"/>
          </p:nvPr>
        </p:nvSpPr>
        <p:spPr/>
        <p:txBody>
          <a:bodyPr/>
          <a:lstStyle/>
          <a:p>
            <a:fld id="{BC3A86D8-1D95-4DFF-A26B-8F86AC3AC58E}" type="slidenum">
              <a:rPr lang="en-US" smtClean="0"/>
              <a:t>42</a:t>
            </a:fld>
            <a:endParaRPr lang="en-US"/>
          </a:p>
        </p:txBody>
      </p:sp>
    </p:spTree>
    <p:extLst>
      <p:ext uri="{BB962C8B-B14F-4D97-AF65-F5344CB8AC3E}">
        <p14:creationId xmlns:p14="http://schemas.microsoft.com/office/powerpoint/2010/main" val="19690894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7.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18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18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18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18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19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19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19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C718C8BC-3817-BA43-A697-C0F8A79E643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39711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EE4B1084-AF70-E7DA-2842-9FB9FFF0804B}"/>
              </a:ext>
            </a:extLst>
          </p:cNvPr>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3562901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
        <p:nvSpPr>
          <p:cNvPr id="2" name="Title 1">
            <a:extLst>
              <a:ext uri="{FF2B5EF4-FFF2-40B4-BE49-F238E27FC236}">
                <a16:creationId xmlns:a16="http://schemas.microsoft.com/office/drawing/2014/main" id="{942C9F60-E948-0B16-240A-DCBC52D49E51}"/>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4279953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Picture with Caption">
    <p:bg>
      <p:bgPr>
        <a:gradFill flip="none" rotWithShape="1">
          <a:gsLst>
            <a:gs pos="75000">
              <a:schemeClr val="tx2"/>
            </a:gs>
            <a:gs pos="85000">
              <a:schemeClr val="tx2">
                <a:alpha val="35000"/>
              </a:schemeClr>
            </a:gs>
            <a:gs pos="95000">
              <a:schemeClr val="tx2">
                <a:lumMod val="8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Tree>
    <p:extLst>
      <p:ext uri="{BB962C8B-B14F-4D97-AF65-F5344CB8AC3E}">
        <p14:creationId xmlns:p14="http://schemas.microsoft.com/office/powerpoint/2010/main" val="392458453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
        <p:nvSpPr>
          <p:cNvPr id="4" name="Title 3">
            <a:extLst>
              <a:ext uri="{FF2B5EF4-FFF2-40B4-BE49-F238E27FC236}">
                <a16:creationId xmlns:a16="http://schemas.microsoft.com/office/drawing/2014/main" id="{FC0BCDB4-4C07-CBF2-EFC4-7CEF0E09948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67572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
        <p:nvSpPr>
          <p:cNvPr id="3" name="Title 2">
            <a:extLst>
              <a:ext uri="{FF2B5EF4-FFF2-40B4-BE49-F238E27FC236}">
                <a16:creationId xmlns:a16="http://schemas.microsoft.com/office/drawing/2014/main" id="{1D0F7681-D094-4E6D-0DF0-99CD21DC423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67415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
        <p:nvSpPr>
          <p:cNvPr id="4" name="Title 3">
            <a:extLst>
              <a:ext uri="{FF2B5EF4-FFF2-40B4-BE49-F238E27FC236}">
                <a16:creationId xmlns:a16="http://schemas.microsoft.com/office/drawing/2014/main" id="{CC30DB31-FD65-4D95-4478-6813E7F155C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74681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37503846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1916911407"/>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501760378"/>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2802872667"/>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1736588705"/>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
        <p:nvSpPr>
          <p:cNvPr id="3" name="Title 2">
            <a:extLst>
              <a:ext uri="{FF2B5EF4-FFF2-40B4-BE49-F238E27FC236}">
                <a16:creationId xmlns:a16="http://schemas.microsoft.com/office/drawing/2014/main" id="{7AD23EB7-47BD-A421-AD32-BA7882ED264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552416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8433437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0"/>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7B0D9059-3C9E-5AFD-2A32-2874C4FC4C5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51269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1993319496"/>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20000"/>
            <a:lumOff val="8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37830850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Tree>
    <p:extLst>
      <p:ext uri="{BB962C8B-B14F-4D97-AF65-F5344CB8AC3E}">
        <p14:creationId xmlns:p14="http://schemas.microsoft.com/office/powerpoint/2010/main" val="9265633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5000">
              <a:schemeClr val="tx2"/>
            </a:gs>
            <a:gs pos="90000">
              <a:schemeClr val="tx2">
                <a:alpha val="45000"/>
              </a:schemeClr>
            </a:gs>
            <a:gs pos="95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Tree>
    <p:extLst>
      <p:ext uri="{BB962C8B-B14F-4D97-AF65-F5344CB8AC3E}">
        <p14:creationId xmlns:p14="http://schemas.microsoft.com/office/powerpoint/2010/main" val="15294033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8523942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Tree>
    <p:extLst>
      <p:ext uri="{BB962C8B-B14F-4D97-AF65-F5344CB8AC3E}">
        <p14:creationId xmlns:p14="http://schemas.microsoft.com/office/powerpoint/2010/main" val="37802714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4657202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7274079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4431359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7999428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4229492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picTx" preserve="1">
  <p:cSld name="1_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69738244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C718C8BC-3817-BA43-A697-C0F8A79E643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970837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EE4B1084-AF70-E7DA-2842-9FB9FFF0804B}"/>
              </a:ext>
            </a:extLst>
          </p:cNvPr>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155209665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
        <p:nvSpPr>
          <p:cNvPr id="2" name="Title 1">
            <a:extLst>
              <a:ext uri="{FF2B5EF4-FFF2-40B4-BE49-F238E27FC236}">
                <a16:creationId xmlns:a16="http://schemas.microsoft.com/office/drawing/2014/main" id="{942C9F60-E948-0B16-240A-DCBC52D49E51}"/>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0726252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Picture with Caption">
    <p:bg>
      <p:bgPr>
        <a:gradFill flip="none" rotWithShape="1">
          <a:gsLst>
            <a:gs pos="75000">
              <a:schemeClr val="tx2"/>
            </a:gs>
            <a:gs pos="85000">
              <a:schemeClr val="tx2">
                <a:alpha val="35000"/>
              </a:schemeClr>
            </a:gs>
            <a:gs pos="95000">
              <a:schemeClr val="tx2">
                <a:lumMod val="8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Tree>
    <p:extLst>
      <p:ext uri="{BB962C8B-B14F-4D97-AF65-F5344CB8AC3E}">
        <p14:creationId xmlns:p14="http://schemas.microsoft.com/office/powerpoint/2010/main" val="2103966943"/>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
        <p:nvSpPr>
          <p:cNvPr id="4" name="Title 3">
            <a:extLst>
              <a:ext uri="{FF2B5EF4-FFF2-40B4-BE49-F238E27FC236}">
                <a16:creationId xmlns:a16="http://schemas.microsoft.com/office/drawing/2014/main" id="{FC0BCDB4-4C07-CBF2-EFC4-7CEF0E09948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471780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
        <p:nvSpPr>
          <p:cNvPr id="3" name="Title 2">
            <a:extLst>
              <a:ext uri="{FF2B5EF4-FFF2-40B4-BE49-F238E27FC236}">
                <a16:creationId xmlns:a16="http://schemas.microsoft.com/office/drawing/2014/main" id="{1D0F7681-D094-4E6D-0DF0-99CD21DC423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362641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
        <p:nvSpPr>
          <p:cNvPr id="4" name="Title 3">
            <a:extLst>
              <a:ext uri="{FF2B5EF4-FFF2-40B4-BE49-F238E27FC236}">
                <a16:creationId xmlns:a16="http://schemas.microsoft.com/office/drawing/2014/main" id="{CC30DB31-FD65-4D95-4478-6813E7F155C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655615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264981868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2977904076"/>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2693227270"/>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2516359702"/>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1819793675"/>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
        <p:nvSpPr>
          <p:cNvPr id="3" name="Title 2">
            <a:extLst>
              <a:ext uri="{FF2B5EF4-FFF2-40B4-BE49-F238E27FC236}">
                <a16:creationId xmlns:a16="http://schemas.microsoft.com/office/drawing/2014/main" id="{7AD23EB7-47BD-A421-AD32-BA7882ED264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538435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64614394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0"/>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7B0D9059-3C9E-5AFD-2A32-2874C4FC4C5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7615947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2556249665"/>
      </p:ext>
    </p:extLst>
  </p:cSld>
  <p:clrMapOvr>
    <a:masterClrMapping/>
  </p:clrMapOvr>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20000"/>
            <a:lumOff val="8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373734091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Tree>
    <p:extLst>
      <p:ext uri="{BB962C8B-B14F-4D97-AF65-F5344CB8AC3E}">
        <p14:creationId xmlns:p14="http://schemas.microsoft.com/office/powerpoint/2010/main" val="249764614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5000">
              <a:schemeClr val="tx2"/>
            </a:gs>
            <a:gs pos="90000">
              <a:schemeClr val="tx2">
                <a:alpha val="45000"/>
              </a:schemeClr>
            </a:gs>
            <a:gs pos="95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Tree>
    <p:extLst>
      <p:ext uri="{BB962C8B-B14F-4D97-AF65-F5344CB8AC3E}">
        <p14:creationId xmlns:p14="http://schemas.microsoft.com/office/powerpoint/2010/main" val="201979528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77220610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Tree>
    <p:extLst>
      <p:ext uri="{BB962C8B-B14F-4D97-AF65-F5344CB8AC3E}">
        <p14:creationId xmlns:p14="http://schemas.microsoft.com/office/powerpoint/2010/main" val="169728047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01072787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51873353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75993111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38392777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57816786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picTx" preserve="1">
  <p:cSld name="1_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48030604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B8F7E44F-C564-AFF5-D73D-599A8EB64DC8}"/>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95659145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
        <p:nvSpPr>
          <p:cNvPr id="3" name="Title 2">
            <a:extLst>
              <a:ext uri="{FF2B5EF4-FFF2-40B4-BE49-F238E27FC236}">
                <a16:creationId xmlns:a16="http://schemas.microsoft.com/office/drawing/2014/main" id="{AEDBE4B2-ED26-DF20-EB88-9102132A1C0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4494691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
        <p:nvSpPr>
          <p:cNvPr id="2" name="Title 1">
            <a:extLst>
              <a:ext uri="{FF2B5EF4-FFF2-40B4-BE49-F238E27FC236}">
                <a16:creationId xmlns:a16="http://schemas.microsoft.com/office/drawing/2014/main" id="{74074E2E-ED81-F3EC-B678-0FDCBC64206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2317972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
        <p:nvSpPr>
          <p:cNvPr id="5" name="Title 4">
            <a:extLst>
              <a:ext uri="{FF2B5EF4-FFF2-40B4-BE49-F238E27FC236}">
                <a16:creationId xmlns:a16="http://schemas.microsoft.com/office/drawing/2014/main" id="{AB808ED8-8426-A0C0-9763-B7D4C153D10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40544361"/>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
        <p:nvSpPr>
          <p:cNvPr id="4" name="Title 3">
            <a:extLst>
              <a:ext uri="{FF2B5EF4-FFF2-40B4-BE49-F238E27FC236}">
                <a16:creationId xmlns:a16="http://schemas.microsoft.com/office/drawing/2014/main" id="{62C6ABDE-E95A-0F3C-098E-3AB6CD8A719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0781991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
        <p:nvSpPr>
          <p:cNvPr id="3" name="Title 2">
            <a:extLst>
              <a:ext uri="{FF2B5EF4-FFF2-40B4-BE49-F238E27FC236}">
                <a16:creationId xmlns:a16="http://schemas.microsoft.com/office/drawing/2014/main" id="{DFDE0C51-EABF-8EEF-D372-6195FADF385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7024721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
        <p:nvSpPr>
          <p:cNvPr id="4" name="Title 3">
            <a:extLst>
              <a:ext uri="{FF2B5EF4-FFF2-40B4-BE49-F238E27FC236}">
                <a16:creationId xmlns:a16="http://schemas.microsoft.com/office/drawing/2014/main" id="{1FA45842-A577-D012-E0A0-40AA7BE0D29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9888920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
        <p:nvSpPr>
          <p:cNvPr id="3" name="Title 2">
            <a:extLst>
              <a:ext uri="{FF2B5EF4-FFF2-40B4-BE49-F238E27FC236}">
                <a16:creationId xmlns:a16="http://schemas.microsoft.com/office/drawing/2014/main" id="{B93C48AD-9F55-0046-00A1-CC510D30C60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4427488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
        <p:nvSpPr>
          <p:cNvPr id="5" name="Title 4">
            <a:extLst>
              <a:ext uri="{FF2B5EF4-FFF2-40B4-BE49-F238E27FC236}">
                <a16:creationId xmlns:a16="http://schemas.microsoft.com/office/drawing/2014/main" id="{44FB5578-DA9B-BD0B-5613-AEFB9E68B6F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98025777"/>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
        <p:nvSpPr>
          <p:cNvPr id="7" name="Title 6">
            <a:extLst>
              <a:ext uri="{FF2B5EF4-FFF2-40B4-BE49-F238E27FC236}">
                <a16:creationId xmlns:a16="http://schemas.microsoft.com/office/drawing/2014/main" id="{929DC40A-BB92-C526-3CD0-189C3429C4D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13898774"/>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
        <p:nvSpPr>
          <p:cNvPr id="6" name="Title 5">
            <a:extLst>
              <a:ext uri="{FF2B5EF4-FFF2-40B4-BE49-F238E27FC236}">
                <a16:creationId xmlns:a16="http://schemas.microsoft.com/office/drawing/2014/main" id="{481C1557-2F36-FF70-9AEB-DF21DD5067B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01852820"/>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
        <p:nvSpPr>
          <p:cNvPr id="6" name="Title 5">
            <a:extLst>
              <a:ext uri="{FF2B5EF4-FFF2-40B4-BE49-F238E27FC236}">
                <a16:creationId xmlns:a16="http://schemas.microsoft.com/office/drawing/2014/main" id="{F2E409FF-5585-8E4A-14AA-59DBC4EAF93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6880084"/>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
        <p:nvSpPr>
          <p:cNvPr id="3" name="Title 2">
            <a:extLst>
              <a:ext uri="{FF2B5EF4-FFF2-40B4-BE49-F238E27FC236}">
                <a16:creationId xmlns:a16="http://schemas.microsoft.com/office/drawing/2014/main" id="{B02F4169-3E26-AB53-54FC-47BE477B905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6277569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411051466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DACA2C3D-12FE-63E8-E6E7-2094824214F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9146526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3290452761"/>
      </p:ext>
    </p:extLst>
  </p:cSld>
  <p:clrMapOvr>
    <a:masterClrMapping/>
  </p:clrMapOvr>
  <p:hf hdr="0" dt="0"/>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347190998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Tree>
    <p:extLst>
      <p:ext uri="{BB962C8B-B14F-4D97-AF65-F5344CB8AC3E}">
        <p14:creationId xmlns:p14="http://schemas.microsoft.com/office/powerpoint/2010/main" val="7981640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Tree>
    <p:extLst>
      <p:ext uri="{BB962C8B-B14F-4D97-AF65-F5344CB8AC3E}">
        <p14:creationId xmlns:p14="http://schemas.microsoft.com/office/powerpoint/2010/main" val="420945057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3883221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Tree>
    <p:extLst>
      <p:ext uri="{BB962C8B-B14F-4D97-AF65-F5344CB8AC3E}">
        <p14:creationId xmlns:p14="http://schemas.microsoft.com/office/powerpoint/2010/main" val="157199595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915168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97445919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65186247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27105447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47991514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79741628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3B3BB445-F4B7-CADC-0D0E-2F77E6D29AB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6034605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
        <p:nvSpPr>
          <p:cNvPr id="3" name="Title 2">
            <a:extLst>
              <a:ext uri="{FF2B5EF4-FFF2-40B4-BE49-F238E27FC236}">
                <a16:creationId xmlns:a16="http://schemas.microsoft.com/office/drawing/2014/main" id="{3F0C188E-247B-9C3F-A9A1-C83CFE759AA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3782153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Click to edit Master title style</a:t>
            </a:r>
          </a:p>
        </p:txBody>
      </p:sp>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Tree>
    <p:extLst>
      <p:ext uri="{BB962C8B-B14F-4D97-AF65-F5344CB8AC3E}">
        <p14:creationId xmlns:p14="http://schemas.microsoft.com/office/powerpoint/2010/main" val="7202369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4" name="Title 3"/>
          <p:cNvSpPr>
            <a:spLocks noGrp="1"/>
          </p:cNvSpPr>
          <p:nvPr>
            <p:ph type="title"/>
          </p:nvPr>
        </p:nvSpPr>
        <p:spPr/>
        <p:txBody>
          <a:bodyPr/>
          <a:lstStyle/>
          <a:p>
            <a:r>
              <a:rPr lang="en-US" dirty="0"/>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Tree>
    <p:extLst>
      <p:ext uri="{BB962C8B-B14F-4D97-AF65-F5344CB8AC3E}">
        <p14:creationId xmlns:p14="http://schemas.microsoft.com/office/powerpoint/2010/main" val="1683895260"/>
      </p:ext>
    </p:extLst>
  </p:cSld>
  <p:clrMapOvr>
    <a:masterClrMapping/>
  </p:clrMapOvr>
  <p:extLst>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Tree>
    <p:extLst>
      <p:ext uri="{BB962C8B-B14F-4D97-AF65-F5344CB8AC3E}">
        <p14:creationId xmlns:p14="http://schemas.microsoft.com/office/powerpoint/2010/main" val="343208891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
        <p:nvSpPr>
          <p:cNvPr id="3" name="Title 2">
            <a:extLst>
              <a:ext uri="{FF2B5EF4-FFF2-40B4-BE49-F238E27FC236}">
                <a16:creationId xmlns:a16="http://schemas.microsoft.com/office/drawing/2014/main" id="{0D83DA01-DEF9-54DE-5B29-4ACD3FE63AA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9248608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
        <p:nvSpPr>
          <p:cNvPr id="4" name="Title 3">
            <a:extLst>
              <a:ext uri="{FF2B5EF4-FFF2-40B4-BE49-F238E27FC236}">
                <a16:creationId xmlns:a16="http://schemas.microsoft.com/office/drawing/2014/main" id="{7C0718C4-6A68-5C9A-D51B-6E4A148DA30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7768353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
        <p:nvSpPr>
          <p:cNvPr id="3" name="Title 2">
            <a:extLst>
              <a:ext uri="{FF2B5EF4-FFF2-40B4-BE49-F238E27FC236}">
                <a16:creationId xmlns:a16="http://schemas.microsoft.com/office/drawing/2014/main" id="{D7BCB16E-0E8E-5157-7B5A-C68F6A9B78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01035981"/>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886297771"/>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3787658590"/>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1943067148"/>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1319340364"/>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
        <p:nvSpPr>
          <p:cNvPr id="3" name="Title 2">
            <a:extLst>
              <a:ext uri="{FF2B5EF4-FFF2-40B4-BE49-F238E27FC236}">
                <a16:creationId xmlns:a16="http://schemas.microsoft.com/office/drawing/2014/main" id="{C36767D0-41E3-FB81-AF9C-B23748A500E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66629248"/>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902094995"/>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906D055C-0506-0861-DE5F-4C6932D6751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7324322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
        <p:nvSpPr>
          <p:cNvPr id="3" name="TextBox 2">
            <a:extLst>
              <a:ext uri="{FF2B5EF4-FFF2-40B4-BE49-F238E27FC236}">
                <a16:creationId xmlns:a16="http://schemas.microsoft.com/office/drawing/2014/main" id="{C369F6EA-5BBB-736F-8B43-C8414A1A7110}"/>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5" name="TextBox 4">
            <a:extLst>
              <a:ext uri="{FF2B5EF4-FFF2-40B4-BE49-F238E27FC236}">
                <a16:creationId xmlns:a16="http://schemas.microsoft.com/office/drawing/2014/main" id="{A49041E3-ECCE-7D4E-3D0F-271435F717AB}"/>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1118713353"/>
      </p:ext>
    </p:extLst>
  </p:cSld>
  <p:clrMapOvr>
    <a:masterClrMapping/>
  </p:clrMapOvr>
  <p:hf hdr="0" dt="0"/>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bg2">
                    <a:lumMod val="50000"/>
                  </a:schemeClr>
                </a:solidFill>
              </a:rPr>
              <a:pPr algn="r">
                <a:spcBef>
                  <a:spcPct val="50000"/>
                </a:spcBef>
                <a:defRPr/>
              </a:pPr>
              <a:t>‹#›</a:t>
            </a:fld>
            <a:endParaRPr lang="en-US" sz="1100" b="0" baseline="0" dirty="0">
              <a:solidFill>
                <a:schemeClr val="bg2">
                  <a:lumMod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
        <p:nvSpPr>
          <p:cNvPr id="3" name="TextBox 2">
            <a:extLst>
              <a:ext uri="{FF2B5EF4-FFF2-40B4-BE49-F238E27FC236}">
                <a16:creationId xmlns:a16="http://schemas.microsoft.com/office/drawing/2014/main" id="{D9F0C27E-08F8-B2DC-3FBC-DBF8758A6EB4}"/>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D1BF6447-1438-9DC9-A4D0-DA7BD956CC62}"/>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2806018184"/>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
        <p:nvSpPr>
          <p:cNvPr id="3" name="TextBox 2">
            <a:extLst>
              <a:ext uri="{FF2B5EF4-FFF2-40B4-BE49-F238E27FC236}">
                <a16:creationId xmlns:a16="http://schemas.microsoft.com/office/drawing/2014/main" id="{36CCC378-15A8-6972-3896-FF69DB1A86EF}"/>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B4753ADC-3CDC-8585-1B64-FC71910FE39F}"/>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126643433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
        <p:nvSpPr>
          <p:cNvPr id="3" name="TextBox 2">
            <a:extLst>
              <a:ext uri="{FF2B5EF4-FFF2-40B4-BE49-F238E27FC236}">
                <a16:creationId xmlns:a16="http://schemas.microsoft.com/office/drawing/2014/main" id="{2BA9C1D8-06A5-3CF2-8FFF-D157FCBDA838}"/>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27DC6927-6328-54A3-652D-C2A424EB7FFA}"/>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2385246901"/>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4" name="TextBox 3">
            <a:extLst>
              <a:ext uri="{FF2B5EF4-FFF2-40B4-BE49-F238E27FC236}">
                <a16:creationId xmlns:a16="http://schemas.microsoft.com/office/drawing/2014/main" id="{630BD048-B218-74A4-3C87-05F3F4A8C071}"/>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5" name="TextBox 4">
            <a:extLst>
              <a:ext uri="{FF2B5EF4-FFF2-40B4-BE49-F238E27FC236}">
                <a16:creationId xmlns:a16="http://schemas.microsoft.com/office/drawing/2014/main" id="{3DB49293-9868-09DD-39EF-161AEFC63792}"/>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2183580852"/>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2" name="TextBox 1">
            <a:extLst>
              <a:ext uri="{FF2B5EF4-FFF2-40B4-BE49-F238E27FC236}">
                <a16:creationId xmlns:a16="http://schemas.microsoft.com/office/drawing/2014/main" id="{C4E397FB-1BD3-B604-0055-B801B36980F1}"/>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4" name="TextBox 3">
            <a:extLst>
              <a:ext uri="{FF2B5EF4-FFF2-40B4-BE49-F238E27FC236}">
                <a16:creationId xmlns:a16="http://schemas.microsoft.com/office/drawing/2014/main" id="{F89B0BD2-2241-1984-EDA5-DF47FC1C5535}"/>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2897725979"/>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7" name="TextBox 6">
            <a:extLst>
              <a:ext uri="{FF2B5EF4-FFF2-40B4-BE49-F238E27FC236}">
                <a16:creationId xmlns:a16="http://schemas.microsoft.com/office/drawing/2014/main" id="{6B1A8707-5D07-168E-A660-71E24684D34A}"/>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8" name="TextBox 7">
            <a:extLst>
              <a:ext uri="{FF2B5EF4-FFF2-40B4-BE49-F238E27FC236}">
                <a16:creationId xmlns:a16="http://schemas.microsoft.com/office/drawing/2014/main" id="{226D763A-45F5-16E1-3837-E3A03BFB0CE1}"/>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4145102711"/>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3" name="TextBox 2">
            <a:extLst>
              <a:ext uri="{FF2B5EF4-FFF2-40B4-BE49-F238E27FC236}">
                <a16:creationId xmlns:a16="http://schemas.microsoft.com/office/drawing/2014/main" id="{69DD5BFE-D25D-8741-ADAE-C79A9ECF903E}"/>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4" name="TextBox 3">
            <a:extLst>
              <a:ext uri="{FF2B5EF4-FFF2-40B4-BE49-F238E27FC236}">
                <a16:creationId xmlns:a16="http://schemas.microsoft.com/office/drawing/2014/main" id="{2118CA89-9EB2-83A5-C690-ED0F196E89C9}"/>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 Placeholder 3">
            <a:extLst>
              <a:ext uri="{FF2B5EF4-FFF2-40B4-BE49-F238E27FC236}">
                <a16:creationId xmlns:a16="http://schemas.microsoft.com/office/drawing/2014/main" id="{DF92E724-FB8E-DBF9-9C01-321A41DCF83B}"/>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50879453"/>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2" name="TextBox 1">
            <a:extLst>
              <a:ext uri="{FF2B5EF4-FFF2-40B4-BE49-F238E27FC236}">
                <a16:creationId xmlns:a16="http://schemas.microsoft.com/office/drawing/2014/main" id="{D65A919C-BB57-C85E-D512-91C2F36D8E3C}"/>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9F43E06D-00DD-5633-AC95-2BB934291B12}"/>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7" name="Text Placeholder 3">
            <a:extLst>
              <a:ext uri="{FF2B5EF4-FFF2-40B4-BE49-F238E27FC236}">
                <a16:creationId xmlns:a16="http://schemas.microsoft.com/office/drawing/2014/main" id="{178FC1A7-865F-04A4-DEDA-753B0AAD0B77}"/>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6442050"/>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2" name="TextBox 1">
            <a:extLst>
              <a:ext uri="{FF2B5EF4-FFF2-40B4-BE49-F238E27FC236}">
                <a16:creationId xmlns:a16="http://schemas.microsoft.com/office/drawing/2014/main" id="{6601B32B-620F-5F12-C780-5B24254CA8D4}"/>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D4C974F1-8C7E-A3AA-CFB8-4D1931322188}"/>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7" name="Text Placeholder 3">
            <a:extLst>
              <a:ext uri="{FF2B5EF4-FFF2-40B4-BE49-F238E27FC236}">
                <a16:creationId xmlns:a16="http://schemas.microsoft.com/office/drawing/2014/main" id="{4F1F7A21-0DBA-C465-E0AA-72DD009C817B}"/>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104130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3" name="TextBox 2">
            <a:extLst>
              <a:ext uri="{FF2B5EF4-FFF2-40B4-BE49-F238E27FC236}">
                <a16:creationId xmlns:a16="http://schemas.microsoft.com/office/drawing/2014/main" id="{DC078E2E-5692-69A7-3932-C9B95BFB1455}"/>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7" name="TextBox 6">
            <a:extLst>
              <a:ext uri="{FF2B5EF4-FFF2-40B4-BE49-F238E27FC236}">
                <a16:creationId xmlns:a16="http://schemas.microsoft.com/office/drawing/2014/main" id="{34ACF833-FF07-52A0-1A00-9B26C0517ACC}"/>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8" name="Text Placeholder 3">
            <a:extLst>
              <a:ext uri="{FF2B5EF4-FFF2-40B4-BE49-F238E27FC236}">
                <a16:creationId xmlns:a16="http://schemas.microsoft.com/office/drawing/2014/main" id="{150C02F4-0DF1-F443-5C88-4EA1D8A61E60}"/>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95702940"/>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5" name="TextBox 4">
            <a:extLst>
              <a:ext uri="{FF2B5EF4-FFF2-40B4-BE49-F238E27FC236}">
                <a16:creationId xmlns:a16="http://schemas.microsoft.com/office/drawing/2014/main" id="{F607A8A6-FDF1-80E7-F46D-BC408816EE42}"/>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E4982A8D-99E5-0832-4DAF-99DAD01113E7}"/>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9" name="Text Placeholder 3">
            <a:extLst>
              <a:ext uri="{FF2B5EF4-FFF2-40B4-BE49-F238E27FC236}">
                <a16:creationId xmlns:a16="http://schemas.microsoft.com/office/drawing/2014/main" id="{F679BBB8-117C-A6C5-51B9-0962CFEA68C3}"/>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6368048"/>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picTx" preserve="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3093E-F997-9C1A-6F41-94195AEDCE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6622E9-B548-9861-17FE-B80B6A60E3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552F3AF-A319-231F-545F-18799EF83E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2B70C4-3999-81B3-9B74-C670362B9650}"/>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5EF19D12-2F54-317E-96F3-9AAA761DFA05}"/>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40402505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62A64504-0669-5CF0-805D-174C1EFD60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36757078"/>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EE4B1084-AF70-E7DA-2842-9FB9FFF0804B}"/>
              </a:ext>
            </a:extLst>
          </p:cNvPr>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2368177934"/>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Click to edit Master title style</a:t>
            </a:r>
          </a:p>
        </p:txBody>
      </p:sp>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Tree>
    <p:extLst>
      <p:ext uri="{BB962C8B-B14F-4D97-AF65-F5344CB8AC3E}">
        <p14:creationId xmlns:p14="http://schemas.microsoft.com/office/powerpoint/2010/main" val="1508437404"/>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Tree>
    <p:extLst>
      <p:ext uri="{BB962C8B-B14F-4D97-AF65-F5344CB8AC3E}">
        <p14:creationId xmlns:p14="http://schemas.microsoft.com/office/powerpoint/2010/main" val="1439278527"/>
      </p:ext>
    </p:extLst>
  </p:cSld>
  <p:clrMapOvr>
    <a:masterClrMapping/>
  </p:clrMapOvr>
  <p:extLst>
    <p:ext uri="{DCECCB84-F9BA-43D5-87BE-67443E8EF086}">
      <p15:sldGuideLst xmlns:p15="http://schemas.microsoft.com/office/powerpoint/2012/main"/>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Tree>
    <p:extLst>
      <p:ext uri="{BB962C8B-B14F-4D97-AF65-F5344CB8AC3E}">
        <p14:creationId xmlns:p14="http://schemas.microsoft.com/office/powerpoint/2010/main" val="2998738387"/>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2" name="Title 1"/>
          <p:cNvSpPr>
            <a:spLocks noGrp="1"/>
          </p:cNvSpPr>
          <p:nvPr>
            <p:ph type="title"/>
          </p:nvPr>
        </p:nvSpPr>
        <p:spPr/>
        <p:txBody>
          <a:bodyPr/>
          <a:lstStyle/>
          <a:p>
            <a:r>
              <a:rPr lang="en-US" dirty="0"/>
              <a:t>Click to edit Master title style</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Tree>
    <p:extLst>
      <p:ext uri="{BB962C8B-B14F-4D97-AF65-F5344CB8AC3E}">
        <p14:creationId xmlns:p14="http://schemas.microsoft.com/office/powerpoint/2010/main" val="524119381"/>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2331716612"/>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2624684873"/>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2024212555"/>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1978226686"/>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2049539758"/>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3877110228"/>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314992884"/>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587537154"/>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AA3CD5E4-A5C4-AFB4-80AA-82539154DD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51643150"/>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3097512708"/>
      </p:ext>
    </p:extLst>
  </p:cSld>
  <p:clrMapOvr>
    <a:masterClrMapping/>
  </p:clrMapOvr>
  <p:hf hdr="0" dt="0"/>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3679205202"/>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Tree>
    <p:extLst>
      <p:ext uri="{BB962C8B-B14F-4D97-AF65-F5344CB8AC3E}">
        <p14:creationId xmlns:p14="http://schemas.microsoft.com/office/powerpoint/2010/main" val="3657638817"/>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Tree>
    <p:extLst>
      <p:ext uri="{BB962C8B-B14F-4D97-AF65-F5344CB8AC3E}">
        <p14:creationId xmlns:p14="http://schemas.microsoft.com/office/powerpoint/2010/main" val="352995160"/>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95901129"/>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Tree>
    <p:extLst>
      <p:ext uri="{BB962C8B-B14F-4D97-AF65-F5344CB8AC3E}">
        <p14:creationId xmlns:p14="http://schemas.microsoft.com/office/powerpoint/2010/main" val="1175092640"/>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504254406"/>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300267976"/>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753160821"/>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572105366"/>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12185524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645311004"/>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62A64504-0669-5CF0-805D-174C1EFD60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47287019"/>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EE4B1084-AF70-E7DA-2842-9FB9FFF0804B}"/>
              </a:ext>
            </a:extLst>
          </p:cNvPr>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2768909655"/>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Click to edit Master title style</a:t>
            </a:r>
          </a:p>
        </p:txBody>
      </p:sp>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Tree>
    <p:extLst>
      <p:ext uri="{BB962C8B-B14F-4D97-AF65-F5344CB8AC3E}">
        <p14:creationId xmlns:p14="http://schemas.microsoft.com/office/powerpoint/2010/main" val="3473168259"/>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Tree>
    <p:extLst>
      <p:ext uri="{BB962C8B-B14F-4D97-AF65-F5344CB8AC3E}">
        <p14:creationId xmlns:p14="http://schemas.microsoft.com/office/powerpoint/2010/main" val="1433027956"/>
      </p:ext>
    </p:extLst>
  </p:cSld>
  <p:clrMapOvr>
    <a:masterClrMapping/>
  </p:clrMapOvr>
  <p:extLst>
    <p:ext uri="{DCECCB84-F9BA-43D5-87BE-67443E8EF086}">
      <p15:sldGuideLst xmlns:p15="http://schemas.microsoft.com/office/powerpoint/2012/main"/>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Tree>
    <p:extLst>
      <p:ext uri="{BB962C8B-B14F-4D97-AF65-F5344CB8AC3E}">
        <p14:creationId xmlns:p14="http://schemas.microsoft.com/office/powerpoint/2010/main" val="4011075717"/>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2" name="Title 1"/>
          <p:cNvSpPr>
            <a:spLocks noGrp="1"/>
          </p:cNvSpPr>
          <p:nvPr>
            <p:ph type="title"/>
          </p:nvPr>
        </p:nvSpPr>
        <p:spPr/>
        <p:txBody>
          <a:bodyPr/>
          <a:lstStyle/>
          <a:p>
            <a:r>
              <a:rPr lang="en-US" dirty="0"/>
              <a:t>Click to edit Master title style</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Tree>
    <p:extLst>
      <p:ext uri="{BB962C8B-B14F-4D97-AF65-F5344CB8AC3E}">
        <p14:creationId xmlns:p14="http://schemas.microsoft.com/office/powerpoint/2010/main" val="3840043144"/>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1974793662"/>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185071832"/>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3643622679"/>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3113828859"/>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3473439702"/>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779318526"/>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080901948"/>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40696103"/>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AA3CD5E4-A5C4-AFB4-80AA-82539154DD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00394575"/>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288037867"/>
      </p:ext>
    </p:extLst>
  </p:cSld>
  <p:clrMapOvr>
    <a:masterClrMapping/>
  </p:clrMapOvr>
  <p:hf hdr="0" dt="0"/>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597040928"/>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Tree>
    <p:extLst>
      <p:ext uri="{BB962C8B-B14F-4D97-AF65-F5344CB8AC3E}">
        <p14:creationId xmlns:p14="http://schemas.microsoft.com/office/powerpoint/2010/main" val="117613438"/>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Tree>
    <p:extLst>
      <p:ext uri="{BB962C8B-B14F-4D97-AF65-F5344CB8AC3E}">
        <p14:creationId xmlns:p14="http://schemas.microsoft.com/office/powerpoint/2010/main" val="1314141392"/>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406925604"/>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Tree>
    <p:extLst>
      <p:ext uri="{BB962C8B-B14F-4D97-AF65-F5344CB8AC3E}">
        <p14:creationId xmlns:p14="http://schemas.microsoft.com/office/powerpoint/2010/main" val="450727101"/>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611203052"/>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86776657"/>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88156897"/>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082985024"/>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29640608"/>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601289768"/>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Chart Color Layout">
    <p:spTree>
      <p:nvGrpSpPr>
        <p:cNvPr id="1" name=""/>
        <p:cNvGrpSpPr/>
        <p:nvPr/>
      </p:nvGrpSpPr>
      <p:grpSpPr>
        <a:xfrm>
          <a:off x="0" y="0"/>
          <a:ext cx="0" cy="0"/>
          <a:chOff x="0" y="0"/>
          <a:chExt cx="0" cy="0"/>
        </a:xfrm>
      </p:grpSpPr>
      <p:sp>
        <p:nvSpPr>
          <p:cNvPr id="10" name="Chart Placeholder 9"/>
          <p:cNvSpPr>
            <a:spLocks noGrp="1"/>
          </p:cNvSpPr>
          <p:nvPr>
            <p:ph type="chart" sz="quarter" idx="12"/>
          </p:nvPr>
        </p:nvSpPr>
        <p:spPr>
          <a:xfrm>
            <a:off x="266700" y="1028700"/>
            <a:ext cx="11658599" cy="5600700"/>
          </a:xfrm>
        </p:spPr>
        <p:txBody>
          <a:bodyPr/>
          <a:lstStyle/>
          <a:p>
            <a:endParaRPr lang="en-US" dirty="0"/>
          </a:p>
        </p:txBody>
      </p:sp>
      <p:sp>
        <p:nvSpPr>
          <p:cNvPr id="3" name="Date Placeholder 2">
            <a:extLst>
              <a:ext uri="{FF2B5EF4-FFF2-40B4-BE49-F238E27FC236}">
                <a16:creationId xmlns:a16="http://schemas.microsoft.com/office/drawing/2014/main" id="{A3619AFA-4A38-490D-A5F0-BADCBB95D733}"/>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64AB4267-87B5-4161-84B6-F192661295C3}"/>
              </a:ext>
            </a:extLst>
          </p:cNvPr>
          <p:cNvSpPr>
            <a:spLocks noGrp="1"/>
          </p:cNvSpPr>
          <p:nvPr>
            <p:ph type="ftr" sz="quarter" idx="14"/>
          </p:nvPr>
        </p:nvSpPr>
        <p:spPr/>
        <p:txBody>
          <a:bodyPr/>
          <a:lstStyle/>
          <a:p>
            <a:endParaRPr lang="en-US" dirty="0"/>
          </a:p>
        </p:txBody>
      </p:sp>
      <p:sp>
        <p:nvSpPr>
          <p:cNvPr id="6" name="Title 5">
            <a:extLst>
              <a:ext uri="{FF2B5EF4-FFF2-40B4-BE49-F238E27FC236}">
                <a16:creationId xmlns:a16="http://schemas.microsoft.com/office/drawing/2014/main" id="{1FDFC77C-D990-FC23-7F32-24231C7AF06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84115466"/>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Reference ONLY">
    <p:bg>
      <p:bgPr>
        <a:solidFill>
          <a:schemeClr val="tx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4510689-FF1B-863B-E08A-0D6B1DD61503}"/>
              </a:ext>
            </a:extLst>
          </p:cNvPr>
          <p:cNvPicPr>
            <a:picLocks noChangeAspect="1"/>
          </p:cNvPicPr>
          <p:nvPr userDrawn="1"/>
        </p:nvPicPr>
        <p:blipFill>
          <a:blip r:embed="rId2"/>
          <a:stretch>
            <a:fillRect/>
          </a:stretch>
        </p:blipFill>
        <p:spPr>
          <a:xfrm>
            <a:off x="934316" y="10952"/>
            <a:ext cx="10286134" cy="6847048"/>
          </a:xfrm>
          <a:prstGeom prst="rect">
            <a:avLst/>
          </a:prstGeom>
        </p:spPr>
      </p:pic>
    </p:spTree>
    <p:extLst>
      <p:ext uri="{BB962C8B-B14F-4D97-AF65-F5344CB8AC3E}">
        <p14:creationId xmlns:p14="http://schemas.microsoft.com/office/powerpoint/2010/main" val="3981107559"/>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B8F7E44F-C564-AFF5-D73D-599A8EB64DC8}"/>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609412049"/>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
        <p:nvSpPr>
          <p:cNvPr id="3" name="Title 2">
            <a:extLst>
              <a:ext uri="{FF2B5EF4-FFF2-40B4-BE49-F238E27FC236}">
                <a16:creationId xmlns:a16="http://schemas.microsoft.com/office/drawing/2014/main" id="{AEDBE4B2-ED26-DF20-EB88-9102132A1C0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57372201"/>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
        <p:nvSpPr>
          <p:cNvPr id="2" name="Title 1">
            <a:extLst>
              <a:ext uri="{FF2B5EF4-FFF2-40B4-BE49-F238E27FC236}">
                <a16:creationId xmlns:a16="http://schemas.microsoft.com/office/drawing/2014/main" id="{74074E2E-ED81-F3EC-B678-0FDCBC64206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89032717"/>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
        <p:nvSpPr>
          <p:cNvPr id="5" name="Title 4">
            <a:extLst>
              <a:ext uri="{FF2B5EF4-FFF2-40B4-BE49-F238E27FC236}">
                <a16:creationId xmlns:a16="http://schemas.microsoft.com/office/drawing/2014/main" id="{AB808ED8-8426-A0C0-9763-B7D4C153D10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41219060"/>
      </p:ext>
    </p:extLst>
  </p:cSld>
  <p:clrMapOvr>
    <a:masterClrMapping/>
  </p:clrMapOvr>
  <p:extLst>
    <p:ext uri="{DCECCB84-F9BA-43D5-87BE-67443E8EF086}">
      <p15:sldGuideLst xmlns:p15="http://schemas.microsoft.com/office/powerpoint/2012/main"/>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
        <p:nvSpPr>
          <p:cNvPr id="4" name="Title 3">
            <a:extLst>
              <a:ext uri="{FF2B5EF4-FFF2-40B4-BE49-F238E27FC236}">
                <a16:creationId xmlns:a16="http://schemas.microsoft.com/office/drawing/2014/main" id="{62C6ABDE-E95A-0F3C-098E-3AB6CD8A719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48671161"/>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
        <p:nvSpPr>
          <p:cNvPr id="3" name="Title 2">
            <a:extLst>
              <a:ext uri="{FF2B5EF4-FFF2-40B4-BE49-F238E27FC236}">
                <a16:creationId xmlns:a16="http://schemas.microsoft.com/office/drawing/2014/main" id="{DFDE0C51-EABF-8EEF-D372-6195FADF385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95879173"/>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
        <p:nvSpPr>
          <p:cNvPr id="4" name="Title 3">
            <a:extLst>
              <a:ext uri="{FF2B5EF4-FFF2-40B4-BE49-F238E27FC236}">
                <a16:creationId xmlns:a16="http://schemas.microsoft.com/office/drawing/2014/main" id="{1FA45842-A577-D012-E0A0-40AA7BE0D29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57913116"/>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
        <p:nvSpPr>
          <p:cNvPr id="3" name="Title 2">
            <a:extLst>
              <a:ext uri="{FF2B5EF4-FFF2-40B4-BE49-F238E27FC236}">
                <a16:creationId xmlns:a16="http://schemas.microsoft.com/office/drawing/2014/main" id="{B93C48AD-9F55-0046-00A1-CC510D30C60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41245527"/>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
        <p:nvSpPr>
          <p:cNvPr id="5" name="Title 4">
            <a:extLst>
              <a:ext uri="{FF2B5EF4-FFF2-40B4-BE49-F238E27FC236}">
                <a16:creationId xmlns:a16="http://schemas.microsoft.com/office/drawing/2014/main" id="{44FB5578-DA9B-BD0B-5613-AEFB9E68B6F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42755"/>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
        <p:nvSpPr>
          <p:cNvPr id="7" name="Title 6">
            <a:extLst>
              <a:ext uri="{FF2B5EF4-FFF2-40B4-BE49-F238E27FC236}">
                <a16:creationId xmlns:a16="http://schemas.microsoft.com/office/drawing/2014/main" id="{929DC40A-BB92-C526-3CD0-189C3429C4D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6495807"/>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
        <p:nvSpPr>
          <p:cNvPr id="6" name="Title 5">
            <a:extLst>
              <a:ext uri="{FF2B5EF4-FFF2-40B4-BE49-F238E27FC236}">
                <a16:creationId xmlns:a16="http://schemas.microsoft.com/office/drawing/2014/main" id="{481C1557-2F36-FF70-9AEB-DF21DD5067B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50359687"/>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
        <p:nvSpPr>
          <p:cNvPr id="6" name="Title 5">
            <a:extLst>
              <a:ext uri="{FF2B5EF4-FFF2-40B4-BE49-F238E27FC236}">
                <a16:creationId xmlns:a16="http://schemas.microsoft.com/office/drawing/2014/main" id="{F2E409FF-5585-8E4A-14AA-59DBC4EAF93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79776690"/>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
        <p:nvSpPr>
          <p:cNvPr id="3" name="Title 2">
            <a:extLst>
              <a:ext uri="{FF2B5EF4-FFF2-40B4-BE49-F238E27FC236}">
                <a16:creationId xmlns:a16="http://schemas.microsoft.com/office/drawing/2014/main" id="{B02F4169-3E26-AB53-54FC-47BE477B905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63839840"/>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4071985440"/>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DACA2C3D-12FE-63E8-E6E7-2094824214F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53271680"/>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3368714746"/>
      </p:ext>
    </p:extLst>
  </p:cSld>
  <p:clrMapOvr>
    <a:masterClrMapping/>
  </p:clrMapOvr>
  <p:hf hdr="0" dt="0"/>
</p:sldLayout>
</file>

<file path=ppt/slideLayouts/slideLayout182.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4061067547"/>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Tree>
    <p:extLst>
      <p:ext uri="{BB962C8B-B14F-4D97-AF65-F5344CB8AC3E}">
        <p14:creationId xmlns:p14="http://schemas.microsoft.com/office/powerpoint/2010/main" val="1006616840"/>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showMasterSp="0" preserve="1" userDrawn="1">
  <p:cSld name="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Tree>
    <p:extLst>
      <p:ext uri="{BB962C8B-B14F-4D97-AF65-F5344CB8AC3E}">
        <p14:creationId xmlns:p14="http://schemas.microsoft.com/office/powerpoint/2010/main" val="2338817807"/>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562220777"/>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Tree>
    <p:extLst>
      <p:ext uri="{BB962C8B-B14F-4D97-AF65-F5344CB8AC3E}">
        <p14:creationId xmlns:p14="http://schemas.microsoft.com/office/powerpoint/2010/main" val="3440320727"/>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602562958"/>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465643905"/>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832065809"/>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632776077"/>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886016867"/>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449192445"/>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24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2000">
                <a:solidFill>
                  <a:schemeClr val="tx1">
                    <a:lumMod val="75000"/>
                    <a:lumOff val="25000"/>
                  </a:schemeClr>
                </a:solidFill>
              </a:defRPr>
            </a:lvl4pPr>
            <a:lvl5pPr>
              <a:defRPr sz="2000">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Footer Placeholder 4"/>
          <p:cNvSpPr>
            <a:spLocks noGrp="1"/>
          </p:cNvSpPr>
          <p:nvPr>
            <p:ph type="ftr" sz="quarter" idx="10"/>
          </p:nvPr>
        </p:nvSpPr>
        <p:spPr/>
        <p:txBody>
          <a:bodyPr/>
          <a:lstStyle>
            <a:lvl1pPr>
              <a:defRPr/>
            </a:lvl1pPr>
          </a:lstStyle>
          <a:p>
            <a:pPr>
              <a:defRPr/>
            </a:pPr>
            <a:r>
              <a:rPr lang="en-US" dirty="0">
                <a:solidFill>
                  <a:srgbClr val="000000">
                    <a:tint val="75000"/>
                  </a:srgbClr>
                </a:solidFill>
              </a:rPr>
              <a:t>File Name</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dirty="0"/>
          </a:p>
        </p:txBody>
      </p:sp>
    </p:spTree>
    <p:extLst>
      <p:ext uri="{BB962C8B-B14F-4D97-AF65-F5344CB8AC3E}">
        <p14:creationId xmlns:p14="http://schemas.microsoft.com/office/powerpoint/2010/main" val="1648976170"/>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B8F7E44F-C564-AFF5-D73D-599A8EB64DC8}"/>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487705119"/>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B8F7E44F-C564-AFF5-D73D-599A8EB64DC8}"/>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27230273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slideLayout" Target="../slideLayouts/slideLayout45.xml"/><Relationship Id="rId26" Type="http://schemas.openxmlformats.org/officeDocument/2006/relationships/slideLayout" Target="../slideLayouts/slideLayout53.xml"/><Relationship Id="rId3" Type="http://schemas.openxmlformats.org/officeDocument/2006/relationships/slideLayout" Target="../slideLayouts/slideLayout30.xml"/><Relationship Id="rId21" Type="http://schemas.openxmlformats.org/officeDocument/2006/relationships/slideLayout" Target="../slideLayouts/slideLayout48.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5" Type="http://schemas.openxmlformats.org/officeDocument/2006/relationships/slideLayout" Target="../slideLayouts/slideLayout52.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0" Type="http://schemas.openxmlformats.org/officeDocument/2006/relationships/slideLayout" Target="../slideLayouts/slideLayout47.xml"/><Relationship Id="rId29" Type="http://schemas.openxmlformats.org/officeDocument/2006/relationships/image" Target="../media/image1.png"/><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24" Type="http://schemas.openxmlformats.org/officeDocument/2006/relationships/slideLayout" Target="../slideLayouts/slideLayout51.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23" Type="http://schemas.openxmlformats.org/officeDocument/2006/relationships/slideLayout" Target="../slideLayouts/slideLayout50.xml"/><Relationship Id="rId28" Type="http://schemas.openxmlformats.org/officeDocument/2006/relationships/theme" Target="../theme/theme2.xml"/><Relationship Id="rId10" Type="http://schemas.openxmlformats.org/officeDocument/2006/relationships/slideLayout" Target="../slideLayouts/slideLayout37.xml"/><Relationship Id="rId19" Type="http://schemas.openxmlformats.org/officeDocument/2006/relationships/slideLayout" Target="../slideLayouts/slideLayout46.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slideLayout" Target="../slideLayouts/slideLayout49.xml"/><Relationship Id="rId27" Type="http://schemas.openxmlformats.org/officeDocument/2006/relationships/slideLayout" Target="../slideLayouts/slideLayout54.xml"/><Relationship Id="rId30"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2.xml"/><Relationship Id="rId13" Type="http://schemas.openxmlformats.org/officeDocument/2006/relationships/slideLayout" Target="../slideLayouts/slideLayout67.xml"/><Relationship Id="rId18" Type="http://schemas.openxmlformats.org/officeDocument/2006/relationships/slideLayout" Target="../slideLayouts/slideLayout72.xml"/><Relationship Id="rId26" Type="http://schemas.openxmlformats.org/officeDocument/2006/relationships/slideLayout" Target="../slideLayouts/slideLayout80.xml"/><Relationship Id="rId3" Type="http://schemas.openxmlformats.org/officeDocument/2006/relationships/slideLayout" Target="../slideLayouts/slideLayout57.xml"/><Relationship Id="rId21" Type="http://schemas.openxmlformats.org/officeDocument/2006/relationships/slideLayout" Target="../slideLayouts/slideLayout75.xml"/><Relationship Id="rId7" Type="http://schemas.openxmlformats.org/officeDocument/2006/relationships/slideLayout" Target="../slideLayouts/slideLayout61.xml"/><Relationship Id="rId12" Type="http://schemas.openxmlformats.org/officeDocument/2006/relationships/slideLayout" Target="../slideLayouts/slideLayout66.xml"/><Relationship Id="rId17" Type="http://schemas.openxmlformats.org/officeDocument/2006/relationships/slideLayout" Target="../slideLayouts/slideLayout71.xml"/><Relationship Id="rId25" Type="http://schemas.openxmlformats.org/officeDocument/2006/relationships/slideLayout" Target="../slideLayouts/slideLayout79.xml"/><Relationship Id="rId2" Type="http://schemas.openxmlformats.org/officeDocument/2006/relationships/slideLayout" Target="../slideLayouts/slideLayout56.xml"/><Relationship Id="rId16" Type="http://schemas.openxmlformats.org/officeDocument/2006/relationships/slideLayout" Target="../slideLayouts/slideLayout70.xml"/><Relationship Id="rId20" Type="http://schemas.openxmlformats.org/officeDocument/2006/relationships/slideLayout" Target="../slideLayouts/slideLayout74.xml"/><Relationship Id="rId29" Type="http://schemas.openxmlformats.org/officeDocument/2006/relationships/image" Target="../media/image1.png"/><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24" Type="http://schemas.openxmlformats.org/officeDocument/2006/relationships/slideLayout" Target="../slideLayouts/slideLayout78.xml"/><Relationship Id="rId5" Type="http://schemas.openxmlformats.org/officeDocument/2006/relationships/slideLayout" Target="../slideLayouts/slideLayout59.xml"/><Relationship Id="rId15" Type="http://schemas.openxmlformats.org/officeDocument/2006/relationships/slideLayout" Target="../slideLayouts/slideLayout69.xml"/><Relationship Id="rId23" Type="http://schemas.openxmlformats.org/officeDocument/2006/relationships/slideLayout" Target="../slideLayouts/slideLayout77.xml"/><Relationship Id="rId28" Type="http://schemas.openxmlformats.org/officeDocument/2006/relationships/theme" Target="../theme/theme3.xml"/><Relationship Id="rId10" Type="http://schemas.openxmlformats.org/officeDocument/2006/relationships/slideLayout" Target="../slideLayouts/slideLayout64.xml"/><Relationship Id="rId19" Type="http://schemas.openxmlformats.org/officeDocument/2006/relationships/slideLayout" Target="../slideLayouts/slideLayout73.xml"/><Relationship Id="rId31" Type="http://schemas.openxmlformats.org/officeDocument/2006/relationships/image" Target="../media/image5.png"/><Relationship Id="rId4" Type="http://schemas.openxmlformats.org/officeDocument/2006/relationships/slideLayout" Target="../slideLayouts/slideLayout58.xml"/><Relationship Id="rId9" Type="http://schemas.openxmlformats.org/officeDocument/2006/relationships/slideLayout" Target="../slideLayouts/slideLayout63.xml"/><Relationship Id="rId14" Type="http://schemas.openxmlformats.org/officeDocument/2006/relationships/slideLayout" Target="../slideLayouts/slideLayout68.xml"/><Relationship Id="rId22" Type="http://schemas.openxmlformats.org/officeDocument/2006/relationships/slideLayout" Target="../slideLayouts/slideLayout76.xml"/><Relationship Id="rId27" Type="http://schemas.openxmlformats.org/officeDocument/2006/relationships/slideLayout" Target="../slideLayouts/slideLayout81.xml"/><Relationship Id="rId30"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89.xml"/><Relationship Id="rId13" Type="http://schemas.openxmlformats.org/officeDocument/2006/relationships/slideLayout" Target="../slideLayouts/slideLayout94.xml"/><Relationship Id="rId18" Type="http://schemas.openxmlformats.org/officeDocument/2006/relationships/slideLayout" Target="../slideLayouts/slideLayout99.xml"/><Relationship Id="rId26" Type="http://schemas.openxmlformats.org/officeDocument/2006/relationships/slideLayout" Target="../slideLayouts/slideLayout107.xml"/><Relationship Id="rId3" Type="http://schemas.openxmlformats.org/officeDocument/2006/relationships/slideLayout" Target="../slideLayouts/slideLayout84.xml"/><Relationship Id="rId21" Type="http://schemas.openxmlformats.org/officeDocument/2006/relationships/slideLayout" Target="../slideLayouts/slideLayout102.xml"/><Relationship Id="rId7" Type="http://schemas.openxmlformats.org/officeDocument/2006/relationships/slideLayout" Target="../slideLayouts/slideLayout88.xml"/><Relationship Id="rId12" Type="http://schemas.openxmlformats.org/officeDocument/2006/relationships/slideLayout" Target="../slideLayouts/slideLayout93.xml"/><Relationship Id="rId17" Type="http://schemas.openxmlformats.org/officeDocument/2006/relationships/slideLayout" Target="../slideLayouts/slideLayout98.xml"/><Relationship Id="rId25" Type="http://schemas.openxmlformats.org/officeDocument/2006/relationships/slideLayout" Target="../slideLayouts/slideLayout106.xml"/><Relationship Id="rId2" Type="http://schemas.openxmlformats.org/officeDocument/2006/relationships/slideLayout" Target="../slideLayouts/slideLayout83.xml"/><Relationship Id="rId16" Type="http://schemas.openxmlformats.org/officeDocument/2006/relationships/slideLayout" Target="../slideLayouts/slideLayout97.xml"/><Relationship Id="rId20" Type="http://schemas.openxmlformats.org/officeDocument/2006/relationships/slideLayout" Target="../slideLayouts/slideLayout101.xml"/><Relationship Id="rId29" Type="http://schemas.openxmlformats.org/officeDocument/2006/relationships/theme" Target="../theme/theme4.xml"/><Relationship Id="rId1" Type="http://schemas.openxmlformats.org/officeDocument/2006/relationships/slideLayout" Target="../slideLayouts/slideLayout82.xml"/><Relationship Id="rId6" Type="http://schemas.openxmlformats.org/officeDocument/2006/relationships/slideLayout" Target="../slideLayouts/slideLayout87.xml"/><Relationship Id="rId11" Type="http://schemas.openxmlformats.org/officeDocument/2006/relationships/slideLayout" Target="../slideLayouts/slideLayout92.xml"/><Relationship Id="rId24" Type="http://schemas.openxmlformats.org/officeDocument/2006/relationships/slideLayout" Target="../slideLayouts/slideLayout105.xml"/><Relationship Id="rId5" Type="http://schemas.openxmlformats.org/officeDocument/2006/relationships/slideLayout" Target="../slideLayouts/slideLayout86.xml"/><Relationship Id="rId15" Type="http://schemas.openxmlformats.org/officeDocument/2006/relationships/slideLayout" Target="../slideLayouts/slideLayout96.xml"/><Relationship Id="rId23" Type="http://schemas.openxmlformats.org/officeDocument/2006/relationships/slideLayout" Target="../slideLayouts/slideLayout104.xml"/><Relationship Id="rId28" Type="http://schemas.openxmlformats.org/officeDocument/2006/relationships/slideLayout" Target="../slideLayouts/slideLayout109.xml"/><Relationship Id="rId10" Type="http://schemas.openxmlformats.org/officeDocument/2006/relationships/slideLayout" Target="../slideLayouts/slideLayout91.xml"/><Relationship Id="rId19" Type="http://schemas.openxmlformats.org/officeDocument/2006/relationships/slideLayout" Target="../slideLayouts/slideLayout100.xml"/><Relationship Id="rId31" Type="http://schemas.openxmlformats.org/officeDocument/2006/relationships/image" Target="../media/image5.png"/><Relationship Id="rId4" Type="http://schemas.openxmlformats.org/officeDocument/2006/relationships/slideLayout" Target="../slideLayouts/slideLayout85.xml"/><Relationship Id="rId9" Type="http://schemas.openxmlformats.org/officeDocument/2006/relationships/slideLayout" Target="../slideLayouts/slideLayout90.xml"/><Relationship Id="rId14" Type="http://schemas.openxmlformats.org/officeDocument/2006/relationships/slideLayout" Target="../slideLayouts/slideLayout95.xml"/><Relationship Id="rId22" Type="http://schemas.openxmlformats.org/officeDocument/2006/relationships/slideLayout" Target="../slideLayouts/slideLayout103.xml"/><Relationship Id="rId27" Type="http://schemas.openxmlformats.org/officeDocument/2006/relationships/slideLayout" Target="../slideLayouts/slideLayout108.xml"/><Relationship Id="rId30"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17.xml"/><Relationship Id="rId13" Type="http://schemas.openxmlformats.org/officeDocument/2006/relationships/slideLayout" Target="../slideLayouts/slideLayout122.xml"/><Relationship Id="rId18" Type="http://schemas.openxmlformats.org/officeDocument/2006/relationships/slideLayout" Target="../slideLayouts/slideLayout127.xml"/><Relationship Id="rId26" Type="http://schemas.openxmlformats.org/officeDocument/2006/relationships/slideLayout" Target="../slideLayouts/slideLayout135.xml"/><Relationship Id="rId3" Type="http://schemas.openxmlformats.org/officeDocument/2006/relationships/slideLayout" Target="../slideLayouts/slideLayout112.xml"/><Relationship Id="rId21" Type="http://schemas.openxmlformats.org/officeDocument/2006/relationships/slideLayout" Target="../slideLayouts/slideLayout130.xml"/><Relationship Id="rId7" Type="http://schemas.openxmlformats.org/officeDocument/2006/relationships/slideLayout" Target="../slideLayouts/slideLayout116.xml"/><Relationship Id="rId12" Type="http://schemas.openxmlformats.org/officeDocument/2006/relationships/slideLayout" Target="../slideLayouts/slideLayout121.xml"/><Relationship Id="rId17" Type="http://schemas.openxmlformats.org/officeDocument/2006/relationships/slideLayout" Target="../slideLayouts/slideLayout126.xml"/><Relationship Id="rId25" Type="http://schemas.openxmlformats.org/officeDocument/2006/relationships/slideLayout" Target="../slideLayouts/slideLayout134.xml"/><Relationship Id="rId2" Type="http://schemas.openxmlformats.org/officeDocument/2006/relationships/slideLayout" Target="../slideLayouts/slideLayout111.xml"/><Relationship Id="rId16" Type="http://schemas.openxmlformats.org/officeDocument/2006/relationships/slideLayout" Target="../slideLayouts/slideLayout125.xml"/><Relationship Id="rId20" Type="http://schemas.openxmlformats.org/officeDocument/2006/relationships/slideLayout" Target="../slideLayouts/slideLayout129.xml"/><Relationship Id="rId29" Type="http://schemas.openxmlformats.org/officeDocument/2006/relationships/image" Target="../media/image1.png"/><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24" Type="http://schemas.openxmlformats.org/officeDocument/2006/relationships/slideLayout" Target="../slideLayouts/slideLayout133.xml"/><Relationship Id="rId5" Type="http://schemas.openxmlformats.org/officeDocument/2006/relationships/slideLayout" Target="../slideLayouts/slideLayout114.xml"/><Relationship Id="rId15" Type="http://schemas.openxmlformats.org/officeDocument/2006/relationships/slideLayout" Target="../slideLayouts/slideLayout124.xml"/><Relationship Id="rId23" Type="http://schemas.openxmlformats.org/officeDocument/2006/relationships/slideLayout" Target="../slideLayouts/slideLayout132.xml"/><Relationship Id="rId28" Type="http://schemas.openxmlformats.org/officeDocument/2006/relationships/theme" Target="../theme/theme5.xml"/><Relationship Id="rId10" Type="http://schemas.openxmlformats.org/officeDocument/2006/relationships/slideLayout" Target="../slideLayouts/slideLayout119.xml"/><Relationship Id="rId19" Type="http://schemas.openxmlformats.org/officeDocument/2006/relationships/slideLayout" Target="../slideLayouts/slideLayout128.xml"/><Relationship Id="rId4" Type="http://schemas.openxmlformats.org/officeDocument/2006/relationships/slideLayout" Target="../slideLayouts/slideLayout113.xml"/><Relationship Id="rId9" Type="http://schemas.openxmlformats.org/officeDocument/2006/relationships/slideLayout" Target="../slideLayouts/slideLayout118.xml"/><Relationship Id="rId14" Type="http://schemas.openxmlformats.org/officeDocument/2006/relationships/slideLayout" Target="../slideLayouts/slideLayout123.xml"/><Relationship Id="rId22" Type="http://schemas.openxmlformats.org/officeDocument/2006/relationships/slideLayout" Target="../slideLayouts/slideLayout131.xml"/><Relationship Id="rId27" Type="http://schemas.openxmlformats.org/officeDocument/2006/relationships/slideLayout" Target="../slideLayouts/slideLayout136.xml"/><Relationship Id="rId30" Type="http://schemas.openxmlformats.org/officeDocument/2006/relationships/image" Target="../media/image6.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44.xml"/><Relationship Id="rId13" Type="http://schemas.openxmlformats.org/officeDocument/2006/relationships/slideLayout" Target="../slideLayouts/slideLayout149.xml"/><Relationship Id="rId18" Type="http://schemas.openxmlformats.org/officeDocument/2006/relationships/slideLayout" Target="../slideLayouts/slideLayout154.xml"/><Relationship Id="rId26" Type="http://schemas.openxmlformats.org/officeDocument/2006/relationships/slideLayout" Target="../slideLayouts/slideLayout162.xml"/><Relationship Id="rId3" Type="http://schemas.openxmlformats.org/officeDocument/2006/relationships/slideLayout" Target="../slideLayouts/slideLayout139.xml"/><Relationship Id="rId21" Type="http://schemas.openxmlformats.org/officeDocument/2006/relationships/slideLayout" Target="../slideLayouts/slideLayout157.xml"/><Relationship Id="rId7" Type="http://schemas.openxmlformats.org/officeDocument/2006/relationships/slideLayout" Target="../slideLayouts/slideLayout143.xml"/><Relationship Id="rId12" Type="http://schemas.openxmlformats.org/officeDocument/2006/relationships/slideLayout" Target="../slideLayouts/slideLayout148.xml"/><Relationship Id="rId17" Type="http://schemas.openxmlformats.org/officeDocument/2006/relationships/slideLayout" Target="../slideLayouts/slideLayout153.xml"/><Relationship Id="rId25" Type="http://schemas.openxmlformats.org/officeDocument/2006/relationships/slideLayout" Target="../slideLayouts/slideLayout161.xml"/><Relationship Id="rId2" Type="http://schemas.openxmlformats.org/officeDocument/2006/relationships/slideLayout" Target="../slideLayouts/slideLayout138.xml"/><Relationship Id="rId16" Type="http://schemas.openxmlformats.org/officeDocument/2006/relationships/slideLayout" Target="../slideLayouts/slideLayout152.xml"/><Relationship Id="rId20" Type="http://schemas.openxmlformats.org/officeDocument/2006/relationships/slideLayout" Target="../slideLayouts/slideLayout156.xml"/><Relationship Id="rId29" Type="http://schemas.openxmlformats.org/officeDocument/2006/relationships/image" Target="../media/image1.png"/><Relationship Id="rId1" Type="http://schemas.openxmlformats.org/officeDocument/2006/relationships/slideLayout" Target="../slideLayouts/slideLayout137.xml"/><Relationship Id="rId6" Type="http://schemas.openxmlformats.org/officeDocument/2006/relationships/slideLayout" Target="../slideLayouts/slideLayout142.xml"/><Relationship Id="rId11" Type="http://schemas.openxmlformats.org/officeDocument/2006/relationships/slideLayout" Target="../slideLayouts/slideLayout147.xml"/><Relationship Id="rId24" Type="http://schemas.openxmlformats.org/officeDocument/2006/relationships/slideLayout" Target="../slideLayouts/slideLayout160.xml"/><Relationship Id="rId5" Type="http://schemas.openxmlformats.org/officeDocument/2006/relationships/slideLayout" Target="../slideLayouts/slideLayout141.xml"/><Relationship Id="rId15" Type="http://schemas.openxmlformats.org/officeDocument/2006/relationships/slideLayout" Target="../slideLayouts/slideLayout151.xml"/><Relationship Id="rId23" Type="http://schemas.openxmlformats.org/officeDocument/2006/relationships/slideLayout" Target="../slideLayouts/slideLayout159.xml"/><Relationship Id="rId28" Type="http://schemas.openxmlformats.org/officeDocument/2006/relationships/theme" Target="../theme/theme6.xml"/><Relationship Id="rId10" Type="http://schemas.openxmlformats.org/officeDocument/2006/relationships/slideLayout" Target="../slideLayouts/slideLayout146.xml"/><Relationship Id="rId19" Type="http://schemas.openxmlformats.org/officeDocument/2006/relationships/slideLayout" Target="../slideLayouts/slideLayout155.xml"/><Relationship Id="rId4" Type="http://schemas.openxmlformats.org/officeDocument/2006/relationships/slideLayout" Target="../slideLayouts/slideLayout140.xml"/><Relationship Id="rId9" Type="http://schemas.openxmlformats.org/officeDocument/2006/relationships/slideLayout" Target="../slideLayouts/slideLayout145.xml"/><Relationship Id="rId14" Type="http://schemas.openxmlformats.org/officeDocument/2006/relationships/slideLayout" Target="../slideLayouts/slideLayout150.xml"/><Relationship Id="rId22" Type="http://schemas.openxmlformats.org/officeDocument/2006/relationships/slideLayout" Target="../slideLayouts/slideLayout158.xml"/><Relationship Id="rId27" Type="http://schemas.openxmlformats.org/officeDocument/2006/relationships/slideLayout" Target="../slideLayouts/slideLayout163.xml"/><Relationship Id="rId30" Type="http://schemas.openxmlformats.org/officeDocument/2006/relationships/image" Target="../media/image6.png"/></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165.xml"/><Relationship Id="rId1" Type="http://schemas.openxmlformats.org/officeDocument/2006/relationships/slideLayout" Target="../slideLayouts/slideLayout164.xml"/><Relationship Id="rId4" Type="http://schemas.openxmlformats.org/officeDocument/2006/relationships/image" Target="../media/image1.png"/></Relationships>
</file>

<file path=ppt/slideMasters/_rels/slideMaster8.xml.rels><?xml version="1.0" encoding="UTF-8" standalone="yes"?>
<Relationships xmlns="http://schemas.openxmlformats.org/package/2006/relationships"><Relationship Id="rId13" Type="http://schemas.openxmlformats.org/officeDocument/2006/relationships/slideLayout" Target="../slideLayouts/slideLayout178.xml"/><Relationship Id="rId18" Type="http://schemas.openxmlformats.org/officeDocument/2006/relationships/slideLayout" Target="../slideLayouts/slideLayout183.xml"/><Relationship Id="rId26" Type="http://schemas.openxmlformats.org/officeDocument/2006/relationships/slideLayout" Target="../slideLayouts/slideLayout191.xml"/><Relationship Id="rId3" Type="http://schemas.openxmlformats.org/officeDocument/2006/relationships/slideLayout" Target="../slideLayouts/slideLayout168.xml"/><Relationship Id="rId21" Type="http://schemas.openxmlformats.org/officeDocument/2006/relationships/slideLayout" Target="../slideLayouts/slideLayout186.xml"/><Relationship Id="rId34" Type="http://schemas.openxmlformats.org/officeDocument/2006/relationships/image" Target="../media/image9.png"/><Relationship Id="rId7" Type="http://schemas.openxmlformats.org/officeDocument/2006/relationships/slideLayout" Target="../slideLayouts/slideLayout172.xml"/><Relationship Id="rId12" Type="http://schemas.openxmlformats.org/officeDocument/2006/relationships/slideLayout" Target="../slideLayouts/slideLayout177.xml"/><Relationship Id="rId17" Type="http://schemas.openxmlformats.org/officeDocument/2006/relationships/slideLayout" Target="../slideLayouts/slideLayout182.xml"/><Relationship Id="rId25" Type="http://schemas.openxmlformats.org/officeDocument/2006/relationships/slideLayout" Target="../slideLayouts/slideLayout190.xml"/><Relationship Id="rId33" Type="http://schemas.openxmlformats.org/officeDocument/2006/relationships/image" Target="../media/image8.png"/><Relationship Id="rId2" Type="http://schemas.openxmlformats.org/officeDocument/2006/relationships/slideLayout" Target="../slideLayouts/slideLayout167.xml"/><Relationship Id="rId16" Type="http://schemas.openxmlformats.org/officeDocument/2006/relationships/slideLayout" Target="../slideLayouts/slideLayout181.xml"/><Relationship Id="rId20" Type="http://schemas.openxmlformats.org/officeDocument/2006/relationships/slideLayout" Target="../slideLayouts/slideLayout185.xml"/><Relationship Id="rId29" Type="http://schemas.openxmlformats.org/officeDocument/2006/relationships/slideLayout" Target="../slideLayouts/slideLayout194.xml"/><Relationship Id="rId1" Type="http://schemas.openxmlformats.org/officeDocument/2006/relationships/slideLayout" Target="../slideLayouts/slideLayout166.xml"/><Relationship Id="rId6" Type="http://schemas.openxmlformats.org/officeDocument/2006/relationships/slideLayout" Target="../slideLayouts/slideLayout171.xml"/><Relationship Id="rId11" Type="http://schemas.openxmlformats.org/officeDocument/2006/relationships/slideLayout" Target="../slideLayouts/slideLayout176.xml"/><Relationship Id="rId24" Type="http://schemas.openxmlformats.org/officeDocument/2006/relationships/slideLayout" Target="../slideLayouts/slideLayout189.xml"/><Relationship Id="rId32" Type="http://schemas.openxmlformats.org/officeDocument/2006/relationships/image" Target="../media/image1.png"/><Relationship Id="rId5" Type="http://schemas.openxmlformats.org/officeDocument/2006/relationships/slideLayout" Target="../slideLayouts/slideLayout170.xml"/><Relationship Id="rId15" Type="http://schemas.openxmlformats.org/officeDocument/2006/relationships/slideLayout" Target="../slideLayouts/slideLayout180.xml"/><Relationship Id="rId23" Type="http://schemas.openxmlformats.org/officeDocument/2006/relationships/slideLayout" Target="../slideLayouts/slideLayout188.xml"/><Relationship Id="rId28" Type="http://schemas.openxmlformats.org/officeDocument/2006/relationships/slideLayout" Target="../slideLayouts/slideLayout193.xml"/><Relationship Id="rId10" Type="http://schemas.openxmlformats.org/officeDocument/2006/relationships/slideLayout" Target="../slideLayouts/slideLayout175.xml"/><Relationship Id="rId19" Type="http://schemas.openxmlformats.org/officeDocument/2006/relationships/slideLayout" Target="../slideLayouts/slideLayout184.xml"/><Relationship Id="rId31" Type="http://schemas.openxmlformats.org/officeDocument/2006/relationships/theme" Target="../theme/theme8.xml"/><Relationship Id="rId4" Type="http://schemas.openxmlformats.org/officeDocument/2006/relationships/slideLayout" Target="../slideLayouts/slideLayout169.xml"/><Relationship Id="rId9" Type="http://schemas.openxmlformats.org/officeDocument/2006/relationships/slideLayout" Target="../slideLayouts/slideLayout174.xml"/><Relationship Id="rId14" Type="http://schemas.openxmlformats.org/officeDocument/2006/relationships/slideLayout" Target="../slideLayouts/slideLayout179.xml"/><Relationship Id="rId22" Type="http://schemas.openxmlformats.org/officeDocument/2006/relationships/slideLayout" Target="../slideLayouts/slideLayout187.xml"/><Relationship Id="rId27" Type="http://schemas.openxmlformats.org/officeDocument/2006/relationships/slideLayout" Target="../slideLayouts/slideLayout192.xml"/><Relationship Id="rId30" Type="http://schemas.openxmlformats.org/officeDocument/2006/relationships/slideLayout" Target="../slideLayouts/slideLayout195.xml"/><Relationship Id="rId8" Type="http://schemas.openxmlformats.org/officeDocument/2006/relationships/slideLayout" Target="../slideLayouts/slideLayout17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87000">
              <a:schemeClr val="tx2"/>
            </a:gs>
            <a:gs pos="90000">
              <a:schemeClr val="tx2"/>
            </a:gs>
            <a:gs pos="98000">
              <a:schemeClr val="tx2">
                <a:lumMod val="8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948366" y="128981"/>
            <a:ext cx="10386814" cy="832920"/>
          </a:xfrm>
          <a:prstGeom prst="rect">
            <a:avLst/>
          </a:prstGeom>
          <a:noFill/>
          <a:ln w="9525">
            <a:noFill/>
            <a:miter lim="800000"/>
            <a:headEnd/>
            <a:tailEnd/>
          </a:ln>
        </p:spPr>
        <p:txBody>
          <a:bodyPr vert="horz" wrap="square" lIns="45720" tIns="0" rIns="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pic>
        <p:nvPicPr>
          <p:cNvPr id="9" name="Picture 8" descr="A red and white sign&#10;&#10;Description automatically generated with medium confidence">
            <a:extLst>
              <a:ext uri="{FF2B5EF4-FFF2-40B4-BE49-F238E27FC236}">
                <a16:creationId xmlns:a16="http://schemas.microsoft.com/office/drawing/2014/main" id="{9C47990B-ED32-7041-7CE6-379DC0F77AAE}"/>
              </a:ext>
            </a:extLst>
          </p:cNvPr>
          <p:cNvPicPr>
            <a:picLocks noChangeAspect="1"/>
          </p:cNvPicPr>
          <p:nvPr userDrawn="1"/>
        </p:nvPicPr>
        <p:blipFill>
          <a:blip r:embed="rId30"/>
          <a:stretch>
            <a:fillRect/>
          </a:stretch>
        </p:blipFill>
        <p:spPr>
          <a:xfrm>
            <a:off x="266700" y="319470"/>
            <a:ext cx="681666" cy="451942"/>
          </a:xfrm>
          <a:prstGeom prst="rect">
            <a:avLst/>
          </a:prstGeom>
        </p:spPr>
      </p:pic>
    </p:spTree>
    <p:extLst>
      <p:ext uri="{BB962C8B-B14F-4D97-AF65-F5344CB8AC3E}">
        <p14:creationId xmlns:p14="http://schemas.microsoft.com/office/powerpoint/2010/main" val="2346450069"/>
      </p:ext>
    </p:extLst>
  </p:cSld>
  <p:clrMap bg1="lt1" tx1="dk1" bg2="lt2" tx2="dk2" accent1="accent1" accent2="accent2" accent3="accent3" accent4="accent4" accent5="accent5" accent6="accent6" hlink="hlink" folHlink="folHlink"/>
  <p:sldLayoutIdLst>
    <p:sldLayoutId id="2147483967" r:id="rId1"/>
    <p:sldLayoutId id="2147483968" r:id="rId2"/>
    <p:sldLayoutId id="2147483969" r:id="rId3"/>
    <p:sldLayoutId id="2147483970" r:id="rId4"/>
    <p:sldLayoutId id="2147483972" r:id="rId5"/>
    <p:sldLayoutId id="2147483973" r:id="rId6"/>
    <p:sldLayoutId id="2147483974" r:id="rId7"/>
    <p:sldLayoutId id="2147483975" r:id="rId8"/>
    <p:sldLayoutId id="2147483976" r:id="rId9"/>
    <p:sldLayoutId id="2147483977" r:id="rId10"/>
    <p:sldLayoutId id="2147483978" r:id="rId11"/>
    <p:sldLayoutId id="2147483979" r:id="rId12"/>
    <p:sldLayoutId id="2147483980" r:id="rId13"/>
    <p:sldLayoutId id="2147483981" r:id="rId14"/>
    <p:sldLayoutId id="2147483982" r:id="rId15"/>
    <p:sldLayoutId id="2147483983" r:id="rId16"/>
    <p:sldLayoutId id="2147483984" r:id="rId17"/>
    <p:sldLayoutId id="2147483985" r:id="rId18"/>
    <p:sldLayoutId id="2147484079" r:id="rId19"/>
    <p:sldLayoutId id="2147483987" r:id="rId20"/>
    <p:sldLayoutId id="2147483988" r:id="rId21"/>
    <p:sldLayoutId id="2147483989" r:id="rId22"/>
    <p:sldLayoutId id="2147483990" r:id="rId23"/>
    <p:sldLayoutId id="2147483991" r:id="rId24"/>
    <p:sldLayoutId id="2147483992" r:id="rId25"/>
    <p:sldLayoutId id="2147483993" r:id="rId26"/>
    <p:sldLayoutId id="2147484109" r:id="rId27"/>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tx2">
                <a:lumMod val="8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948366" y="128981"/>
            <a:ext cx="10386814" cy="832920"/>
          </a:xfrm>
          <a:prstGeom prst="rect">
            <a:avLst/>
          </a:prstGeom>
          <a:noFill/>
          <a:ln w="9525">
            <a:noFill/>
            <a:miter lim="800000"/>
            <a:headEnd/>
            <a:tailEnd/>
          </a:ln>
        </p:spPr>
        <p:txBody>
          <a:bodyPr vert="horz" wrap="square" lIns="45720" tIns="0" rIns="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pic>
        <p:nvPicPr>
          <p:cNvPr id="9" name="Picture 8" descr="A red and white sign&#10;&#10;Description automatically generated with medium confidence">
            <a:extLst>
              <a:ext uri="{FF2B5EF4-FFF2-40B4-BE49-F238E27FC236}">
                <a16:creationId xmlns:a16="http://schemas.microsoft.com/office/drawing/2014/main" id="{9C47990B-ED32-7041-7CE6-379DC0F77AAE}"/>
              </a:ext>
            </a:extLst>
          </p:cNvPr>
          <p:cNvPicPr>
            <a:picLocks noChangeAspect="1"/>
          </p:cNvPicPr>
          <p:nvPr userDrawn="1"/>
        </p:nvPicPr>
        <p:blipFill>
          <a:blip r:embed="rId30"/>
          <a:stretch>
            <a:fillRect/>
          </a:stretch>
        </p:blipFill>
        <p:spPr>
          <a:xfrm>
            <a:off x="266700" y="319470"/>
            <a:ext cx="681666" cy="451942"/>
          </a:xfrm>
          <a:prstGeom prst="rect">
            <a:avLst/>
          </a:prstGeom>
        </p:spPr>
      </p:pic>
      <p:sp>
        <p:nvSpPr>
          <p:cNvPr id="2" name="TextBox 1">
            <a:extLst>
              <a:ext uri="{FF2B5EF4-FFF2-40B4-BE49-F238E27FC236}">
                <a16:creationId xmlns:a16="http://schemas.microsoft.com/office/drawing/2014/main" id="{13C93DB8-8109-4839-4533-D52647F330BE}"/>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3" name="TextBox 2">
            <a:extLst>
              <a:ext uri="{FF2B5EF4-FFF2-40B4-BE49-F238E27FC236}">
                <a16:creationId xmlns:a16="http://schemas.microsoft.com/office/drawing/2014/main" id="{D4AA7094-B510-FCCE-91B2-CBD23BFDE2C0}"/>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1095872165"/>
      </p:ext>
    </p:extLst>
  </p:cSld>
  <p:clrMap bg1="lt1" tx1="dk1" bg2="lt2" tx2="dk2" accent1="accent1" accent2="accent2" accent3="accent3" accent4="accent4" accent5="accent5" accent6="accent6" hlink="hlink" folHlink="folHlink"/>
  <p:sldLayoutIdLst>
    <p:sldLayoutId id="2147484143" r:id="rId1"/>
    <p:sldLayoutId id="2147484144" r:id="rId2"/>
    <p:sldLayoutId id="2147484145" r:id="rId3"/>
    <p:sldLayoutId id="2147484146" r:id="rId4"/>
    <p:sldLayoutId id="2147484147" r:id="rId5"/>
    <p:sldLayoutId id="2147484148" r:id="rId6"/>
    <p:sldLayoutId id="2147484149" r:id="rId7"/>
    <p:sldLayoutId id="2147484150" r:id="rId8"/>
    <p:sldLayoutId id="2147484151" r:id="rId9"/>
    <p:sldLayoutId id="2147484152" r:id="rId10"/>
    <p:sldLayoutId id="2147484153" r:id="rId11"/>
    <p:sldLayoutId id="2147484154" r:id="rId12"/>
    <p:sldLayoutId id="2147484155" r:id="rId13"/>
    <p:sldLayoutId id="2147484156" r:id="rId14"/>
    <p:sldLayoutId id="2147484157" r:id="rId15"/>
    <p:sldLayoutId id="2147484158" r:id="rId16"/>
    <p:sldLayoutId id="2147484159" r:id="rId17"/>
    <p:sldLayoutId id="2147484160" r:id="rId18"/>
    <p:sldLayoutId id="2147484161" r:id="rId19"/>
    <p:sldLayoutId id="2147484162" r:id="rId20"/>
    <p:sldLayoutId id="2147484163" r:id="rId21"/>
    <p:sldLayoutId id="2147484164" r:id="rId22"/>
    <p:sldLayoutId id="2147484165" r:id="rId23"/>
    <p:sldLayoutId id="2147484166" r:id="rId24"/>
    <p:sldLayoutId id="2147484167" r:id="rId25"/>
    <p:sldLayoutId id="2147484168" r:id="rId26"/>
    <p:sldLayoutId id="2147484169" r:id="rId27"/>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948366" y="128981"/>
            <a:ext cx="10386814" cy="832920"/>
          </a:xfrm>
          <a:prstGeom prst="rect">
            <a:avLst/>
          </a:prstGeom>
          <a:noFill/>
          <a:ln w="9525">
            <a:noFill/>
            <a:miter lim="800000"/>
            <a:headEnd/>
            <a:tailEnd/>
          </a:ln>
        </p:spPr>
        <p:txBody>
          <a:bodyPr vert="horz" wrap="square" lIns="45720" tIns="0" rIns="4572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pic>
        <p:nvPicPr>
          <p:cNvPr id="9" name="Picture 8" descr="A red and white sign&#10;&#10;Description automatically generated with medium confidence">
            <a:extLst>
              <a:ext uri="{FF2B5EF4-FFF2-40B4-BE49-F238E27FC236}">
                <a16:creationId xmlns:a16="http://schemas.microsoft.com/office/drawing/2014/main" id="{9C47990B-ED32-7041-7CE6-379DC0F77AAE}"/>
              </a:ext>
            </a:extLst>
          </p:cNvPr>
          <p:cNvPicPr>
            <a:picLocks noChangeAspect="1"/>
          </p:cNvPicPr>
          <p:nvPr userDrawn="1"/>
        </p:nvPicPr>
        <p:blipFill>
          <a:blip r:embed="rId30"/>
          <a:stretch>
            <a:fillRect/>
          </a:stretch>
        </p:blipFill>
        <p:spPr>
          <a:xfrm>
            <a:off x="11309075" y="319470"/>
            <a:ext cx="681666" cy="451942"/>
          </a:xfrm>
          <a:prstGeom prst="rect">
            <a:avLst/>
          </a:prstGeom>
        </p:spPr>
      </p:pic>
      <p:pic>
        <p:nvPicPr>
          <p:cNvPr id="2" name="Picture 1" descr="A picture containing text, clipart&#10;&#10;Description automatically generated">
            <a:extLst>
              <a:ext uri="{FF2B5EF4-FFF2-40B4-BE49-F238E27FC236}">
                <a16:creationId xmlns:a16="http://schemas.microsoft.com/office/drawing/2014/main" id="{A03C655F-18AF-780C-F994-802A30EEA9EF}"/>
              </a:ext>
            </a:extLst>
          </p:cNvPr>
          <p:cNvPicPr>
            <a:picLocks noChangeAspect="1"/>
          </p:cNvPicPr>
          <p:nvPr userDrawn="1"/>
        </p:nvPicPr>
        <p:blipFill>
          <a:blip r:embed="rId31"/>
          <a:stretch>
            <a:fillRect/>
          </a:stretch>
        </p:blipFill>
        <p:spPr>
          <a:xfrm>
            <a:off x="266700" y="113697"/>
            <a:ext cx="644814" cy="811816"/>
          </a:xfrm>
          <a:prstGeom prst="rect">
            <a:avLst/>
          </a:prstGeom>
        </p:spPr>
      </p:pic>
      <p:sp>
        <p:nvSpPr>
          <p:cNvPr id="3" name="Rectangle 2">
            <a:extLst>
              <a:ext uri="{FF2B5EF4-FFF2-40B4-BE49-F238E27FC236}">
                <a16:creationId xmlns:a16="http://schemas.microsoft.com/office/drawing/2014/main" id="{39720D12-0BDE-1075-1F74-CB008D4B402C}"/>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40725888"/>
      </p:ext>
    </p:extLst>
  </p:cSld>
  <p:clrMap bg1="lt1" tx1="dk1" bg2="lt2" tx2="dk2" accent1="accent1" accent2="accent2" accent3="accent3" accent4="accent4" accent5="accent5" accent6="accent6" hlink="hlink" folHlink="folHlink"/>
  <p:sldLayoutIdLst>
    <p:sldLayoutId id="2147484052" r:id="rId1"/>
    <p:sldLayoutId id="2147484053" r:id="rId2"/>
    <p:sldLayoutId id="2147484054" r:id="rId3"/>
    <p:sldLayoutId id="2147484055" r:id="rId4"/>
    <p:sldLayoutId id="2147484056" r:id="rId5"/>
    <p:sldLayoutId id="2147484057" r:id="rId6"/>
    <p:sldLayoutId id="2147484058" r:id="rId7"/>
    <p:sldLayoutId id="2147484059" r:id="rId8"/>
    <p:sldLayoutId id="2147484060" r:id="rId9"/>
    <p:sldLayoutId id="2147484061" r:id="rId10"/>
    <p:sldLayoutId id="2147484062" r:id="rId11"/>
    <p:sldLayoutId id="2147484063" r:id="rId12"/>
    <p:sldLayoutId id="2147484064" r:id="rId13"/>
    <p:sldLayoutId id="2147484065" r:id="rId14"/>
    <p:sldLayoutId id="2147484066" r:id="rId15"/>
    <p:sldLayoutId id="2147484067" r:id="rId16"/>
    <p:sldLayoutId id="2147484068" r:id="rId17"/>
    <p:sldLayoutId id="2147484069" r:id="rId18"/>
    <p:sldLayoutId id="2147484070" r:id="rId19"/>
    <p:sldLayoutId id="2147484071" r:id="rId20"/>
    <p:sldLayoutId id="2147484072" r:id="rId21"/>
    <p:sldLayoutId id="2147484073" r:id="rId22"/>
    <p:sldLayoutId id="2147484074" r:id="rId23"/>
    <p:sldLayoutId id="2147484075" r:id="rId24"/>
    <p:sldLayoutId id="2147484076" r:id="rId25"/>
    <p:sldLayoutId id="2147484077" r:id="rId26"/>
    <p:sldLayoutId id="2147484078" r:id="rId27"/>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09A6F4-437A-F5BC-A382-7E14CD1E36B7}"/>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4" name="TextBox 3">
            <a:extLst>
              <a:ext uri="{FF2B5EF4-FFF2-40B4-BE49-F238E27FC236}">
                <a16:creationId xmlns:a16="http://schemas.microsoft.com/office/drawing/2014/main" id="{901DB1F4-AA0B-D214-2C9A-AE809FF1F697}"/>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4099" name="Title Placeholder 1"/>
          <p:cNvSpPr>
            <a:spLocks noGrp="1"/>
          </p:cNvSpPr>
          <p:nvPr>
            <p:ph type="title"/>
          </p:nvPr>
        </p:nvSpPr>
        <p:spPr bwMode="auto">
          <a:xfrm>
            <a:off x="948366" y="128981"/>
            <a:ext cx="10386814" cy="832920"/>
          </a:xfrm>
          <a:prstGeom prst="rect">
            <a:avLst/>
          </a:prstGeom>
          <a:noFill/>
          <a:ln w="9525">
            <a:noFill/>
            <a:miter lim="800000"/>
            <a:headEnd/>
            <a:tailEnd/>
          </a:ln>
        </p:spPr>
        <p:txBody>
          <a:bodyPr vert="horz" wrap="square" lIns="45720" tIns="0" rIns="4572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pic>
        <p:nvPicPr>
          <p:cNvPr id="9" name="Picture 8" descr="A red and white sign&#10;&#10;Description automatically generated with medium confidence">
            <a:extLst>
              <a:ext uri="{FF2B5EF4-FFF2-40B4-BE49-F238E27FC236}">
                <a16:creationId xmlns:a16="http://schemas.microsoft.com/office/drawing/2014/main" id="{9C47990B-ED32-7041-7CE6-379DC0F77AAE}"/>
              </a:ext>
            </a:extLst>
          </p:cNvPr>
          <p:cNvPicPr>
            <a:picLocks noChangeAspect="1"/>
          </p:cNvPicPr>
          <p:nvPr userDrawn="1"/>
        </p:nvPicPr>
        <p:blipFill>
          <a:blip r:embed="rId30"/>
          <a:stretch>
            <a:fillRect/>
          </a:stretch>
        </p:blipFill>
        <p:spPr>
          <a:xfrm>
            <a:off x="11309075" y="319470"/>
            <a:ext cx="681666" cy="451942"/>
          </a:xfrm>
          <a:prstGeom prst="rect">
            <a:avLst/>
          </a:prstGeom>
        </p:spPr>
      </p:pic>
      <p:pic>
        <p:nvPicPr>
          <p:cNvPr id="2" name="Picture 1" descr="A picture containing text, clipart&#10;&#10;Description automatically generated">
            <a:extLst>
              <a:ext uri="{FF2B5EF4-FFF2-40B4-BE49-F238E27FC236}">
                <a16:creationId xmlns:a16="http://schemas.microsoft.com/office/drawing/2014/main" id="{A03C655F-18AF-780C-F994-802A30EEA9EF}"/>
              </a:ext>
            </a:extLst>
          </p:cNvPr>
          <p:cNvPicPr>
            <a:picLocks noChangeAspect="1"/>
          </p:cNvPicPr>
          <p:nvPr userDrawn="1"/>
        </p:nvPicPr>
        <p:blipFill>
          <a:blip r:embed="rId31"/>
          <a:stretch>
            <a:fillRect/>
          </a:stretch>
        </p:blipFill>
        <p:spPr>
          <a:xfrm>
            <a:off x="266700" y="113697"/>
            <a:ext cx="644814" cy="811816"/>
          </a:xfrm>
          <a:prstGeom prst="rect">
            <a:avLst/>
          </a:prstGeom>
        </p:spPr>
      </p:pic>
      <p:sp>
        <p:nvSpPr>
          <p:cNvPr id="8" name="Rectangle 7">
            <a:extLst>
              <a:ext uri="{FF2B5EF4-FFF2-40B4-BE49-F238E27FC236}">
                <a16:creationId xmlns:a16="http://schemas.microsoft.com/office/drawing/2014/main" id="{7AD4339D-DBCA-B475-10A1-FBC7E6A007BD}"/>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968281"/>
      </p:ext>
    </p:extLst>
  </p:cSld>
  <p:clrMap bg1="lt1" tx1="dk1" bg2="lt2" tx2="dk2" accent1="accent1" accent2="accent2" accent3="accent3" accent4="accent4" accent5="accent5" accent6="accent6" hlink="hlink" folHlink="folHlink"/>
  <p:sldLayoutIdLst>
    <p:sldLayoutId id="2147484082" r:id="rId1"/>
    <p:sldLayoutId id="2147484083" r:id="rId2"/>
    <p:sldLayoutId id="2147484084" r:id="rId3"/>
    <p:sldLayoutId id="2147484085" r:id="rId4"/>
    <p:sldLayoutId id="2147484086" r:id="rId5"/>
    <p:sldLayoutId id="2147484087" r:id="rId6"/>
    <p:sldLayoutId id="2147484088" r:id="rId7"/>
    <p:sldLayoutId id="2147484089" r:id="rId8"/>
    <p:sldLayoutId id="2147484090" r:id="rId9"/>
    <p:sldLayoutId id="2147484091" r:id="rId10"/>
    <p:sldLayoutId id="2147484092" r:id="rId11"/>
    <p:sldLayoutId id="2147484093" r:id="rId12"/>
    <p:sldLayoutId id="2147484094" r:id="rId13"/>
    <p:sldLayoutId id="2147484095" r:id="rId14"/>
    <p:sldLayoutId id="2147484096" r:id="rId15"/>
    <p:sldLayoutId id="2147484097" r:id="rId16"/>
    <p:sldLayoutId id="2147484098" r:id="rId17"/>
    <p:sldLayoutId id="2147484099" r:id="rId18"/>
    <p:sldLayoutId id="2147484139" r:id="rId19"/>
    <p:sldLayoutId id="2147484101" r:id="rId20"/>
    <p:sldLayoutId id="2147484102" r:id="rId21"/>
    <p:sldLayoutId id="2147484103" r:id="rId22"/>
    <p:sldLayoutId id="2147484104" r:id="rId23"/>
    <p:sldLayoutId id="2147484105" r:id="rId24"/>
    <p:sldLayoutId id="2147484106" r:id="rId25"/>
    <p:sldLayoutId id="2147484107" r:id="rId26"/>
    <p:sldLayoutId id="2147484108" r:id="rId27"/>
    <p:sldLayoutId id="2147484141" r:id="rId28"/>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5000">
              <a:schemeClr val="tx2"/>
            </a:gs>
            <a:gs pos="90000">
              <a:schemeClr val="tx2">
                <a:alpha val="35000"/>
              </a:schemeClr>
            </a:gs>
            <a:gs pos="95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2160788" y="128981"/>
            <a:ext cx="9764511" cy="832920"/>
          </a:xfrm>
          <a:prstGeom prst="rect">
            <a:avLst/>
          </a:prstGeom>
          <a:noFill/>
          <a:ln w="9525">
            <a:noFill/>
            <a:miter lim="800000"/>
            <a:headEnd/>
            <a:tailEnd/>
          </a:ln>
        </p:spPr>
        <p:txBody>
          <a:bodyPr vert="horz" wrap="square" lIns="45720" tIns="0" rIns="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sp>
        <p:nvSpPr>
          <p:cNvPr id="3" name="Rectangle 2">
            <a:extLst>
              <a:ext uri="{FF2B5EF4-FFF2-40B4-BE49-F238E27FC236}">
                <a16:creationId xmlns:a16="http://schemas.microsoft.com/office/drawing/2014/main" id="{39720D12-0BDE-1075-1F74-CB008D4B402C}"/>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81BE7C9B-9448-C381-7665-0C3594C2DD80}"/>
              </a:ext>
            </a:extLst>
          </p:cNvPr>
          <p:cNvPicPr>
            <a:picLocks noChangeAspect="1"/>
          </p:cNvPicPr>
          <p:nvPr userDrawn="1"/>
        </p:nvPicPr>
        <p:blipFill>
          <a:blip r:embed="rId30"/>
          <a:srcRect/>
          <a:stretch/>
        </p:blipFill>
        <p:spPr>
          <a:xfrm>
            <a:off x="190500" y="86740"/>
            <a:ext cx="1970289" cy="874270"/>
          </a:xfrm>
          <a:prstGeom prst="rect">
            <a:avLst/>
          </a:prstGeom>
        </p:spPr>
      </p:pic>
    </p:spTree>
    <p:extLst>
      <p:ext uri="{BB962C8B-B14F-4D97-AF65-F5344CB8AC3E}">
        <p14:creationId xmlns:p14="http://schemas.microsoft.com/office/powerpoint/2010/main" val="2884319183"/>
      </p:ext>
    </p:extLst>
  </p:cSld>
  <p:clrMap bg1="lt1" tx1="dk1" bg2="lt2" tx2="dk2" accent1="accent1" accent2="accent2" accent3="accent3" accent4="accent4" accent5="accent5" accent6="accent6" hlink="hlink" folHlink="folHlink"/>
  <p:sldLayoutIdLst>
    <p:sldLayoutId id="2147484111" r:id="rId1"/>
    <p:sldLayoutId id="2147484112" r:id="rId2"/>
    <p:sldLayoutId id="2147484113" r:id="rId3"/>
    <p:sldLayoutId id="2147484114" r:id="rId4"/>
    <p:sldLayoutId id="2147484115" r:id="rId5"/>
    <p:sldLayoutId id="2147484116" r:id="rId6"/>
    <p:sldLayoutId id="2147484117" r:id="rId7"/>
    <p:sldLayoutId id="2147484118" r:id="rId8"/>
    <p:sldLayoutId id="2147484119" r:id="rId9"/>
    <p:sldLayoutId id="2147484120" r:id="rId10"/>
    <p:sldLayoutId id="2147484121" r:id="rId11"/>
    <p:sldLayoutId id="2147484122" r:id="rId12"/>
    <p:sldLayoutId id="2147484123" r:id="rId13"/>
    <p:sldLayoutId id="2147484124" r:id="rId14"/>
    <p:sldLayoutId id="2147484125" r:id="rId15"/>
    <p:sldLayoutId id="2147484126" r:id="rId16"/>
    <p:sldLayoutId id="2147484127" r:id="rId17"/>
    <p:sldLayoutId id="2147484128" r:id="rId18"/>
    <p:sldLayoutId id="2147484140" r:id="rId19"/>
    <p:sldLayoutId id="2147484130" r:id="rId20"/>
    <p:sldLayoutId id="2147484131" r:id="rId21"/>
    <p:sldLayoutId id="2147484132" r:id="rId22"/>
    <p:sldLayoutId id="2147484133" r:id="rId23"/>
    <p:sldLayoutId id="2147484134" r:id="rId24"/>
    <p:sldLayoutId id="2147484135" r:id="rId25"/>
    <p:sldLayoutId id="2147484136" r:id="rId26"/>
    <p:sldLayoutId id="2147484137" r:id="rId27"/>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5000">
              <a:schemeClr val="tx2"/>
            </a:gs>
            <a:gs pos="90000">
              <a:schemeClr val="tx2">
                <a:alpha val="35000"/>
              </a:schemeClr>
            </a:gs>
            <a:gs pos="95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2160788" y="128981"/>
            <a:ext cx="9764511" cy="832920"/>
          </a:xfrm>
          <a:prstGeom prst="rect">
            <a:avLst/>
          </a:prstGeom>
          <a:noFill/>
          <a:ln w="9525">
            <a:noFill/>
            <a:miter lim="800000"/>
            <a:headEnd/>
            <a:tailEnd/>
          </a:ln>
        </p:spPr>
        <p:txBody>
          <a:bodyPr vert="horz" wrap="square" lIns="45720" tIns="0" rIns="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sp>
        <p:nvSpPr>
          <p:cNvPr id="3" name="Rectangle 2">
            <a:extLst>
              <a:ext uri="{FF2B5EF4-FFF2-40B4-BE49-F238E27FC236}">
                <a16:creationId xmlns:a16="http://schemas.microsoft.com/office/drawing/2014/main" id="{39720D12-0BDE-1075-1F74-CB008D4B402C}"/>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81BE7C9B-9448-C381-7665-0C3594C2DD80}"/>
              </a:ext>
            </a:extLst>
          </p:cNvPr>
          <p:cNvPicPr>
            <a:picLocks noChangeAspect="1"/>
          </p:cNvPicPr>
          <p:nvPr userDrawn="1"/>
        </p:nvPicPr>
        <p:blipFill>
          <a:blip r:embed="rId30"/>
          <a:srcRect/>
          <a:stretch/>
        </p:blipFill>
        <p:spPr>
          <a:xfrm>
            <a:off x="190500" y="86740"/>
            <a:ext cx="1970289" cy="874270"/>
          </a:xfrm>
          <a:prstGeom prst="rect">
            <a:avLst/>
          </a:prstGeom>
        </p:spPr>
      </p:pic>
      <p:sp>
        <p:nvSpPr>
          <p:cNvPr id="2" name="TextBox 1">
            <a:extLst>
              <a:ext uri="{FF2B5EF4-FFF2-40B4-BE49-F238E27FC236}">
                <a16:creationId xmlns:a16="http://schemas.microsoft.com/office/drawing/2014/main" id="{0319D296-3ADD-602F-6280-AF09F0C8541E}"/>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8" name="TextBox 7">
            <a:extLst>
              <a:ext uri="{FF2B5EF4-FFF2-40B4-BE49-F238E27FC236}">
                <a16:creationId xmlns:a16="http://schemas.microsoft.com/office/drawing/2014/main" id="{3CB3D4C0-148A-1C15-E80F-A173E101EED7}"/>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1756410140"/>
      </p:ext>
    </p:extLst>
  </p:cSld>
  <p:clrMap bg1="lt1" tx1="dk1" bg2="lt2" tx2="dk2" accent1="accent1" accent2="accent2" accent3="accent3" accent4="accent4" accent5="accent5" accent6="accent6" hlink="hlink" folHlink="folHlink"/>
  <p:sldLayoutIdLst>
    <p:sldLayoutId id="2147484171" r:id="rId1"/>
    <p:sldLayoutId id="2147484172" r:id="rId2"/>
    <p:sldLayoutId id="2147484173" r:id="rId3"/>
    <p:sldLayoutId id="2147484174" r:id="rId4"/>
    <p:sldLayoutId id="2147484175" r:id="rId5"/>
    <p:sldLayoutId id="2147484176" r:id="rId6"/>
    <p:sldLayoutId id="2147484177" r:id="rId7"/>
    <p:sldLayoutId id="2147484178" r:id="rId8"/>
    <p:sldLayoutId id="2147484179" r:id="rId9"/>
    <p:sldLayoutId id="2147484180" r:id="rId10"/>
    <p:sldLayoutId id="2147484181" r:id="rId11"/>
    <p:sldLayoutId id="2147484182" r:id="rId12"/>
    <p:sldLayoutId id="2147484183" r:id="rId13"/>
    <p:sldLayoutId id="2147484184" r:id="rId14"/>
    <p:sldLayoutId id="2147484185" r:id="rId15"/>
    <p:sldLayoutId id="2147484186" r:id="rId16"/>
    <p:sldLayoutId id="2147484187" r:id="rId17"/>
    <p:sldLayoutId id="2147484188" r:id="rId18"/>
    <p:sldLayoutId id="2147484189" r:id="rId19"/>
    <p:sldLayoutId id="2147484190" r:id="rId20"/>
    <p:sldLayoutId id="2147484191" r:id="rId21"/>
    <p:sldLayoutId id="2147484192" r:id="rId22"/>
    <p:sldLayoutId id="2147484193" r:id="rId23"/>
    <p:sldLayoutId id="2147484194" r:id="rId24"/>
    <p:sldLayoutId id="2147484195" r:id="rId25"/>
    <p:sldLayoutId id="2147484196" r:id="rId26"/>
    <p:sldLayoutId id="2147484197" r:id="rId27"/>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3"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4" name="Picture 6"/>
          <p:cNvPicPr>
            <a:picLocks noChangeAspect="1"/>
          </p:cNvPicPr>
          <p:nvPr userDrawn="1"/>
        </p:nvPicPr>
        <p:blipFill>
          <a:blip r:embed="rId4"/>
          <a:srcRect/>
          <a:stretch>
            <a:fillRect/>
          </a:stretch>
        </p:blipFill>
        <p:spPr bwMode="auto">
          <a:xfrm>
            <a:off x="6079067" y="3416309"/>
            <a:ext cx="25400" cy="3175"/>
          </a:xfrm>
          <a:prstGeom prst="rect">
            <a:avLst/>
          </a:prstGeom>
          <a:noFill/>
          <a:ln w="9525">
            <a:noFill/>
            <a:miter lim="800000"/>
            <a:headEnd/>
            <a:tailEnd/>
          </a:ln>
        </p:spPr>
      </p:pic>
      <p:sp>
        <p:nvSpPr>
          <p:cNvPr id="11" name="Text Box 14">
            <a:extLst>
              <a:ext uri="{FF2B5EF4-FFF2-40B4-BE49-F238E27FC236}">
                <a16:creationId xmlns:a16="http://schemas.microsoft.com/office/drawing/2014/main" id="{06488F25-D32D-48D0-BB8A-6B1499EB02EC}"/>
              </a:ext>
            </a:extLst>
          </p:cNvPr>
          <p:cNvSpPr txBox="1">
            <a:spLocks noChangeArrowheads="1"/>
          </p:cNvSpPr>
          <p:nvPr userDrawn="1"/>
        </p:nvSpPr>
        <p:spPr bwMode="auto">
          <a:xfrm>
            <a:off x="11218426" y="6627107"/>
            <a:ext cx="771525" cy="153888"/>
          </a:xfrm>
          <a:prstGeom prst="rect">
            <a:avLst/>
          </a:prstGeom>
          <a:noFill/>
          <a:ln w="9525">
            <a:noFill/>
            <a:miter lim="800000"/>
            <a:headEnd/>
            <a:tailEnd/>
          </a:ln>
          <a:effectLst/>
        </p:spPr>
        <p:txBody>
          <a:bodyPr wrap="square" tIns="0" bIns="0">
            <a:spAutoFit/>
          </a:bodyPr>
          <a:lstStyle/>
          <a:p>
            <a:pPr algn="r">
              <a:spcBef>
                <a:spcPct val="50000"/>
              </a:spcBef>
              <a:defRPr/>
            </a:pPr>
            <a:fld id="{99D903CA-8EC9-4EB0-B4F7-7D6D89967A95}" type="slidenum">
              <a:rPr lang="en-US" sz="1000" b="0" baseline="0" smtClean="0"/>
              <a:pPr algn="r">
                <a:spcBef>
                  <a:spcPct val="50000"/>
                </a:spcBef>
                <a:defRPr/>
              </a:pPr>
              <a:t>‹#›</a:t>
            </a:fld>
            <a:endParaRPr lang="en-US" sz="1000" b="0" baseline="0" dirty="0"/>
          </a:p>
        </p:txBody>
      </p:sp>
      <p:sp>
        <p:nvSpPr>
          <p:cNvPr id="17" name="Date Placeholder 4">
            <a:extLst>
              <a:ext uri="{FF2B5EF4-FFF2-40B4-BE49-F238E27FC236}">
                <a16:creationId xmlns:a16="http://schemas.microsoft.com/office/drawing/2014/main" id="{876090B8-EB33-44F6-B805-AE75858FA42D}"/>
              </a:ext>
            </a:extLst>
          </p:cNvPr>
          <p:cNvSpPr>
            <a:spLocks noGrp="1"/>
          </p:cNvSpPr>
          <p:nvPr>
            <p:ph type="dt" sz="half" idx="2"/>
          </p:nvPr>
        </p:nvSpPr>
        <p:spPr>
          <a:xfrm>
            <a:off x="8842515" y="6653150"/>
            <a:ext cx="2761673" cy="137160"/>
          </a:xfrm>
          <a:prstGeom prst="rect">
            <a:avLst/>
          </a:prstGeom>
        </p:spPr>
        <p:txBody>
          <a:bodyPr anchor="ctr"/>
          <a:lstStyle>
            <a:lvl1pPr algn="r">
              <a:defRPr sz="900">
                <a:solidFill>
                  <a:schemeClr val="bg2">
                    <a:lumMod val="75000"/>
                  </a:schemeClr>
                </a:solidFill>
              </a:defRPr>
            </a:lvl1pPr>
          </a:lstStyle>
          <a:p>
            <a:endParaRPr lang="en-US" dirty="0"/>
          </a:p>
        </p:txBody>
      </p:sp>
      <p:sp>
        <p:nvSpPr>
          <p:cNvPr id="18" name="Footer Placeholder 3">
            <a:extLst>
              <a:ext uri="{FF2B5EF4-FFF2-40B4-BE49-F238E27FC236}">
                <a16:creationId xmlns:a16="http://schemas.microsoft.com/office/drawing/2014/main" id="{2F8A329A-59C1-4D23-B5E6-03FA1C182A0A}"/>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bg2">
                    <a:lumMod val="75000"/>
                  </a:schemeClr>
                </a:solidFill>
              </a:defRPr>
            </a:lvl1pPr>
          </a:lstStyle>
          <a:p>
            <a:endParaRPr lang="en-US" dirty="0"/>
          </a:p>
        </p:txBody>
      </p:sp>
      <p:sp>
        <p:nvSpPr>
          <p:cNvPr id="2" name="Title Placeholder 1">
            <a:extLst>
              <a:ext uri="{FF2B5EF4-FFF2-40B4-BE49-F238E27FC236}">
                <a16:creationId xmlns:a16="http://schemas.microsoft.com/office/drawing/2014/main" id="{CA18FFB5-1B4A-8A37-78CC-AC1A7AE08575}"/>
              </a:ext>
            </a:extLst>
          </p:cNvPr>
          <p:cNvSpPr>
            <a:spLocks noGrp="1"/>
          </p:cNvSpPr>
          <p:nvPr>
            <p:ph type="title"/>
          </p:nvPr>
        </p:nvSpPr>
        <p:spPr bwMode="auto">
          <a:xfrm>
            <a:off x="266699" y="128981"/>
            <a:ext cx="11658599" cy="83292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Tree>
    <p:extLst>
      <p:ext uri="{BB962C8B-B14F-4D97-AF65-F5344CB8AC3E}">
        <p14:creationId xmlns:p14="http://schemas.microsoft.com/office/powerpoint/2010/main" val="199137462"/>
      </p:ext>
    </p:extLst>
  </p:cSld>
  <p:clrMap bg1="lt1" tx1="dk1" bg2="lt2" tx2="dk2" accent1="accent1" accent2="accent2" accent3="accent3" accent4="accent4" accent5="accent5" accent6="accent6" hlink="hlink" folHlink="folHlink"/>
  <p:sldLayoutIdLst>
    <p:sldLayoutId id="2147483724" r:id="rId1"/>
    <p:sldLayoutId id="2147483725" r:id="rId2"/>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169"/>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30188" indent="-230188" algn="l" rtl="0" eaLnBrk="1" fontAlgn="base" hangingPunct="1">
        <a:spcBef>
          <a:spcPts val="169"/>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1775" algn="l" rtl="0" eaLnBrk="1" fontAlgn="base" hangingPunct="1">
        <a:spcBef>
          <a:spcPts val="169"/>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4213" indent="-222250" algn="l" rtl="0" eaLnBrk="1" fontAlgn="base" hangingPunct="1">
        <a:spcBef>
          <a:spcPts val="169"/>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30188" algn="l" rtl="0" eaLnBrk="1" fontAlgn="base" hangingPunct="1">
        <a:spcBef>
          <a:spcPts val="169"/>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583" userDrawn="1">
          <p15:clr>
            <a:srgbClr val="F26B43"/>
          </p15:clr>
        </p15:guide>
        <p15:guide id="1" pos="7512" userDrawn="1">
          <p15:clr>
            <a:srgbClr val="5ACBF0"/>
          </p15:clr>
        </p15:guide>
        <p15:guide id="2" pos="12971">
          <p15:clr>
            <a:srgbClr val="5ACBF0"/>
          </p15:clr>
        </p15:guide>
        <p15:guide id="3" pos="168" userDrawn="1">
          <p15:clr>
            <a:srgbClr val="5ACBF0"/>
          </p15:clr>
        </p15:guide>
        <p15:guide id="5" orient="horz" pos="637" userDrawn="1">
          <p15:clr>
            <a:srgbClr val="F26B43"/>
          </p15:clr>
        </p15:guide>
        <p15:guide id="6" orient="horz" pos="4176"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948366" y="128981"/>
            <a:ext cx="10386814" cy="832920"/>
          </a:xfrm>
          <a:prstGeom prst="rect">
            <a:avLst/>
          </a:prstGeom>
          <a:noFill/>
          <a:ln w="9525">
            <a:noFill/>
            <a:miter lim="800000"/>
            <a:headEnd/>
            <a:tailEnd/>
          </a:ln>
        </p:spPr>
        <p:txBody>
          <a:bodyPr vert="horz" wrap="square" lIns="45720" tIns="0" rIns="4572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33" name="Picture 6"/>
          <p:cNvPicPr>
            <a:picLocks noChangeAspect="1"/>
          </p:cNvPicPr>
          <p:nvPr/>
        </p:nvPicPr>
        <p:blipFill>
          <a:blip r:embed="rId32"/>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pic>
        <p:nvPicPr>
          <p:cNvPr id="9" name="Picture 8" descr="A red and white sign&#10;&#10;Description automatically generated with medium confidence">
            <a:extLst>
              <a:ext uri="{FF2B5EF4-FFF2-40B4-BE49-F238E27FC236}">
                <a16:creationId xmlns:a16="http://schemas.microsoft.com/office/drawing/2014/main" id="{9C47990B-ED32-7041-7CE6-379DC0F77AAE}"/>
              </a:ext>
            </a:extLst>
          </p:cNvPr>
          <p:cNvPicPr>
            <a:picLocks noChangeAspect="1"/>
          </p:cNvPicPr>
          <p:nvPr userDrawn="1"/>
        </p:nvPicPr>
        <p:blipFill>
          <a:blip r:embed="rId33" cstate="email">
            <a:extLst>
              <a:ext uri="{28A0092B-C50C-407E-A947-70E740481C1C}">
                <a14:useLocalDpi xmlns:a14="http://schemas.microsoft.com/office/drawing/2010/main"/>
              </a:ext>
            </a:extLst>
          </a:blip>
          <a:stretch>
            <a:fillRect/>
          </a:stretch>
        </p:blipFill>
        <p:spPr>
          <a:xfrm>
            <a:off x="11309075" y="319470"/>
            <a:ext cx="681666" cy="451942"/>
          </a:xfrm>
          <a:prstGeom prst="rect">
            <a:avLst/>
          </a:prstGeom>
        </p:spPr>
      </p:pic>
      <p:pic>
        <p:nvPicPr>
          <p:cNvPr id="2" name="Picture 1" descr="A picture containing text, clipart&#10;&#10;Description automatically generated">
            <a:extLst>
              <a:ext uri="{FF2B5EF4-FFF2-40B4-BE49-F238E27FC236}">
                <a16:creationId xmlns:a16="http://schemas.microsoft.com/office/drawing/2014/main" id="{A03C655F-18AF-780C-F994-802A30EEA9EF}"/>
              </a:ext>
            </a:extLst>
          </p:cNvPr>
          <p:cNvPicPr>
            <a:picLocks noChangeAspect="1"/>
          </p:cNvPicPr>
          <p:nvPr userDrawn="1"/>
        </p:nvPicPr>
        <p:blipFill>
          <a:blip r:embed="rId34" cstate="email">
            <a:extLst>
              <a:ext uri="{28A0092B-C50C-407E-A947-70E740481C1C}">
                <a14:useLocalDpi xmlns:a14="http://schemas.microsoft.com/office/drawing/2010/main"/>
              </a:ext>
            </a:extLst>
          </a:blip>
          <a:stretch>
            <a:fillRect/>
          </a:stretch>
        </p:blipFill>
        <p:spPr>
          <a:xfrm>
            <a:off x="266700" y="113697"/>
            <a:ext cx="644814" cy="811816"/>
          </a:xfrm>
          <a:prstGeom prst="rect">
            <a:avLst/>
          </a:prstGeom>
        </p:spPr>
      </p:pic>
      <p:sp>
        <p:nvSpPr>
          <p:cNvPr id="3" name="Rectangle 2">
            <a:extLst>
              <a:ext uri="{FF2B5EF4-FFF2-40B4-BE49-F238E27FC236}">
                <a16:creationId xmlns:a16="http://schemas.microsoft.com/office/drawing/2014/main" id="{39720D12-0BDE-1075-1F74-CB008D4B402C}"/>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75831930"/>
      </p:ext>
    </p:extLst>
  </p:cSld>
  <p:clrMap bg1="lt1" tx1="dk1" bg2="lt2" tx2="dk2" accent1="accent1" accent2="accent2" accent3="accent3" accent4="accent4" accent5="accent5" accent6="accent6" hlink="hlink" folHlink="folHlink"/>
  <p:sldLayoutIdLst>
    <p:sldLayoutId id="2147484199" r:id="rId1"/>
    <p:sldLayoutId id="2147484200" r:id="rId2"/>
    <p:sldLayoutId id="2147484201" r:id="rId3"/>
    <p:sldLayoutId id="2147484202" r:id="rId4"/>
    <p:sldLayoutId id="2147484203" r:id="rId5"/>
    <p:sldLayoutId id="2147484204" r:id="rId6"/>
    <p:sldLayoutId id="2147484205" r:id="rId7"/>
    <p:sldLayoutId id="2147484206" r:id="rId8"/>
    <p:sldLayoutId id="2147484207" r:id="rId9"/>
    <p:sldLayoutId id="2147484208" r:id="rId10"/>
    <p:sldLayoutId id="2147484209" r:id="rId11"/>
    <p:sldLayoutId id="2147484210" r:id="rId12"/>
    <p:sldLayoutId id="2147484211" r:id="rId13"/>
    <p:sldLayoutId id="2147484212" r:id="rId14"/>
    <p:sldLayoutId id="2147484213" r:id="rId15"/>
    <p:sldLayoutId id="2147484214" r:id="rId16"/>
    <p:sldLayoutId id="2147484215" r:id="rId17"/>
    <p:sldLayoutId id="2147484216" r:id="rId18"/>
    <p:sldLayoutId id="2147484217" r:id="rId19"/>
    <p:sldLayoutId id="2147484218" r:id="rId20"/>
    <p:sldLayoutId id="2147484219" r:id="rId21"/>
    <p:sldLayoutId id="2147484220" r:id="rId22"/>
    <p:sldLayoutId id="2147484221" r:id="rId23"/>
    <p:sldLayoutId id="2147484222" r:id="rId24"/>
    <p:sldLayoutId id="2147484223" r:id="rId25"/>
    <p:sldLayoutId id="2147484224" r:id="rId26"/>
    <p:sldLayoutId id="2147484225" r:id="rId27"/>
    <p:sldLayoutId id="2147484226" r:id="rId28"/>
    <p:sldLayoutId id="2147484229" r:id="rId29"/>
    <p:sldLayoutId id="2147484230" r:id="rId30"/>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4.xml"/><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6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7.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5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9.xml.rels><?xml version="1.0" encoding="UTF-8" standalone="yes"?>
<Relationships xmlns="http://schemas.openxmlformats.org/package/2006/relationships"><Relationship Id="rId3" Type="http://schemas.openxmlformats.org/officeDocument/2006/relationships/hyperlink" Target="http://www.sam.gov/" TargetMode="External"/><Relationship Id="rId2" Type="http://schemas.openxmlformats.org/officeDocument/2006/relationships/notesSlide" Target="../notesSlides/notesSlide3.xml"/><Relationship Id="rId1" Type="http://schemas.openxmlformats.org/officeDocument/2006/relationships/slideLayout" Target="../slideLayouts/slideLayout55.xml"/></Relationships>
</file>

<file path=ppt/slides/_rels/slide10.xml.rels><?xml version="1.0" encoding="UTF-8" standalone="yes"?>
<Relationships xmlns="http://schemas.openxmlformats.org/package/2006/relationships"><Relationship Id="rId3" Type="http://schemas.openxmlformats.org/officeDocument/2006/relationships/hyperlink" Target="http://www.sam.gov/" TargetMode="External"/><Relationship Id="rId2" Type="http://schemas.openxmlformats.org/officeDocument/2006/relationships/notesSlide" Target="../notesSlides/notesSlide4.xml"/><Relationship Id="rId1" Type="http://schemas.openxmlformats.org/officeDocument/2006/relationships/slideLayout" Target="../slideLayouts/slideLayout5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4.xml"/></Relationships>
</file>

<file path=ppt/slides/_rels/slide21.xml.rels><?xml version="1.0" encoding="UTF-8" standalone="yes"?>
<Relationships xmlns="http://schemas.openxmlformats.org/package/2006/relationships"><Relationship Id="rId3" Type="http://schemas.openxmlformats.org/officeDocument/2006/relationships/hyperlink" Target="http://www.projnet.org/" TargetMode="External"/><Relationship Id="rId2" Type="http://schemas.openxmlformats.org/officeDocument/2006/relationships/notesSlide" Target="../notesSlides/notesSlide14.xml"/><Relationship Id="rId1" Type="http://schemas.openxmlformats.org/officeDocument/2006/relationships/slideLayout" Target="../slideLayouts/slideLayout19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3.xml"/></Relationships>
</file>

<file path=ppt/slides/_rels/slide24.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oleObject" Target="../embeddings/oleObject1.bin"/><Relationship Id="rId1" Type="http://schemas.openxmlformats.org/officeDocument/2006/relationships/slideLayout" Target="../slideLayouts/slideLayout59.xml"/><Relationship Id="rId4" Type="http://schemas.openxmlformats.org/officeDocument/2006/relationships/hyperlink" Target="mailto:SBO-LRL@usace.army.mi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26.xml.rels><?xml version="1.0" encoding="UTF-8" standalone="yes"?>
<Relationships xmlns="http://schemas.openxmlformats.org/package/2006/relationships"><Relationship Id="rId2" Type="http://schemas.openxmlformats.org/officeDocument/2006/relationships/hyperlink" Target="https://www.lrd.usace.army.mil/Opportunity-Forecast/" TargetMode="External"/><Relationship Id="rId1" Type="http://schemas.openxmlformats.org/officeDocument/2006/relationships/slideLayout" Target="../slideLayouts/slideLayout67.xml"/></Relationships>
</file>

<file path=ppt/slides/_rels/slide27.xml.rels><?xml version="1.0" encoding="UTF-8" standalone="yes"?>
<Relationships xmlns="http://schemas.openxmlformats.org/package/2006/relationships"><Relationship Id="rId2" Type="http://schemas.openxmlformats.org/officeDocument/2006/relationships/hyperlink" Target="http://www.fbo.gov/" TargetMode="External"/><Relationship Id="rId1" Type="http://schemas.openxmlformats.org/officeDocument/2006/relationships/slideLayout" Target="../slideLayouts/slideLayout6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5.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56.xml"/></Relationships>
</file>

<file path=ppt/slides/_rels/slide32.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55.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6.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5.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56.xml"/></Relationships>
</file>

<file path=ppt/slides/_rels/slide38.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55.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6.xml"/></Relationships>
</file>

<file path=ppt/slides/_rels/slide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DCD1B8-0FB9-6DE1-D901-F8B0186B1E44}"/>
              </a:ext>
            </a:extLst>
          </p:cNvPr>
          <p:cNvSpPr>
            <a:spLocks noGrp="1"/>
          </p:cNvSpPr>
          <p:nvPr>
            <p:ph type="title"/>
          </p:nvPr>
        </p:nvSpPr>
        <p:spPr>
          <a:xfrm>
            <a:off x="266700" y="260931"/>
            <a:ext cx="11570044" cy="1671543"/>
          </a:xfrm>
        </p:spPr>
        <p:txBody>
          <a:bodyPr/>
          <a:lstStyle/>
          <a:p>
            <a:pPr algn="ctr"/>
            <a:r>
              <a:rPr lang="en-US" dirty="0"/>
              <a:t>INDUSTRY DAY FORUM</a:t>
            </a:r>
            <a:br>
              <a:rPr lang="en-US" dirty="0"/>
            </a:br>
            <a:r>
              <a:rPr lang="en-US" sz="2000" dirty="0"/>
              <a:t>New Cumberland and Newtown square ARC</a:t>
            </a:r>
          </a:p>
        </p:txBody>
      </p:sp>
      <p:sp>
        <p:nvSpPr>
          <p:cNvPr id="9" name="Content Placeholder 8">
            <a:extLst>
              <a:ext uri="{FF2B5EF4-FFF2-40B4-BE49-F238E27FC236}">
                <a16:creationId xmlns:a16="http://schemas.microsoft.com/office/drawing/2014/main" id="{910D6B67-EB23-B871-0CBE-F377AEE7C411}"/>
              </a:ext>
            </a:extLst>
          </p:cNvPr>
          <p:cNvSpPr>
            <a:spLocks noGrp="1"/>
          </p:cNvSpPr>
          <p:nvPr>
            <p:ph sz="quarter" idx="17"/>
          </p:nvPr>
        </p:nvSpPr>
        <p:spPr>
          <a:xfrm>
            <a:off x="266701" y="2058988"/>
            <a:ext cx="5350328" cy="3524948"/>
          </a:xfrm>
        </p:spPr>
        <p:txBody>
          <a:bodyPr/>
          <a:lstStyle/>
          <a:p>
            <a:r>
              <a:rPr lang="en-US" u="sng" dirty="0">
                <a:latin typeface="Calibri" panose="020F0502020204030204" pitchFamily="34" charset="0"/>
                <a:cs typeface="Calibri" panose="020F0502020204030204" pitchFamily="34" charset="0"/>
              </a:rPr>
              <a:t>Presenters: </a:t>
            </a:r>
          </a:p>
          <a:p>
            <a:r>
              <a:rPr lang="en-US" dirty="0">
                <a:latin typeface="Calibri" panose="020F0502020204030204" pitchFamily="34" charset="0"/>
                <a:cs typeface="Calibri" panose="020F0502020204030204" pitchFamily="34" charset="0"/>
              </a:rPr>
              <a:t>Jonathan Cowen – Project Manager</a:t>
            </a:r>
          </a:p>
          <a:p>
            <a:r>
              <a:rPr lang="en-US" dirty="0">
                <a:latin typeface="Calibri" panose="020F0502020204030204" pitchFamily="34" charset="0"/>
                <a:cs typeface="Calibri" panose="020F0502020204030204" pitchFamily="34" charset="0"/>
              </a:rPr>
              <a:t>Felix Carrion-Viera – Project Engineer</a:t>
            </a:r>
          </a:p>
          <a:p>
            <a:r>
              <a:rPr lang="en-US" dirty="0">
                <a:latin typeface="Calibri" panose="020F0502020204030204" pitchFamily="34" charset="0"/>
                <a:cs typeface="Calibri" panose="020F0502020204030204" pitchFamily="34" charset="0"/>
              </a:rPr>
              <a:t>Eliot Lincoln – Project Engineer</a:t>
            </a:r>
          </a:p>
          <a:p>
            <a:r>
              <a:rPr lang="en-US" dirty="0">
                <a:latin typeface="Calibri" panose="020F0502020204030204" pitchFamily="34" charset="0"/>
                <a:cs typeface="Calibri" panose="020F0502020204030204" pitchFamily="34" charset="0"/>
              </a:rPr>
              <a:t>Ryan King – Contract Specialist</a:t>
            </a:r>
          </a:p>
          <a:p>
            <a:r>
              <a:rPr lang="en-US" dirty="0">
                <a:latin typeface="Calibri" panose="020F0502020204030204" pitchFamily="34" charset="0"/>
                <a:cs typeface="Calibri" panose="020F0502020204030204" pitchFamily="34" charset="0"/>
              </a:rPr>
              <a:t>Crystal Harbin – Deputy for Small Business </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Date: 04 March 2025</a:t>
            </a:r>
          </a:p>
          <a:p>
            <a:endParaRPr lang="en-US" dirty="0"/>
          </a:p>
          <a:p>
            <a:r>
              <a:rPr lang="en-US" sz="1800" dirty="0"/>
              <a:t>Training Center Two, Newtown Square Army Reserve Center (ARC)</a:t>
            </a:r>
          </a:p>
        </p:txBody>
      </p:sp>
      <p:sp>
        <p:nvSpPr>
          <p:cNvPr id="14" name="TextBox 13">
            <a:extLst>
              <a:ext uri="{FF2B5EF4-FFF2-40B4-BE49-F238E27FC236}">
                <a16:creationId xmlns:a16="http://schemas.microsoft.com/office/drawing/2014/main" id="{A44CFD1B-3ABD-7DF8-B3CD-6903F060DC50}"/>
              </a:ext>
            </a:extLst>
          </p:cNvPr>
          <p:cNvSpPr txBox="1"/>
          <p:nvPr/>
        </p:nvSpPr>
        <p:spPr>
          <a:xfrm>
            <a:off x="3171031" y="5673739"/>
            <a:ext cx="8455239" cy="923330"/>
          </a:xfrm>
          <a:prstGeom prst="rect">
            <a:avLst/>
          </a:prstGeom>
          <a:noFill/>
        </p:spPr>
        <p:txBody>
          <a:bodyPr wrap="square" rtlCol="0">
            <a:spAutoFit/>
          </a:bodyPr>
          <a:lstStyle/>
          <a:p>
            <a:r>
              <a:rPr lang="en-US" i="1" dirty="0">
                <a:solidFill>
                  <a:schemeClr val="tx2"/>
                </a:solidFill>
                <a:latin typeface="Calibri" panose="020F0502020204030204" pitchFamily="34" charset="0"/>
                <a:cs typeface="Calibri" panose="020F0502020204030204" pitchFamily="34" charset="0"/>
              </a:rPr>
              <a:t>”The views, opinions and findings contained in this report are those of the author(s) and should not be construed as an official Department of the Army position, policy or decision, unless so designated by other official documentation.” </a:t>
            </a:r>
          </a:p>
        </p:txBody>
      </p:sp>
      <p:pic>
        <p:nvPicPr>
          <p:cNvPr id="4" name="Picture 3">
            <a:extLst>
              <a:ext uri="{FF2B5EF4-FFF2-40B4-BE49-F238E27FC236}">
                <a16:creationId xmlns:a16="http://schemas.microsoft.com/office/drawing/2014/main" id="{0053925B-1794-5899-2471-4F916C9C11C3}"/>
              </a:ext>
            </a:extLst>
          </p:cNvPr>
          <p:cNvPicPr>
            <a:picLocks noChangeAspect="1"/>
          </p:cNvPicPr>
          <p:nvPr/>
        </p:nvPicPr>
        <p:blipFill>
          <a:blip r:embed="rId3"/>
          <a:stretch>
            <a:fillRect/>
          </a:stretch>
        </p:blipFill>
        <p:spPr>
          <a:xfrm>
            <a:off x="9098547" y="3546336"/>
            <a:ext cx="2920920" cy="2136731"/>
          </a:xfrm>
          <a:prstGeom prst="rect">
            <a:avLst/>
          </a:prstGeom>
        </p:spPr>
      </p:pic>
      <p:pic>
        <p:nvPicPr>
          <p:cNvPr id="3" name="Picture 2">
            <a:extLst>
              <a:ext uri="{FF2B5EF4-FFF2-40B4-BE49-F238E27FC236}">
                <a16:creationId xmlns:a16="http://schemas.microsoft.com/office/drawing/2014/main" id="{759E9E5D-17B8-208D-797F-AEAC89AB6855}"/>
              </a:ext>
            </a:extLst>
          </p:cNvPr>
          <p:cNvPicPr>
            <a:picLocks noChangeAspect="1"/>
          </p:cNvPicPr>
          <p:nvPr/>
        </p:nvPicPr>
        <p:blipFill>
          <a:blip r:embed="rId4"/>
          <a:stretch>
            <a:fillRect/>
          </a:stretch>
        </p:blipFill>
        <p:spPr>
          <a:xfrm>
            <a:off x="5686055" y="2022278"/>
            <a:ext cx="3343466" cy="2007855"/>
          </a:xfrm>
          <a:prstGeom prst="rect">
            <a:avLst/>
          </a:prstGeom>
        </p:spPr>
      </p:pic>
    </p:spTree>
    <p:extLst>
      <p:ext uri="{BB962C8B-B14F-4D97-AF65-F5344CB8AC3E}">
        <p14:creationId xmlns:p14="http://schemas.microsoft.com/office/powerpoint/2010/main" val="1948773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B2FFB12-F0B1-D636-2570-CEAB1E6C6D95}"/>
              </a:ext>
            </a:extLst>
          </p:cNvPr>
          <p:cNvSpPr>
            <a:spLocks noGrp="1"/>
          </p:cNvSpPr>
          <p:nvPr>
            <p:ph type="title"/>
          </p:nvPr>
        </p:nvSpPr>
        <p:spPr/>
        <p:txBody>
          <a:bodyPr/>
          <a:lstStyle/>
          <a:p>
            <a:pPr algn="ctr"/>
            <a:r>
              <a:rPr lang="en-US" dirty="0"/>
              <a:t>ADMINISTRATIVE ANNOUNCEMENTS</a:t>
            </a:r>
          </a:p>
        </p:txBody>
      </p:sp>
      <p:sp>
        <p:nvSpPr>
          <p:cNvPr id="9" name="Content Placeholder 7">
            <a:extLst>
              <a:ext uri="{FF2B5EF4-FFF2-40B4-BE49-F238E27FC236}">
                <a16:creationId xmlns:a16="http://schemas.microsoft.com/office/drawing/2014/main" id="{452942C3-6760-0073-E771-012EFCD6DD2C}"/>
              </a:ext>
            </a:extLst>
          </p:cNvPr>
          <p:cNvSpPr>
            <a:spLocks noGrp="1"/>
          </p:cNvSpPr>
          <p:nvPr>
            <p:ph sz="quarter" idx="10"/>
          </p:nvPr>
        </p:nvSpPr>
        <p:spPr>
          <a:xfrm>
            <a:off x="266700" y="1266738"/>
            <a:ext cx="11658600" cy="5362662"/>
          </a:xfrm>
        </p:spPr>
        <p:txBody>
          <a:bodyPr/>
          <a:lstStyle/>
          <a:p>
            <a:pPr marL="342900" indent="-342900">
              <a:buFont typeface="Arial" panose="020B0604020202020204" pitchFamily="34" charset="0"/>
              <a:buChar char="•"/>
            </a:pPr>
            <a:r>
              <a:rPr lang="en-US" sz="2800" dirty="0">
                <a:solidFill>
                  <a:schemeClr val="tx1"/>
                </a:solidFill>
                <a:latin typeface="Calibri" panose="020F0502020204030204" pitchFamily="34" charset="0"/>
                <a:cs typeface="Calibri" panose="020F0502020204030204" pitchFamily="34" charset="0"/>
              </a:rPr>
              <a:t>Please ensure that you have signed in </a:t>
            </a:r>
            <a:r>
              <a:rPr lang="en-US" sz="2500" dirty="0">
                <a:solidFill>
                  <a:schemeClr val="tx1"/>
                </a:solidFill>
                <a:latin typeface="Calibri" panose="020F0502020204030204" pitchFamily="34" charset="0"/>
                <a:cs typeface="Calibri" panose="020F0502020204030204" pitchFamily="34" charset="0"/>
              </a:rPr>
              <a:t>(</a:t>
            </a:r>
            <a:r>
              <a:rPr lang="en-US" sz="2500" dirty="0"/>
              <a:t>Send in chat for remote participants)</a:t>
            </a:r>
            <a:endParaRPr lang="en-US" sz="2500" dirty="0">
              <a:solidFill>
                <a:schemeClr val="tx1"/>
              </a:solidFill>
              <a:latin typeface="Calibri" panose="020F0502020204030204" pitchFamily="34" charset="0"/>
              <a:cs typeface="Calibri" panose="020F0502020204030204" pitchFamily="34" charset="0"/>
            </a:endParaRPr>
          </a:p>
          <a:p>
            <a:pPr marL="742950" lvl="1" indent="-285750">
              <a:spcBef>
                <a:spcPts val="0"/>
              </a:spcBef>
              <a:buFont typeface="Arial" panose="020B0604020202020204" pitchFamily="34" charset="0"/>
              <a:buChar char="•"/>
            </a:pPr>
            <a:r>
              <a:rPr lang="en-US" sz="2800" dirty="0">
                <a:latin typeface="Calibri" panose="020F0502020204030204" pitchFamily="34" charset="0"/>
                <a:cs typeface="Calibri" panose="020F0502020204030204" pitchFamily="34" charset="0"/>
              </a:rPr>
              <a:t>Company Name, POC Name, Email, Phone</a:t>
            </a:r>
          </a:p>
          <a:p>
            <a:pPr marL="742950" lvl="1" indent="-285750">
              <a:spcBef>
                <a:spcPts val="0"/>
              </a:spcBef>
              <a:buFont typeface="Arial" panose="020B0604020202020204" pitchFamily="34" charset="0"/>
              <a:buChar char="•"/>
            </a:pPr>
            <a:r>
              <a:rPr lang="en-US" sz="2800" dirty="0">
                <a:latin typeface="Calibri" panose="020F0502020204030204" pitchFamily="34" charset="0"/>
                <a:cs typeface="Calibri" panose="020F0502020204030204" pitchFamily="34" charset="0"/>
              </a:rPr>
              <a:t>Are you interested in being the Prime or Subcontractor</a:t>
            </a:r>
          </a:p>
          <a:p>
            <a:pPr marL="742950" lvl="1" indent="-285750">
              <a:spcBef>
                <a:spcPts val="0"/>
              </a:spcBef>
              <a:spcAft>
                <a:spcPts val="600"/>
              </a:spcAft>
              <a:buFont typeface="Arial" panose="020B0604020202020204" pitchFamily="34" charset="0"/>
              <a:buChar char="•"/>
            </a:pPr>
            <a:r>
              <a:rPr lang="en-US" sz="2800" dirty="0">
                <a:latin typeface="Calibri" panose="020F0502020204030204" pitchFamily="34" charset="0"/>
                <a:cs typeface="Calibri" panose="020F0502020204030204" pitchFamily="34" charset="0"/>
              </a:rPr>
              <a:t>If you’re interested in being a subcontractor, state the type of work you are interested (Electrical, Mechanical, Roofing, etc.)</a:t>
            </a:r>
          </a:p>
          <a:p>
            <a:pPr marL="342900" indent="-342900">
              <a:spcAft>
                <a:spcPts val="600"/>
              </a:spcAft>
              <a:buFont typeface="Arial" panose="020B0604020202020204" pitchFamily="34" charset="0"/>
              <a:buChar char="•"/>
            </a:pPr>
            <a:r>
              <a:rPr lang="en-US" sz="2800" dirty="0">
                <a:solidFill>
                  <a:schemeClr val="tx1"/>
                </a:solidFill>
                <a:latin typeface="Calibri" panose="020F0502020204030204" pitchFamily="34" charset="0"/>
                <a:cs typeface="Calibri" panose="020F0502020204030204" pitchFamily="34" charset="0"/>
              </a:rPr>
              <a:t>Please turn off all mobile devices</a:t>
            </a:r>
          </a:p>
          <a:p>
            <a:pPr marL="342900" indent="-342900">
              <a:spcAft>
                <a:spcPts val="600"/>
              </a:spcAft>
              <a:buFont typeface="Arial" panose="020B0604020202020204" pitchFamily="34" charset="0"/>
              <a:buChar char="•"/>
            </a:pPr>
            <a:r>
              <a:rPr lang="en-US" sz="2800" dirty="0">
                <a:solidFill>
                  <a:schemeClr val="tx1"/>
                </a:solidFill>
                <a:latin typeface="Calibri" panose="020F0502020204030204" pitchFamily="34" charset="0"/>
                <a:cs typeface="Calibri" panose="020F0502020204030204" pitchFamily="34" charset="0"/>
              </a:rPr>
              <a:t>No recording</a:t>
            </a:r>
          </a:p>
          <a:p>
            <a:pPr marL="342900" indent="-342900">
              <a:spcAft>
                <a:spcPts val="600"/>
              </a:spcAft>
              <a:buFont typeface="Arial" panose="020B0604020202020204" pitchFamily="34" charset="0"/>
              <a:buChar char="•"/>
            </a:pPr>
            <a:r>
              <a:rPr lang="en-US" sz="2800" dirty="0">
                <a:solidFill>
                  <a:schemeClr val="tx1"/>
                </a:solidFill>
                <a:latin typeface="Calibri" panose="020F0502020204030204" pitchFamily="34" charset="0"/>
                <a:cs typeface="Calibri" panose="020F0502020204030204" pitchFamily="34" charset="0"/>
              </a:rPr>
              <a:t>This briefing and the attendee roster will be posted to SAM</a:t>
            </a:r>
          </a:p>
          <a:p>
            <a:pPr marL="342900" indent="-342900">
              <a:spcAft>
                <a:spcPts val="600"/>
              </a:spcAft>
              <a:buFont typeface="Arial" panose="020B0604020202020204" pitchFamily="34" charset="0"/>
              <a:buChar char="•"/>
            </a:pPr>
            <a:r>
              <a:rPr lang="en-US" sz="2800" dirty="0">
                <a:solidFill>
                  <a:schemeClr val="tx1"/>
                </a:solidFill>
                <a:latin typeface="Calibri" panose="020F0502020204030204" pitchFamily="34" charset="0"/>
                <a:cs typeface="Calibri" panose="020F0502020204030204" pitchFamily="34" charset="0"/>
              </a:rPr>
              <a:t>Please be advised that none of the information discussed today is contractually-binding</a:t>
            </a:r>
          </a:p>
        </p:txBody>
      </p:sp>
    </p:spTree>
    <p:extLst>
      <p:ext uri="{BB962C8B-B14F-4D97-AF65-F5344CB8AC3E}">
        <p14:creationId xmlns:p14="http://schemas.microsoft.com/office/powerpoint/2010/main" val="3632363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65A3E20-D1B8-CBEA-C29C-3EA815A38389}"/>
              </a:ext>
            </a:extLst>
          </p:cNvPr>
          <p:cNvSpPr>
            <a:spLocks noGrp="1"/>
          </p:cNvSpPr>
          <p:nvPr>
            <p:ph sz="quarter" idx="10"/>
          </p:nvPr>
        </p:nvSpPr>
        <p:spPr/>
        <p:txBody>
          <a:bodyPr/>
          <a:lstStyle/>
          <a:p>
            <a:pPr marL="342900" indent="-342900">
              <a:buFont typeface="Arial" panose="020B0604020202020204" pitchFamily="34" charset="0"/>
              <a:buChar char="•"/>
            </a:pPr>
            <a:endParaRPr lang="en-US" dirty="0">
              <a:solidFill>
                <a:schemeClr val="tx1"/>
              </a:solidFill>
            </a:endParaRPr>
          </a:p>
          <a:p>
            <a:pPr marL="342900" indent="-342900">
              <a:buFont typeface="Arial" panose="020B0604020202020204" pitchFamily="34" charset="0"/>
              <a:buChar char="•"/>
            </a:pPr>
            <a:r>
              <a:rPr lang="en-US" sz="2800" dirty="0">
                <a:solidFill>
                  <a:schemeClr val="tx1"/>
                </a:solidFill>
                <a:latin typeface="Calibri" panose="020F0502020204030204" pitchFamily="34" charset="0"/>
                <a:cs typeface="Calibri" panose="020F0502020204030204" pitchFamily="34" charset="0"/>
              </a:rPr>
              <a:t>Introduction of Team Members</a:t>
            </a:r>
          </a:p>
          <a:p>
            <a:endParaRPr lang="en-US" sz="2800" dirty="0">
              <a:solidFill>
                <a:schemeClr val="tx1"/>
              </a:solidFill>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800" dirty="0">
                <a:solidFill>
                  <a:schemeClr val="tx1"/>
                </a:solidFill>
                <a:latin typeface="Calibri" panose="020F0502020204030204" pitchFamily="34" charset="0"/>
                <a:cs typeface="Calibri" panose="020F0502020204030204" pitchFamily="34" charset="0"/>
              </a:rPr>
              <a:t>Army Reserve Overview</a:t>
            </a:r>
          </a:p>
          <a:p>
            <a:pPr marL="342900" indent="-342900">
              <a:buFont typeface="Arial" panose="020B0604020202020204" pitchFamily="34" charset="0"/>
              <a:buChar char="•"/>
            </a:pPr>
            <a:endParaRPr lang="en-US" sz="2800" dirty="0">
              <a:solidFill>
                <a:schemeClr val="tx1"/>
              </a:solidFill>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800" dirty="0">
                <a:solidFill>
                  <a:schemeClr val="tx1"/>
                </a:solidFill>
                <a:latin typeface="Calibri" panose="020F0502020204030204" pitchFamily="34" charset="0"/>
                <a:cs typeface="Calibri" panose="020F0502020204030204" pitchFamily="34" charset="0"/>
              </a:rPr>
              <a:t>USACE Procurement Process Overview</a:t>
            </a:r>
          </a:p>
          <a:p>
            <a:endParaRPr lang="en-US" sz="2800" dirty="0">
              <a:solidFill>
                <a:schemeClr val="tx1"/>
              </a:solidFill>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800" dirty="0">
                <a:solidFill>
                  <a:schemeClr val="tx1"/>
                </a:solidFill>
                <a:latin typeface="Calibri" panose="020F0502020204030204" pitchFamily="34" charset="0"/>
                <a:cs typeface="Calibri" panose="020F0502020204030204" pitchFamily="34" charset="0"/>
              </a:rPr>
              <a:t>Overview of the New Cumberland ARC Project</a:t>
            </a:r>
          </a:p>
          <a:p>
            <a:pPr marL="342900" indent="-342900">
              <a:buFont typeface="Arial" panose="020B0604020202020204" pitchFamily="34" charset="0"/>
              <a:buChar char="•"/>
            </a:pPr>
            <a:endParaRPr lang="en-US" sz="2800" dirty="0">
              <a:solidFill>
                <a:schemeClr val="tx1"/>
              </a:solidFill>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800" dirty="0">
                <a:solidFill>
                  <a:schemeClr val="tx1"/>
                </a:solidFill>
                <a:latin typeface="Calibri" panose="020F0502020204030204" pitchFamily="34" charset="0"/>
                <a:cs typeface="Calibri" panose="020F0502020204030204" pitchFamily="34" charset="0"/>
              </a:rPr>
              <a:t>Overview of the Newtown Square ARC Project</a:t>
            </a:r>
          </a:p>
          <a:p>
            <a:endParaRPr lang="en-US" sz="2800" dirty="0">
              <a:solidFill>
                <a:schemeClr val="tx1"/>
              </a:solidFill>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800" dirty="0">
                <a:solidFill>
                  <a:schemeClr val="tx1"/>
                </a:solidFill>
                <a:latin typeface="Calibri" panose="020F0502020204030204" pitchFamily="34" charset="0"/>
                <a:cs typeface="Calibri" panose="020F0502020204030204" pitchFamily="34" charset="0"/>
              </a:rPr>
              <a:t>Q&amp;A Session</a:t>
            </a:r>
          </a:p>
          <a:p>
            <a:endParaRPr lang="en-US" dirty="0"/>
          </a:p>
        </p:txBody>
      </p:sp>
      <p:sp>
        <p:nvSpPr>
          <p:cNvPr id="4" name="Title 3">
            <a:extLst>
              <a:ext uri="{FF2B5EF4-FFF2-40B4-BE49-F238E27FC236}">
                <a16:creationId xmlns:a16="http://schemas.microsoft.com/office/drawing/2014/main" id="{B5CE5AF1-1450-418A-9D16-190CA8015676}"/>
              </a:ext>
            </a:extLst>
          </p:cNvPr>
          <p:cNvSpPr>
            <a:spLocks noGrp="1"/>
          </p:cNvSpPr>
          <p:nvPr>
            <p:ph type="title"/>
          </p:nvPr>
        </p:nvSpPr>
        <p:spPr/>
        <p:txBody>
          <a:bodyPr/>
          <a:lstStyle/>
          <a:p>
            <a:pPr algn="ctr"/>
            <a:r>
              <a:rPr lang="en-US" sz="3200" dirty="0">
                <a:solidFill>
                  <a:schemeClr val="tx1"/>
                </a:solidFill>
              </a:rPr>
              <a:t>AGENDA</a:t>
            </a:r>
            <a:endParaRPr lang="en-US" dirty="0"/>
          </a:p>
        </p:txBody>
      </p:sp>
    </p:spTree>
    <p:extLst>
      <p:ext uri="{BB962C8B-B14F-4D97-AF65-F5344CB8AC3E}">
        <p14:creationId xmlns:p14="http://schemas.microsoft.com/office/powerpoint/2010/main" val="2657977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A0DB522-41F8-04CF-CACE-8047203C6443}"/>
              </a:ext>
            </a:extLst>
          </p:cNvPr>
          <p:cNvSpPr>
            <a:spLocks noGrp="1"/>
          </p:cNvSpPr>
          <p:nvPr>
            <p:ph type="title"/>
          </p:nvPr>
        </p:nvSpPr>
        <p:spPr>
          <a:xfrm>
            <a:off x="902593" y="406072"/>
            <a:ext cx="10386814" cy="832920"/>
          </a:xfrm>
        </p:spPr>
        <p:txBody>
          <a:bodyPr/>
          <a:lstStyle/>
          <a:p>
            <a:pPr algn="ctr"/>
            <a:r>
              <a:rPr lang="en-US" sz="3200" dirty="0">
                <a:solidFill>
                  <a:schemeClr val="tx1"/>
                </a:solidFill>
              </a:rPr>
              <a:t>US Army Reserve OVERVIEW</a:t>
            </a:r>
            <a:endParaRPr lang="en-US" dirty="0"/>
          </a:p>
        </p:txBody>
      </p:sp>
      <p:sp>
        <p:nvSpPr>
          <p:cNvPr id="8" name="Content Placeholder 7">
            <a:extLst>
              <a:ext uri="{FF2B5EF4-FFF2-40B4-BE49-F238E27FC236}">
                <a16:creationId xmlns:a16="http://schemas.microsoft.com/office/drawing/2014/main" id="{B646B137-090B-E8AE-BB6E-88BDA8E89A9F}"/>
              </a:ext>
            </a:extLst>
          </p:cNvPr>
          <p:cNvSpPr>
            <a:spLocks noGrp="1"/>
          </p:cNvSpPr>
          <p:nvPr>
            <p:ph sz="quarter" idx="10"/>
          </p:nvPr>
        </p:nvSpPr>
        <p:spPr/>
        <p:txBody>
          <a:bodyPr/>
          <a:lstStyle/>
          <a:p>
            <a:pPr algn="ctr"/>
            <a:endParaRPr lang="en-US" dirty="0"/>
          </a:p>
          <a:p>
            <a:pPr algn="ctr"/>
            <a:endParaRPr lang="en-US" dirty="0"/>
          </a:p>
          <a:p>
            <a:pPr algn="ctr"/>
            <a:endParaRPr lang="en-US" dirty="0"/>
          </a:p>
          <a:p>
            <a:pPr algn="ctr"/>
            <a:endParaRPr lang="en-US" dirty="0"/>
          </a:p>
          <a:p>
            <a:pPr algn="ctr"/>
            <a:endParaRPr lang="en-US" dirty="0"/>
          </a:p>
          <a:p>
            <a:pPr algn="ctr"/>
            <a:r>
              <a:rPr lang="en-US" sz="2800" b="1" dirty="0">
                <a:latin typeface="Calibri" panose="020F0502020204030204" pitchFamily="34" charset="0"/>
                <a:cs typeface="Calibri" panose="020F0502020204030204" pitchFamily="34" charset="0"/>
              </a:rPr>
              <a:t>Jonathan A. Cowen</a:t>
            </a:r>
          </a:p>
          <a:p>
            <a:pPr algn="ctr"/>
            <a:r>
              <a:rPr lang="en-US" sz="2800" dirty="0">
                <a:latin typeface="Calibri" panose="020F0502020204030204" pitchFamily="34" charset="0"/>
                <a:cs typeface="Calibri" panose="020F0502020204030204" pitchFamily="34" charset="0"/>
              </a:rPr>
              <a:t>Program Manager </a:t>
            </a:r>
          </a:p>
          <a:p>
            <a:pPr algn="ctr"/>
            <a:r>
              <a:rPr lang="en-US" sz="2800" dirty="0">
                <a:latin typeface="Calibri" panose="020F0502020204030204" pitchFamily="34" charset="0"/>
                <a:cs typeface="Calibri" panose="020F0502020204030204" pitchFamily="34" charset="0"/>
              </a:rPr>
              <a:t>U.S. Army Corps of Engineers</a:t>
            </a:r>
          </a:p>
          <a:p>
            <a:pPr algn="ctr"/>
            <a:r>
              <a:rPr lang="en-US" sz="2800" dirty="0">
                <a:latin typeface="Calibri" panose="020F0502020204030204" pitchFamily="34" charset="0"/>
                <a:cs typeface="Calibri" panose="020F0502020204030204" pitchFamily="34" charset="0"/>
              </a:rPr>
              <a:t>Louisville District</a:t>
            </a:r>
          </a:p>
        </p:txBody>
      </p:sp>
    </p:spTree>
    <p:extLst>
      <p:ext uri="{BB962C8B-B14F-4D97-AF65-F5344CB8AC3E}">
        <p14:creationId xmlns:p14="http://schemas.microsoft.com/office/powerpoint/2010/main" val="905317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1" name="Text Box 8"/>
          <p:cNvSpPr txBox="1">
            <a:spLocks noChangeArrowheads="1"/>
          </p:cNvSpPr>
          <p:nvPr/>
        </p:nvSpPr>
        <p:spPr bwMode="auto">
          <a:xfrm>
            <a:off x="2838450" y="2043114"/>
            <a:ext cx="1771650" cy="276999"/>
          </a:xfrm>
          <a:prstGeom prst="rect">
            <a:avLst/>
          </a:prstGeom>
          <a:noFill/>
          <a:ln w="9525" algn="ctr">
            <a:noFill/>
            <a:miter lim="800000"/>
            <a:headEnd/>
            <a:tailEnd/>
          </a:ln>
        </p:spPr>
        <p:txBody>
          <a:bodyPr>
            <a:spAutoFit/>
          </a:bodyPr>
          <a:lstStyle/>
          <a:p>
            <a:pPr algn="ctr" eaLnBrk="1" hangingPunct="1">
              <a:spcBef>
                <a:spcPct val="50000"/>
              </a:spcBef>
            </a:pPr>
            <a:endParaRPr lang="en-US" sz="1200" dirty="0">
              <a:solidFill>
                <a:srgbClr val="000000"/>
              </a:solidFill>
              <a:latin typeface="Arial" charset="0"/>
            </a:endParaRPr>
          </a:p>
        </p:txBody>
      </p:sp>
      <p:sp>
        <p:nvSpPr>
          <p:cNvPr id="8" name="Title 1"/>
          <p:cNvSpPr>
            <a:spLocks noGrp="1"/>
          </p:cNvSpPr>
          <p:nvPr>
            <p:ph type="title"/>
          </p:nvPr>
        </p:nvSpPr>
        <p:spPr>
          <a:xfrm>
            <a:off x="940153" y="145578"/>
            <a:ext cx="10185088" cy="785419"/>
          </a:xfrm>
        </p:spPr>
        <p:txBody>
          <a:bodyPr/>
          <a:lstStyle/>
          <a:p>
            <a:pPr algn="ctr"/>
            <a:r>
              <a:rPr lang="en-US" sz="2800" dirty="0"/>
              <a:t>Army reserve program</a:t>
            </a:r>
          </a:p>
        </p:txBody>
      </p:sp>
      <p:grpSp>
        <p:nvGrpSpPr>
          <p:cNvPr id="5" name="Group 4">
            <a:extLst>
              <a:ext uri="{FF2B5EF4-FFF2-40B4-BE49-F238E27FC236}">
                <a16:creationId xmlns:a16="http://schemas.microsoft.com/office/drawing/2014/main" id="{4027A8A0-36C8-42AE-91F7-11329BD212A6}"/>
              </a:ext>
            </a:extLst>
          </p:cNvPr>
          <p:cNvGrpSpPr/>
          <p:nvPr/>
        </p:nvGrpSpPr>
        <p:grpSpPr>
          <a:xfrm>
            <a:off x="940375" y="906492"/>
            <a:ext cx="10311472" cy="5805930"/>
            <a:chOff x="940184" y="917727"/>
            <a:chExt cx="10311472" cy="5805930"/>
          </a:xfrm>
        </p:grpSpPr>
        <p:grpSp>
          <p:nvGrpSpPr>
            <p:cNvPr id="146" name="Group 145">
              <a:extLst>
                <a:ext uri="{FF2B5EF4-FFF2-40B4-BE49-F238E27FC236}">
                  <a16:creationId xmlns:a16="http://schemas.microsoft.com/office/drawing/2014/main" id="{C7AE934F-5AB0-43F0-A1C9-E33BFD8B8D37}"/>
                </a:ext>
              </a:extLst>
            </p:cNvPr>
            <p:cNvGrpSpPr/>
            <p:nvPr/>
          </p:nvGrpSpPr>
          <p:grpSpPr>
            <a:xfrm>
              <a:off x="940184" y="917727"/>
              <a:ext cx="10311472" cy="5805930"/>
              <a:chOff x="190500" y="1430896"/>
              <a:chExt cx="8977920" cy="5185931"/>
            </a:xfrm>
          </p:grpSpPr>
          <p:sp>
            <p:nvSpPr>
              <p:cNvPr id="147" name="object 52">
                <a:extLst>
                  <a:ext uri="{FF2B5EF4-FFF2-40B4-BE49-F238E27FC236}">
                    <a16:creationId xmlns:a16="http://schemas.microsoft.com/office/drawing/2014/main" id="{FD9BCF6A-344D-4499-8B44-EFE76C508978}"/>
                  </a:ext>
                </a:extLst>
              </p:cNvPr>
              <p:cNvSpPr txBox="1"/>
              <p:nvPr/>
            </p:nvSpPr>
            <p:spPr>
              <a:xfrm>
                <a:off x="5370829" y="1430896"/>
                <a:ext cx="1862139" cy="382156"/>
              </a:xfrm>
              <a:prstGeom prst="rect">
                <a:avLst/>
              </a:prstGeom>
            </p:spPr>
            <p:txBody>
              <a:bodyPr vert="horz" wrap="square" lIns="0" tIns="12700" rIns="0" bIns="0" rtlCol="0">
                <a:spAutoFit/>
              </a:bodyPr>
              <a:lstStyle/>
              <a:p>
                <a:pPr marL="38100">
                  <a:lnSpc>
                    <a:spcPct val="100000"/>
                  </a:lnSpc>
                  <a:spcBef>
                    <a:spcPts val="100"/>
                  </a:spcBef>
                </a:pPr>
                <a:r>
                  <a:rPr sz="1200" b="1" dirty="0">
                    <a:solidFill>
                      <a:schemeClr val="tx1"/>
                    </a:solidFill>
                    <a:latin typeface="Arial"/>
                    <a:cs typeface="Arial"/>
                  </a:rPr>
                  <a:t>88</a:t>
                </a:r>
                <a:r>
                  <a:rPr sz="1200" b="1" baseline="24305" dirty="0">
                    <a:solidFill>
                      <a:schemeClr val="tx1"/>
                    </a:solidFill>
                    <a:latin typeface="Arial"/>
                    <a:cs typeface="Arial"/>
                  </a:rPr>
                  <a:t>th</a:t>
                </a:r>
                <a:r>
                  <a:rPr sz="1200" b="1" spc="82" baseline="24305" dirty="0">
                    <a:solidFill>
                      <a:schemeClr val="tx1"/>
                    </a:solidFill>
                    <a:latin typeface="Arial"/>
                    <a:cs typeface="Arial"/>
                  </a:rPr>
                  <a:t> </a:t>
                </a:r>
                <a:r>
                  <a:rPr sz="1200" b="1" spc="-25" dirty="0">
                    <a:solidFill>
                      <a:schemeClr val="tx1"/>
                    </a:solidFill>
                    <a:latin typeface="Arial"/>
                    <a:cs typeface="Arial"/>
                  </a:rPr>
                  <a:t>R</a:t>
                </a:r>
                <a:r>
                  <a:rPr lang="en-US" sz="1200" b="1" spc="-25" dirty="0">
                    <a:solidFill>
                      <a:schemeClr val="tx1"/>
                    </a:solidFill>
                    <a:latin typeface="Arial"/>
                    <a:cs typeface="Arial"/>
                  </a:rPr>
                  <a:t>eadiness Division</a:t>
                </a:r>
                <a:endParaRPr sz="1200" dirty="0">
                  <a:solidFill>
                    <a:schemeClr val="tx1"/>
                  </a:solidFill>
                  <a:latin typeface="Arial"/>
                  <a:cs typeface="Arial"/>
                </a:endParaRPr>
              </a:p>
              <a:p>
                <a:pPr marL="38100">
                  <a:lnSpc>
                    <a:spcPct val="100000"/>
                  </a:lnSpc>
                </a:pPr>
                <a:r>
                  <a:rPr sz="1200" b="1" dirty="0">
                    <a:solidFill>
                      <a:schemeClr val="tx1"/>
                    </a:solidFill>
                    <a:latin typeface="Arial"/>
                    <a:cs typeface="Arial"/>
                  </a:rPr>
                  <a:t>Ft</a:t>
                </a:r>
                <a:r>
                  <a:rPr sz="1200" b="1" spc="-50" dirty="0">
                    <a:solidFill>
                      <a:schemeClr val="tx1"/>
                    </a:solidFill>
                    <a:latin typeface="Arial"/>
                    <a:cs typeface="Arial"/>
                  </a:rPr>
                  <a:t> </a:t>
                </a:r>
                <a:r>
                  <a:rPr sz="1200" b="1" spc="-10" dirty="0">
                    <a:solidFill>
                      <a:schemeClr val="tx1"/>
                    </a:solidFill>
                    <a:latin typeface="Arial"/>
                    <a:cs typeface="Arial"/>
                  </a:rPr>
                  <a:t>McCoy,</a:t>
                </a:r>
                <a:r>
                  <a:rPr sz="1200" b="1" spc="-20" dirty="0">
                    <a:solidFill>
                      <a:schemeClr val="tx1"/>
                    </a:solidFill>
                    <a:latin typeface="Arial"/>
                    <a:cs typeface="Arial"/>
                  </a:rPr>
                  <a:t> </a:t>
                </a:r>
                <a:r>
                  <a:rPr sz="1200" b="1" spc="-25" dirty="0">
                    <a:solidFill>
                      <a:schemeClr val="tx1"/>
                    </a:solidFill>
                    <a:latin typeface="Arial"/>
                    <a:cs typeface="Arial"/>
                  </a:rPr>
                  <a:t>WI</a:t>
                </a:r>
                <a:endParaRPr sz="1200" dirty="0">
                  <a:solidFill>
                    <a:schemeClr val="tx1"/>
                  </a:solidFill>
                  <a:latin typeface="Arial"/>
                  <a:cs typeface="Arial"/>
                </a:endParaRPr>
              </a:p>
            </p:txBody>
          </p:sp>
          <p:pic>
            <p:nvPicPr>
              <p:cNvPr id="148" name="object 3">
                <a:extLst>
                  <a:ext uri="{FF2B5EF4-FFF2-40B4-BE49-F238E27FC236}">
                    <a16:creationId xmlns:a16="http://schemas.microsoft.com/office/drawing/2014/main" id="{75E7F259-3AAE-42A9-AA70-84530A45F644}"/>
                  </a:ext>
                </a:extLst>
              </p:cNvPr>
              <p:cNvPicPr/>
              <p:nvPr/>
            </p:nvPicPr>
            <p:blipFill>
              <a:blip r:embed="rId3" cstate="print"/>
              <a:stretch>
                <a:fillRect/>
              </a:stretch>
            </p:blipFill>
            <p:spPr>
              <a:xfrm>
                <a:off x="901704" y="1814571"/>
                <a:ext cx="6691379" cy="4278214"/>
              </a:xfrm>
              <a:prstGeom prst="rect">
                <a:avLst/>
              </a:prstGeom>
            </p:spPr>
          </p:pic>
          <p:sp>
            <p:nvSpPr>
              <p:cNvPr id="149" name="object 4">
                <a:extLst>
                  <a:ext uri="{FF2B5EF4-FFF2-40B4-BE49-F238E27FC236}">
                    <a16:creationId xmlns:a16="http://schemas.microsoft.com/office/drawing/2014/main" id="{21A3A717-2369-40E1-8CC8-093E67B453A4}"/>
                  </a:ext>
                </a:extLst>
              </p:cNvPr>
              <p:cNvSpPr txBox="1"/>
              <p:nvPr/>
            </p:nvSpPr>
            <p:spPr>
              <a:xfrm>
                <a:off x="1196975" y="4155193"/>
                <a:ext cx="511175" cy="151323"/>
              </a:xfrm>
              <a:prstGeom prst="rect">
                <a:avLst/>
              </a:prstGeom>
            </p:spPr>
            <p:txBody>
              <a:bodyPr vert="horz" wrap="square" lIns="0" tIns="12700" rIns="0" bIns="0" rtlCol="0">
                <a:spAutoFit/>
              </a:bodyPr>
              <a:lstStyle/>
              <a:p>
                <a:pPr marL="12700">
                  <a:lnSpc>
                    <a:spcPct val="100000"/>
                  </a:lnSpc>
                  <a:spcBef>
                    <a:spcPts val="100"/>
                  </a:spcBef>
                </a:pPr>
                <a:r>
                  <a:rPr sz="900" spc="-10" dirty="0">
                    <a:solidFill>
                      <a:schemeClr val="tx1"/>
                    </a:solidFill>
                    <a:latin typeface="Arial"/>
                    <a:cs typeface="Arial"/>
                  </a:rPr>
                  <a:t>California</a:t>
                </a:r>
                <a:endParaRPr sz="900">
                  <a:solidFill>
                    <a:schemeClr val="tx1"/>
                  </a:solidFill>
                  <a:latin typeface="Arial"/>
                  <a:cs typeface="Arial"/>
                </a:endParaRPr>
              </a:p>
            </p:txBody>
          </p:sp>
          <p:sp>
            <p:nvSpPr>
              <p:cNvPr id="150" name="object 5">
                <a:extLst>
                  <a:ext uri="{FF2B5EF4-FFF2-40B4-BE49-F238E27FC236}">
                    <a16:creationId xmlns:a16="http://schemas.microsoft.com/office/drawing/2014/main" id="{FC6D314C-D3CF-430E-B861-02AD76EC83BF}"/>
                  </a:ext>
                </a:extLst>
              </p:cNvPr>
              <p:cNvSpPr txBox="1"/>
              <p:nvPr/>
            </p:nvSpPr>
            <p:spPr>
              <a:xfrm>
                <a:off x="1587500" y="3565766"/>
                <a:ext cx="374650" cy="136576"/>
              </a:xfrm>
              <a:prstGeom prst="rect">
                <a:avLst/>
              </a:prstGeom>
            </p:spPr>
            <p:txBody>
              <a:bodyPr vert="horz" wrap="square" lIns="0" tIns="13335" rIns="0" bIns="0" rtlCol="0">
                <a:spAutoFit/>
              </a:bodyPr>
              <a:lstStyle/>
              <a:p>
                <a:pPr marL="12700">
                  <a:lnSpc>
                    <a:spcPct val="100000"/>
                  </a:lnSpc>
                  <a:spcBef>
                    <a:spcPts val="105"/>
                  </a:spcBef>
                </a:pPr>
                <a:r>
                  <a:rPr sz="800" spc="-10" dirty="0">
                    <a:solidFill>
                      <a:schemeClr val="tx1"/>
                    </a:solidFill>
                    <a:latin typeface="Arial"/>
                    <a:cs typeface="Arial"/>
                  </a:rPr>
                  <a:t>Nevada</a:t>
                </a:r>
                <a:endParaRPr sz="800">
                  <a:solidFill>
                    <a:schemeClr val="tx1"/>
                  </a:solidFill>
                  <a:latin typeface="Arial"/>
                  <a:cs typeface="Arial"/>
                </a:endParaRPr>
              </a:p>
            </p:txBody>
          </p:sp>
          <p:sp>
            <p:nvSpPr>
              <p:cNvPr id="151" name="object 6">
                <a:extLst>
                  <a:ext uri="{FF2B5EF4-FFF2-40B4-BE49-F238E27FC236}">
                    <a16:creationId xmlns:a16="http://schemas.microsoft.com/office/drawing/2014/main" id="{A8CF1903-B6BC-40BA-99C2-3F45629D3CA4}"/>
                  </a:ext>
                </a:extLst>
              </p:cNvPr>
              <p:cNvSpPr txBox="1"/>
              <p:nvPr/>
            </p:nvSpPr>
            <p:spPr>
              <a:xfrm>
                <a:off x="2078026" y="4500769"/>
                <a:ext cx="370205" cy="135935"/>
              </a:xfrm>
              <a:prstGeom prst="rect">
                <a:avLst/>
              </a:prstGeom>
            </p:spPr>
            <p:txBody>
              <a:bodyPr vert="horz" wrap="square" lIns="0" tIns="12700" rIns="0" bIns="0" rtlCol="0">
                <a:spAutoFit/>
              </a:bodyPr>
              <a:lstStyle/>
              <a:p>
                <a:pPr marL="12700">
                  <a:lnSpc>
                    <a:spcPct val="100000"/>
                  </a:lnSpc>
                  <a:spcBef>
                    <a:spcPts val="100"/>
                  </a:spcBef>
                </a:pPr>
                <a:r>
                  <a:rPr sz="800" spc="-10" dirty="0">
                    <a:solidFill>
                      <a:schemeClr val="tx1"/>
                    </a:solidFill>
                    <a:latin typeface="Arial"/>
                    <a:cs typeface="Arial"/>
                  </a:rPr>
                  <a:t>Arizona</a:t>
                </a:r>
                <a:endParaRPr sz="800">
                  <a:solidFill>
                    <a:schemeClr val="tx1"/>
                  </a:solidFill>
                  <a:latin typeface="Arial"/>
                  <a:cs typeface="Arial"/>
                </a:endParaRPr>
              </a:p>
            </p:txBody>
          </p:sp>
          <p:sp>
            <p:nvSpPr>
              <p:cNvPr id="152" name="object 7">
                <a:extLst>
                  <a:ext uri="{FF2B5EF4-FFF2-40B4-BE49-F238E27FC236}">
                    <a16:creationId xmlns:a16="http://schemas.microsoft.com/office/drawing/2014/main" id="{C3408EDB-924E-4EA1-A198-FB8B4CA60FB1}"/>
                  </a:ext>
                </a:extLst>
              </p:cNvPr>
              <p:cNvSpPr txBox="1"/>
              <p:nvPr/>
            </p:nvSpPr>
            <p:spPr>
              <a:xfrm>
                <a:off x="2652712" y="4653158"/>
                <a:ext cx="575945" cy="135935"/>
              </a:xfrm>
              <a:prstGeom prst="rect">
                <a:avLst/>
              </a:prstGeom>
            </p:spPr>
            <p:txBody>
              <a:bodyPr vert="horz" wrap="square" lIns="0" tIns="12700" rIns="0" bIns="0" rtlCol="0">
                <a:spAutoFit/>
              </a:bodyPr>
              <a:lstStyle/>
              <a:p>
                <a:pPr marL="12700">
                  <a:lnSpc>
                    <a:spcPct val="100000"/>
                  </a:lnSpc>
                  <a:spcBef>
                    <a:spcPts val="100"/>
                  </a:spcBef>
                </a:pPr>
                <a:r>
                  <a:rPr sz="800" dirty="0">
                    <a:solidFill>
                      <a:schemeClr val="tx1"/>
                    </a:solidFill>
                    <a:latin typeface="Arial"/>
                    <a:cs typeface="Arial"/>
                  </a:rPr>
                  <a:t>New</a:t>
                </a:r>
                <a:r>
                  <a:rPr sz="800" spc="-35" dirty="0">
                    <a:solidFill>
                      <a:schemeClr val="tx1"/>
                    </a:solidFill>
                    <a:latin typeface="Arial"/>
                    <a:cs typeface="Arial"/>
                  </a:rPr>
                  <a:t> </a:t>
                </a:r>
                <a:r>
                  <a:rPr sz="800" spc="-10" dirty="0">
                    <a:solidFill>
                      <a:schemeClr val="tx1"/>
                    </a:solidFill>
                    <a:latin typeface="Arial"/>
                    <a:cs typeface="Arial"/>
                  </a:rPr>
                  <a:t>Mexico</a:t>
                </a:r>
                <a:endParaRPr sz="800">
                  <a:solidFill>
                    <a:schemeClr val="tx1"/>
                  </a:solidFill>
                  <a:latin typeface="Arial"/>
                  <a:cs typeface="Arial"/>
                </a:endParaRPr>
              </a:p>
            </p:txBody>
          </p:sp>
          <p:sp>
            <p:nvSpPr>
              <p:cNvPr id="153" name="object 8">
                <a:extLst>
                  <a:ext uri="{FF2B5EF4-FFF2-40B4-BE49-F238E27FC236}">
                    <a16:creationId xmlns:a16="http://schemas.microsoft.com/office/drawing/2014/main" id="{4396FB92-0572-4E32-B0DE-41A537DBB621}"/>
                  </a:ext>
                </a:extLst>
              </p:cNvPr>
              <p:cNvSpPr txBox="1"/>
              <p:nvPr/>
            </p:nvSpPr>
            <p:spPr>
              <a:xfrm>
                <a:off x="3543298" y="5083338"/>
                <a:ext cx="300355" cy="135935"/>
              </a:xfrm>
              <a:prstGeom prst="rect">
                <a:avLst/>
              </a:prstGeom>
            </p:spPr>
            <p:txBody>
              <a:bodyPr vert="horz" wrap="square" lIns="0" tIns="12700" rIns="0" bIns="0" rtlCol="0">
                <a:spAutoFit/>
              </a:bodyPr>
              <a:lstStyle/>
              <a:p>
                <a:pPr marL="12700">
                  <a:lnSpc>
                    <a:spcPct val="100000"/>
                  </a:lnSpc>
                  <a:spcBef>
                    <a:spcPts val="100"/>
                  </a:spcBef>
                </a:pPr>
                <a:r>
                  <a:rPr sz="800" spc="-10" dirty="0">
                    <a:solidFill>
                      <a:schemeClr val="tx1"/>
                    </a:solidFill>
                    <a:latin typeface="Arial"/>
                    <a:cs typeface="Arial"/>
                  </a:rPr>
                  <a:t>Texas</a:t>
                </a:r>
                <a:endParaRPr sz="800">
                  <a:solidFill>
                    <a:schemeClr val="tx1"/>
                  </a:solidFill>
                  <a:latin typeface="Arial"/>
                  <a:cs typeface="Arial"/>
                </a:endParaRPr>
              </a:p>
            </p:txBody>
          </p:sp>
          <p:sp>
            <p:nvSpPr>
              <p:cNvPr id="154" name="object 9">
                <a:extLst>
                  <a:ext uri="{FF2B5EF4-FFF2-40B4-BE49-F238E27FC236}">
                    <a16:creationId xmlns:a16="http://schemas.microsoft.com/office/drawing/2014/main" id="{1A26B67A-2736-409D-96E8-DDCB405556ED}"/>
                  </a:ext>
                </a:extLst>
              </p:cNvPr>
              <p:cNvSpPr txBox="1"/>
              <p:nvPr/>
            </p:nvSpPr>
            <p:spPr>
              <a:xfrm>
                <a:off x="3844823" y="4436280"/>
                <a:ext cx="492125" cy="135935"/>
              </a:xfrm>
              <a:prstGeom prst="rect">
                <a:avLst/>
              </a:prstGeom>
            </p:spPr>
            <p:txBody>
              <a:bodyPr vert="horz" wrap="square" lIns="0" tIns="12700" rIns="0" bIns="0" rtlCol="0">
                <a:spAutoFit/>
              </a:bodyPr>
              <a:lstStyle/>
              <a:p>
                <a:pPr marL="12700">
                  <a:lnSpc>
                    <a:spcPct val="100000"/>
                  </a:lnSpc>
                  <a:spcBef>
                    <a:spcPts val="100"/>
                  </a:spcBef>
                </a:pPr>
                <a:r>
                  <a:rPr sz="800" spc="-10" dirty="0">
                    <a:solidFill>
                      <a:schemeClr val="tx1"/>
                    </a:solidFill>
                    <a:latin typeface="Arial"/>
                    <a:cs typeface="Arial"/>
                  </a:rPr>
                  <a:t>Oklahoma</a:t>
                </a:r>
                <a:endParaRPr sz="800">
                  <a:solidFill>
                    <a:schemeClr val="tx1"/>
                  </a:solidFill>
                  <a:latin typeface="Arial"/>
                  <a:cs typeface="Arial"/>
                </a:endParaRPr>
              </a:p>
            </p:txBody>
          </p:sp>
          <p:sp>
            <p:nvSpPr>
              <p:cNvPr id="155" name="object 10">
                <a:extLst>
                  <a:ext uri="{FF2B5EF4-FFF2-40B4-BE49-F238E27FC236}">
                    <a16:creationId xmlns:a16="http://schemas.microsoft.com/office/drawing/2014/main" id="{131E1DC9-ED09-465D-88D4-CFD11253AFA2}"/>
                  </a:ext>
                </a:extLst>
              </p:cNvPr>
              <p:cNvSpPr txBox="1"/>
              <p:nvPr/>
            </p:nvSpPr>
            <p:spPr>
              <a:xfrm>
                <a:off x="4433782" y="4510819"/>
                <a:ext cx="450850" cy="135935"/>
              </a:xfrm>
              <a:prstGeom prst="rect">
                <a:avLst/>
              </a:prstGeom>
            </p:spPr>
            <p:txBody>
              <a:bodyPr vert="horz" wrap="square" lIns="0" tIns="12700" rIns="0" bIns="0" rtlCol="0">
                <a:spAutoFit/>
              </a:bodyPr>
              <a:lstStyle/>
              <a:p>
                <a:pPr marL="12700">
                  <a:lnSpc>
                    <a:spcPct val="100000"/>
                  </a:lnSpc>
                  <a:spcBef>
                    <a:spcPts val="100"/>
                  </a:spcBef>
                </a:pPr>
                <a:r>
                  <a:rPr sz="800" spc="-10" dirty="0">
                    <a:solidFill>
                      <a:schemeClr val="tx1"/>
                    </a:solidFill>
                    <a:latin typeface="Arial"/>
                    <a:cs typeface="Arial"/>
                  </a:rPr>
                  <a:t>Arkansas</a:t>
                </a:r>
                <a:endParaRPr sz="800">
                  <a:solidFill>
                    <a:schemeClr val="tx1"/>
                  </a:solidFill>
                  <a:latin typeface="Arial"/>
                  <a:cs typeface="Arial"/>
                </a:endParaRPr>
              </a:p>
            </p:txBody>
          </p:sp>
          <p:sp>
            <p:nvSpPr>
              <p:cNvPr id="156" name="object 11">
                <a:extLst>
                  <a:ext uri="{FF2B5EF4-FFF2-40B4-BE49-F238E27FC236}">
                    <a16:creationId xmlns:a16="http://schemas.microsoft.com/office/drawing/2014/main" id="{5A780541-0D09-4512-95F6-E78CFF132509}"/>
                  </a:ext>
                </a:extLst>
              </p:cNvPr>
              <p:cNvSpPr txBox="1"/>
              <p:nvPr/>
            </p:nvSpPr>
            <p:spPr>
              <a:xfrm>
                <a:off x="3944937" y="3701881"/>
                <a:ext cx="365760" cy="135935"/>
              </a:xfrm>
              <a:prstGeom prst="rect">
                <a:avLst/>
              </a:prstGeom>
            </p:spPr>
            <p:txBody>
              <a:bodyPr vert="horz" wrap="square" lIns="0" tIns="12700" rIns="0" bIns="0" rtlCol="0">
                <a:spAutoFit/>
              </a:bodyPr>
              <a:lstStyle/>
              <a:p>
                <a:pPr marL="12700">
                  <a:lnSpc>
                    <a:spcPct val="100000"/>
                  </a:lnSpc>
                  <a:spcBef>
                    <a:spcPts val="100"/>
                  </a:spcBef>
                </a:pPr>
                <a:r>
                  <a:rPr sz="800" spc="-10" dirty="0">
                    <a:solidFill>
                      <a:schemeClr val="tx1"/>
                    </a:solidFill>
                    <a:latin typeface="Arial"/>
                    <a:cs typeface="Arial"/>
                  </a:rPr>
                  <a:t>Kansas</a:t>
                </a:r>
                <a:endParaRPr sz="800">
                  <a:solidFill>
                    <a:schemeClr val="tx1"/>
                  </a:solidFill>
                  <a:latin typeface="Arial"/>
                  <a:cs typeface="Arial"/>
                </a:endParaRPr>
              </a:p>
            </p:txBody>
          </p:sp>
          <p:sp>
            <p:nvSpPr>
              <p:cNvPr id="157" name="object 12">
                <a:extLst>
                  <a:ext uri="{FF2B5EF4-FFF2-40B4-BE49-F238E27FC236}">
                    <a16:creationId xmlns:a16="http://schemas.microsoft.com/office/drawing/2014/main" id="{542475C9-F8F7-40EA-AD4B-4EFE5B66FAD3}"/>
                  </a:ext>
                </a:extLst>
              </p:cNvPr>
              <p:cNvSpPr txBox="1"/>
              <p:nvPr/>
            </p:nvSpPr>
            <p:spPr>
              <a:xfrm>
                <a:off x="3743274" y="3324285"/>
                <a:ext cx="461645" cy="136576"/>
              </a:xfrm>
              <a:prstGeom prst="rect">
                <a:avLst/>
              </a:prstGeom>
            </p:spPr>
            <p:txBody>
              <a:bodyPr vert="horz" wrap="square" lIns="0" tIns="13335" rIns="0" bIns="0" rtlCol="0">
                <a:spAutoFit/>
              </a:bodyPr>
              <a:lstStyle/>
              <a:p>
                <a:pPr marL="12700">
                  <a:lnSpc>
                    <a:spcPct val="100000"/>
                  </a:lnSpc>
                  <a:spcBef>
                    <a:spcPts val="105"/>
                  </a:spcBef>
                </a:pPr>
                <a:r>
                  <a:rPr sz="800" spc="-10" dirty="0">
                    <a:solidFill>
                      <a:schemeClr val="tx1"/>
                    </a:solidFill>
                    <a:latin typeface="Arial"/>
                    <a:cs typeface="Arial"/>
                  </a:rPr>
                  <a:t>Nebraska</a:t>
                </a:r>
                <a:endParaRPr sz="800">
                  <a:solidFill>
                    <a:schemeClr val="tx1"/>
                  </a:solidFill>
                  <a:latin typeface="Arial"/>
                  <a:cs typeface="Arial"/>
                </a:endParaRPr>
              </a:p>
            </p:txBody>
          </p:sp>
          <p:sp>
            <p:nvSpPr>
              <p:cNvPr id="158" name="object 13">
                <a:extLst>
                  <a:ext uri="{FF2B5EF4-FFF2-40B4-BE49-F238E27FC236}">
                    <a16:creationId xmlns:a16="http://schemas.microsoft.com/office/drawing/2014/main" id="{A146A55A-B7AD-4918-BDB4-836780EF10B9}"/>
                  </a:ext>
                </a:extLst>
              </p:cNvPr>
              <p:cNvSpPr txBox="1"/>
              <p:nvPr/>
            </p:nvSpPr>
            <p:spPr>
              <a:xfrm>
                <a:off x="4538593" y="3219318"/>
                <a:ext cx="237490" cy="136576"/>
              </a:xfrm>
              <a:prstGeom prst="rect">
                <a:avLst/>
              </a:prstGeom>
            </p:spPr>
            <p:txBody>
              <a:bodyPr vert="horz" wrap="square" lIns="0" tIns="13335" rIns="0" bIns="0" rtlCol="0">
                <a:spAutoFit/>
              </a:bodyPr>
              <a:lstStyle/>
              <a:p>
                <a:pPr marL="12700">
                  <a:lnSpc>
                    <a:spcPct val="100000"/>
                  </a:lnSpc>
                  <a:spcBef>
                    <a:spcPts val="105"/>
                  </a:spcBef>
                </a:pPr>
                <a:r>
                  <a:rPr sz="800" spc="-20" dirty="0">
                    <a:solidFill>
                      <a:schemeClr val="tx1"/>
                    </a:solidFill>
                    <a:latin typeface="Arial"/>
                    <a:cs typeface="Arial"/>
                  </a:rPr>
                  <a:t>Iowa</a:t>
                </a:r>
                <a:endParaRPr sz="800">
                  <a:solidFill>
                    <a:schemeClr val="tx1"/>
                  </a:solidFill>
                  <a:latin typeface="Arial"/>
                  <a:cs typeface="Arial"/>
                </a:endParaRPr>
              </a:p>
            </p:txBody>
          </p:sp>
          <p:sp>
            <p:nvSpPr>
              <p:cNvPr id="159" name="object 14">
                <a:extLst>
                  <a:ext uri="{FF2B5EF4-FFF2-40B4-BE49-F238E27FC236}">
                    <a16:creationId xmlns:a16="http://schemas.microsoft.com/office/drawing/2014/main" id="{BDA50AB1-C38D-4558-AB15-1183C1854141}"/>
                  </a:ext>
                </a:extLst>
              </p:cNvPr>
              <p:cNvSpPr txBox="1"/>
              <p:nvPr/>
            </p:nvSpPr>
            <p:spPr>
              <a:xfrm>
                <a:off x="4651320" y="3781525"/>
                <a:ext cx="405130" cy="135935"/>
              </a:xfrm>
              <a:prstGeom prst="rect">
                <a:avLst/>
              </a:prstGeom>
            </p:spPr>
            <p:txBody>
              <a:bodyPr vert="horz" wrap="square" lIns="0" tIns="12700" rIns="0" bIns="0" rtlCol="0">
                <a:spAutoFit/>
              </a:bodyPr>
              <a:lstStyle/>
              <a:p>
                <a:pPr marL="12700">
                  <a:lnSpc>
                    <a:spcPct val="100000"/>
                  </a:lnSpc>
                  <a:spcBef>
                    <a:spcPts val="100"/>
                  </a:spcBef>
                </a:pPr>
                <a:r>
                  <a:rPr sz="800" spc="-10" dirty="0">
                    <a:solidFill>
                      <a:schemeClr val="tx1"/>
                    </a:solidFill>
                    <a:latin typeface="Arial"/>
                    <a:cs typeface="Arial"/>
                  </a:rPr>
                  <a:t>Missouri</a:t>
                </a:r>
                <a:endParaRPr sz="800">
                  <a:solidFill>
                    <a:schemeClr val="tx1"/>
                  </a:solidFill>
                  <a:latin typeface="Arial"/>
                  <a:cs typeface="Arial"/>
                </a:endParaRPr>
              </a:p>
            </p:txBody>
          </p:sp>
          <p:sp>
            <p:nvSpPr>
              <p:cNvPr id="160" name="object 15">
                <a:extLst>
                  <a:ext uri="{FF2B5EF4-FFF2-40B4-BE49-F238E27FC236}">
                    <a16:creationId xmlns:a16="http://schemas.microsoft.com/office/drawing/2014/main" id="{9C4DD972-9B20-46F4-90BF-A8E7D4585BA1}"/>
                  </a:ext>
                </a:extLst>
              </p:cNvPr>
              <p:cNvSpPr txBox="1"/>
              <p:nvPr/>
            </p:nvSpPr>
            <p:spPr>
              <a:xfrm>
                <a:off x="4311651" y="2299864"/>
                <a:ext cx="495300" cy="136576"/>
              </a:xfrm>
              <a:prstGeom prst="rect">
                <a:avLst/>
              </a:prstGeom>
            </p:spPr>
            <p:txBody>
              <a:bodyPr vert="horz" wrap="square" lIns="0" tIns="13335" rIns="0" bIns="0" rtlCol="0">
                <a:spAutoFit/>
              </a:bodyPr>
              <a:lstStyle/>
              <a:p>
                <a:pPr marL="12700">
                  <a:lnSpc>
                    <a:spcPct val="100000"/>
                  </a:lnSpc>
                  <a:spcBef>
                    <a:spcPts val="105"/>
                  </a:spcBef>
                </a:pPr>
                <a:r>
                  <a:rPr sz="800" spc="-10" dirty="0">
                    <a:solidFill>
                      <a:schemeClr val="tx1"/>
                    </a:solidFill>
                    <a:latin typeface="Arial"/>
                    <a:cs typeface="Arial"/>
                  </a:rPr>
                  <a:t>Minnesota</a:t>
                </a:r>
                <a:endParaRPr sz="800">
                  <a:solidFill>
                    <a:schemeClr val="tx1"/>
                  </a:solidFill>
                  <a:latin typeface="Arial"/>
                  <a:cs typeface="Arial"/>
                </a:endParaRPr>
              </a:p>
            </p:txBody>
          </p:sp>
          <p:sp>
            <p:nvSpPr>
              <p:cNvPr id="161" name="object 16">
                <a:extLst>
                  <a:ext uri="{FF2B5EF4-FFF2-40B4-BE49-F238E27FC236}">
                    <a16:creationId xmlns:a16="http://schemas.microsoft.com/office/drawing/2014/main" id="{8397B660-CBCB-4B9F-8901-9953AC7A36A1}"/>
                  </a:ext>
                </a:extLst>
              </p:cNvPr>
              <p:cNvSpPr txBox="1"/>
              <p:nvPr/>
            </p:nvSpPr>
            <p:spPr>
              <a:xfrm>
                <a:off x="5805487" y="3288726"/>
                <a:ext cx="240665" cy="136576"/>
              </a:xfrm>
              <a:prstGeom prst="rect">
                <a:avLst/>
              </a:prstGeom>
            </p:spPr>
            <p:txBody>
              <a:bodyPr vert="horz" wrap="square" lIns="0" tIns="13335" rIns="0" bIns="0" rtlCol="0">
                <a:spAutoFit/>
              </a:bodyPr>
              <a:lstStyle/>
              <a:p>
                <a:pPr marL="12700">
                  <a:lnSpc>
                    <a:spcPct val="100000"/>
                  </a:lnSpc>
                  <a:spcBef>
                    <a:spcPts val="105"/>
                  </a:spcBef>
                </a:pPr>
                <a:r>
                  <a:rPr sz="800" spc="-20" dirty="0">
                    <a:solidFill>
                      <a:schemeClr val="tx1"/>
                    </a:solidFill>
                    <a:latin typeface="Arial"/>
                    <a:cs typeface="Arial"/>
                  </a:rPr>
                  <a:t>Ohio</a:t>
                </a:r>
                <a:endParaRPr sz="800">
                  <a:solidFill>
                    <a:schemeClr val="tx1"/>
                  </a:solidFill>
                  <a:latin typeface="Arial"/>
                  <a:cs typeface="Arial"/>
                </a:endParaRPr>
              </a:p>
            </p:txBody>
          </p:sp>
          <p:sp>
            <p:nvSpPr>
              <p:cNvPr id="162" name="object 17">
                <a:extLst>
                  <a:ext uri="{FF2B5EF4-FFF2-40B4-BE49-F238E27FC236}">
                    <a16:creationId xmlns:a16="http://schemas.microsoft.com/office/drawing/2014/main" id="{5206ADFE-EE01-4566-BAE5-7E17EDA89BE9}"/>
                  </a:ext>
                </a:extLst>
              </p:cNvPr>
              <p:cNvSpPr txBox="1"/>
              <p:nvPr/>
            </p:nvSpPr>
            <p:spPr>
              <a:xfrm>
                <a:off x="5010168" y="3476706"/>
                <a:ext cx="309880" cy="136576"/>
              </a:xfrm>
              <a:prstGeom prst="rect">
                <a:avLst/>
              </a:prstGeom>
            </p:spPr>
            <p:txBody>
              <a:bodyPr vert="horz" wrap="square" lIns="0" tIns="13335" rIns="0" bIns="0" rtlCol="0">
                <a:spAutoFit/>
              </a:bodyPr>
              <a:lstStyle/>
              <a:p>
                <a:pPr marL="12700">
                  <a:lnSpc>
                    <a:spcPct val="100000"/>
                  </a:lnSpc>
                  <a:spcBef>
                    <a:spcPts val="105"/>
                  </a:spcBef>
                </a:pPr>
                <a:r>
                  <a:rPr sz="800" spc="-10" dirty="0">
                    <a:solidFill>
                      <a:schemeClr val="tx1"/>
                    </a:solidFill>
                    <a:latin typeface="Arial"/>
                    <a:cs typeface="Arial"/>
                  </a:rPr>
                  <a:t>Illinois</a:t>
                </a:r>
                <a:endParaRPr sz="800">
                  <a:solidFill>
                    <a:schemeClr val="tx1"/>
                  </a:solidFill>
                  <a:latin typeface="Arial"/>
                  <a:cs typeface="Arial"/>
                </a:endParaRPr>
              </a:p>
            </p:txBody>
          </p:sp>
          <p:sp>
            <p:nvSpPr>
              <p:cNvPr id="163" name="object 18">
                <a:extLst>
                  <a:ext uri="{FF2B5EF4-FFF2-40B4-BE49-F238E27FC236}">
                    <a16:creationId xmlns:a16="http://schemas.microsoft.com/office/drawing/2014/main" id="{EE2B4039-7257-4C95-B9ED-F1CC5056496E}"/>
                  </a:ext>
                </a:extLst>
              </p:cNvPr>
              <p:cNvSpPr txBox="1"/>
              <p:nvPr/>
            </p:nvSpPr>
            <p:spPr>
              <a:xfrm>
                <a:off x="2459037" y="3783157"/>
                <a:ext cx="240665" cy="135935"/>
              </a:xfrm>
              <a:prstGeom prst="rect">
                <a:avLst/>
              </a:prstGeom>
            </p:spPr>
            <p:txBody>
              <a:bodyPr vert="horz" wrap="square" lIns="0" tIns="12700" rIns="0" bIns="0" rtlCol="0">
                <a:spAutoFit/>
              </a:bodyPr>
              <a:lstStyle/>
              <a:p>
                <a:pPr marL="12700">
                  <a:lnSpc>
                    <a:spcPct val="100000"/>
                  </a:lnSpc>
                  <a:spcBef>
                    <a:spcPts val="100"/>
                  </a:spcBef>
                </a:pPr>
                <a:r>
                  <a:rPr sz="800" spc="-20" dirty="0">
                    <a:solidFill>
                      <a:schemeClr val="tx1"/>
                    </a:solidFill>
                    <a:latin typeface="Arial"/>
                    <a:cs typeface="Arial"/>
                  </a:rPr>
                  <a:t>Utah</a:t>
                </a:r>
                <a:endParaRPr sz="800">
                  <a:solidFill>
                    <a:schemeClr val="tx1"/>
                  </a:solidFill>
                  <a:latin typeface="Arial"/>
                  <a:cs typeface="Arial"/>
                </a:endParaRPr>
              </a:p>
            </p:txBody>
          </p:sp>
          <p:sp>
            <p:nvSpPr>
              <p:cNvPr id="164" name="object 19">
                <a:extLst>
                  <a:ext uri="{FF2B5EF4-FFF2-40B4-BE49-F238E27FC236}">
                    <a16:creationId xmlns:a16="http://schemas.microsoft.com/office/drawing/2014/main" id="{AC7D6D2E-14DF-427B-BBF9-61454FF210EC}"/>
                  </a:ext>
                </a:extLst>
              </p:cNvPr>
              <p:cNvSpPr txBox="1"/>
              <p:nvPr/>
            </p:nvSpPr>
            <p:spPr>
              <a:xfrm>
                <a:off x="3078118" y="3739148"/>
                <a:ext cx="436880" cy="135935"/>
              </a:xfrm>
              <a:prstGeom prst="rect">
                <a:avLst/>
              </a:prstGeom>
            </p:spPr>
            <p:txBody>
              <a:bodyPr vert="horz" wrap="square" lIns="0" tIns="12700" rIns="0" bIns="0" rtlCol="0">
                <a:spAutoFit/>
              </a:bodyPr>
              <a:lstStyle/>
              <a:p>
                <a:pPr marL="12700">
                  <a:lnSpc>
                    <a:spcPct val="100000"/>
                  </a:lnSpc>
                  <a:spcBef>
                    <a:spcPts val="100"/>
                  </a:spcBef>
                </a:pPr>
                <a:r>
                  <a:rPr sz="800" spc="-10" dirty="0">
                    <a:solidFill>
                      <a:schemeClr val="tx1"/>
                    </a:solidFill>
                    <a:latin typeface="Arial"/>
                    <a:cs typeface="Arial"/>
                  </a:rPr>
                  <a:t>Colorado</a:t>
                </a:r>
                <a:endParaRPr sz="800">
                  <a:solidFill>
                    <a:schemeClr val="tx1"/>
                  </a:solidFill>
                  <a:latin typeface="Arial"/>
                  <a:cs typeface="Arial"/>
                </a:endParaRPr>
              </a:p>
            </p:txBody>
          </p:sp>
          <p:sp>
            <p:nvSpPr>
              <p:cNvPr id="165" name="object 20">
                <a:extLst>
                  <a:ext uri="{FF2B5EF4-FFF2-40B4-BE49-F238E27FC236}">
                    <a16:creationId xmlns:a16="http://schemas.microsoft.com/office/drawing/2014/main" id="{FE4F6258-B6DD-48E3-9506-48C8A0996D69}"/>
                  </a:ext>
                </a:extLst>
              </p:cNvPr>
              <p:cNvSpPr txBox="1"/>
              <p:nvPr/>
            </p:nvSpPr>
            <p:spPr>
              <a:xfrm>
                <a:off x="3605199" y="2862041"/>
                <a:ext cx="644525" cy="136576"/>
              </a:xfrm>
              <a:prstGeom prst="rect">
                <a:avLst/>
              </a:prstGeom>
            </p:spPr>
            <p:txBody>
              <a:bodyPr vert="horz" wrap="square" lIns="0" tIns="13335" rIns="0" bIns="0" rtlCol="0">
                <a:spAutoFit/>
              </a:bodyPr>
              <a:lstStyle/>
              <a:p>
                <a:pPr marL="12700">
                  <a:lnSpc>
                    <a:spcPct val="100000"/>
                  </a:lnSpc>
                  <a:spcBef>
                    <a:spcPts val="105"/>
                  </a:spcBef>
                </a:pPr>
                <a:r>
                  <a:rPr sz="800" dirty="0">
                    <a:solidFill>
                      <a:schemeClr val="tx1"/>
                    </a:solidFill>
                    <a:latin typeface="Arial"/>
                    <a:cs typeface="Arial"/>
                  </a:rPr>
                  <a:t>South</a:t>
                </a:r>
                <a:r>
                  <a:rPr sz="800" spc="-20" dirty="0">
                    <a:solidFill>
                      <a:schemeClr val="tx1"/>
                    </a:solidFill>
                    <a:latin typeface="Arial"/>
                    <a:cs typeface="Arial"/>
                  </a:rPr>
                  <a:t> </a:t>
                </a:r>
                <a:r>
                  <a:rPr sz="800" spc="-10" dirty="0">
                    <a:solidFill>
                      <a:schemeClr val="tx1"/>
                    </a:solidFill>
                    <a:latin typeface="Arial"/>
                    <a:cs typeface="Arial"/>
                  </a:rPr>
                  <a:t>Dakota</a:t>
                </a:r>
                <a:endParaRPr sz="800">
                  <a:solidFill>
                    <a:schemeClr val="tx1"/>
                  </a:solidFill>
                  <a:latin typeface="Arial"/>
                  <a:cs typeface="Arial"/>
                </a:endParaRPr>
              </a:p>
            </p:txBody>
          </p:sp>
          <p:sp>
            <p:nvSpPr>
              <p:cNvPr id="166" name="object 21">
                <a:extLst>
                  <a:ext uri="{FF2B5EF4-FFF2-40B4-BE49-F238E27FC236}">
                    <a16:creationId xmlns:a16="http://schemas.microsoft.com/office/drawing/2014/main" id="{33C71D33-E2FF-450B-9274-376DD13FF1E6}"/>
                  </a:ext>
                </a:extLst>
              </p:cNvPr>
              <p:cNvSpPr txBox="1"/>
              <p:nvPr/>
            </p:nvSpPr>
            <p:spPr>
              <a:xfrm>
                <a:off x="3606833" y="2364264"/>
                <a:ext cx="624840" cy="136576"/>
              </a:xfrm>
              <a:prstGeom prst="rect">
                <a:avLst/>
              </a:prstGeom>
            </p:spPr>
            <p:txBody>
              <a:bodyPr vert="horz" wrap="square" lIns="0" tIns="13335" rIns="0" bIns="0" rtlCol="0">
                <a:spAutoFit/>
              </a:bodyPr>
              <a:lstStyle/>
              <a:p>
                <a:pPr marL="12700">
                  <a:lnSpc>
                    <a:spcPct val="100000"/>
                  </a:lnSpc>
                  <a:spcBef>
                    <a:spcPts val="105"/>
                  </a:spcBef>
                </a:pPr>
                <a:r>
                  <a:rPr sz="800" dirty="0">
                    <a:solidFill>
                      <a:schemeClr val="tx1"/>
                    </a:solidFill>
                    <a:latin typeface="Arial"/>
                    <a:cs typeface="Arial"/>
                  </a:rPr>
                  <a:t>North</a:t>
                </a:r>
                <a:r>
                  <a:rPr sz="800" spc="-30" dirty="0">
                    <a:solidFill>
                      <a:schemeClr val="tx1"/>
                    </a:solidFill>
                    <a:latin typeface="Arial"/>
                    <a:cs typeface="Arial"/>
                  </a:rPr>
                  <a:t> </a:t>
                </a:r>
                <a:r>
                  <a:rPr sz="800" spc="-10" dirty="0">
                    <a:solidFill>
                      <a:schemeClr val="tx1"/>
                    </a:solidFill>
                    <a:latin typeface="Arial"/>
                    <a:cs typeface="Arial"/>
                  </a:rPr>
                  <a:t>Dakota</a:t>
                </a:r>
                <a:endParaRPr sz="800">
                  <a:solidFill>
                    <a:schemeClr val="tx1"/>
                  </a:solidFill>
                  <a:latin typeface="Arial"/>
                  <a:cs typeface="Arial"/>
                </a:endParaRPr>
              </a:p>
            </p:txBody>
          </p:sp>
          <p:sp>
            <p:nvSpPr>
              <p:cNvPr id="167" name="object 22">
                <a:extLst>
                  <a:ext uri="{FF2B5EF4-FFF2-40B4-BE49-F238E27FC236}">
                    <a16:creationId xmlns:a16="http://schemas.microsoft.com/office/drawing/2014/main" id="{D1C6D341-7AE6-4B59-B973-92341E03F4B1}"/>
                  </a:ext>
                </a:extLst>
              </p:cNvPr>
              <p:cNvSpPr txBox="1"/>
              <p:nvPr/>
            </p:nvSpPr>
            <p:spPr>
              <a:xfrm>
                <a:off x="2760664" y="2367633"/>
                <a:ext cx="420370" cy="136576"/>
              </a:xfrm>
              <a:prstGeom prst="rect">
                <a:avLst/>
              </a:prstGeom>
            </p:spPr>
            <p:txBody>
              <a:bodyPr vert="horz" wrap="square" lIns="0" tIns="13335" rIns="0" bIns="0" rtlCol="0">
                <a:spAutoFit/>
              </a:bodyPr>
              <a:lstStyle/>
              <a:p>
                <a:pPr marL="12700">
                  <a:lnSpc>
                    <a:spcPct val="100000"/>
                  </a:lnSpc>
                  <a:spcBef>
                    <a:spcPts val="105"/>
                  </a:spcBef>
                </a:pPr>
                <a:r>
                  <a:rPr sz="800" spc="-10" dirty="0">
                    <a:solidFill>
                      <a:schemeClr val="tx1"/>
                    </a:solidFill>
                    <a:latin typeface="Arial"/>
                    <a:cs typeface="Arial"/>
                  </a:rPr>
                  <a:t>Montana</a:t>
                </a:r>
                <a:endParaRPr sz="800">
                  <a:solidFill>
                    <a:schemeClr val="tx1"/>
                  </a:solidFill>
                  <a:latin typeface="Arial"/>
                  <a:cs typeface="Arial"/>
                </a:endParaRPr>
              </a:p>
            </p:txBody>
          </p:sp>
          <p:sp>
            <p:nvSpPr>
              <p:cNvPr id="168" name="object 23">
                <a:extLst>
                  <a:ext uri="{FF2B5EF4-FFF2-40B4-BE49-F238E27FC236}">
                    <a16:creationId xmlns:a16="http://schemas.microsoft.com/office/drawing/2014/main" id="{37C9FDDB-DC9D-46C1-9DCE-455E79B147E4}"/>
                  </a:ext>
                </a:extLst>
              </p:cNvPr>
              <p:cNvSpPr txBox="1"/>
              <p:nvPr/>
            </p:nvSpPr>
            <p:spPr>
              <a:xfrm>
                <a:off x="2924139" y="3082186"/>
                <a:ext cx="452120" cy="136576"/>
              </a:xfrm>
              <a:prstGeom prst="rect">
                <a:avLst/>
              </a:prstGeom>
            </p:spPr>
            <p:txBody>
              <a:bodyPr vert="horz" wrap="square" lIns="0" tIns="13335" rIns="0" bIns="0" rtlCol="0">
                <a:spAutoFit/>
              </a:bodyPr>
              <a:lstStyle/>
              <a:p>
                <a:pPr marL="12700">
                  <a:lnSpc>
                    <a:spcPct val="100000"/>
                  </a:lnSpc>
                  <a:spcBef>
                    <a:spcPts val="105"/>
                  </a:spcBef>
                </a:pPr>
                <a:r>
                  <a:rPr sz="800" spc="-10" dirty="0">
                    <a:solidFill>
                      <a:schemeClr val="tx1"/>
                    </a:solidFill>
                    <a:latin typeface="Arial"/>
                    <a:cs typeface="Arial"/>
                  </a:rPr>
                  <a:t>Wyoming</a:t>
                </a:r>
                <a:endParaRPr sz="800">
                  <a:solidFill>
                    <a:schemeClr val="tx1"/>
                  </a:solidFill>
                  <a:latin typeface="Arial"/>
                  <a:cs typeface="Arial"/>
                </a:endParaRPr>
              </a:p>
            </p:txBody>
          </p:sp>
          <p:sp>
            <p:nvSpPr>
              <p:cNvPr id="169" name="object 24">
                <a:extLst>
                  <a:ext uri="{FF2B5EF4-FFF2-40B4-BE49-F238E27FC236}">
                    <a16:creationId xmlns:a16="http://schemas.microsoft.com/office/drawing/2014/main" id="{C3EC0682-9158-4C58-BD68-C2650CF57133}"/>
                  </a:ext>
                </a:extLst>
              </p:cNvPr>
              <p:cNvSpPr txBox="1"/>
              <p:nvPr/>
            </p:nvSpPr>
            <p:spPr>
              <a:xfrm>
                <a:off x="2235200" y="2885731"/>
                <a:ext cx="280035" cy="136576"/>
              </a:xfrm>
              <a:prstGeom prst="rect">
                <a:avLst/>
              </a:prstGeom>
            </p:spPr>
            <p:txBody>
              <a:bodyPr vert="horz" wrap="square" lIns="0" tIns="13335" rIns="0" bIns="0" rtlCol="0">
                <a:spAutoFit/>
              </a:bodyPr>
              <a:lstStyle/>
              <a:p>
                <a:pPr marL="12700">
                  <a:lnSpc>
                    <a:spcPct val="100000"/>
                  </a:lnSpc>
                  <a:spcBef>
                    <a:spcPts val="105"/>
                  </a:spcBef>
                </a:pPr>
                <a:r>
                  <a:rPr sz="800" spc="-10" dirty="0">
                    <a:solidFill>
                      <a:schemeClr val="tx1"/>
                    </a:solidFill>
                    <a:latin typeface="Arial"/>
                    <a:cs typeface="Arial"/>
                  </a:rPr>
                  <a:t>Idaho</a:t>
                </a:r>
                <a:endParaRPr sz="800">
                  <a:solidFill>
                    <a:schemeClr val="tx1"/>
                  </a:solidFill>
                  <a:latin typeface="Arial"/>
                  <a:cs typeface="Arial"/>
                </a:endParaRPr>
              </a:p>
            </p:txBody>
          </p:sp>
          <p:sp>
            <p:nvSpPr>
              <p:cNvPr id="170" name="object 25">
                <a:extLst>
                  <a:ext uri="{FF2B5EF4-FFF2-40B4-BE49-F238E27FC236}">
                    <a16:creationId xmlns:a16="http://schemas.microsoft.com/office/drawing/2014/main" id="{D28A3450-F0D3-402C-8088-AA6BF26C3960}"/>
                  </a:ext>
                </a:extLst>
              </p:cNvPr>
              <p:cNvSpPr txBox="1"/>
              <p:nvPr/>
            </p:nvSpPr>
            <p:spPr>
              <a:xfrm>
                <a:off x="1541478" y="2777394"/>
                <a:ext cx="363855" cy="136576"/>
              </a:xfrm>
              <a:prstGeom prst="rect">
                <a:avLst/>
              </a:prstGeom>
            </p:spPr>
            <p:txBody>
              <a:bodyPr vert="horz" wrap="square" lIns="0" tIns="13335" rIns="0" bIns="0" rtlCol="0">
                <a:spAutoFit/>
              </a:bodyPr>
              <a:lstStyle/>
              <a:p>
                <a:pPr marL="12700">
                  <a:lnSpc>
                    <a:spcPct val="100000"/>
                  </a:lnSpc>
                  <a:spcBef>
                    <a:spcPts val="105"/>
                  </a:spcBef>
                </a:pPr>
                <a:r>
                  <a:rPr sz="800" spc="-10" dirty="0">
                    <a:solidFill>
                      <a:schemeClr val="tx1"/>
                    </a:solidFill>
                    <a:latin typeface="Arial"/>
                    <a:cs typeface="Arial"/>
                  </a:rPr>
                  <a:t>Oregon</a:t>
                </a:r>
                <a:endParaRPr sz="800">
                  <a:solidFill>
                    <a:schemeClr val="tx1"/>
                  </a:solidFill>
                  <a:latin typeface="Arial"/>
                  <a:cs typeface="Arial"/>
                </a:endParaRPr>
              </a:p>
            </p:txBody>
          </p:sp>
          <p:sp>
            <p:nvSpPr>
              <p:cNvPr id="171" name="object 26">
                <a:extLst>
                  <a:ext uri="{FF2B5EF4-FFF2-40B4-BE49-F238E27FC236}">
                    <a16:creationId xmlns:a16="http://schemas.microsoft.com/office/drawing/2014/main" id="{31FC4776-7B96-4265-B18D-CD1EC6B60E39}"/>
                  </a:ext>
                </a:extLst>
              </p:cNvPr>
              <p:cNvSpPr txBox="1"/>
              <p:nvPr/>
            </p:nvSpPr>
            <p:spPr>
              <a:xfrm>
                <a:off x="5200522" y="4741092"/>
                <a:ext cx="123111" cy="519430"/>
              </a:xfrm>
              <a:prstGeom prst="rect">
                <a:avLst/>
              </a:prstGeom>
            </p:spPr>
            <p:txBody>
              <a:bodyPr vert="vert" wrap="square" lIns="0" tIns="3175" rIns="0" bIns="0" rtlCol="0">
                <a:spAutoFit/>
              </a:bodyPr>
              <a:lstStyle/>
              <a:p>
                <a:pPr marL="12700">
                  <a:lnSpc>
                    <a:spcPct val="100000"/>
                  </a:lnSpc>
                  <a:spcBef>
                    <a:spcPts val="25"/>
                  </a:spcBef>
                </a:pPr>
                <a:r>
                  <a:rPr sz="800" spc="-10" dirty="0">
                    <a:solidFill>
                      <a:schemeClr val="tx1"/>
                    </a:solidFill>
                    <a:latin typeface="Arial"/>
                    <a:cs typeface="Arial"/>
                  </a:rPr>
                  <a:t>Mississippi</a:t>
                </a:r>
                <a:endParaRPr sz="800">
                  <a:solidFill>
                    <a:schemeClr val="tx1"/>
                  </a:solidFill>
                  <a:latin typeface="Arial"/>
                  <a:cs typeface="Arial"/>
                </a:endParaRPr>
              </a:p>
            </p:txBody>
          </p:sp>
          <p:sp>
            <p:nvSpPr>
              <p:cNvPr id="172" name="object 27">
                <a:extLst>
                  <a:ext uri="{FF2B5EF4-FFF2-40B4-BE49-F238E27FC236}">
                    <a16:creationId xmlns:a16="http://schemas.microsoft.com/office/drawing/2014/main" id="{DABE74DC-80ED-472A-9BE5-28C119C1D573}"/>
                  </a:ext>
                </a:extLst>
              </p:cNvPr>
              <p:cNvSpPr txBox="1"/>
              <p:nvPr/>
            </p:nvSpPr>
            <p:spPr>
              <a:xfrm>
                <a:off x="5400675" y="5008049"/>
                <a:ext cx="429895" cy="135935"/>
              </a:xfrm>
              <a:prstGeom prst="rect">
                <a:avLst/>
              </a:prstGeom>
            </p:spPr>
            <p:txBody>
              <a:bodyPr vert="horz" wrap="square" lIns="0" tIns="12700" rIns="0" bIns="0" rtlCol="0">
                <a:spAutoFit/>
              </a:bodyPr>
              <a:lstStyle/>
              <a:p>
                <a:pPr marL="12700">
                  <a:lnSpc>
                    <a:spcPct val="100000"/>
                  </a:lnSpc>
                  <a:spcBef>
                    <a:spcPts val="100"/>
                  </a:spcBef>
                </a:pPr>
                <a:r>
                  <a:rPr sz="800" spc="-10" dirty="0">
                    <a:solidFill>
                      <a:schemeClr val="tx1"/>
                    </a:solidFill>
                    <a:latin typeface="Arial"/>
                    <a:cs typeface="Arial"/>
                  </a:rPr>
                  <a:t>Alabama</a:t>
                </a:r>
                <a:endParaRPr sz="800">
                  <a:solidFill>
                    <a:schemeClr val="tx1"/>
                  </a:solidFill>
                  <a:latin typeface="Arial"/>
                  <a:cs typeface="Arial"/>
                </a:endParaRPr>
              </a:p>
            </p:txBody>
          </p:sp>
          <p:sp>
            <p:nvSpPr>
              <p:cNvPr id="173" name="object 28">
                <a:extLst>
                  <a:ext uri="{FF2B5EF4-FFF2-40B4-BE49-F238E27FC236}">
                    <a16:creationId xmlns:a16="http://schemas.microsoft.com/office/drawing/2014/main" id="{AF686C96-915F-44C0-B20F-AC3385DE5AE7}"/>
                  </a:ext>
                </a:extLst>
              </p:cNvPr>
              <p:cNvSpPr txBox="1"/>
              <p:nvPr/>
            </p:nvSpPr>
            <p:spPr>
              <a:xfrm>
                <a:off x="5881705" y="4909821"/>
                <a:ext cx="387350" cy="135935"/>
              </a:xfrm>
              <a:prstGeom prst="rect">
                <a:avLst/>
              </a:prstGeom>
            </p:spPr>
            <p:txBody>
              <a:bodyPr vert="horz" wrap="square" lIns="0" tIns="12700" rIns="0" bIns="0" rtlCol="0">
                <a:spAutoFit/>
              </a:bodyPr>
              <a:lstStyle/>
              <a:p>
                <a:pPr marL="12700">
                  <a:lnSpc>
                    <a:spcPct val="100000"/>
                  </a:lnSpc>
                  <a:spcBef>
                    <a:spcPts val="100"/>
                  </a:spcBef>
                </a:pPr>
                <a:r>
                  <a:rPr sz="800" spc="-10" dirty="0">
                    <a:solidFill>
                      <a:schemeClr val="tx1"/>
                    </a:solidFill>
                    <a:latin typeface="Arial"/>
                    <a:cs typeface="Arial"/>
                  </a:rPr>
                  <a:t>Georgia</a:t>
                </a:r>
                <a:endParaRPr sz="800">
                  <a:solidFill>
                    <a:schemeClr val="tx1"/>
                  </a:solidFill>
                  <a:latin typeface="Arial"/>
                  <a:cs typeface="Arial"/>
                </a:endParaRPr>
              </a:p>
            </p:txBody>
          </p:sp>
          <p:sp>
            <p:nvSpPr>
              <p:cNvPr id="174" name="object 29">
                <a:extLst>
                  <a:ext uri="{FF2B5EF4-FFF2-40B4-BE49-F238E27FC236}">
                    <a16:creationId xmlns:a16="http://schemas.microsoft.com/office/drawing/2014/main" id="{7D3CB09C-7EBA-4EE5-986B-F449581536D1}"/>
                  </a:ext>
                </a:extLst>
              </p:cNvPr>
              <p:cNvSpPr txBox="1"/>
              <p:nvPr/>
            </p:nvSpPr>
            <p:spPr>
              <a:xfrm>
                <a:off x="6711950" y="3415174"/>
                <a:ext cx="167640" cy="237244"/>
              </a:xfrm>
              <a:prstGeom prst="rect">
                <a:avLst/>
              </a:prstGeom>
            </p:spPr>
            <p:txBody>
              <a:bodyPr vert="horz" wrap="square" lIns="0" tIns="41910" rIns="0" bIns="0" rtlCol="0">
                <a:spAutoFit/>
              </a:bodyPr>
              <a:lstStyle/>
              <a:p>
                <a:pPr marL="12700">
                  <a:lnSpc>
                    <a:spcPct val="100000"/>
                  </a:lnSpc>
                  <a:spcBef>
                    <a:spcPts val="330"/>
                  </a:spcBef>
                </a:pPr>
                <a:r>
                  <a:rPr sz="600" spc="-25" dirty="0">
                    <a:solidFill>
                      <a:schemeClr val="tx1"/>
                    </a:solidFill>
                    <a:latin typeface="Arial"/>
                    <a:cs typeface="Arial"/>
                  </a:rPr>
                  <a:t>MD</a:t>
                </a:r>
                <a:endParaRPr sz="600">
                  <a:solidFill>
                    <a:schemeClr val="tx1"/>
                  </a:solidFill>
                  <a:latin typeface="Arial"/>
                  <a:cs typeface="Arial"/>
                </a:endParaRPr>
              </a:p>
              <a:p>
                <a:pPr marL="63500">
                  <a:lnSpc>
                    <a:spcPct val="100000"/>
                  </a:lnSpc>
                  <a:spcBef>
                    <a:spcPts val="195"/>
                  </a:spcBef>
                </a:pPr>
                <a:r>
                  <a:rPr sz="500" spc="-25" dirty="0">
                    <a:solidFill>
                      <a:schemeClr val="tx1"/>
                    </a:solidFill>
                    <a:latin typeface="Arial"/>
                    <a:cs typeface="Arial"/>
                  </a:rPr>
                  <a:t>DC</a:t>
                </a:r>
                <a:endParaRPr sz="500">
                  <a:solidFill>
                    <a:schemeClr val="tx1"/>
                  </a:solidFill>
                  <a:latin typeface="Arial"/>
                  <a:cs typeface="Arial"/>
                </a:endParaRPr>
              </a:p>
            </p:txBody>
          </p:sp>
          <p:sp>
            <p:nvSpPr>
              <p:cNvPr id="175" name="object 30">
                <a:extLst>
                  <a:ext uri="{FF2B5EF4-FFF2-40B4-BE49-F238E27FC236}">
                    <a16:creationId xmlns:a16="http://schemas.microsoft.com/office/drawing/2014/main" id="{FFA47D16-B29E-4467-BE75-D18EBBD3388C}"/>
                  </a:ext>
                </a:extLst>
              </p:cNvPr>
              <p:cNvSpPr txBox="1"/>
              <p:nvPr/>
            </p:nvSpPr>
            <p:spPr>
              <a:xfrm>
                <a:off x="7194548" y="2157422"/>
                <a:ext cx="301625" cy="136576"/>
              </a:xfrm>
              <a:prstGeom prst="rect">
                <a:avLst/>
              </a:prstGeom>
            </p:spPr>
            <p:txBody>
              <a:bodyPr vert="horz" wrap="square" lIns="0" tIns="13335" rIns="0" bIns="0" rtlCol="0">
                <a:spAutoFit/>
              </a:bodyPr>
              <a:lstStyle/>
              <a:p>
                <a:pPr marL="12700">
                  <a:lnSpc>
                    <a:spcPct val="100000"/>
                  </a:lnSpc>
                  <a:spcBef>
                    <a:spcPts val="105"/>
                  </a:spcBef>
                </a:pPr>
                <a:r>
                  <a:rPr sz="800" spc="-10" dirty="0">
                    <a:solidFill>
                      <a:schemeClr val="tx1"/>
                    </a:solidFill>
                    <a:latin typeface="Arial"/>
                    <a:cs typeface="Arial"/>
                  </a:rPr>
                  <a:t>Maine</a:t>
                </a:r>
                <a:endParaRPr sz="800">
                  <a:solidFill>
                    <a:schemeClr val="tx1"/>
                  </a:solidFill>
                  <a:latin typeface="Arial"/>
                  <a:cs typeface="Arial"/>
                </a:endParaRPr>
              </a:p>
            </p:txBody>
          </p:sp>
          <p:sp>
            <p:nvSpPr>
              <p:cNvPr id="176" name="object 31">
                <a:extLst>
                  <a:ext uri="{FF2B5EF4-FFF2-40B4-BE49-F238E27FC236}">
                    <a16:creationId xmlns:a16="http://schemas.microsoft.com/office/drawing/2014/main" id="{AF38ED9C-DD1A-4309-AB0B-0A1144046CB0}"/>
                  </a:ext>
                </a:extLst>
              </p:cNvPr>
              <p:cNvSpPr txBox="1"/>
              <p:nvPr/>
            </p:nvSpPr>
            <p:spPr>
              <a:xfrm>
                <a:off x="6964364" y="2471202"/>
                <a:ext cx="121920" cy="105157"/>
              </a:xfrm>
              <a:prstGeom prst="rect">
                <a:avLst/>
              </a:prstGeom>
            </p:spPr>
            <p:txBody>
              <a:bodyPr vert="horz" wrap="square" lIns="0" tIns="12700" rIns="0" bIns="0" rtlCol="0">
                <a:spAutoFit/>
              </a:bodyPr>
              <a:lstStyle/>
              <a:p>
                <a:pPr marL="12700">
                  <a:lnSpc>
                    <a:spcPct val="100000"/>
                  </a:lnSpc>
                  <a:spcBef>
                    <a:spcPts val="100"/>
                  </a:spcBef>
                </a:pPr>
                <a:r>
                  <a:rPr sz="600" spc="-25" dirty="0">
                    <a:solidFill>
                      <a:schemeClr val="tx1"/>
                    </a:solidFill>
                    <a:latin typeface="Arial"/>
                    <a:cs typeface="Arial"/>
                  </a:rPr>
                  <a:t>VT</a:t>
                </a:r>
                <a:endParaRPr sz="600">
                  <a:solidFill>
                    <a:schemeClr val="tx1"/>
                  </a:solidFill>
                  <a:latin typeface="Arial"/>
                  <a:cs typeface="Arial"/>
                </a:endParaRPr>
              </a:p>
            </p:txBody>
          </p:sp>
          <p:sp>
            <p:nvSpPr>
              <p:cNvPr id="177" name="object 32">
                <a:extLst>
                  <a:ext uri="{FF2B5EF4-FFF2-40B4-BE49-F238E27FC236}">
                    <a16:creationId xmlns:a16="http://schemas.microsoft.com/office/drawing/2014/main" id="{77921744-85C2-4C35-9DD3-CE6F9165B6F5}"/>
                  </a:ext>
                </a:extLst>
              </p:cNvPr>
              <p:cNvSpPr txBox="1"/>
              <p:nvPr/>
            </p:nvSpPr>
            <p:spPr>
              <a:xfrm>
                <a:off x="7097714" y="2537192"/>
                <a:ext cx="135255" cy="105157"/>
              </a:xfrm>
              <a:prstGeom prst="rect">
                <a:avLst/>
              </a:prstGeom>
            </p:spPr>
            <p:txBody>
              <a:bodyPr vert="horz" wrap="square" lIns="0" tIns="12700" rIns="0" bIns="0" rtlCol="0">
                <a:spAutoFit/>
              </a:bodyPr>
              <a:lstStyle/>
              <a:p>
                <a:pPr marL="12700">
                  <a:lnSpc>
                    <a:spcPct val="100000"/>
                  </a:lnSpc>
                  <a:spcBef>
                    <a:spcPts val="100"/>
                  </a:spcBef>
                </a:pPr>
                <a:r>
                  <a:rPr sz="600" spc="-25" dirty="0">
                    <a:solidFill>
                      <a:schemeClr val="tx1"/>
                    </a:solidFill>
                    <a:latin typeface="Arial"/>
                    <a:cs typeface="Arial"/>
                  </a:rPr>
                  <a:t>NH</a:t>
                </a:r>
                <a:endParaRPr sz="600">
                  <a:solidFill>
                    <a:schemeClr val="tx1"/>
                  </a:solidFill>
                  <a:latin typeface="Arial"/>
                  <a:cs typeface="Arial"/>
                </a:endParaRPr>
              </a:p>
            </p:txBody>
          </p:sp>
          <p:sp>
            <p:nvSpPr>
              <p:cNvPr id="178" name="object 33">
                <a:extLst>
                  <a:ext uri="{FF2B5EF4-FFF2-40B4-BE49-F238E27FC236}">
                    <a16:creationId xmlns:a16="http://schemas.microsoft.com/office/drawing/2014/main" id="{83BE0F50-A543-4F57-BB01-A0AE4A53BAAB}"/>
                  </a:ext>
                </a:extLst>
              </p:cNvPr>
              <p:cNvSpPr txBox="1"/>
              <p:nvPr/>
            </p:nvSpPr>
            <p:spPr>
              <a:xfrm>
                <a:off x="7221539" y="2796143"/>
                <a:ext cx="101600" cy="105157"/>
              </a:xfrm>
              <a:prstGeom prst="rect">
                <a:avLst/>
              </a:prstGeom>
            </p:spPr>
            <p:txBody>
              <a:bodyPr vert="horz" wrap="square" lIns="0" tIns="12700" rIns="0" bIns="0" rtlCol="0">
                <a:spAutoFit/>
              </a:bodyPr>
              <a:lstStyle/>
              <a:p>
                <a:pPr marL="12700">
                  <a:lnSpc>
                    <a:spcPct val="100000"/>
                  </a:lnSpc>
                  <a:spcBef>
                    <a:spcPts val="100"/>
                  </a:spcBef>
                </a:pPr>
                <a:r>
                  <a:rPr sz="600" spc="-25" dirty="0">
                    <a:solidFill>
                      <a:schemeClr val="tx1"/>
                    </a:solidFill>
                    <a:latin typeface="Arial"/>
                    <a:cs typeface="Arial"/>
                  </a:rPr>
                  <a:t>RI</a:t>
                </a:r>
                <a:endParaRPr sz="600">
                  <a:solidFill>
                    <a:schemeClr val="tx1"/>
                  </a:solidFill>
                  <a:latin typeface="Arial"/>
                  <a:cs typeface="Arial"/>
                </a:endParaRPr>
              </a:p>
            </p:txBody>
          </p:sp>
          <p:sp>
            <p:nvSpPr>
              <p:cNvPr id="179" name="object 34">
                <a:extLst>
                  <a:ext uri="{FF2B5EF4-FFF2-40B4-BE49-F238E27FC236}">
                    <a16:creationId xmlns:a16="http://schemas.microsoft.com/office/drawing/2014/main" id="{FD28F4D8-9C7B-412A-B09B-9589F0473122}"/>
                  </a:ext>
                </a:extLst>
              </p:cNvPr>
              <p:cNvSpPr txBox="1"/>
              <p:nvPr/>
            </p:nvSpPr>
            <p:spPr>
              <a:xfrm>
                <a:off x="6937388" y="3481562"/>
                <a:ext cx="131445" cy="105157"/>
              </a:xfrm>
              <a:prstGeom prst="rect">
                <a:avLst/>
              </a:prstGeom>
            </p:spPr>
            <p:txBody>
              <a:bodyPr vert="horz" wrap="square" lIns="0" tIns="12700" rIns="0" bIns="0" rtlCol="0">
                <a:spAutoFit/>
              </a:bodyPr>
              <a:lstStyle/>
              <a:p>
                <a:pPr marL="12700">
                  <a:lnSpc>
                    <a:spcPct val="100000"/>
                  </a:lnSpc>
                  <a:spcBef>
                    <a:spcPts val="100"/>
                  </a:spcBef>
                </a:pPr>
                <a:r>
                  <a:rPr sz="600" spc="-25" dirty="0">
                    <a:solidFill>
                      <a:schemeClr val="tx1"/>
                    </a:solidFill>
                    <a:latin typeface="Arial"/>
                    <a:cs typeface="Arial"/>
                  </a:rPr>
                  <a:t>DE</a:t>
                </a:r>
                <a:endParaRPr sz="600">
                  <a:solidFill>
                    <a:schemeClr val="tx1"/>
                  </a:solidFill>
                  <a:latin typeface="Arial"/>
                  <a:cs typeface="Arial"/>
                </a:endParaRPr>
              </a:p>
            </p:txBody>
          </p:sp>
          <p:sp>
            <p:nvSpPr>
              <p:cNvPr id="180" name="object 54">
                <a:extLst>
                  <a:ext uri="{FF2B5EF4-FFF2-40B4-BE49-F238E27FC236}">
                    <a16:creationId xmlns:a16="http://schemas.microsoft.com/office/drawing/2014/main" id="{EDF47628-56CC-4486-87D3-C73F1195992F}"/>
                  </a:ext>
                </a:extLst>
              </p:cNvPr>
              <p:cNvSpPr txBox="1"/>
              <p:nvPr/>
            </p:nvSpPr>
            <p:spPr>
              <a:xfrm>
                <a:off x="7350608" y="4857436"/>
                <a:ext cx="1707746" cy="382156"/>
              </a:xfrm>
              <a:prstGeom prst="rect">
                <a:avLst/>
              </a:prstGeom>
            </p:spPr>
            <p:txBody>
              <a:bodyPr vert="horz" wrap="square" lIns="0" tIns="12700" rIns="0" bIns="0" rtlCol="0">
                <a:spAutoFit/>
              </a:bodyPr>
              <a:lstStyle/>
              <a:p>
                <a:pPr marL="38100">
                  <a:spcBef>
                    <a:spcPts val="100"/>
                  </a:spcBef>
                </a:pPr>
                <a:r>
                  <a:rPr sz="1200" b="1" dirty="0">
                    <a:solidFill>
                      <a:schemeClr val="tx1"/>
                    </a:solidFill>
                    <a:latin typeface="Arial"/>
                    <a:cs typeface="Arial"/>
                  </a:rPr>
                  <a:t>81</a:t>
                </a:r>
                <a:r>
                  <a:rPr sz="1200" b="1" baseline="24305" dirty="0">
                    <a:solidFill>
                      <a:schemeClr val="tx1"/>
                    </a:solidFill>
                    <a:latin typeface="Arial"/>
                    <a:cs typeface="Arial"/>
                  </a:rPr>
                  <a:t>st</a:t>
                </a:r>
                <a:r>
                  <a:rPr sz="1200" b="1" spc="97" baseline="24305" dirty="0">
                    <a:solidFill>
                      <a:schemeClr val="tx1"/>
                    </a:solidFill>
                    <a:latin typeface="Arial"/>
                    <a:cs typeface="Arial"/>
                  </a:rPr>
                  <a:t> </a:t>
                </a:r>
                <a:r>
                  <a:rPr lang="en-US" sz="1200" b="1" spc="-25" dirty="0">
                    <a:solidFill>
                      <a:schemeClr val="tx1"/>
                    </a:solidFill>
                    <a:latin typeface="Arial"/>
                    <a:cs typeface="Arial"/>
                  </a:rPr>
                  <a:t>Readiness Division</a:t>
                </a:r>
                <a:endParaRPr sz="1200" dirty="0">
                  <a:solidFill>
                    <a:schemeClr val="tx1"/>
                  </a:solidFill>
                  <a:latin typeface="Arial"/>
                  <a:cs typeface="Arial"/>
                </a:endParaRPr>
              </a:p>
              <a:p>
                <a:pPr marL="38100">
                  <a:lnSpc>
                    <a:spcPct val="100000"/>
                  </a:lnSpc>
                </a:pPr>
                <a:r>
                  <a:rPr sz="1200" b="1" dirty="0">
                    <a:solidFill>
                      <a:schemeClr val="tx1"/>
                    </a:solidFill>
                    <a:latin typeface="Arial"/>
                    <a:cs typeface="Arial"/>
                  </a:rPr>
                  <a:t>Ft</a:t>
                </a:r>
                <a:r>
                  <a:rPr sz="1200" b="1" spc="-15" dirty="0">
                    <a:solidFill>
                      <a:schemeClr val="tx1"/>
                    </a:solidFill>
                    <a:latin typeface="Arial"/>
                    <a:cs typeface="Arial"/>
                  </a:rPr>
                  <a:t> </a:t>
                </a:r>
                <a:r>
                  <a:rPr sz="1200" b="1" dirty="0">
                    <a:solidFill>
                      <a:schemeClr val="tx1"/>
                    </a:solidFill>
                    <a:latin typeface="Arial"/>
                    <a:cs typeface="Arial"/>
                  </a:rPr>
                  <a:t>Jackson,</a:t>
                </a:r>
                <a:r>
                  <a:rPr sz="1200" b="1" spc="-40" dirty="0">
                    <a:solidFill>
                      <a:schemeClr val="tx1"/>
                    </a:solidFill>
                    <a:latin typeface="Arial"/>
                    <a:cs typeface="Arial"/>
                  </a:rPr>
                  <a:t> </a:t>
                </a:r>
                <a:r>
                  <a:rPr sz="1200" b="1" spc="-25" dirty="0">
                    <a:solidFill>
                      <a:schemeClr val="tx1"/>
                    </a:solidFill>
                    <a:latin typeface="Arial"/>
                    <a:cs typeface="Arial"/>
                  </a:rPr>
                  <a:t>SC</a:t>
                </a:r>
                <a:endParaRPr sz="1200" dirty="0">
                  <a:solidFill>
                    <a:schemeClr val="tx1"/>
                  </a:solidFill>
                  <a:latin typeface="Arial"/>
                  <a:cs typeface="Arial"/>
                </a:endParaRPr>
              </a:p>
            </p:txBody>
          </p:sp>
          <p:pic>
            <p:nvPicPr>
              <p:cNvPr id="181" name="object 56">
                <a:extLst>
                  <a:ext uri="{FF2B5EF4-FFF2-40B4-BE49-F238E27FC236}">
                    <a16:creationId xmlns:a16="http://schemas.microsoft.com/office/drawing/2014/main" id="{250BBBA0-DDFA-4A58-804A-B073338575F4}"/>
                  </a:ext>
                </a:extLst>
              </p:cNvPr>
              <p:cNvPicPr/>
              <p:nvPr/>
            </p:nvPicPr>
            <p:blipFill>
              <a:blip r:embed="rId4" cstate="print"/>
              <a:stretch>
                <a:fillRect/>
              </a:stretch>
            </p:blipFill>
            <p:spPr>
              <a:xfrm>
                <a:off x="4805405" y="2673518"/>
                <a:ext cx="259079" cy="274319"/>
              </a:xfrm>
              <a:prstGeom prst="rect">
                <a:avLst/>
              </a:prstGeom>
            </p:spPr>
          </p:pic>
          <p:pic>
            <p:nvPicPr>
              <p:cNvPr id="182" name="object 57">
                <a:extLst>
                  <a:ext uri="{FF2B5EF4-FFF2-40B4-BE49-F238E27FC236}">
                    <a16:creationId xmlns:a16="http://schemas.microsoft.com/office/drawing/2014/main" id="{B871A8C8-C1ED-41E6-8D50-E56E0955D22E}"/>
                  </a:ext>
                </a:extLst>
              </p:cNvPr>
              <p:cNvPicPr/>
              <p:nvPr/>
            </p:nvPicPr>
            <p:blipFill>
              <a:blip r:embed="rId5" cstate="print"/>
              <a:stretch>
                <a:fillRect/>
              </a:stretch>
            </p:blipFill>
            <p:spPr>
              <a:xfrm>
                <a:off x="4805405" y="2673518"/>
                <a:ext cx="103670" cy="86880"/>
              </a:xfrm>
              <a:prstGeom prst="rect">
                <a:avLst/>
              </a:prstGeom>
            </p:spPr>
          </p:pic>
          <p:pic>
            <p:nvPicPr>
              <p:cNvPr id="183" name="object 58">
                <a:extLst>
                  <a:ext uri="{FF2B5EF4-FFF2-40B4-BE49-F238E27FC236}">
                    <a16:creationId xmlns:a16="http://schemas.microsoft.com/office/drawing/2014/main" id="{8FBC2B23-D22E-48B1-8E2C-5100CF23B371}"/>
                  </a:ext>
                </a:extLst>
              </p:cNvPr>
              <p:cNvPicPr/>
              <p:nvPr/>
            </p:nvPicPr>
            <p:blipFill>
              <a:blip r:embed="rId6" cstate="print"/>
              <a:stretch>
                <a:fillRect/>
              </a:stretch>
            </p:blipFill>
            <p:spPr>
              <a:xfrm>
                <a:off x="4792394" y="2665246"/>
                <a:ext cx="233362" cy="244475"/>
              </a:xfrm>
              <a:prstGeom prst="rect">
                <a:avLst/>
              </a:prstGeom>
            </p:spPr>
          </p:pic>
          <p:pic>
            <p:nvPicPr>
              <p:cNvPr id="184" name="object 59">
                <a:extLst>
                  <a:ext uri="{FF2B5EF4-FFF2-40B4-BE49-F238E27FC236}">
                    <a16:creationId xmlns:a16="http://schemas.microsoft.com/office/drawing/2014/main" id="{96D8D202-6E2A-4A00-9979-1F486DDC3FF3}"/>
                  </a:ext>
                </a:extLst>
              </p:cNvPr>
              <p:cNvPicPr/>
              <p:nvPr/>
            </p:nvPicPr>
            <p:blipFill>
              <a:blip r:embed="rId7" cstate="print"/>
              <a:stretch>
                <a:fillRect/>
              </a:stretch>
            </p:blipFill>
            <p:spPr>
              <a:xfrm>
                <a:off x="6253205" y="4578519"/>
                <a:ext cx="259079" cy="274319"/>
              </a:xfrm>
              <a:prstGeom prst="rect">
                <a:avLst/>
              </a:prstGeom>
            </p:spPr>
          </p:pic>
          <p:pic>
            <p:nvPicPr>
              <p:cNvPr id="185" name="object 60">
                <a:extLst>
                  <a:ext uri="{FF2B5EF4-FFF2-40B4-BE49-F238E27FC236}">
                    <a16:creationId xmlns:a16="http://schemas.microsoft.com/office/drawing/2014/main" id="{8DF666BF-54EE-4558-8EFC-05CF0CE25415}"/>
                  </a:ext>
                </a:extLst>
              </p:cNvPr>
              <p:cNvPicPr/>
              <p:nvPr/>
            </p:nvPicPr>
            <p:blipFill>
              <a:blip r:embed="rId5" cstate="print"/>
              <a:stretch>
                <a:fillRect/>
              </a:stretch>
            </p:blipFill>
            <p:spPr>
              <a:xfrm>
                <a:off x="6253205" y="4578519"/>
                <a:ext cx="103885" cy="87198"/>
              </a:xfrm>
              <a:prstGeom prst="rect">
                <a:avLst/>
              </a:prstGeom>
            </p:spPr>
          </p:pic>
          <p:pic>
            <p:nvPicPr>
              <p:cNvPr id="186" name="object 61">
                <a:extLst>
                  <a:ext uri="{FF2B5EF4-FFF2-40B4-BE49-F238E27FC236}">
                    <a16:creationId xmlns:a16="http://schemas.microsoft.com/office/drawing/2014/main" id="{17CBF9C7-A221-4FF1-BE8A-4F45CE6705BA}"/>
                  </a:ext>
                </a:extLst>
              </p:cNvPr>
              <p:cNvPicPr/>
              <p:nvPr/>
            </p:nvPicPr>
            <p:blipFill>
              <a:blip r:embed="rId6" cstate="print"/>
              <a:stretch>
                <a:fillRect/>
              </a:stretch>
            </p:blipFill>
            <p:spPr>
              <a:xfrm>
                <a:off x="6240759" y="4570643"/>
                <a:ext cx="233362" cy="244475"/>
              </a:xfrm>
              <a:prstGeom prst="rect">
                <a:avLst/>
              </a:prstGeom>
            </p:spPr>
          </p:pic>
          <p:pic>
            <p:nvPicPr>
              <p:cNvPr id="187" name="object 62">
                <a:extLst>
                  <a:ext uri="{FF2B5EF4-FFF2-40B4-BE49-F238E27FC236}">
                    <a16:creationId xmlns:a16="http://schemas.microsoft.com/office/drawing/2014/main" id="{61EFDD6D-8428-41BD-AD51-D3BB5B31E6B7}"/>
                  </a:ext>
                </a:extLst>
              </p:cNvPr>
              <p:cNvPicPr/>
              <p:nvPr/>
            </p:nvPicPr>
            <p:blipFill>
              <a:blip r:embed="rId8" cstate="print"/>
              <a:stretch>
                <a:fillRect/>
              </a:stretch>
            </p:blipFill>
            <p:spPr>
              <a:xfrm>
                <a:off x="995405" y="3816519"/>
                <a:ext cx="259079" cy="274319"/>
              </a:xfrm>
              <a:prstGeom prst="rect">
                <a:avLst/>
              </a:prstGeom>
            </p:spPr>
          </p:pic>
          <p:pic>
            <p:nvPicPr>
              <p:cNvPr id="188" name="object 63">
                <a:extLst>
                  <a:ext uri="{FF2B5EF4-FFF2-40B4-BE49-F238E27FC236}">
                    <a16:creationId xmlns:a16="http://schemas.microsoft.com/office/drawing/2014/main" id="{61E34AC8-7DB4-4C18-8614-5F4FB360DE84}"/>
                  </a:ext>
                </a:extLst>
              </p:cNvPr>
              <p:cNvPicPr/>
              <p:nvPr/>
            </p:nvPicPr>
            <p:blipFill>
              <a:blip r:embed="rId5" cstate="print"/>
              <a:stretch>
                <a:fillRect/>
              </a:stretch>
            </p:blipFill>
            <p:spPr>
              <a:xfrm>
                <a:off x="995405" y="3816519"/>
                <a:ext cx="103733" cy="86855"/>
              </a:xfrm>
              <a:prstGeom prst="rect">
                <a:avLst/>
              </a:prstGeom>
            </p:spPr>
          </p:pic>
          <p:pic>
            <p:nvPicPr>
              <p:cNvPr id="189" name="object 64">
                <a:extLst>
                  <a:ext uri="{FF2B5EF4-FFF2-40B4-BE49-F238E27FC236}">
                    <a16:creationId xmlns:a16="http://schemas.microsoft.com/office/drawing/2014/main" id="{C7DD6F75-ED6D-4BEE-B2FC-08CB078F868C}"/>
                  </a:ext>
                </a:extLst>
              </p:cNvPr>
              <p:cNvPicPr/>
              <p:nvPr/>
            </p:nvPicPr>
            <p:blipFill>
              <a:blip r:embed="rId6" cstate="print"/>
              <a:stretch>
                <a:fillRect/>
              </a:stretch>
            </p:blipFill>
            <p:spPr>
              <a:xfrm>
                <a:off x="982959" y="3808643"/>
                <a:ext cx="233362" cy="244475"/>
              </a:xfrm>
              <a:prstGeom prst="rect">
                <a:avLst/>
              </a:prstGeom>
            </p:spPr>
          </p:pic>
          <p:pic>
            <p:nvPicPr>
              <p:cNvPr id="190" name="object 65">
                <a:extLst>
                  <a:ext uri="{FF2B5EF4-FFF2-40B4-BE49-F238E27FC236}">
                    <a16:creationId xmlns:a16="http://schemas.microsoft.com/office/drawing/2014/main" id="{503FCCC2-597B-4FE6-A781-D6530379F776}"/>
                  </a:ext>
                </a:extLst>
              </p:cNvPr>
              <p:cNvPicPr/>
              <p:nvPr/>
            </p:nvPicPr>
            <p:blipFill>
              <a:blip r:embed="rId8" cstate="print"/>
              <a:stretch>
                <a:fillRect/>
              </a:stretch>
            </p:blipFill>
            <p:spPr>
              <a:xfrm>
                <a:off x="6862805" y="3054518"/>
                <a:ext cx="259079" cy="274319"/>
              </a:xfrm>
              <a:prstGeom prst="rect">
                <a:avLst/>
              </a:prstGeom>
            </p:spPr>
          </p:pic>
          <p:pic>
            <p:nvPicPr>
              <p:cNvPr id="191" name="object 66">
                <a:extLst>
                  <a:ext uri="{FF2B5EF4-FFF2-40B4-BE49-F238E27FC236}">
                    <a16:creationId xmlns:a16="http://schemas.microsoft.com/office/drawing/2014/main" id="{3870DA85-895D-49BE-83D9-E28CC1056B89}"/>
                  </a:ext>
                </a:extLst>
              </p:cNvPr>
              <p:cNvPicPr/>
              <p:nvPr/>
            </p:nvPicPr>
            <p:blipFill>
              <a:blip r:embed="rId5" cstate="print"/>
              <a:stretch>
                <a:fillRect/>
              </a:stretch>
            </p:blipFill>
            <p:spPr>
              <a:xfrm>
                <a:off x="6862805" y="3054518"/>
                <a:ext cx="103568" cy="87045"/>
              </a:xfrm>
              <a:prstGeom prst="rect">
                <a:avLst/>
              </a:prstGeom>
            </p:spPr>
          </p:pic>
          <p:pic>
            <p:nvPicPr>
              <p:cNvPr id="192" name="object 67">
                <a:extLst>
                  <a:ext uri="{FF2B5EF4-FFF2-40B4-BE49-F238E27FC236}">
                    <a16:creationId xmlns:a16="http://schemas.microsoft.com/office/drawing/2014/main" id="{815ABA09-E98F-46E1-9185-96C62A334905}"/>
                  </a:ext>
                </a:extLst>
              </p:cNvPr>
              <p:cNvPicPr/>
              <p:nvPr/>
            </p:nvPicPr>
            <p:blipFill>
              <a:blip r:embed="rId6" cstate="print"/>
              <a:stretch>
                <a:fillRect/>
              </a:stretch>
            </p:blipFill>
            <p:spPr>
              <a:xfrm>
                <a:off x="6850359" y="3046643"/>
                <a:ext cx="233362" cy="244475"/>
              </a:xfrm>
              <a:prstGeom prst="rect">
                <a:avLst/>
              </a:prstGeom>
            </p:spPr>
          </p:pic>
          <p:sp>
            <p:nvSpPr>
              <p:cNvPr id="193" name="object 68">
                <a:extLst>
                  <a:ext uri="{FF2B5EF4-FFF2-40B4-BE49-F238E27FC236}">
                    <a16:creationId xmlns:a16="http://schemas.microsoft.com/office/drawing/2014/main" id="{4EFD7EEC-1E3D-4530-8768-D8ABCC9A6B13}"/>
                  </a:ext>
                </a:extLst>
              </p:cNvPr>
              <p:cNvSpPr txBox="1"/>
              <p:nvPr/>
            </p:nvSpPr>
            <p:spPr>
              <a:xfrm>
                <a:off x="190500" y="5011928"/>
                <a:ext cx="1887526" cy="382156"/>
              </a:xfrm>
              <a:prstGeom prst="rect">
                <a:avLst/>
              </a:prstGeom>
            </p:spPr>
            <p:txBody>
              <a:bodyPr vert="horz" wrap="square" lIns="0" tIns="12700" rIns="0" bIns="0" rtlCol="0">
                <a:spAutoFit/>
              </a:bodyPr>
              <a:lstStyle/>
              <a:p>
                <a:pPr marL="38100">
                  <a:lnSpc>
                    <a:spcPct val="100000"/>
                  </a:lnSpc>
                  <a:spcBef>
                    <a:spcPts val="100"/>
                  </a:spcBef>
                </a:pPr>
                <a:r>
                  <a:rPr sz="1200" b="1" dirty="0">
                    <a:solidFill>
                      <a:schemeClr val="tx1"/>
                    </a:solidFill>
                    <a:latin typeface="Arial"/>
                    <a:cs typeface="Arial"/>
                  </a:rPr>
                  <a:t>63</a:t>
                </a:r>
                <a:r>
                  <a:rPr sz="1200" b="1" baseline="24305" dirty="0">
                    <a:solidFill>
                      <a:schemeClr val="tx1"/>
                    </a:solidFill>
                    <a:latin typeface="Arial"/>
                    <a:cs typeface="Arial"/>
                  </a:rPr>
                  <a:t>rd</a:t>
                </a:r>
                <a:r>
                  <a:rPr sz="1200" b="1" spc="82" baseline="24305" dirty="0">
                    <a:solidFill>
                      <a:schemeClr val="tx1"/>
                    </a:solidFill>
                    <a:latin typeface="Arial"/>
                    <a:cs typeface="Arial"/>
                  </a:rPr>
                  <a:t> </a:t>
                </a:r>
                <a:r>
                  <a:rPr lang="en-US" sz="1200" b="1" spc="-25" dirty="0">
                    <a:solidFill>
                      <a:schemeClr val="tx1"/>
                    </a:solidFill>
                    <a:latin typeface="Arial"/>
                    <a:cs typeface="Arial"/>
                  </a:rPr>
                  <a:t>Readiness Division</a:t>
                </a:r>
                <a:endParaRPr lang="en-US" sz="1200" dirty="0">
                  <a:solidFill>
                    <a:schemeClr val="tx1"/>
                  </a:solidFill>
                  <a:latin typeface="Arial"/>
                  <a:cs typeface="Arial"/>
                </a:endParaRPr>
              </a:p>
              <a:p>
                <a:pPr marL="38100">
                  <a:lnSpc>
                    <a:spcPct val="100000"/>
                  </a:lnSpc>
                </a:pPr>
                <a:r>
                  <a:rPr lang="en-US" sz="1200" b="1" dirty="0">
                    <a:solidFill>
                      <a:schemeClr val="tx1"/>
                    </a:solidFill>
                    <a:latin typeface="Arial"/>
                    <a:cs typeface="Arial"/>
                  </a:rPr>
                  <a:t>Mountain View</a:t>
                </a:r>
                <a:r>
                  <a:rPr sz="1200" b="1" dirty="0">
                    <a:solidFill>
                      <a:schemeClr val="tx1"/>
                    </a:solidFill>
                    <a:latin typeface="Arial"/>
                    <a:cs typeface="Arial"/>
                  </a:rPr>
                  <a:t>,</a:t>
                </a:r>
                <a:r>
                  <a:rPr sz="1200" b="1" spc="-20" dirty="0">
                    <a:solidFill>
                      <a:schemeClr val="tx1"/>
                    </a:solidFill>
                    <a:latin typeface="Arial"/>
                    <a:cs typeface="Arial"/>
                  </a:rPr>
                  <a:t> </a:t>
                </a:r>
                <a:r>
                  <a:rPr sz="1200" b="1" spc="-25" dirty="0">
                    <a:solidFill>
                      <a:schemeClr val="tx1"/>
                    </a:solidFill>
                    <a:latin typeface="Arial"/>
                    <a:cs typeface="Arial"/>
                  </a:rPr>
                  <a:t>CA</a:t>
                </a:r>
                <a:endParaRPr sz="1200" dirty="0">
                  <a:solidFill>
                    <a:schemeClr val="tx1"/>
                  </a:solidFill>
                  <a:latin typeface="Arial"/>
                  <a:cs typeface="Arial"/>
                </a:endParaRPr>
              </a:p>
            </p:txBody>
          </p:sp>
          <p:grpSp>
            <p:nvGrpSpPr>
              <p:cNvPr id="194" name="object 69">
                <a:extLst>
                  <a:ext uri="{FF2B5EF4-FFF2-40B4-BE49-F238E27FC236}">
                    <a16:creationId xmlns:a16="http://schemas.microsoft.com/office/drawing/2014/main" id="{6A1D5281-7496-4417-8D74-44A1F83A5C6B}"/>
                  </a:ext>
                </a:extLst>
              </p:cNvPr>
              <p:cNvGrpSpPr/>
              <p:nvPr/>
            </p:nvGrpSpPr>
            <p:grpSpPr>
              <a:xfrm>
                <a:off x="846928" y="1900237"/>
                <a:ext cx="6701790" cy="3133725"/>
                <a:chOff x="846928" y="1900237"/>
                <a:chExt cx="6701790" cy="3133725"/>
              </a:xfrm>
            </p:grpSpPr>
            <p:sp>
              <p:nvSpPr>
                <p:cNvPr id="202" name="object 70">
                  <a:extLst>
                    <a:ext uri="{FF2B5EF4-FFF2-40B4-BE49-F238E27FC236}">
                      <a16:creationId xmlns:a16="http://schemas.microsoft.com/office/drawing/2014/main" id="{7A29BC92-9015-422D-BE78-C97650AC1D4D}"/>
                    </a:ext>
                  </a:extLst>
                </p:cNvPr>
                <p:cNvSpPr/>
                <p:nvPr/>
              </p:nvSpPr>
              <p:spPr>
                <a:xfrm>
                  <a:off x="4910932" y="1905000"/>
                  <a:ext cx="423545" cy="762000"/>
                </a:xfrm>
                <a:custGeom>
                  <a:avLst/>
                  <a:gdLst/>
                  <a:ahLst/>
                  <a:cxnLst/>
                  <a:rect l="l" t="t" r="r" b="b"/>
                  <a:pathLst>
                    <a:path w="423545" h="762000">
                      <a:moveTo>
                        <a:pt x="0" y="762000"/>
                      </a:moveTo>
                      <a:lnTo>
                        <a:pt x="423062" y="0"/>
                      </a:lnTo>
                    </a:path>
                  </a:pathLst>
                </a:custGeom>
                <a:ln w="9525">
                  <a:solidFill>
                    <a:srgbClr val="000000"/>
                  </a:solidFill>
                </a:ln>
              </p:spPr>
              <p:txBody>
                <a:bodyPr wrap="square" lIns="0" tIns="0" rIns="0" bIns="0" rtlCol="0"/>
                <a:lstStyle/>
                <a:p>
                  <a:endParaRPr>
                    <a:solidFill>
                      <a:schemeClr val="tx1"/>
                    </a:solidFill>
                  </a:endParaRPr>
                </a:p>
              </p:txBody>
            </p:sp>
            <p:sp>
              <p:nvSpPr>
                <p:cNvPr id="203" name="object 71">
                  <a:extLst>
                    <a:ext uri="{FF2B5EF4-FFF2-40B4-BE49-F238E27FC236}">
                      <a16:creationId xmlns:a16="http://schemas.microsoft.com/office/drawing/2014/main" id="{86C8F6CF-D722-40E5-A353-3385F0EBD918}"/>
                    </a:ext>
                  </a:extLst>
                </p:cNvPr>
                <p:cNvSpPr/>
                <p:nvPr/>
              </p:nvSpPr>
              <p:spPr>
                <a:xfrm>
                  <a:off x="851691" y="4041773"/>
                  <a:ext cx="181610" cy="987425"/>
                </a:xfrm>
                <a:custGeom>
                  <a:avLst/>
                  <a:gdLst/>
                  <a:ahLst/>
                  <a:cxnLst/>
                  <a:rect l="l" t="t" r="r" b="b"/>
                  <a:pathLst>
                    <a:path w="181609" h="987425">
                      <a:moveTo>
                        <a:pt x="181051" y="0"/>
                      </a:moveTo>
                      <a:lnTo>
                        <a:pt x="0" y="987424"/>
                      </a:lnTo>
                    </a:path>
                  </a:pathLst>
                </a:custGeom>
                <a:ln w="9525">
                  <a:solidFill>
                    <a:srgbClr val="000000"/>
                  </a:solidFill>
                </a:ln>
              </p:spPr>
              <p:txBody>
                <a:bodyPr wrap="square" lIns="0" tIns="0" rIns="0" bIns="0" rtlCol="0"/>
                <a:lstStyle/>
                <a:p>
                  <a:endParaRPr>
                    <a:solidFill>
                      <a:schemeClr val="tx1"/>
                    </a:solidFill>
                  </a:endParaRPr>
                </a:p>
              </p:txBody>
            </p:sp>
            <p:sp>
              <p:nvSpPr>
                <p:cNvPr id="204" name="object 72">
                  <a:extLst>
                    <a:ext uri="{FF2B5EF4-FFF2-40B4-BE49-F238E27FC236}">
                      <a16:creationId xmlns:a16="http://schemas.microsoft.com/office/drawing/2014/main" id="{50ED236A-FD77-4EAE-99E2-CF8D6A56993B}"/>
                    </a:ext>
                  </a:extLst>
                </p:cNvPr>
                <p:cNvSpPr/>
                <p:nvPr/>
              </p:nvSpPr>
              <p:spPr>
                <a:xfrm>
                  <a:off x="7078663" y="2819398"/>
                  <a:ext cx="465455" cy="317500"/>
                </a:xfrm>
                <a:custGeom>
                  <a:avLst/>
                  <a:gdLst/>
                  <a:ahLst/>
                  <a:cxnLst/>
                  <a:rect l="l" t="t" r="r" b="b"/>
                  <a:pathLst>
                    <a:path w="465454" h="317500">
                      <a:moveTo>
                        <a:pt x="0" y="317131"/>
                      </a:moveTo>
                      <a:lnTo>
                        <a:pt x="465137" y="0"/>
                      </a:lnTo>
                    </a:path>
                  </a:pathLst>
                </a:custGeom>
                <a:ln w="9525">
                  <a:solidFill>
                    <a:srgbClr val="000000"/>
                  </a:solidFill>
                </a:ln>
              </p:spPr>
              <p:txBody>
                <a:bodyPr wrap="square" lIns="0" tIns="0" rIns="0" bIns="0" rtlCol="0"/>
                <a:lstStyle/>
                <a:p>
                  <a:endParaRPr>
                    <a:solidFill>
                      <a:schemeClr val="tx1"/>
                    </a:solidFill>
                  </a:endParaRPr>
                </a:p>
              </p:txBody>
            </p:sp>
            <p:sp>
              <p:nvSpPr>
                <p:cNvPr id="205" name="object 73">
                  <a:extLst>
                    <a:ext uri="{FF2B5EF4-FFF2-40B4-BE49-F238E27FC236}">
                      <a16:creationId xmlns:a16="http://schemas.microsoft.com/office/drawing/2014/main" id="{511F48D7-20C7-4B01-B46E-4474638D7DB2}"/>
                    </a:ext>
                  </a:extLst>
                </p:cNvPr>
                <p:cNvSpPr/>
                <p:nvPr/>
              </p:nvSpPr>
              <p:spPr>
                <a:xfrm>
                  <a:off x="6469063" y="4660530"/>
                  <a:ext cx="846455" cy="292735"/>
                </a:xfrm>
                <a:custGeom>
                  <a:avLst/>
                  <a:gdLst/>
                  <a:ahLst/>
                  <a:cxnLst/>
                  <a:rect l="l" t="t" r="r" b="b"/>
                  <a:pathLst>
                    <a:path w="846454" h="292735">
                      <a:moveTo>
                        <a:pt x="0" y="0"/>
                      </a:moveTo>
                      <a:lnTo>
                        <a:pt x="846137" y="292468"/>
                      </a:lnTo>
                    </a:path>
                  </a:pathLst>
                </a:custGeom>
                <a:ln w="9525">
                  <a:solidFill>
                    <a:srgbClr val="000000"/>
                  </a:solidFill>
                </a:ln>
              </p:spPr>
              <p:txBody>
                <a:bodyPr wrap="square" lIns="0" tIns="0" rIns="0" bIns="0" rtlCol="0"/>
                <a:lstStyle/>
                <a:p>
                  <a:endParaRPr>
                    <a:solidFill>
                      <a:schemeClr val="tx1"/>
                    </a:solidFill>
                  </a:endParaRPr>
                </a:p>
              </p:txBody>
            </p:sp>
          </p:grpSp>
          <p:pic>
            <p:nvPicPr>
              <p:cNvPr id="195" name="object 93">
                <a:extLst>
                  <a:ext uri="{FF2B5EF4-FFF2-40B4-BE49-F238E27FC236}">
                    <a16:creationId xmlns:a16="http://schemas.microsoft.com/office/drawing/2014/main" id="{FCEAD5DC-C9C4-4322-BE19-184D8CE906F3}"/>
                  </a:ext>
                </a:extLst>
              </p:cNvPr>
              <p:cNvPicPr/>
              <p:nvPr/>
            </p:nvPicPr>
            <p:blipFill>
              <a:blip r:embed="rId9" cstate="print"/>
              <a:stretch>
                <a:fillRect/>
              </a:stretch>
            </p:blipFill>
            <p:spPr>
              <a:xfrm>
                <a:off x="7379724" y="6430138"/>
                <a:ext cx="426719" cy="186689"/>
              </a:xfrm>
              <a:prstGeom prst="rect">
                <a:avLst/>
              </a:prstGeom>
            </p:spPr>
          </p:pic>
          <p:pic>
            <p:nvPicPr>
              <p:cNvPr id="196" name="object 95">
                <a:extLst>
                  <a:ext uri="{FF2B5EF4-FFF2-40B4-BE49-F238E27FC236}">
                    <a16:creationId xmlns:a16="http://schemas.microsoft.com/office/drawing/2014/main" id="{28268112-CB61-49A7-96ED-1FD5ECB0596A}"/>
                  </a:ext>
                </a:extLst>
              </p:cNvPr>
              <p:cNvPicPr/>
              <p:nvPr/>
            </p:nvPicPr>
            <p:blipFill>
              <a:blip r:embed="rId5" cstate="print"/>
              <a:stretch>
                <a:fillRect/>
              </a:stretch>
            </p:blipFill>
            <p:spPr>
              <a:xfrm>
                <a:off x="7397495" y="6326124"/>
                <a:ext cx="103758" cy="86906"/>
              </a:xfrm>
              <a:prstGeom prst="rect">
                <a:avLst/>
              </a:prstGeom>
            </p:spPr>
          </p:pic>
          <p:sp>
            <p:nvSpPr>
              <p:cNvPr id="197" name="object 53">
                <a:extLst>
                  <a:ext uri="{FF2B5EF4-FFF2-40B4-BE49-F238E27FC236}">
                    <a16:creationId xmlns:a16="http://schemas.microsoft.com/office/drawing/2014/main" id="{56599741-9291-4977-B0A3-30A05B75DE96}"/>
                  </a:ext>
                </a:extLst>
              </p:cNvPr>
              <p:cNvSpPr txBox="1"/>
              <p:nvPr/>
            </p:nvSpPr>
            <p:spPr>
              <a:xfrm>
                <a:off x="7452573" y="2471047"/>
                <a:ext cx="1715847" cy="394980"/>
              </a:xfrm>
              <a:prstGeom prst="rect">
                <a:avLst/>
              </a:prstGeom>
            </p:spPr>
            <p:txBody>
              <a:bodyPr vert="horz" wrap="square" lIns="0" tIns="12700" rIns="0" bIns="0" rtlCol="0">
                <a:spAutoFit/>
              </a:bodyPr>
              <a:lstStyle/>
              <a:p>
                <a:pPr marL="38100">
                  <a:lnSpc>
                    <a:spcPct val="100000"/>
                  </a:lnSpc>
                  <a:spcBef>
                    <a:spcPts val="100"/>
                  </a:spcBef>
                </a:pPr>
                <a:r>
                  <a:rPr sz="1200" b="1" dirty="0">
                    <a:solidFill>
                      <a:schemeClr val="tx1"/>
                    </a:solidFill>
                    <a:latin typeface="Arial"/>
                    <a:cs typeface="Arial"/>
                  </a:rPr>
                  <a:t>99</a:t>
                </a:r>
                <a:r>
                  <a:rPr sz="1200" b="1" baseline="24305" dirty="0">
                    <a:solidFill>
                      <a:schemeClr val="tx1"/>
                    </a:solidFill>
                    <a:latin typeface="Arial"/>
                    <a:cs typeface="Arial"/>
                  </a:rPr>
                  <a:t>th</a:t>
                </a:r>
                <a:r>
                  <a:rPr sz="1200" b="1" spc="82" baseline="24305" dirty="0">
                    <a:solidFill>
                      <a:schemeClr val="tx1"/>
                    </a:solidFill>
                    <a:latin typeface="Arial"/>
                    <a:cs typeface="Arial"/>
                  </a:rPr>
                  <a:t> </a:t>
                </a:r>
                <a:r>
                  <a:rPr lang="en-US" sz="1200" b="1" spc="-25" dirty="0">
                    <a:solidFill>
                      <a:schemeClr val="tx1"/>
                    </a:solidFill>
                    <a:latin typeface="Arial"/>
                    <a:cs typeface="Arial"/>
                  </a:rPr>
                  <a:t>Readiness Division</a:t>
                </a:r>
                <a:endParaRPr lang="en-US" sz="1200" spc="-25" dirty="0">
                  <a:solidFill>
                    <a:schemeClr val="tx1"/>
                  </a:solidFill>
                  <a:latin typeface="Arial"/>
                  <a:cs typeface="Arial"/>
                </a:endParaRPr>
              </a:p>
              <a:p>
                <a:pPr marL="38100">
                  <a:lnSpc>
                    <a:spcPct val="100000"/>
                  </a:lnSpc>
                  <a:spcBef>
                    <a:spcPts val="100"/>
                  </a:spcBef>
                </a:pPr>
                <a:r>
                  <a:rPr sz="1200" b="1" dirty="0">
                    <a:solidFill>
                      <a:schemeClr val="tx1"/>
                    </a:solidFill>
                    <a:latin typeface="Arial"/>
                    <a:cs typeface="Arial"/>
                  </a:rPr>
                  <a:t>Ft</a:t>
                </a:r>
                <a:r>
                  <a:rPr sz="1200" b="1" spc="-20" dirty="0">
                    <a:solidFill>
                      <a:schemeClr val="tx1"/>
                    </a:solidFill>
                    <a:latin typeface="Arial"/>
                    <a:cs typeface="Arial"/>
                  </a:rPr>
                  <a:t> </a:t>
                </a:r>
                <a:r>
                  <a:rPr sz="1200" b="1" dirty="0">
                    <a:solidFill>
                      <a:schemeClr val="tx1"/>
                    </a:solidFill>
                    <a:latin typeface="Arial"/>
                    <a:cs typeface="Arial"/>
                  </a:rPr>
                  <a:t>Dix,</a:t>
                </a:r>
                <a:r>
                  <a:rPr sz="1200" b="1" spc="-20" dirty="0">
                    <a:solidFill>
                      <a:schemeClr val="tx1"/>
                    </a:solidFill>
                    <a:latin typeface="Arial"/>
                    <a:cs typeface="Arial"/>
                  </a:rPr>
                  <a:t> </a:t>
                </a:r>
                <a:r>
                  <a:rPr sz="1200" b="1" spc="-25" dirty="0">
                    <a:solidFill>
                      <a:schemeClr val="tx1"/>
                    </a:solidFill>
                    <a:latin typeface="Arial"/>
                    <a:cs typeface="Arial"/>
                  </a:rPr>
                  <a:t>NJ</a:t>
                </a:r>
                <a:endParaRPr sz="1200" dirty="0">
                  <a:solidFill>
                    <a:schemeClr val="tx1"/>
                  </a:solidFill>
                  <a:latin typeface="Arial"/>
                  <a:cs typeface="Arial"/>
                </a:endParaRPr>
              </a:p>
            </p:txBody>
          </p:sp>
          <p:sp>
            <p:nvSpPr>
              <p:cNvPr id="198" name="Callout: Line 197">
                <a:extLst>
                  <a:ext uri="{FF2B5EF4-FFF2-40B4-BE49-F238E27FC236}">
                    <a16:creationId xmlns:a16="http://schemas.microsoft.com/office/drawing/2014/main" id="{7AC3B96A-7C86-41D9-A3B2-ABD2A10976EB}"/>
                  </a:ext>
                </a:extLst>
              </p:cNvPr>
              <p:cNvSpPr/>
              <p:nvPr/>
            </p:nvSpPr>
            <p:spPr>
              <a:xfrm>
                <a:off x="7739201" y="3098040"/>
                <a:ext cx="1418796" cy="663178"/>
              </a:xfrm>
              <a:prstGeom prst="borderCallout1">
                <a:avLst>
                  <a:gd name="adj1" fmla="val 52083"/>
                  <a:gd name="adj2" fmla="val 129"/>
                  <a:gd name="adj3" fmla="val 81324"/>
                  <a:gd name="adj4" fmla="val -65377"/>
                </a:avLst>
              </a:prstGeom>
              <a:solidFill>
                <a:schemeClr val="bg1">
                  <a:lumMod val="95000"/>
                </a:schemeClr>
              </a:solidFill>
              <a:ln w="25400">
                <a:solidFill>
                  <a:schemeClr val="tx1"/>
                </a:solidFill>
                <a:tailEnd w="lg"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i="1" dirty="0">
                    <a:solidFill>
                      <a:schemeClr val="tx1"/>
                    </a:solidFill>
                  </a:rPr>
                  <a:t>OCAR - Fort Belvoir, VA</a:t>
                </a:r>
              </a:p>
            </p:txBody>
          </p:sp>
          <p:sp>
            <p:nvSpPr>
              <p:cNvPr id="199" name="Callout: Line 198">
                <a:extLst>
                  <a:ext uri="{FF2B5EF4-FFF2-40B4-BE49-F238E27FC236}">
                    <a16:creationId xmlns:a16="http://schemas.microsoft.com/office/drawing/2014/main" id="{84BC9749-9F18-4486-A203-1B80F795518F}"/>
                  </a:ext>
                </a:extLst>
              </p:cNvPr>
              <p:cNvSpPr/>
              <p:nvPr/>
            </p:nvSpPr>
            <p:spPr>
              <a:xfrm>
                <a:off x="7376991" y="3932755"/>
                <a:ext cx="1715847" cy="706473"/>
              </a:xfrm>
              <a:prstGeom prst="borderCallout1">
                <a:avLst>
                  <a:gd name="adj1" fmla="val 50109"/>
                  <a:gd name="adj2" fmla="val -637"/>
                  <a:gd name="adj3" fmla="val 57365"/>
                  <a:gd name="adj4" fmla="val -65525"/>
                </a:avLst>
              </a:prstGeom>
              <a:solidFill>
                <a:schemeClr val="bg1">
                  <a:lumMod val="95000"/>
                </a:schemeClr>
              </a:solidFill>
              <a:ln w="25400">
                <a:solidFill>
                  <a:schemeClr val="tx1"/>
                </a:solidFill>
                <a:tailEnd w="lg"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b="1" i="1" dirty="0">
                    <a:solidFill>
                      <a:schemeClr val="tx1"/>
                    </a:solidFill>
                  </a:rPr>
                  <a:t>USARC - Fort Bragg, NC</a:t>
                </a:r>
              </a:p>
            </p:txBody>
          </p:sp>
          <p:sp>
            <p:nvSpPr>
              <p:cNvPr id="200" name="Star: 5 Points 199">
                <a:extLst>
                  <a:ext uri="{FF2B5EF4-FFF2-40B4-BE49-F238E27FC236}">
                    <a16:creationId xmlns:a16="http://schemas.microsoft.com/office/drawing/2014/main" id="{3C33A469-0FC3-45E1-AE9D-2D51945CA0D4}"/>
                  </a:ext>
                </a:extLst>
              </p:cNvPr>
              <p:cNvSpPr/>
              <p:nvPr/>
            </p:nvSpPr>
            <p:spPr>
              <a:xfrm>
                <a:off x="6357090" y="4216225"/>
                <a:ext cx="213360" cy="283026"/>
              </a:xfrm>
              <a:prstGeom prst="star5">
                <a:avLst/>
              </a:prstGeom>
              <a:solidFill>
                <a:srgbClr val="1C1C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Star: 5 Points 200">
                <a:extLst>
                  <a:ext uri="{FF2B5EF4-FFF2-40B4-BE49-F238E27FC236}">
                    <a16:creationId xmlns:a16="http://schemas.microsoft.com/office/drawing/2014/main" id="{6D134D1B-F2A7-4B7C-A2DF-B5F09FAA5D90}"/>
                  </a:ext>
                </a:extLst>
              </p:cNvPr>
              <p:cNvSpPr/>
              <p:nvPr/>
            </p:nvSpPr>
            <p:spPr>
              <a:xfrm>
                <a:off x="6649445" y="3510905"/>
                <a:ext cx="213360" cy="283026"/>
              </a:xfrm>
              <a:prstGeom prst="star5">
                <a:avLst/>
              </a:prstGeom>
              <a:solidFill>
                <a:srgbClr val="1C1C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Callout: Line 206">
                <a:extLst>
                  <a:ext uri="{FF2B5EF4-FFF2-40B4-BE49-F238E27FC236}">
                    <a16:creationId xmlns:a16="http://schemas.microsoft.com/office/drawing/2014/main" id="{50A9D56F-3BD6-4E7B-9769-DD7F2E2A184C}"/>
                  </a:ext>
                </a:extLst>
              </p:cNvPr>
              <p:cNvSpPr/>
              <p:nvPr/>
            </p:nvSpPr>
            <p:spPr>
              <a:xfrm>
                <a:off x="7740087" y="3097456"/>
                <a:ext cx="1418796" cy="663178"/>
              </a:xfrm>
              <a:prstGeom prst="borderCallout1">
                <a:avLst>
                  <a:gd name="adj1" fmla="val 52083"/>
                  <a:gd name="adj2" fmla="val 129"/>
                  <a:gd name="adj3" fmla="val 81324"/>
                  <a:gd name="adj4" fmla="val -65377"/>
                </a:avLst>
              </a:prstGeom>
              <a:solidFill>
                <a:schemeClr val="bg1">
                  <a:lumMod val="40000"/>
                  <a:lumOff val="60000"/>
                </a:schemeClr>
              </a:solidFill>
              <a:ln w="25400">
                <a:solidFill>
                  <a:schemeClr val="tx1"/>
                </a:solidFill>
                <a:tailEnd w="lg"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i="1" dirty="0">
                    <a:solidFill>
                      <a:schemeClr val="tx1"/>
                    </a:solidFill>
                  </a:rPr>
                  <a:t>OCAR – Fort Belvoir, VA</a:t>
                </a:r>
              </a:p>
            </p:txBody>
          </p:sp>
          <p:sp>
            <p:nvSpPr>
              <p:cNvPr id="208" name="Callout: Line 207">
                <a:extLst>
                  <a:ext uri="{FF2B5EF4-FFF2-40B4-BE49-F238E27FC236}">
                    <a16:creationId xmlns:a16="http://schemas.microsoft.com/office/drawing/2014/main" id="{1F618E19-699B-48BC-ADB0-7263E623E868}"/>
                  </a:ext>
                </a:extLst>
              </p:cNvPr>
              <p:cNvSpPr/>
              <p:nvPr/>
            </p:nvSpPr>
            <p:spPr>
              <a:xfrm>
                <a:off x="7377878" y="3932171"/>
                <a:ext cx="1715847" cy="706473"/>
              </a:xfrm>
              <a:prstGeom prst="borderCallout1">
                <a:avLst>
                  <a:gd name="adj1" fmla="val 50109"/>
                  <a:gd name="adj2" fmla="val -637"/>
                  <a:gd name="adj3" fmla="val 60255"/>
                  <a:gd name="adj4" fmla="val -50445"/>
                </a:avLst>
              </a:prstGeom>
              <a:solidFill>
                <a:schemeClr val="bg1">
                  <a:lumMod val="40000"/>
                  <a:lumOff val="60000"/>
                </a:schemeClr>
              </a:solidFill>
              <a:ln w="25400">
                <a:solidFill>
                  <a:schemeClr val="tx1"/>
                </a:solidFill>
                <a:tailEnd w="lg"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b="1" i="1" dirty="0">
                    <a:solidFill>
                      <a:schemeClr val="tx1"/>
                    </a:solidFill>
                  </a:rPr>
                  <a:t>USARC – </a:t>
                </a:r>
              </a:p>
              <a:p>
                <a:pPr algn="ctr"/>
                <a:r>
                  <a:rPr lang="en-US" sz="1600" b="1" i="1" dirty="0">
                    <a:solidFill>
                      <a:schemeClr val="tx1"/>
                    </a:solidFill>
                  </a:rPr>
                  <a:t>Fort Liberty, NC</a:t>
                </a:r>
              </a:p>
            </p:txBody>
          </p:sp>
        </p:grpSp>
        <p:sp>
          <p:nvSpPr>
            <p:cNvPr id="206" name="object 54">
              <a:extLst>
                <a:ext uri="{FF2B5EF4-FFF2-40B4-BE49-F238E27FC236}">
                  <a16:creationId xmlns:a16="http://schemas.microsoft.com/office/drawing/2014/main" id="{484816F3-8D43-46F5-A5B1-421CB0576882}"/>
                </a:ext>
              </a:extLst>
            </p:cNvPr>
            <p:cNvSpPr txBox="1"/>
            <p:nvPr/>
          </p:nvSpPr>
          <p:spPr>
            <a:xfrm>
              <a:off x="9019432" y="6284120"/>
              <a:ext cx="1961409" cy="196424"/>
            </a:xfrm>
            <a:prstGeom prst="rect">
              <a:avLst/>
            </a:prstGeom>
          </p:spPr>
          <p:txBody>
            <a:bodyPr vert="horz" wrap="square" lIns="0" tIns="12700" rIns="0" bIns="0" rtlCol="0">
              <a:spAutoFit/>
            </a:bodyPr>
            <a:lstStyle/>
            <a:p>
              <a:pPr marL="38100">
                <a:spcBef>
                  <a:spcPts val="100"/>
                </a:spcBef>
              </a:pPr>
              <a:r>
                <a:rPr lang="en-US" sz="1200" b="1" dirty="0">
                  <a:solidFill>
                    <a:schemeClr val="tx1"/>
                  </a:solidFill>
                  <a:latin typeface="Arial"/>
                  <a:cs typeface="Arial"/>
                </a:rPr>
                <a:t>Puerto Rico</a:t>
              </a:r>
              <a:endParaRPr sz="1200" dirty="0">
                <a:solidFill>
                  <a:schemeClr val="tx1"/>
                </a:solidFill>
                <a:latin typeface="Arial"/>
                <a:cs typeface="Arial"/>
              </a:endParaRPr>
            </a:p>
          </p:txBody>
        </p:sp>
      </p:grpSp>
    </p:spTree>
    <p:extLst>
      <p:ext uri="{BB962C8B-B14F-4D97-AF65-F5344CB8AC3E}">
        <p14:creationId xmlns:p14="http://schemas.microsoft.com/office/powerpoint/2010/main" val="568029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7C6A61-AC52-B53A-366F-71497792D510}"/>
              </a:ext>
            </a:extLst>
          </p:cNvPr>
          <p:cNvSpPr>
            <a:spLocks noGrp="1"/>
          </p:cNvSpPr>
          <p:nvPr>
            <p:ph sz="quarter" idx="10"/>
          </p:nvPr>
        </p:nvSpPr>
        <p:spPr>
          <a:xfrm>
            <a:off x="266700" y="1028699"/>
            <a:ext cx="11693652" cy="5700320"/>
          </a:xfrm>
        </p:spPr>
        <p:txBody>
          <a:bodyPr numCol="1"/>
          <a:lstStyle/>
          <a:p>
            <a:pPr marL="342900" indent="-342900">
              <a:buFont typeface="Arial" panose="020B0604020202020204" pitchFamily="34" charset="0"/>
              <a:buChar char="•"/>
            </a:pPr>
            <a:r>
              <a:rPr lang="en-US" dirty="0"/>
              <a:t>The AR MILCON program has been centrally managed by the Louisville District since 1995</a:t>
            </a:r>
          </a:p>
          <a:p>
            <a:pPr marL="569913" lvl="1" indent="-342900">
              <a:buFont typeface="Arial" panose="020B0604020202020204" pitchFamily="34" charset="0"/>
              <a:buChar char="•"/>
            </a:pPr>
            <a:endParaRPr lang="en-US" sz="1400" dirty="0"/>
          </a:p>
          <a:p>
            <a:pPr marL="569913" lvl="1" indent="-342900">
              <a:buFont typeface="Arial" panose="020B0604020202020204" pitchFamily="34" charset="0"/>
              <a:buChar char="•"/>
            </a:pPr>
            <a:r>
              <a:rPr lang="en-US" dirty="0"/>
              <a:t>AR MILCON Opportunities thru LRL</a:t>
            </a:r>
          </a:p>
          <a:p>
            <a:pPr marL="804863" lvl="2" indent="-342900">
              <a:buFont typeface="+mj-lt"/>
              <a:buAutoNum type="arabicPeriod"/>
            </a:pPr>
            <a:endParaRPr lang="en-US" dirty="0"/>
          </a:p>
          <a:p>
            <a:pPr marL="804863" lvl="2" indent="-342900">
              <a:buFont typeface="+mj-lt"/>
              <a:buAutoNum type="arabicPeriod"/>
            </a:pPr>
            <a:r>
              <a:rPr lang="en-US" dirty="0"/>
              <a:t>Military Construction Army Reserve (MCAR)</a:t>
            </a:r>
          </a:p>
          <a:p>
            <a:pPr marL="804863" lvl="2" indent="-342900">
              <a:buFont typeface="+mj-lt"/>
              <a:buAutoNum type="arabicPeriod"/>
            </a:pPr>
            <a:endParaRPr lang="en-US" dirty="0"/>
          </a:p>
          <a:p>
            <a:pPr marL="804863" lvl="2" indent="-342900">
              <a:buFont typeface="+mj-lt"/>
              <a:buAutoNum type="arabicPeriod"/>
            </a:pPr>
            <a:r>
              <a:rPr lang="en-US" dirty="0"/>
              <a:t>Unspecified Minor Military Construction (UMMCR)</a:t>
            </a:r>
          </a:p>
          <a:p>
            <a:pPr marL="804863" lvl="2" indent="-342900">
              <a:buFont typeface="+mj-lt"/>
              <a:buAutoNum type="arabicPeriod"/>
            </a:pPr>
            <a:endParaRPr lang="en-US" dirty="0"/>
          </a:p>
          <a:p>
            <a:pPr marL="804863" lvl="2" indent="-342900">
              <a:buFont typeface="+mj-lt"/>
              <a:buAutoNum type="arabicPeriod"/>
            </a:pPr>
            <a:r>
              <a:rPr lang="en-US" dirty="0"/>
              <a:t>Maintenance &amp; Repair, Army Reserve (MRAR)</a:t>
            </a:r>
          </a:p>
          <a:p>
            <a:pPr marL="804863" lvl="2" indent="-342900">
              <a:buFont typeface="+mj-lt"/>
              <a:buAutoNum type="arabicPeriod"/>
            </a:pPr>
            <a:endParaRPr lang="en-US" dirty="0"/>
          </a:p>
          <a:p>
            <a:pPr marL="569913" lvl="1" indent="-342900">
              <a:buFont typeface="Arial" panose="020B0604020202020204" pitchFamily="34" charset="0"/>
              <a:buChar char="•"/>
            </a:pPr>
            <a:r>
              <a:rPr lang="en-US" dirty="0"/>
              <a:t> LRL partners with Geographic Districts for construction oversight and local expertise</a:t>
            </a:r>
          </a:p>
          <a:p>
            <a:pPr marL="804863" lvl="2" indent="-342900"/>
            <a:endParaRPr lang="en-US" dirty="0"/>
          </a:p>
          <a:p>
            <a:pPr marL="804863" lvl="2" indent="-342900"/>
            <a:r>
              <a:rPr lang="en-US" dirty="0">
                <a:highlight>
                  <a:srgbClr val="FFFFFF"/>
                </a:highlight>
              </a:rPr>
              <a:t>Louisville District (LRL) +  Roadrunner Resident Office (CESPL)</a:t>
            </a:r>
          </a:p>
          <a:p>
            <a:pPr marL="804863" lvl="2" indent="-342900"/>
            <a:endParaRPr lang="en-US" dirty="0">
              <a:highlight>
                <a:srgbClr val="FFFFFF"/>
              </a:highlight>
            </a:endParaRPr>
          </a:p>
          <a:p>
            <a:pPr marL="1030288" lvl="3" indent="-342900">
              <a:buFont typeface="Wingdings" panose="05000000000000000000" pitchFamily="2" charset="2"/>
              <a:buChar char="§"/>
            </a:pPr>
            <a:r>
              <a:rPr lang="en-US" dirty="0">
                <a:highlight>
                  <a:srgbClr val="FFFFFF"/>
                </a:highlight>
              </a:rPr>
              <a:t>Daniel Netherton, Administrative Contracting Officer (ACO)</a:t>
            </a:r>
          </a:p>
          <a:p>
            <a:pPr lvl="3" indent="0">
              <a:buNone/>
            </a:pPr>
            <a:endParaRPr lang="en-US" dirty="0">
              <a:highlight>
                <a:srgbClr val="FFFF00"/>
              </a:highlight>
            </a:endParaRPr>
          </a:p>
          <a:p>
            <a:pPr marL="1030288" lvl="3" indent="-342900">
              <a:buFont typeface="Wingdings" panose="05000000000000000000" pitchFamily="2" charset="2"/>
              <a:buChar char="§"/>
            </a:pPr>
            <a:r>
              <a:rPr lang="en-US" dirty="0">
                <a:highlight>
                  <a:srgbClr val="FFFFFF"/>
                </a:highlight>
              </a:rPr>
              <a:t>Stephanie Kenett, Contracting Officer’s Representative (COR)</a:t>
            </a:r>
          </a:p>
          <a:p>
            <a:pPr marL="1030288" lvl="3" indent="-342900"/>
            <a:endParaRPr lang="en-US" dirty="0">
              <a:highlight>
                <a:srgbClr val="FFFF00"/>
              </a:highlight>
            </a:endParaRPr>
          </a:p>
          <a:p>
            <a:pPr marL="804863" lvl="2" indent="-342900"/>
            <a:r>
              <a:rPr lang="en-US" dirty="0">
                <a:highlight>
                  <a:srgbClr val="FFFFFF"/>
                </a:highlight>
              </a:rPr>
              <a:t>Local District Construction Management Team (TBD)</a:t>
            </a:r>
            <a:endParaRPr lang="en-US" dirty="0">
              <a:highlight>
                <a:srgbClr val="FFFF00"/>
              </a:highlight>
            </a:endParaRPr>
          </a:p>
          <a:p>
            <a:pPr marL="1030288" lvl="3" indent="-342900">
              <a:buFont typeface="Wingdings" panose="05000000000000000000" pitchFamily="2" charset="2"/>
              <a:buChar char="§"/>
            </a:pPr>
            <a:r>
              <a:rPr lang="en-US" dirty="0">
                <a:highlight>
                  <a:srgbClr val="FFFFFF"/>
                </a:highlight>
              </a:rPr>
              <a:t>Administrative Contracting Officer (ACO) – Jeff Owens</a:t>
            </a:r>
          </a:p>
          <a:p>
            <a:pPr marL="1030288" lvl="3" indent="-342900">
              <a:buFont typeface="Wingdings" panose="05000000000000000000" pitchFamily="2" charset="2"/>
              <a:buChar char="§"/>
            </a:pPr>
            <a:endParaRPr lang="en-US" dirty="0">
              <a:highlight>
                <a:srgbClr val="FFFFFF"/>
              </a:highlight>
            </a:endParaRPr>
          </a:p>
          <a:p>
            <a:pPr marL="1030288" lvl="3" indent="-342900">
              <a:buFont typeface="Wingdings" panose="05000000000000000000" pitchFamily="2" charset="2"/>
              <a:buChar char="§"/>
            </a:pPr>
            <a:r>
              <a:rPr lang="en-US" dirty="0">
                <a:highlight>
                  <a:srgbClr val="FFFFFF"/>
                </a:highlight>
              </a:rPr>
              <a:t>Contracting Officer’s Representative (COR) – Elvis </a:t>
            </a:r>
            <a:r>
              <a:rPr lang="en-US" dirty="0" err="1">
                <a:highlight>
                  <a:srgbClr val="FFFFFF"/>
                </a:highlight>
              </a:rPr>
              <a:t>Garay</a:t>
            </a:r>
            <a:endParaRPr lang="en-US" dirty="0">
              <a:highlight>
                <a:srgbClr val="FFFFFF"/>
              </a:highlight>
            </a:endParaRPr>
          </a:p>
          <a:p>
            <a:pPr marL="569913" lvl="1" indent="-342900">
              <a:buFont typeface="Arial" panose="020B0604020202020204" pitchFamily="34" charset="0"/>
              <a:buChar char="•"/>
            </a:pPr>
            <a:endParaRPr lang="en-US" dirty="0"/>
          </a:p>
        </p:txBody>
      </p:sp>
      <p:sp>
        <p:nvSpPr>
          <p:cNvPr id="4" name="Title 3">
            <a:extLst>
              <a:ext uri="{FF2B5EF4-FFF2-40B4-BE49-F238E27FC236}">
                <a16:creationId xmlns:a16="http://schemas.microsoft.com/office/drawing/2014/main" id="{6747B6FF-BF00-DEA9-17D0-84178BBCF07E}"/>
              </a:ext>
            </a:extLst>
          </p:cNvPr>
          <p:cNvSpPr>
            <a:spLocks noGrp="1"/>
          </p:cNvSpPr>
          <p:nvPr>
            <p:ph type="title"/>
          </p:nvPr>
        </p:nvSpPr>
        <p:spPr/>
        <p:txBody>
          <a:bodyPr/>
          <a:lstStyle/>
          <a:p>
            <a:r>
              <a:rPr lang="en-US" dirty="0"/>
              <a:t>Army reserve MILCON program management</a:t>
            </a:r>
          </a:p>
        </p:txBody>
      </p:sp>
    </p:spTree>
    <p:extLst>
      <p:ext uri="{BB962C8B-B14F-4D97-AF65-F5344CB8AC3E}">
        <p14:creationId xmlns:p14="http://schemas.microsoft.com/office/powerpoint/2010/main" val="3312336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F17753-9EEE-5B93-434C-D6335BCC2DF5}"/>
              </a:ext>
            </a:extLst>
          </p:cNvPr>
          <p:cNvSpPr>
            <a:spLocks noGrp="1"/>
          </p:cNvSpPr>
          <p:nvPr>
            <p:ph type="title"/>
          </p:nvPr>
        </p:nvSpPr>
        <p:spPr/>
        <p:txBody>
          <a:bodyPr/>
          <a:lstStyle/>
          <a:p>
            <a:r>
              <a:rPr lang="en-US" dirty="0"/>
              <a:t>Army reserves </a:t>
            </a:r>
            <a:r>
              <a:rPr lang="en-US" dirty="0" err="1"/>
              <a:t>milcon</a:t>
            </a:r>
            <a:r>
              <a:rPr lang="en-US" dirty="0"/>
              <a:t> communication plan</a:t>
            </a:r>
          </a:p>
        </p:txBody>
      </p:sp>
      <p:pic>
        <p:nvPicPr>
          <p:cNvPr id="5" name="Content Placeholder 4">
            <a:extLst>
              <a:ext uri="{FF2B5EF4-FFF2-40B4-BE49-F238E27FC236}">
                <a16:creationId xmlns:a16="http://schemas.microsoft.com/office/drawing/2014/main" id="{DC819570-011D-1283-A7F7-0F98F9C9206E}"/>
              </a:ext>
            </a:extLst>
          </p:cNvPr>
          <p:cNvPicPr>
            <a:picLocks noGrp="1" noChangeAspect="1"/>
          </p:cNvPicPr>
          <p:nvPr>
            <p:ph sz="quarter" idx="10"/>
          </p:nvPr>
        </p:nvPicPr>
        <p:blipFill>
          <a:blip r:embed="rId2"/>
          <a:stretch>
            <a:fillRect/>
          </a:stretch>
        </p:blipFill>
        <p:spPr>
          <a:xfrm>
            <a:off x="2541431" y="1040774"/>
            <a:ext cx="7109138" cy="5576552"/>
          </a:xfrm>
          <a:prstGeom prst="rect">
            <a:avLst/>
          </a:prstGeom>
        </p:spPr>
      </p:pic>
    </p:spTree>
    <p:extLst>
      <p:ext uri="{BB962C8B-B14F-4D97-AF65-F5344CB8AC3E}">
        <p14:creationId xmlns:p14="http://schemas.microsoft.com/office/powerpoint/2010/main" val="1612300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A0DB522-41F8-04CF-CACE-8047203C6443}"/>
              </a:ext>
            </a:extLst>
          </p:cNvPr>
          <p:cNvSpPr>
            <a:spLocks noGrp="1"/>
          </p:cNvSpPr>
          <p:nvPr>
            <p:ph type="title"/>
          </p:nvPr>
        </p:nvSpPr>
        <p:spPr>
          <a:xfrm>
            <a:off x="902593" y="406072"/>
            <a:ext cx="10386814" cy="832920"/>
          </a:xfrm>
        </p:spPr>
        <p:txBody>
          <a:bodyPr/>
          <a:lstStyle/>
          <a:p>
            <a:pPr algn="ctr"/>
            <a:r>
              <a:rPr lang="en-US" sz="3200" dirty="0">
                <a:solidFill>
                  <a:schemeClr val="tx1"/>
                </a:solidFill>
              </a:rPr>
              <a:t>USACE PROCUREMENT PROCESS OVERVIEW</a:t>
            </a:r>
            <a:endParaRPr lang="en-US" dirty="0"/>
          </a:p>
        </p:txBody>
      </p:sp>
      <p:sp>
        <p:nvSpPr>
          <p:cNvPr id="8" name="Content Placeholder 7">
            <a:extLst>
              <a:ext uri="{FF2B5EF4-FFF2-40B4-BE49-F238E27FC236}">
                <a16:creationId xmlns:a16="http://schemas.microsoft.com/office/drawing/2014/main" id="{B646B137-090B-E8AE-BB6E-88BDA8E89A9F}"/>
              </a:ext>
            </a:extLst>
          </p:cNvPr>
          <p:cNvSpPr>
            <a:spLocks noGrp="1"/>
          </p:cNvSpPr>
          <p:nvPr>
            <p:ph sz="quarter" idx="10"/>
          </p:nvPr>
        </p:nvSpPr>
        <p:spPr>
          <a:xfrm>
            <a:off x="277210" y="1027386"/>
            <a:ext cx="5598523" cy="5600700"/>
          </a:xfrm>
        </p:spPr>
        <p:txBody>
          <a:bodyPr/>
          <a:lstStyle/>
          <a:p>
            <a:pPr algn="ctr"/>
            <a:endParaRPr lang="en-US" dirty="0"/>
          </a:p>
          <a:p>
            <a:pPr algn="ctr"/>
            <a:r>
              <a:rPr lang="en-US" sz="2800" b="1" dirty="0">
                <a:solidFill>
                  <a:srgbClr val="FF0000"/>
                </a:solidFill>
                <a:latin typeface="Calibri" panose="020F0502020204030204" pitchFamily="34" charset="0"/>
                <a:cs typeface="Calibri" panose="020F0502020204030204" pitchFamily="34" charset="0"/>
              </a:rPr>
              <a:t>Newtown Square Project</a:t>
            </a:r>
          </a:p>
          <a:p>
            <a:pPr algn="ctr"/>
            <a:endParaRPr lang="en-US" sz="2800" b="1" dirty="0">
              <a:latin typeface="Calibri" panose="020F0502020204030204" pitchFamily="34" charset="0"/>
              <a:cs typeface="Calibri" panose="020F0502020204030204" pitchFamily="34" charset="0"/>
            </a:endParaRPr>
          </a:p>
          <a:p>
            <a:pPr algn="ctr"/>
            <a:r>
              <a:rPr lang="en-US" sz="2800" b="1" dirty="0">
                <a:latin typeface="Calibri" panose="020F0502020204030204" pitchFamily="34" charset="0"/>
                <a:cs typeface="Calibri" panose="020F0502020204030204" pitchFamily="34" charset="0"/>
              </a:rPr>
              <a:t>Ryan King</a:t>
            </a:r>
          </a:p>
          <a:p>
            <a:pPr algn="ctr"/>
            <a:r>
              <a:rPr lang="en-US" sz="2800" dirty="0">
                <a:latin typeface="Calibri" panose="020F0502020204030204" pitchFamily="34" charset="0"/>
                <a:cs typeface="Calibri" panose="020F0502020204030204" pitchFamily="34" charset="0"/>
              </a:rPr>
              <a:t>Contract Specialist </a:t>
            </a:r>
          </a:p>
          <a:p>
            <a:pPr algn="ctr"/>
            <a:r>
              <a:rPr lang="en-US" sz="2800" dirty="0">
                <a:latin typeface="Calibri" panose="020F0502020204030204" pitchFamily="34" charset="0"/>
                <a:cs typeface="Calibri" panose="020F0502020204030204" pitchFamily="34" charset="0"/>
              </a:rPr>
              <a:t>U.S. Army Corps of Engineers</a:t>
            </a:r>
          </a:p>
          <a:p>
            <a:pPr algn="ctr"/>
            <a:r>
              <a:rPr lang="en-US" sz="2800" dirty="0">
                <a:latin typeface="Calibri" panose="020F0502020204030204" pitchFamily="34" charset="0"/>
                <a:cs typeface="Calibri" panose="020F0502020204030204" pitchFamily="34" charset="0"/>
              </a:rPr>
              <a:t>Louisville District</a:t>
            </a:r>
          </a:p>
          <a:p>
            <a:pPr algn="ctr"/>
            <a:endParaRPr lang="en-US" sz="2800" dirty="0">
              <a:latin typeface="Calibri" panose="020F0502020204030204" pitchFamily="34" charset="0"/>
              <a:cs typeface="Calibri" panose="020F0502020204030204" pitchFamily="34" charset="0"/>
            </a:endParaRPr>
          </a:p>
          <a:p>
            <a:pPr algn="ctr"/>
            <a:r>
              <a:rPr lang="en-US" sz="2800" b="1" dirty="0">
                <a:latin typeface="Calibri" panose="020F0502020204030204" pitchFamily="34" charset="0"/>
                <a:cs typeface="Calibri" panose="020F0502020204030204" pitchFamily="34" charset="0"/>
              </a:rPr>
              <a:t>Jesse Scharlow</a:t>
            </a:r>
          </a:p>
          <a:p>
            <a:pPr algn="ctr"/>
            <a:r>
              <a:rPr lang="en-US" sz="2800" dirty="0">
                <a:latin typeface="Calibri" panose="020F0502020204030204" pitchFamily="34" charset="0"/>
                <a:cs typeface="Calibri" panose="020F0502020204030204" pitchFamily="34" charset="0"/>
              </a:rPr>
              <a:t>Contracting Officer</a:t>
            </a:r>
          </a:p>
          <a:p>
            <a:pPr algn="ctr"/>
            <a:r>
              <a:rPr lang="en-US" sz="2800" dirty="0">
                <a:latin typeface="Calibri" panose="020F0502020204030204" pitchFamily="34" charset="0"/>
                <a:cs typeface="Calibri" panose="020F0502020204030204" pitchFamily="34" charset="0"/>
              </a:rPr>
              <a:t>U.S. Army Corps of Engineers</a:t>
            </a:r>
          </a:p>
          <a:p>
            <a:pPr algn="ctr"/>
            <a:r>
              <a:rPr lang="en-US" sz="2800" dirty="0">
                <a:latin typeface="Calibri" panose="020F0502020204030204" pitchFamily="34" charset="0"/>
                <a:cs typeface="Calibri" panose="020F0502020204030204" pitchFamily="34" charset="0"/>
              </a:rPr>
              <a:t>Louisville District</a:t>
            </a:r>
          </a:p>
          <a:p>
            <a:endParaRPr lang="en-US" sz="2800" dirty="0">
              <a:latin typeface="Calibri" panose="020F0502020204030204" pitchFamily="34" charset="0"/>
              <a:cs typeface="Calibri" panose="020F0502020204030204" pitchFamily="34" charset="0"/>
            </a:endParaRPr>
          </a:p>
        </p:txBody>
      </p:sp>
      <p:sp>
        <p:nvSpPr>
          <p:cNvPr id="2" name="Content Placeholder 7">
            <a:extLst>
              <a:ext uri="{FF2B5EF4-FFF2-40B4-BE49-F238E27FC236}">
                <a16:creationId xmlns:a16="http://schemas.microsoft.com/office/drawing/2014/main" id="{2FF9C61D-DDFB-5B71-50AF-446DB0EB23BA}"/>
              </a:ext>
            </a:extLst>
          </p:cNvPr>
          <p:cNvSpPr txBox="1">
            <a:spLocks/>
          </p:cNvSpPr>
          <p:nvPr/>
        </p:nvSpPr>
        <p:spPr bwMode="auto">
          <a:xfrm>
            <a:off x="5696607" y="1027386"/>
            <a:ext cx="5360276"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a:lstStyle>
          <a:p>
            <a:pPr algn="ctr"/>
            <a:endParaRPr lang="en-US" dirty="0"/>
          </a:p>
          <a:p>
            <a:pPr algn="ctr"/>
            <a:r>
              <a:rPr lang="en-US" sz="2800" b="1" dirty="0">
                <a:solidFill>
                  <a:srgbClr val="FF0000"/>
                </a:solidFill>
                <a:latin typeface="Calibri" panose="020F0502020204030204" pitchFamily="34" charset="0"/>
                <a:ea typeface="Calibri" panose="020F0502020204030204" pitchFamily="34" charset="0"/>
                <a:cs typeface="Calibri" panose="020F0502020204030204" pitchFamily="34" charset="0"/>
              </a:rPr>
              <a:t>New Cumberland Project</a:t>
            </a:r>
            <a:endParaRPr lang="en-US" sz="36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algn="ctr"/>
            <a:endParaRPr lang="en-US" sz="2000" dirty="0">
              <a:latin typeface="Calibri" panose="020F0502020204030204" pitchFamily="34" charset="0"/>
              <a:ea typeface="Calibri" panose="020F0502020204030204" pitchFamily="34" charset="0"/>
              <a:cs typeface="Calibri" panose="020F0502020204030204" pitchFamily="34" charset="0"/>
            </a:endParaRPr>
          </a:p>
          <a:p>
            <a:pPr algn="ctr"/>
            <a:r>
              <a:rPr lang="en-US" sz="2800" b="1" dirty="0">
                <a:latin typeface="Calibri" panose="020F0502020204030204" pitchFamily="34" charset="0"/>
                <a:ea typeface="Calibri" panose="020F0502020204030204" pitchFamily="34" charset="0"/>
                <a:cs typeface="Calibri" panose="020F0502020204030204" pitchFamily="34" charset="0"/>
              </a:rPr>
              <a:t>Adam</a:t>
            </a:r>
            <a:r>
              <a:rPr lang="en-US" sz="3600" b="1" dirty="0">
                <a:latin typeface="Calibri" panose="020F0502020204030204" pitchFamily="34" charset="0"/>
                <a:ea typeface="Calibri" panose="020F0502020204030204" pitchFamily="34" charset="0"/>
                <a:cs typeface="Calibri" panose="020F0502020204030204" pitchFamily="34" charset="0"/>
              </a:rPr>
              <a:t> </a:t>
            </a:r>
            <a:r>
              <a:rPr lang="en-US" sz="2800" b="1" dirty="0">
                <a:latin typeface="Calibri" panose="020F0502020204030204" pitchFamily="34" charset="0"/>
                <a:ea typeface="Calibri" panose="020F0502020204030204" pitchFamily="34" charset="0"/>
                <a:cs typeface="Calibri" panose="020F0502020204030204" pitchFamily="34" charset="0"/>
              </a:rPr>
              <a:t>Brooks</a:t>
            </a:r>
          </a:p>
          <a:p>
            <a:pPr algn="ctr"/>
            <a:r>
              <a:rPr lang="en-US" sz="2800" dirty="0">
                <a:latin typeface="Calibri" panose="020F0502020204030204" pitchFamily="34" charset="0"/>
                <a:ea typeface="Calibri" panose="020F0502020204030204" pitchFamily="34" charset="0"/>
                <a:cs typeface="Calibri" panose="020F0502020204030204" pitchFamily="34" charset="0"/>
              </a:rPr>
              <a:t>Contract Specialist </a:t>
            </a:r>
          </a:p>
          <a:p>
            <a:pPr algn="ctr"/>
            <a:r>
              <a:rPr lang="en-US" sz="2800" dirty="0">
                <a:latin typeface="Calibri" panose="020F0502020204030204" pitchFamily="34" charset="0"/>
                <a:ea typeface="Calibri" panose="020F0502020204030204" pitchFamily="34" charset="0"/>
                <a:cs typeface="Calibri" panose="020F0502020204030204" pitchFamily="34" charset="0"/>
              </a:rPr>
              <a:t>U.S. Army Corps of Engineers</a:t>
            </a:r>
          </a:p>
          <a:p>
            <a:pPr algn="ctr"/>
            <a:r>
              <a:rPr lang="en-US" sz="2800" dirty="0">
                <a:latin typeface="Calibri" panose="020F0502020204030204" pitchFamily="34" charset="0"/>
                <a:ea typeface="Calibri" panose="020F0502020204030204" pitchFamily="34" charset="0"/>
                <a:cs typeface="Calibri" panose="020F0502020204030204" pitchFamily="34" charset="0"/>
              </a:rPr>
              <a:t>Louisville District</a:t>
            </a:r>
            <a:endParaRPr lang="en-US" sz="2800" b="1" dirty="0">
              <a:latin typeface="Calibri" panose="020F0502020204030204" pitchFamily="34" charset="0"/>
              <a:cs typeface="Calibri" panose="020F0502020204030204" pitchFamily="34" charset="0"/>
            </a:endParaRPr>
          </a:p>
          <a:p>
            <a:pPr algn="ctr"/>
            <a:endParaRPr lang="en-US" sz="2800" b="1" dirty="0">
              <a:latin typeface="Calibri" panose="020F0502020204030204" pitchFamily="34" charset="0"/>
              <a:cs typeface="Calibri" panose="020F0502020204030204" pitchFamily="34" charset="0"/>
            </a:endParaRPr>
          </a:p>
          <a:p>
            <a:pPr algn="ctr"/>
            <a:r>
              <a:rPr lang="en-US" sz="2800" b="1" dirty="0">
                <a:latin typeface="Calibri" panose="020F0502020204030204" pitchFamily="34" charset="0"/>
                <a:cs typeface="Calibri" panose="020F0502020204030204" pitchFamily="34" charset="0"/>
              </a:rPr>
              <a:t>Adam Wantland</a:t>
            </a:r>
          </a:p>
          <a:p>
            <a:pPr algn="ctr"/>
            <a:r>
              <a:rPr lang="en-US" sz="2800" dirty="0">
                <a:latin typeface="Calibri" panose="020F0502020204030204" pitchFamily="34" charset="0"/>
                <a:cs typeface="Calibri" panose="020F0502020204030204" pitchFamily="34" charset="0"/>
              </a:rPr>
              <a:t>Contracting Officer</a:t>
            </a:r>
          </a:p>
          <a:p>
            <a:pPr algn="ctr"/>
            <a:r>
              <a:rPr lang="en-US" sz="2800" dirty="0">
                <a:latin typeface="Calibri" panose="020F0502020204030204" pitchFamily="34" charset="0"/>
                <a:cs typeface="Calibri" panose="020F0502020204030204" pitchFamily="34" charset="0"/>
              </a:rPr>
              <a:t>U.S. Army Corps of Engineers</a:t>
            </a:r>
          </a:p>
          <a:p>
            <a:pPr algn="ctr"/>
            <a:r>
              <a:rPr lang="en-US" sz="2800" dirty="0">
                <a:latin typeface="Calibri" panose="020F0502020204030204" pitchFamily="34" charset="0"/>
                <a:cs typeface="Calibri" panose="020F0502020204030204" pitchFamily="34" charset="0"/>
              </a:rPr>
              <a:t>Louisville District</a:t>
            </a:r>
          </a:p>
        </p:txBody>
      </p:sp>
    </p:spTree>
    <p:extLst>
      <p:ext uri="{BB962C8B-B14F-4D97-AF65-F5344CB8AC3E}">
        <p14:creationId xmlns:p14="http://schemas.microsoft.com/office/powerpoint/2010/main" val="2120808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8DD6306-F8CF-FFD5-1B10-CC5167A41FA5}"/>
              </a:ext>
            </a:extLst>
          </p:cNvPr>
          <p:cNvSpPr>
            <a:spLocks noGrp="1"/>
          </p:cNvSpPr>
          <p:nvPr>
            <p:ph sz="quarter" idx="10"/>
          </p:nvPr>
        </p:nvSpPr>
        <p:spPr>
          <a:xfrm>
            <a:off x="266700" y="1061520"/>
            <a:ext cx="11658600" cy="5567880"/>
          </a:xfrm>
        </p:spPr>
        <p:txBody>
          <a:bodyPr/>
          <a:lstStyle/>
          <a:p>
            <a:pPr marL="342900" marR="0" lvl="0" indent="-342900" algn="l" defTabSz="914400" rtl="0" eaLnBrk="1" fontAlgn="base" latinLnBrk="0" hangingPunct="1">
              <a:lnSpc>
                <a:spcPct val="100000"/>
              </a:lnSpc>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cs typeface="Calibri" panose="020F0502020204030204" pitchFamily="34" charset="0"/>
              </a:rPr>
              <a:t>System for Award Management (SAM) – </a:t>
            </a:r>
            <a:r>
              <a:rPr kumimoji="0" lang="en-US" sz="3200"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cs typeface="Calibri" panose="020F0502020204030204" pitchFamily="34" charset="0"/>
                <a:hlinkClick r:id="rId3"/>
              </a:rPr>
              <a:t>www.SAM.gov</a:t>
            </a:r>
            <a:endParaRPr kumimoji="0" lang="en-US" sz="3200" b="0" i="0" u="sng" strike="noStrike" kern="1200" cap="none" spc="0" normalizeH="0" baseline="0" noProof="0" dirty="0">
              <a:ln>
                <a:noFill/>
              </a:ln>
              <a:solidFill>
                <a:srgbClr val="000000">
                  <a:lumMod val="75000"/>
                  <a:lumOff val="25000"/>
                </a:srgbClr>
              </a:solidFill>
              <a:effectLst/>
              <a:uLnTx/>
              <a:uFillTx/>
              <a:latin typeface="Calibri" panose="020F0502020204030204" pitchFamily="34" charset="0"/>
              <a:cs typeface="Calibri" panose="020F0502020204030204" pitchFamily="34" charset="0"/>
            </a:endParaRPr>
          </a:p>
          <a:p>
            <a:pPr marL="857250" marR="0" lvl="1" indent="-342900" algn="l" defTabSz="914400" rtl="0" eaLnBrk="1" fontAlgn="base" latinLnBrk="0" hangingPunct="1">
              <a:lnSpc>
                <a:spcPct val="100000"/>
              </a:lnSpc>
              <a:spcAft>
                <a:spcPts val="0"/>
              </a:spcAft>
              <a:buClrTx/>
              <a:buSzTx/>
              <a:buFont typeface="Arial" panose="020B0604020202020204" pitchFamily="34" charset="0"/>
              <a:buChar char="•"/>
              <a:tabLst/>
              <a:defRPr/>
            </a:pPr>
            <a:endParaRPr lang="en-US" sz="1000" dirty="0">
              <a:solidFill>
                <a:srgbClr val="000000"/>
              </a:solidFill>
              <a:latin typeface="Calibri" panose="020F0502020204030204" pitchFamily="34" charset="0"/>
              <a:cs typeface="Calibri" panose="020F0502020204030204" pitchFamily="34" charset="0"/>
            </a:endParaRPr>
          </a:p>
          <a:p>
            <a:pPr marL="857250" lvl="1" indent="-342900">
              <a:spcAft>
                <a:spcPts val="0"/>
              </a:spcAft>
              <a:buFont typeface="Arial" panose="020B0604020202020204" pitchFamily="34" charset="0"/>
              <a:buChar char="•"/>
              <a:defRPr/>
            </a:pPr>
            <a:r>
              <a:rPr lang="en-US" sz="2400" dirty="0">
                <a:solidFill>
                  <a:srgbClr val="000000"/>
                </a:solidFill>
                <a:latin typeface="Calibri" panose="020F0502020204030204" pitchFamily="34" charset="0"/>
                <a:cs typeface="Calibri" panose="020F0502020204030204" pitchFamily="34" charset="0"/>
              </a:rPr>
              <a:t>New Cumberland</a:t>
            </a: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Solicitation will be</a:t>
            </a:r>
            <a:r>
              <a:rPr lang="en-US" sz="2400" b="1" dirty="0">
                <a:solidFill>
                  <a:schemeClr val="tx1"/>
                </a:solidFill>
                <a:latin typeface="Calibri" panose="020F0502020204030204" pitchFamily="34" charset="0"/>
                <a:cs typeface="Calibri" panose="020F0502020204030204" pitchFamily="34" charset="0"/>
              </a:rPr>
              <a:t>W912QR25NEWCUMBERLAND</a:t>
            </a:r>
            <a:endParaRPr kumimoji="0" lang="en-US" sz="2400" b="1"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a:p>
            <a:pPr marL="857250" lvl="1" indent="-342900">
              <a:spcBef>
                <a:spcPts val="300"/>
              </a:spcBef>
              <a:spcAft>
                <a:spcPts val="600"/>
              </a:spcAft>
              <a:buFont typeface="Arial" panose="020B0604020202020204" pitchFamily="34" charset="0"/>
              <a:buChar char="•"/>
              <a:defRPr/>
            </a:pPr>
            <a:r>
              <a:rPr kumimoji="0" lang="en-US"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Newtown Square Solicitation will be </a:t>
            </a:r>
            <a:r>
              <a:rPr lang="en-US" sz="2400" b="1" dirty="0">
                <a:solidFill>
                  <a:schemeClr val="tx1"/>
                </a:solidFill>
                <a:latin typeface="Calibri" panose="020F0502020204030204" pitchFamily="34" charset="0"/>
                <a:cs typeface="Calibri" panose="020F0502020204030204" pitchFamily="34" charset="0"/>
              </a:rPr>
              <a:t>W912QR-25-R-A019</a:t>
            </a:r>
          </a:p>
          <a:p>
            <a:pPr marL="857250" marR="0" lvl="1" indent="-342900" algn="l" defTabSz="914400" rtl="0" eaLnBrk="1" fontAlgn="base" latinLnBrk="0" hangingPunct="1">
              <a:lnSpc>
                <a:spcPct val="100000"/>
              </a:lnSpc>
              <a:spcBef>
                <a:spcPts val="300"/>
              </a:spcBef>
              <a:spcAft>
                <a:spcPts val="600"/>
              </a:spcAft>
              <a:buClrTx/>
              <a:buSzTx/>
              <a:buFont typeface="Arial" panose="020B0604020202020204" pitchFamily="34" charset="0"/>
              <a:buChar char="•"/>
              <a:tabLst/>
              <a:defRPr/>
            </a:pPr>
            <a:r>
              <a:rPr lang="en-US" sz="2400" dirty="0">
                <a:solidFill>
                  <a:srgbClr val="000000"/>
                </a:solidFill>
                <a:latin typeface="Calibri" panose="020F0502020204030204" pitchFamily="34" charset="0"/>
                <a:cs typeface="Calibri" panose="020F0502020204030204" pitchFamily="34" charset="0"/>
              </a:rPr>
              <a:t>Search by keyword </a:t>
            </a:r>
            <a:r>
              <a:rPr lang="en-US" sz="2400" dirty="0">
                <a:solidFill>
                  <a:schemeClr val="tx1"/>
                </a:solidFill>
                <a:latin typeface="Calibri" panose="020F0502020204030204" pitchFamily="34" charset="0"/>
                <a:cs typeface="Calibri" panose="020F0502020204030204" pitchFamily="34" charset="0"/>
              </a:rPr>
              <a:t>(Select “Any Words” or “All    </a:t>
            </a:r>
          </a:p>
          <a:p>
            <a:pPr marL="461963" lvl="3" indent="0">
              <a:buNone/>
            </a:pPr>
            <a:r>
              <a:rPr lang="en-US" sz="2400" dirty="0">
                <a:solidFill>
                  <a:schemeClr val="tx1"/>
                </a:solidFill>
                <a:latin typeface="Calibri" panose="020F0502020204030204" pitchFamily="34" charset="0"/>
                <a:cs typeface="Calibri" panose="020F0502020204030204" pitchFamily="34" charset="0"/>
              </a:rPr>
              <a:t>      Words”): </a:t>
            </a:r>
            <a:r>
              <a:rPr lang="en-US" sz="2400" dirty="0">
                <a:solidFill>
                  <a:srgbClr val="000000"/>
                </a:solidFill>
                <a:latin typeface="Calibri" panose="020F0502020204030204" pitchFamily="34" charset="0"/>
                <a:cs typeface="Calibri" panose="020F0502020204030204" pitchFamily="34" charset="0"/>
              </a:rPr>
              <a:t>“</a:t>
            </a:r>
            <a:r>
              <a:rPr lang="en-US" sz="2400" b="1" dirty="0">
                <a:solidFill>
                  <a:srgbClr val="000000"/>
                </a:solidFill>
                <a:latin typeface="Calibri" panose="020F0502020204030204" pitchFamily="34" charset="0"/>
                <a:cs typeface="Calibri" panose="020F0502020204030204" pitchFamily="34" charset="0"/>
              </a:rPr>
              <a:t>Newtown</a:t>
            </a:r>
            <a:r>
              <a:rPr lang="en-US" sz="2400" dirty="0">
                <a:solidFill>
                  <a:srgbClr val="000000"/>
                </a:solidFill>
                <a:latin typeface="Calibri" panose="020F0502020204030204" pitchFamily="34" charset="0"/>
                <a:cs typeface="Calibri" panose="020F0502020204030204" pitchFamily="34" charset="0"/>
              </a:rPr>
              <a:t>, </a:t>
            </a:r>
            <a:r>
              <a:rPr lang="en-US" sz="2400" b="1" dirty="0">
                <a:solidFill>
                  <a:srgbClr val="000000"/>
                </a:solidFill>
                <a:latin typeface="Calibri" panose="020F0502020204030204" pitchFamily="34" charset="0"/>
                <a:cs typeface="Calibri" panose="020F0502020204030204" pitchFamily="34" charset="0"/>
              </a:rPr>
              <a:t>New Cumberland</a:t>
            </a:r>
            <a:r>
              <a:rPr lang="en-US" sz="2400" dirty="0">
                <a:solidFill>
                  <a:srgbClr val="000000"/>
                </a:solidFill>
                <a:latin typeface="Calibri" panose="020F0502020204030204" pitchFamily="34" charset="0"/>
                <a:cs typeface="Calibri" panose="020F0502020204030204" pitchFamily="34" charset="0"/>
              </a:rPr>
              <a:t>”</a:t>
            </a:r>
          </a:p>
          <a:p>
            <a:pPr marL="461963" lvl="3" indent="0">
              <a:buNone/>
            </a:pPr>
            <a:endParaRPr kumimoji="0" 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257175" indent="-257175">
              <a:buFont typeface="Arial" panose="020B0604020202020204" pitchFamily="34" charset="0"/>
              <a:buChar char="•"/>
            </a:pPr>
            <a:r>
              <a:rPr lang="en-US" sz="2800" dirty="0">
                <a:solidFill>
                  <a:schemeClr val="tx1"/>
                </a:solidFill>
                <a:latin typeface="Calibri" panose="020F0502020204030204" pitchFamily="34" charset="0"/>
                <a:cs typeface="Calibri" panose="020F0502020204030204" pitchFamily="34" charset="0"/>
              </a:rPr>
              <a:t>View </a:t>
            </a:r>
            <a:r>
              <a:rPr lang="en-US" sz="2800" u="sng" dirty="0">
                <a:solidFill>
                  <a:schemeClr val="tx1"/>
                </a:solidFill>
                <a:latin typeface="Calibri" panose="020F0502020204030204" pitchFamily="34" charset="0"/>
                <a:cs typeface="Calibri" panose="020F0502020204030204" pitchFamily="34" charset="0"/>
              </a:rPr>
              <a:t>Interested Vendors List</a:t>
            </a:r>
            <a:r>
              <a:rPr lang="en-US" sz="2800" dirty="0">
                <a:solidFill>
                  <a:schemeClr val="tx1"/>
                </a:solidFill>
                <a:latin typeface="Calibri" panose="020F0502020204030204" pitchFamily="34" charset="0"/>
                <a:cs typeface="Calibri" panose="020F0502020204030204" pitchFamily="34" charset="0"/>
              </a:rPr>
              <a:t> and register as an Interested Vendor.</a:t>
            </a:r>
          </a:p>
          <a:p>
            <a:endParaRPr lang="en-US" sz="3200" dirty="0">
              <a:solidFill>
                <a:schemeClr val="tx1"/>
              </a:solidFill>
              <a:latin typeface="Calibri" panose="020F0502020204030204" pitchFamily="34" charset="0"/>
              <a:cs typeface="Calibri" panose="020F0502020204030204" pitchFamily="34" charset="0"/>
            </a:endParaRPr>
          </a:p>
          <a:p>
            <a:pPr marL="257175" indent="-257175">
              <a:buFont typeface="Arial" panose="020B0604020202020204" pitchFamily="34" charset="0"/>
              <a:buChar char="•"/>
            </a:pPr>
            <a:r>
              <a:rPr lang="en-US" sz="2800" dirty="0">
                <a:solidFill>
                  <a:schemeClr val="tx1"/>
                </a:solidFill>
                <a:latin typeface="Calibri" panose="020F0502020204030204" pitchFamily="34" charset="0"/>
                <a:cs typeface="Calibri" panose="020F0502020204030204" pitchFamily="34" charset="0"/>
              </a:rPr>
              <a:t>Register to receive notifications and updates / amendments.</a:t>
            </a:r>
          </a:p>
          <a:p>
            <a:pPr marL="257175" indent="-257175">
              <a:buFont typeface="Arial" panose="020B0604020202020204" pitchFamily="34" charset="0"/>
              <a:buChar char="•"/>
            </a:pPr>
            <a:endParaRPr lang="en-US" sz="3200" dirty="0">
              <a:solidFill>
                <a:schemeClr val="tx1"/>
              </a:solidFill>
              <a:latin typeface="Calibri" panose="020F0502020204030204" pitchFamily="34" charset="0"/>
              <a:cs typeface="Calibri" panose="020F0502020204030204" pitchFamily="34" charset="0"/>
            </a:endParaRPr>
          </a:p>
          <a:p>
            <a:pPr marL="257175" indent="-257175">
              <a:buFont typeface="Arial" panose="020B0604020202020204" pitchFamily="34" charset="0"/>
              <a:buChar char="•"/>
            </a:pPr>
            <a:r>
              <a:rPr lang="en-US" altLang="en-US" sz="2800" dirty="0">
                <a:solidFill>
                  <a:schemeClr val="tx1"/>
                </a:solidFill>
                <a:latin typeface="Calibri" panose="020F0502020204030204" pitchFamily="34" charset="0"/>
                <a:cs typeface="Calibri" panose="020F0502020204030204" pitchFamily="34" charset="0"/>
              </a:rPr>
              <a:t>RFP Technical Information (i.e., Plans and Specs) will be available for download from </a:t>
            </a:r>
            <a:r>
              <a:rPr lang="en-US" altLang="en-US" sz="2800" dirty="0">
                <a:latin typeface="Calibri" panose="020F0502020204030204" pitchFamily="34" charset="0"/>
                <a:cs typeface="Calibri" panose="020F0502020204030204" pitchFamily="34" charset="0"/>
                <a:hlinkClick r:id="rId3"/>
              </a:rPr>
              <a:t>www.SAM.gov</a:t>
            </a:r>
            <a:endParaRPr lang="en-US" altLang="en-US" sz="2800" dirty="0">
              <a:latin typeface="Calibri" panose="020F0502020204030204" pitchFamily="34" charset="0"/>
              <a:cs typeface="Calibri" panose="020F0502020204030204" pitchFamily="34" charset="0"/>
            </a:endParaRPr>
          </a:p>
          <a:p>
            <a:pPr marL="461963" lvl="3" indent="0">
              <a:buNone/>
            </a:pPr>
            <a:endParaRPr kumimoji="0" 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4" name="Title 3">
            <a:extLst>
              <a:ext uri="{FF2B5EF4-FFF2-40B4-BE49-F238E27FC236}">
                <a16:creationId xmlns:a16="http://schemas.microsoft.com/office/drawing/2014/main" id="{AFBF080B-CB64-D9B7-D381-FAF1BF3EF9A2}"/>
              </a:ext>
            </a:extLst>
          </p:cNvPr>
          <p:cNvSpPr>
            <a:spLocks noGrp="1"/>
          </p:cNvSpPr>
          <p:nvPr>
            <p:ph type="title"/>
          </p:nvPr>
        </p:nvSpPr>
        <p:spPr>
          <a:xfrm>
            <a:off x="1156184" y="457200"/>
            <a:ext cx="10386814" cy="604320"/>
          </a:xfrm>
        </p:spPr>
        <p:txBody>
          <a:bodyPr/>
          <a:lstStyle/>
          <a:p>
            <a:pPr algn="ctr"/>
            <a:r>
              <a:rPr lang="en-US" sz="3200" cap="none" dirty="0">
                <a:solidFill>
                  <a:schemeClr val="tx1"/>
                </a:solidFill>
                <a:ea typeface="+mj-ea"/>
              </a:rPr>
              <a:t>HOW TO OBTAIN THE SOLICITATION</a:t>
            </a:r>
            <a:br>
              <a:rPr lang="en-US" sz="3200" b="0" cap="none" dirty="0">
                <a:solidFill>
                  <a:schemeClr val="tx1"/>
                </a:solidFill>
                <a:latin typeface="Calibri Light" panose="020F0302020204030204"/>
                <a:ea typeface="+mj-ea"/>
                <a:cs typeface="+mj-cs"/>
              </a:rPr>
            </a:br>
            <a:endParaRPr lang="en-US" dirty="0"/>
          </a:p>
        </p:txBody>
      </p:sp>
    </p:spTree>
    <p:extLst>
      <p:ext uri="{BB962C8B-B14F-4D97-AF65-F5344CB8AC3E}">
        <p14:creationId xmlns:p14="http://schemas.microsoft.com/office/powerpoint/2010/main" val="526586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3331AF-050F-0C4B-5F21-0D7B81BCF977}"/>
              </a:ext>
            </a:extLst>
          </p:cNvPr>
          <p:cNvSpPr>
            <a:spLocks noGrp="1"/>
          </p:cNvSpPr>
          <p:nvPr>
            <p:ph sz="quarter" idx="10"/>
          </p:nvPr>
        </p:nvSpPr>
        <p:spPr/>
        <p:txBody>
          <a:bodyPr/>
          <a:lstStyle/>
          <a:p>
            <a:pPr marL="342900" marR="0" lvl="0" indent="-342900" algn="l" defTabSz="914400" rtl="0" eaLnBrk="1" fontAlgn="base" latinLnBrk="0" hangingPunct="1">
              <a:lnSpc>
                <a:spcPct val="100000"/>
              </a:lnSpc>
              <a:spcBef>
                <a:spcPts val="300"/>
              </a:spcBef>
              <a:spcAft>
                <a:spcPts val="600"/>
              </a:spcAft>
              <a:buClrTx/>
              <a:buSzTx/>
              <a:buFont typeface="Arial" panose="020B0604020202020204" pitchFamily="34" charset="0"/>
              <a:buChar char="•"/>
              <a:tabLst/>
              <a:defRPr/>
            </a:pPr>
            <a:r>
              <a:rPr kumimoji="0" lang="en-US" altLang="en-US" sz="3600" b="1" i="0" u="none"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rPr>
              <a:t>Pre-Solicitation Notice</a:t>
            </a:r>
            <a:r>
              <a:rPr kumimoji="0" lang="en-US" altLang="en-US" sz="3600" b="0" i="0" u="none"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rPr>
              <a:t> </a:t>
            </a:r>
            <a:r>
              <a:rPr kumimoji="0" lang="en-US" altLang="en-US" sz="3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will be posted on </a:t>
            </a:r>
            <a:r>
              <a:rPr kumimoji="0" lang="en-US" altLang="en-US" sz="3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hlinkClick r:id="rId3"/>
              </a:rPr>
              <a:t>www.sam.gov</a:t>
            </a:r>
            <a:r>
              <a:rPr kumimoji="0" lang="en-US" altLang="en-US" sz="3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at least </a:t>
            </a:r>
            <a:r>
              <a:rPr kumimoji="0" lang="en-US" altLang="en-US" sz="3600" b="1"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15</a:t>
            </a:r>
            <a:r>
              <a:rPr kumimoji="0" lang="en-US" altLang="en-US" sz="3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days prior to the initial issuance of the Solicitation package.</a:t>
            </a:r>
          </a:p>
          <a:p>
            <a:pPr marR="0" lvl="0" algn="l" defTabSz="914400" rtl="0" eaLnBrk="1" fontAlgn="base" latinLnBrk="0" hangingPunct="1">
              <a:lnSpc>
                <a:spcPct val="100000"/>
              </a:lnSpc>
              <a:spcBef>
                <a:spcPts val="300"/>
              </a:spcBef>
              <a:spcAft>
                <a:spcPts val="600"/>
              </a:spcAft>
              <a:buClrTx/>
              <a:buSzTx/>
              <a:tabLst/>
              <a:defRPr/>
            </a:pPr>
            <a:endParaRPr kumimoji="0" lang="en-US" altLang="en-US" sz="3600"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cs typeface="Calibri" panose="020F0502020204030204" pitchFamily="34" charset="0"/>
            </a:endParaRPr>
          </a:p>
          <a:p>
            <a:pPr marL="342900" marR="0" lvl="0" indent="-342900" algn="l" defTabSz="914400" rtl="0" eaLnBrk="1" fontAlgn="base" latinLnBrk="0" hangingPunct="1">
              <a:lnSpc>
                <a:spcPct val="100000"/>
              </a:lnSpc>
              <a:spcBef>
                <a:spcPts val="300"/>
              </a:spcBef>
              <a:spcAft>
                <a:spcPts val="600"/>
              </a:spcAft>
              <a:buClrTx/>
              <a:buSzTx/>
              <a:buFont typeface="Arial" panose="020B0604020202020204" pitchFamily="34" charset="0"/>
              <a:buChar char="•"/>
              <a:tabLst/>
              <a:defRPr/>
            </a:pPr>
            <a:r>
              <a:rPr kumimoji="0" lang="en-US" altLang="en-US" sz="3600" b="1" i="0" u="none"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rPr>
              <a:t>Advertisement</a:t>
            </a:r>
            <a:r>
              <a:rPr kumimoji="0" lang="en-US" altLang="en-US" sz="3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 Minimum </a:t>
            </a:r>
            <a:r>
              <a:rPr kumimoji="0" lang="en-US" altLang="en-US" sz="3600" b="1"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30</a:t>
            </a:r>
            <a:r>
              <a:rPr kumimoji="0" lang="en-US" altLang="en-US" sz="3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days to prepare proposals</a:t>
            </a:r>
            <a:r>
              <a:rPr lang="en-US" altLang="en-US" sz="3600" dirty="0">
                <a:solidFill>
                  <a:srgbClr val="000000"/>
                </a:solidFill>
                <a:latin typeface="Calibri" panose="020F0502020204030204" pitchFamily="34" charset="0"/>
                <a:cs typeface="Calibri" panose="020F0502020204030204" pitchFamily="34" charset="0"/>
              </a:rPr>
              <a:t> for </a:t>
            </a:r>
            <a:r>
              <a:rPr lang="en-US" altLang="en-US" sz="3600" u="sng" dirty="0">
                <a:solidFill>
                  <a:srgbClr val="000000"/>
                </a:solidFill>
                <a:latin typeface="Calibri" panose="020F0502020204030204" pitchFamily="34" charset="0"/>
                <a:cs typeface="Calibri" panose="020F0502020204030204" pitchFamily="34" charset="0"/>
              </a:rPr>
              <a:t>Each Phase.</a:t>
            </a:r>
          </a:p>
          <a:p>
            <a:pPr marR="0" lvl="0" algn="l" defTabSz="914400" rtl="0" eaLnBrk="1" fontAlgn="base" latinLnBrk="0" hangingPunct="1">
              <a:lnSpc>
                <a:spcPct val="100000"/>
              </a:lnSpc>
              <a:spcBef>
                <a:spcPts val="300"/>
              </a:spcBef>
              <a:spcAft>
                <a:spcPts val="600"/>
              </a:spcAft>
              <a:buClrTx/>
              <a:buSzTx/>
              <a:tabLst/>
              <a:defRPr/>
            </a:pPr>
            <a:endParaRPr kumimoji="0" lang="en-US" altLang="en-US" sz="3600" b="0" i="0" u="sng"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342900" indent="-342900">
              <a:spcBef>
                <a:spcPts val="300"/>
              </a:spcBef>
              <a:spcAft>
                <a:spcPts val="600"/>
              </a:spcAft>
              <a:buFont typeface="Arial" panose="020B0604020202020204" pitchFamily="34" charset="0"/>
              <a:buChar char="•"/>
              <a:defRPr/>
            </a:pPr>
            <a:r>
              <a:rPr kumimoji="0" lang="en-US" altLang="en-US" sz="3600" b="1" i="0" u="none"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rPr>
              <a:t>Amendments</a:t>
            </a:r>
            <a:r>
              <a:rPr kumimoji="0" lang="en-US" altLang="en-US" sz="3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issued to the RFP will also be posted on </a:t>
            </a:r>
            <a:r>
              <a:rPr kumimoji="0" lang="en-US" altLang="en-US" sz="3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hlinkClick r:id="rId3"/>
              </a:rPr>
              <a:t>www.sam.gov</a:t>
            </a:r>
            <a:endParaRPr kumimoji="0" lang="en-US" altLang="en-US" sz="3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342900" marR="0" lvl="0" indent="-342900" algn="l" defTabSz="914400" rtl="0" eaLnBrk="1" fontAlgn="base" latinLnBrk="0" hangingPunct="1">
              <a:lnSpc>
                <a:spcPct val="100000"/>
              </a:lnSpc>
              <a:spcBef>
                <a:spcPts val="300"/>
              </a:spcBef>
              <a:spcAft>
                <a:spcPts val="600"/>
              </a:spcAft>
              <a:buClrTx/>
              <a:buSzTx/>
              <a:buFont typeface="Arial" panose="020B0604020202020204" pitchFamily="34" charset="0"/>
              <a:buChar char="•"/>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endParaRPr lang="en-US" dirty="0"/>
          </a:p>
        </p:txBody>
      </p:sp>
      <p:sp>
        <p:nvSpPr>
          <p:cNvPr id="4" name="Title 3">
            <a:extLst>
              <a:ext uri="{FF2B5EF4-FFF2-40B4-BE49-F238E27FC236}">
                <a16:creationId xmlns:a16="http://schemas.microsoft.com/office/drawing/2014/main" id="{7E18140C-3ED0-2D80-CBE8-F74A6CBA71B4}"/>
              </a:ext>
            </a:extLst>
          </p:cNvPr>
          <p:cNvSpPr>
            <a:spLocks noGrp="1"/>
          </p:cNvSpPr>
          <p:nvPr>
            <p:ph type="title"/>
          </p:nvPr>
        </p:nvSpPr>
        <p:spPr>
          <a:xfrm>
            <a:off x="948366" y="498763"/>
            <a:ext cx="10386814" cy="463137"/>
          </a:xfrm>
        </p:spPr>
        <p:txBody>
          <a:bodyPr/>
          <a:lstStyle/>
          <a:p>
            <a:pPr algn="ctr"/>
            <a:r>
              <a:rPr kumimoji="0" lang="en-US" altLang="en-US" sz="4000" b="1" i="0" u="none" strike="noStrike" kern="1200" cap="none" spc="0" normalizeH="0" baseline="0" noProof="0" dirty="0">
                <a:ln>
                  <a:noFill/>
                </a:ln>
                <a:solidFill>
                  <a:prstClr val="black"/>
                </a:solidFill>
                <a:effectLst/>
                <a:uLnTx/>
                <a:uFillTx/>
                <a:latin typeface="Arial" pitchFamily="34" charset="0"/>
                <a:ea typeface="ＭＳ Ｐゴシック" charset="0"/>
                <a:cs typeface="Arial" pitchFamily="34" charset="0"/>
              </a:rPr>
              <a:t>OBTAINING THE ISSUE DOCUMENTS</a:t>
            </a:r>
            <a:br>
              <a:rPr kumimoji="0" lang="en-US" altLang="en-US" sz="2900" b="0" i="0" u="none" strike="noStrike" kern="1200" cap="none" spc="0" normalizeH="0" baseline="0" noProof="0" dirty="0">
                <a:ln>
                  <a:noFill/>
                </a:ln>
                <a:solidFill>
                  <a:prstClr val="black"/>
                </a:solidFill>
                <a:effectLst/>
                <a:uLnTx/>
                <a:uFillTx/>
                <a:latin typeface="Arial" pitchFamily="34" charset="0"/>
                <a:ea typeface="ＭＳ Ｐゴシック" charset="0"/>
                <a:cs typeface="Arial" pitchFamily="34" charset="0"/>
              </a:rPr>
            </a:br>
            <a:endParaRPr lang="en-US" dirty="0"/>
          </a:p>
        </p:txBody>
      </p:sp>
    </p:spTree>
    <p:extLst>
      <p:ext uri="{BB962C8B-B14F-4D97-AF65-F5344CB8AC3E}">
        <p14:creationId xmlns:p14="http://schemas.microsoft.com/office/powerpoint/2010/main" val="2125599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3331AF-050F-0C4B-5F21-0D7B81BCF977}"/>
              </a:ext>
            </a:extLst>
          </p:cNvPr>
          <p:cNvSpPr>
            <a:spLocks noGrp="1"/>
          </p:cNvSpPr>
          <p:nvPr>
            <p:ph sz="quarter" idx="10"/>
          </p:nvPr>
        </p:nvSpPr>
        <p:spPr/>
        <p:txBody>
          <a:bodyPr/>
          <a:lstStyle/>
          <a:p>
            <a:pPr marR="0" lvl="0" algn="l" defTabSz="914400" rtl="0" eaLnBrk="1" fontAlgn="base" latinLnBrk="0" hangingPunct="1">
              <a:lnSpc>
                <a:spcPct val="100000"/>
              </a:lnSpc>
              <a:spcBef>
                <a:spcPts val="300"/>
              </a:spcBef>
              <a:spcAft>
                <a:spcPct val="0"/>
              </a:spcAft>
              <a:buClrTx/>
              <a:buSzTx/>
              <a:tabLst/>
              <a:defRPr/>
            </a:pPr>
            <a:r>
              <a:rPr kumimoji="0" lang="en-US" sz="3200" b="1" i="0" u="none"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rPr>
              <a:t>Requirements to download Technical Data Package:</a:t>
            </a:r>
          </a:p>
          <a:p>
            <a:pPr marR="0" lvl="0" algn="l" defTabSz="914400" rtl="0" eaLnBrk="1" fontAlgn="base" latinLnBrk="0" hangingPunct="1">
              <a:lnSpc>
                <a:spcPct val="100000"/>
              </a:lnSpc>
              <a:spcBef>
                <a:spcPts val="300"/>
              </a:spcBef>
              <a:spcAft>
                <a:spcPct val="0"/>
              </a:spcAft>
              <a:buClrTx/>
              <a:buSzTx/>
              <a:tabLst/>
              <a:defRPr/>
            </a:pPr>
            <a:endParaRPr kumimoji="0" lang="en-US" sz="2800" b="1" i="0" u="none"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endParaRPr>
          </a:p>
          <a:p>
            <a:pPr marL="857250" marR="0" lvl="1" indent="-342900" algn="l" defTabSz="914400" rtl="0" eaLnBrk="1" fontAlgn="base" latinLnBrk="0" hangingPunct="1">
              <a:lnSpc>
                <a:spcPct val="100000"/>
              </a:lnSpc>
              <a:spcBef>
                <a:spcPts val="300"/>
              </a:spcBef>
              <a:spcAft>
                <a:spcPct val="0"/>
              </a:spcAft>
              <a:buClrTx/>
              <a:buSzTx/>
              <a:buFont typeface="Wingdings" panose="05000000000000000000" pitchFamily="2" charset="2"/>
              <a:buChar char="ü"/>
              <a:tabLst/>
              <a:defRPr/>
            </a:pPr>
            <a:r>
              <a:rPr lang="en-US" sz="3200" dirty="0">
                <a:solidFill>
                  <a:srgbClr val="000000"/>
                </a:solidFill>
                <a:latin typeface="Calibri" panose="020F0502020204030204" pitchFamily="34" charset="0"/>
                <a:cs typeface="Calibri" panose="020F0502020204030204" pitchFamily="34" charset="0"/>
              </a:rPr>
              <a:t>Locate and access the Solicitation notice in the </a:t>
            </a:r>
            <a:r>
              <a:rPr kumimoji="0" lang="en-US" sz="3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SAM database.  </a:t>
            </a:r>
          </a:p>
          <a:p>
            <a:pPr marL="514350" marR="0" lvl="1" indent="0" algn="l" defTabSz="914400" rtl="0" eaLnBrk="1" fontAlgn="base" latinLnBrk="0" hangingPunct="1">
              <a:lnSpc>
                <a:spcPct val="100000"/>
              </a:lnSpc>
              <a:spcBef>
                <a:spcPts val="300"/>
              </a:spcBef>
              <a:spcAft>
                <a:spcPct val="0"/>
              </a:spcAft>
              <a:buClrTx/>
              <a:buSzTx/>
              <a:buNone/>
              <a:tabLst/>
              <a:defRPr/>
            </a:pPr>
            <a:r>
              <a:rPr lang="en-US" sz="2800" dirty="0">
                <a:solidFill>
                  <a:srgbClr val="000000"/>
                </a:solidFill>
                <a:latin typeface="Calibri" panose="020F0502020204030204" pitchFamily="34" charset="0"/>
                <a:cs typeface="Calibri" panose="020F0502020204030204" pitchFamily="34" charset="0"/>
              </a:rPr>
              <a:t>	-  </a:t>
            </a:r>
            <a:r>
              <a:rPr kumimoji="0" 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Go to the “Attachments/Links” section to download the   </a:t>
            </a:r>
          </a:p>
          <a:p>
            <a:pPr marL="514350" marR="0" lvl="1" indent="0" algn="l" defTabSz="914400" rtl="0" eaLnBrk="1" fontAlgn="base" latinLnBrk="0" hangingPunct="1">
              <a:lnSpc>
                <a:spcPct val="100000"/>
              </a:lnSpc>
              <a:spcBef>
                <a:spcPts val="300"/>
              </a:spcBef>
              <a:spcAft>
                <a:spcPct val="0"/>
              </a:spcAft>
              <a:buClrTx/>
              <a:buSzTx/>
              <a:buNone/>
              <a:tabLst/>
              <a:defRPr/>
            </a:pPr>
            <a:r>
              <a:rPr lang="en-US" sz="2800" dirty="0">
                <a:solidFill>
                  <a:srgbClr val="000000"/>
                </a:solidFill>
                <a:latin typeface="Calibri" panose="020F0502020204030204" pitchFamily="34" charset="0"/>
                <a:cs typeface="Calibri" panose="020F0502020204030204" pitchFamily="34" charset="0"/>
              </a:rPr>
              <a:t>         </a:t>
            </a:r>
            <a:r>
              <a:rPr kumimoji="0" 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solicitation and all technical documents. </a:t>
            </a:r>
          </a:p>
          <a:p>
            <a:pPr marL="857250" marR="0" lvl="1" indent="-342900" algn="l" defTabSz="914400" rtl="0" eaLnBrk="1" fontAlgn="base" latinLnBrk="0" hangingPunct="1">
              <a:lnSpc>
                <a:spcPct val="100000"/>
              </a:lnSpc>
              <a:spcBef>
                <a:spcPts val="300"/>
              </a:spcBef>
              <a:spcAft>
                <a:spcPct val="0"/>
              </a:spcAft>
              <a:buClrTx/>
              <a:buSzTx/>
              <a:buFont typeface="Wingdings" panose="05000000000000000000" pitchFamily="2" charset="2"/>
              <a:buChar char="ü"/>
              <a:tabLst/>
              <a:defRPr/>
            </a:pPr>
            <a:endParaRPr kumimoji="0" lang="en-US" sz="2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857250" marR="0" lvl="1" indent="-342900" algn="l" defTabSz="914400" rtl="0" eaLnBrk="1" fontAlgn="base" latinLnBrk="0" hangingPunct="1">
              <a:lnSpc>
                <a:spcPct val="100000"/>
              </a:lnSpc>
              <a:spcBef>
                <a:spcPts val="300"/>
              </a:spcBef>
              <a:spcAft>
                <a:spcPct val="0"/>
              </a:spcAft>
              <a:buClrTx/>
              <a:buSzTx/>
              <a:buFont typeface="Wingdings" panose="05000000000000000000" pitchFamily="2" charset="2"/>
              <a:buChar char="ü"/>
              <a:tabLst/>
              <a:defRPr/>
            </a:pPr>
            <a:r>
              <a:rPr lang="en-US" sz="3200" dirty="0">
                <a:solidFill>
                  <a:srgbClr val="000000"/>
                </a:solidFill>
                <a:latin typeface="Calibri" panose="020F0502020204030204" pitchFamily="34" charset="0"/>
                <a:cs typeface="Calibri" panose="020F0502020204030204" pitchFamily="34" charset="0"/>
              </a:rPr>
              <a:t>S</a:t>
            </a:r>
            <a:r>
              <a:rPr kumimoji="0" lang="en-US" sz="3200" b="0" i="0" u="none" strike="noStrike" kern="120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rPr>
              <a:t>ign</a:t>
            </a:r>
            <a:r>
              <a:rPr lang="en-US" sz="3200" dirty="0">
                <a:solidFill>
                  <a:srgbClr val="000000"/>
                </a:solidFill>
                <a:latin typeface="Calibri" panose="020F0502020204030204" pitchFamily="34" charset="0"/>
                <a:cs typeface="Calibri" panose="020F0502020204030204" pitchFamily="34" charset="0"/>
              </a:rPr>
              <a:t>-U</a:t>
            </a:r>
            <a:r>
              <a:rPr kumimoji="0" lang="en-US" sz="3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 and Sign-In to your SAM account to:</a:t>
            </a:r>
          </a:p>
          <a:p>
            <a:pPr marL="514350" marR="0" lvl="1" indent="0" algn="l" defTabSz="914400" rtl="0" eaLnBrk="1" fontAlgn="base" latinLnBrk="0" hangingPunct="1">
              <a:lnSpc>
                <a:spcPct val="100000"/>
              </a:lnSpc>
              <a:spcBef>
                <a:spcPts val="300"/>
              </a:spcBef>
              <a:spcAft>
                <a:spcPct val="0"/>
              </a:spcAft>
              <a:buClrTx/>
              <a:buSzTx/>
              <a:buNone/>
              <a:tabLst/>
              <a:defRPr/>
            </a:pPr>
            <a:r>
              <a:rPr lang="en-US" sz="2800" dirty="0">
                <a:solidFill>
                  <a:srgbClr val="000000"/>
                </a:solidFill>
                <a:latin typeface="Calibri" panose="020F0502020204030204" pitchFamily="34" charset="0"/>
                <a:cs typeface="Calibri" panose="020F0502020204030204" pitchFamily="34" charset="0"/>
              </a:rPr>
              <a:t>      - </a:t>
            </a:r>
            <a:r>
              <a:rPr kumimoji="0" 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r>
              <a:rPr lang="en-US" sz="2800" dirty="0">
                <a:solidFill>
                  <a:srgbClr val="000000"/>
                </a:solidFill>
                <a:latin typeface="Calibri" panose="020F0502020204030204" pitchFamily="34" charset="0"/>
                <a:cs typeface="Calibri" panose="020F0502020204030204" pitchFamily="34" charset="0"/>
              </a:rPr>
              <a:t>Follow” to receive email notifications (i.e., amendments)</a:t>
            </a:r>
          </a:p>
          <a:p>
            <a:pPr marL="514350" marR="0" lvl="1" indent="0" algn="l" defTabSz="914400" rtl="0" eaLnBrk="1" fontAlgn="base" latinLnBrk="0" hangingPunct="1">
              <a:lnSpc>
                <a:spcPct val="100000"/>
              </a:lnSpc>
              <a:spcBef>
                <a:spcPts val="300"/>
              </a:spcBef>
              <a:spcAft>
                <a:spcPct val="0"/>
              </a:spcAft>
              <a:buClrTx/>
              <a:buSzTx/>
              <a:buNone/>
              <a:tabLst/>
              <a:defRPr/>
            </a:pPr>
            <a:r>
              <a:rPr lang="en-US" sz="2800" dirty="0">
                <a:solidFill>
                  <a:srgbClr val="000000"/>
                </a:solidFill>
                <a:latin typeface="Calibri" panose="020F0502020204030204" pitchFamily="34" charset="0"/>
                <a:cs typeface="Calibri" panose="020F0502020204030204" pitchFamily="34" charset="0"/>
              </a:rPr>
              <a:t>      -  View </a:t>
            </a:r>
            <a:r>
              <a:rPr lang="en-US" sz="2800" u="sng" dirty="0">
                <a:solidFill>
                  <a:srgbClr val="000000"/>
                </a:solidFill>
                <a:latin typeface="Calibri" panose="020F0502020204030204" pitchFamily="34" charset="0"/>
                <a:cs typeface="Calibri" panose="020F0502020204030204" pitchFamily="34" charset="0"/>
              </a:rPr>
              <a:t>Interested Vendors List</a:t>
            </a:r>
          </a:p>
          <a:p>
            <a:pPr marL="514350" marR="0" lvl="1" indent="0" algn="l" defTabSz="914400" rtl="0" eaLnBrk="1" fontAlgn="base" latinLnBrk="0" hangingPunct="1">
              <a:lnSpc>
                <a:spcPct val="100000"/>
              </a:lnSpc>
              <a:spcBef>
                <a:spcPts val="300"/>
              </a:spcBef>
              <a:spcAft>
                <a:spcPct val="0"/>
              </a:spcAft>
              <a:buClrTx/>
              <a:buSzTx/>
              <a:buNone/>
              <a:tabLst/>
              <a:defRPr/>
            </a:pPr>
            <a:r>
              <a:rPr lang="en-US" sz="2800" dirty="0">
                <a:solidFill>
                  <a:srgbClr val="000000"/>
                </a:solidFill>
                <a:latin typeface="Calibri" panose="020F0502020204030204" pitchFamily="34" charset="0"/>
                <a:cs typeface="Calibri" panose="020F0502020204030204" pitchFamily="34" charset="0"/>
              </a:rPr>
              <a:t>      -  Sign up as an Interested Vendor</a:t>
            </a:r>
            <a:endParaRPr kumimoji="0" lang="en-US" alt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endParaRPr lang="en-US" dirty="0"/>
          </a:p>
        </p:txBody>
      </p:sp>
      <p:sp>
        <p:nvSpPr>
          <p:cNvPr id="4" name="Title 3">
            <a:extLst>
              <a:ext uri="{FF2B5EF4-FFF2-40B4-BE49-F238E27FC236}">
                <a16:creationId xmlns:a16="http://schemas.microsoft.com/office/drawing/2014/main" id="{7E18140C-3ED0-2D80-CBE8-F74A6CBA71B4}"/>
              </a:ext>
            </a:extLst>
          </p:cNvPr>
          <p:cNvSpPr>
            <a:spLocks noGrp="1"/>
          </p:cNvSpPr>
          <p:nvPr>
            <p:ph type="title"/>
          </p:nvPr>
        </p:nvSpPr>
        <p:spPr>
          <a:xfrm>
            <a:off x="948366" y="498763"/>
            <a:ext cx="10386814" cy="463137"/>
          </a:xfrm>
        </p:spPr>
        <p:txBody>
          <a:bodyPr/>
          <a:lstStyle/>
          <a:p>
            <a:pPr algn="ctr"/>
            <a:r>
              <a:rPr kumimoji="0" lang="en-US" altLang="en-US" sz="4000" b="1" i="0" u="none" strike="noStrike" kern="1200" cap="none" spc="0" normalizeH="0" baseline="0" noProof="0" dirty="0">
                <a:ln>
                  <a:noFill/>
                </a:ln>
                <a:solidFill>
                  <a:prstClr val="black"/>
                </a:solidFill>
                <a:effectLst/>
                <a:uLnTx/>
                <a:uFillTx/>
                <a:latin typeface="Arial" pitchFamily="34" charset="0"/>
                <a:ea typeface="ＭＳ Ｐゴシック" charset="0"/>
                <a:cs typeface="Arial" pitchFamily="34" charset="0"/>
              </a:rPr>
              <a:t>OBTAINING THE ISSUE DOCUMENTS</a:t>
            </a:r>
            <a:br>
              <a:rPr kumimoji="0" lang="en-US" altLang="en-US" sz="2900" b="0" i="0" u="none" strike="noStrike" kern="1200" cap="none" spc="0" normalizeH="0" baseline="0" noProof="0" dirty="0">
                <a:ln>
                  <a:noFill/>
                </a:ln>
                <a:solidFill>
                  <a:prstClr val="black"/>
                </a:solidFill>
                <a:effectLst/>
                <a:uLnTx/>
                <a:uFillTx/>
                <a:latin typeface="Arial" pitchFamily="34" charset="0"/>
                <a:ea typeface="ＭＳ Ｐゴシック" charset="0"/>
                <a:cs typeface="Arial" pitchFamily="34" charset="0"/>
              </a:rPr>
            </a:br>
            <a:endParaRPr lang="en-US" dirty="0"/>
          </a:p>
        </p:txBody>
      </p:sp>
    </p:spTree>
    <p:extLst>
      <p:ext uri="{BB962C8B-B14F-4D97-AF65-F5344CB8AC3E}">
        <p14:creationId xmlns:p14="http://schemas.microsoft.com/office/powerpoint/2010/main" val="37276957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3331AF-050F-0C4B-5F21-0D7B81BCF977}"/>
              </a:ext>
            </a:extLst>
          </p:cNvPr>
          <p:cNvSpPr>
            <a:spLocks noGrp="1"/>
          </p:cNvSpPr>
          <p:nvPr>
            <p:ph sz="quarter" idx="10"/>
          </p:nvPr>
        </p:nvSpPr>
        <p:spPr/>
        <p:txBody>
          <a:bodyPr/>
          <a:lstStyle/>
          <a:p>
            <a:pPr marR="0" lvl="0" algn="l" defTabSz="914400" rtl="0" eaLnBrk="1" fontAlgn="base" latinLnBrk="0" hangingPunct="1">
              <a:lnSpc>
                <a:spcPct val="100000"/>
              </a:lnSpc>
              <a:spcBef>
                <a:spcPts val="300"/>
              </a:spcBef>
              <a:spcAft>
                <a:spcPct val="0"/>
              </a:spcAft>
              <a:buClrTx/>
              <a:buSzTx/>
              <a:tabLst/>
              <a:defRPr/>
            </a:pPr>
            <a:r>
              <a:rPr kumimoji="0" lang="en-US" sz="3200" b="1" i="0" u="none"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rPr>
              <a:t>Requirements to Submit Proposals:</a:t>
            </a:r>
          </a:p>
          <a:p>
            <a:pPr marR="0" lvl="0" algn="l" defTabSz="914400" rtl="0" eaLnBrk="1" fontAlgn="base" latinLnBrk="0" hangingPunct="1">
              <a:lnSpc>
                <a:spcPct val="100000"/>
              </a:lnSpc>
              <a:spcBef>
                <a:spcPts val="300"/>
              </a:spcBef>
              <a:spcAft>
                <a:spcPct val="0"/>
              </a:spcAft>
              <a:buClrTx/>
              <a:buSzTx/>
              <a:tabLst/>
              <a:defRPr/>
            </a:pPr>
            <a:endParaRPr kumimoji="0" lang="en-US" sz="2800" b="1" i="0" u="none"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endParaRPr>
          </a:p>
          <a:p>
            <a:pPr marL="804863" marR="0" lvl="2" indent="-342900" algn="l" defTabSz="914400" rtl="0" eaLnBrk="1" fontAlgn="base" latinLnBrk="0" hangingPunct="1">
              <a:lnSpc>
                <a:spcPct val="100000"/>
              </a:lnSpc>
              <a:spcBef>
                <a:spcPts val="0"/>
              </a:spcBef>
              <a:spcAft>
                <a:spcPct val="0"/>
              </a:spcAft>
              <a:buClrTx/>
              <a:buSzTx/>
              <a:buFont typeface="Wingdings" panose="05000000000000000000" pitchFamily="2" charset="2"/>
              <a:buChar char="ü"/>
              <a:tabLst/>
              <a:defRPr/>
            </a:pPr>
            <a:r>
              <a:rPr lang="en-US" sz="3200" b="1" u="sng" dirty="0">
                <a:solidFill>
                  <a:schemeClr val="tx1"/>
                </a:solidFill>
                <a:latin typeface="Calibri" panose="020F0502020204030204" pitchFamily="34" charset="0"/>
                <a:cs typeface="Calibri" panose="020F0502020204030204" pitchFamily="34" charset="0"/>
              </a:rPr>
              <a:t>R</a:t>
            </a:r>
            <a:r>
              <a:rPr kumimoji="0" lang="en-US" sz="3200" b="1" i="0" u="sng" strike="noStrike" kern="120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egister</a:t>
            </a:r>
            <a:r>
              <a:rPr kumimoji="0" lang="en-US" sz="3200" b="1" i="0" u="sng"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your business entity</a:t>
            </a:r>
            <a:r>
              <a:rPr kumimoji="0" lang="en-US" sz="3200" b="1"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a:t>
            </a:r>
            <a:r>
              <a:rPr kumimoji="0" lang="en-US" sz="3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(you as an individual or your organization) to be able to propose on contracts as the Prime.</a:t>
            </a:r>
          </a:p>
          <a:p>
            <a:pPr marL="804863" marR="0" lvl="2" indent="-342900" algn="l" defTabSz="914400" rtl="0" eaLnBrk="1" fontAlgn="base" latinLnBrk="0" hangingPunct="1">
              <a:lnSpc>
                <a:spcPct val="100000"/>
              </a:lnSpc>
              <a:spcBef>
                <a:spcPts val="0"/>
              </a:spcBef>
              <a:spcAft>
                <a:spcPct val="0"/>
              </a:spcAft>
              <a:buClrTx/>
              <a:buSzTx/>
              <a:buFont typeface="Wingdings" panose="05000000000000000000" pitchFamily="2" charset="2"/>
              <a:buChar char="ü"/>
              <a:tabLst/>
              <a:defRPr/>
            </a:pPr>
            <a:endParaRPr kumimoji="0" lang="en-US" sz="2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804863" marR="0" lvl="2" indent="-342900" algn="l" defTabSz="914400" rtl="0" eaLnBrk="1" fontAlgn="base" latinLnBrk="0" hangingPunct="1">
              <a:lnSpc>
                <a:spcPct val="100000"/>
              </a:lnSpc>
              <a:spcBef>
                <a:spcPts val="0"/>
              </a:spcBef>
              <a:spcAft>
                <a:spcPct val="0"/>
              </a:spcAft>
              <a:buClrTx/>
              <a:buSzTx/>
              <a:buFont typeface="Wingdings" panose="05000000000000000000" pitchFamily="2" charset="2"/>
              <a:buChar char="ü"/>
              <a:tabLst/>
              <a:defRPr/>
            </a:pPr>
            <a:r>
              <a:rPr kumimoji="0" lang="en-US" sz="3200" b="1"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All proposals </a:t>
            </a:r>
            <a:r>
              <a:rPr kumimoji="0" lang="en-US" sz="3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will be </a:t>
            </a:r>
            <a:r>
              <a:rPr kumimoji="0" lang="en-US" sz="3200" b="1"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submitted through the </a:t>
            </a:r>
            <a:r>
              <a:rPr kumimoji="0" lang="en-US" sz="3200" b="1" i="0" u="sng"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PIEE Solicitation Module </a:t>
            </a:r>
            <a:r>
              <a:rPr kumimoji="0" lang="en-US" sz="3200" b="1"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on time</a:t>
            </a:r>
            <a:r>
              <a:rPr kumimoji="0" lang="en-US" sz="32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a:t>
            </a:r>
            <a:r>
              <a:rPr kumimoji="0" lang="en-US" sz="3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Therefore, offerors must </a:t>
            </a:r>
            <a:r>
              <a:rPr kumimoji="0" lang="en-US" sz="3200" b="1"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r</a:t>
            </a:r>
            <a:r>
              <a:rPr kumimoji="0" lang="en-US" sz="3200" b="1" i="0" u="sng"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egister in advance </a:t>
            </a:r>
            <a:r>
              <a:rPr kumimoji="0" lang="en-US" sz="3200" b="0" i="0" u="sng"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for a user ID and Password</a:t>
            </a:r>
            <a:r>
              <a:rPr kumimoji="0" lang="en-US" sz="3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to access this system.</a:t>
            </a:r>
            <a:endParaRPr lang="en-US" sz="3200" dirty="0">
              <a:latin typeface="Calibri" panose="020F0502020204030204" pitchFamily="34" charset="0"/>
              <a:cs typeface="Calibri" panose="020F0502020204030204" pitchFamily="34" charset="0"/>
            </a:endParaRPr>
          </a:p>
          <a:p>
            <a:endParaRPr lang="en-US" dirty="0"/>
          </a:p>
        </p:txBody>
      </p:sp>
      <p:sp>
        <p:nvSpPr>
          <p:cNvPr id="4" name="Title 3">
            <a:extLst>
              <a:ext uri="{FF2B5EF4-FFF2-40B4-BE49-F238E27FC236}">
                <a16:creationId xmlns:a16="http://schemas.microsoft.com/office/drawing/2014/main" id="{7E18140C-3ED0-2D80-CBE8-F74A6CBA71B4}"/>
              </a:ext>
            </a:extLst>
          </p:cNvPr>
          <p:cNvSpPr>
            <a:spLocks noGrp="1"/>
          </p:cNvSpPr>
          <p:nvPr>
            <p:ph type="title"/>
          </p:nvPr>
        </p:nvSpPr>
        <p:spPr>
          <a:xfrm>
            <a:off x="948366" y="498763"/>
            <a:ext cx="10386814" cy="463137"/>
          </a:xfrm>
        </p:spPr>
        <p:txBody>
          <a:bodyPr/>
          <a:lstStyle/>
          <a:p>
            <a:pPr algn="ctr"/>
            <a:r>
              <a:rPr kumimoji="0" lang="en-US" altLang="en-US" sz="4000" b="1" i="0" u="none" strike="noStrike" kern="1200" cap="none" spc="0" normalizeH="0" baseline="0" noProof="0" dirty="0">
                <a:ln>
                  <a:noFill/>
                </a:ln>
                <a:solidFill>
                  <a:prstClr val="black"/>
                </a:solidFill>
                <a:effectLst/>
                <a:uLnTx/>
                <a:uFillTx/>
                <a:latin typeface="Arial" pitchFamily="34" charset="0"/>
                <a:ea typeface="ＭＳ Ｐゴシック" charset="0"/>
                <a:cs typeface="Arial" pitchFamily="34" charset="0"/>
              </a:rPr>
              <a:t>OBTAINING THE ISSUE DOCUMENTS</a:t>
            </a:r>
            <a:br>
              <a:rPr kumimoji="0" lang="en-US" altLang="en-US" sz="2900" b="0" i="0" u="none" strike="noStrike" kern="1200" cap="none" spc="0" normalizeH="0" baseline="0" noProof="0" dirty="0">
                <a:ln>
                  <a:noFill/>
                </a:ln>
                <a:solidFill>
                  <a:prstClr val="black"/>
                </a:solidFill>
                <a:effectLst/>
                <a:uLnTx/>
                <a:uFillTx/>
                <a:latin typeface="Arial" pitchFamily="34" charset="0"/>
                <a:ea typeface="ＭＳ Ｐゴシック" charset="0"/>
                <a:cs typeface="Arial" pitchFamily="34" charset="0"/>
              </a:rPr>
            </a:br>
            <a:endParaRPr lang="en-US" dirty="0"/>
          </a:p>
        </p:txBody>
      </p:sp>
    </p:spTree>
    <p:extLst>
      <p:ext uri="{BB962C8B-B14F-4D97-AF65-F5344CB8AC3E}">
        <p14:creationId xmlns:p14="http://schemas.microsoft.com/office/powerpoint/2010/main" val="1761397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66DE466-CDDB-9A99-CAF7-60CE454BF2C8}"/>
              </a:ext>
            </a:extLst>
          </p:cNvPr>
          <p:cNvSpPr>
            <a:spLocks noGrp="1"/>
          </p:cNvSpPr>
          <p:nvPr>
            <p:ph sz="quarter" idx="10"/>
          </p:nvPr>
        </p:nvSpPr>
        <p:spPr/>
        <p:txBody>
          <a:bodyPr/>
          <a:lstStyle/>
          <a:p>
            <a:pPr marL="342900" marR="0" lvl="0" indent="-3429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a:t>
            </a:r>
            <a:r>
              <a:rPr kumimoji="0" lang="en-US" altLang="en-US" sz="2800" b="0" i="0" u="none" strike="noStrike" kern="1200" cap="none" spc="0" normalizeH="0" baseline="0" noProof="0" dirty="0">
                <a:ln>
                  <a:noFill/>
                </a:ln>
                <a:solidFill>
                  <a:srgbClr val="000000"/>
                </a:solidFill>
                <a:effectLst/>
                <a:highlight>
                  <a:srgbClr val="FFFFFF"/>
                </a:highlight>
                <a:uLnTx/>
                <a:uFillTx/>
                <a:latin typeface="Calibri" panose="020F0502020204030204" pitchFamily="34" charset="0"/>
                <a:cs typeface="Calibri" panose="020F0502020204030204" pitchFamily="34" charset="0"/>
              </a:rPr>
              <a:t>projects </a:t>
            </a:r>
            <a:r>
              <a:rPr kumimoji="0" lang="en-US" alt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will be Design-Build (D-B) Request for Proposals (RFP). </a:t>
            </a:r>
          </a:p>
          <a:p>
            <a:pPr marR="0" lvl="0" algn="l" defTabSz="914400" rtl="0" eaLnBrk="1" fontAlgn="base" latinLnBrk="0" hangingPunct="1">
              <a:lnSpc>
                <a:spcPct val="100000"/>
              </a:lnSpc>
              <a:spcBef>
                <a:spcPts val="300"/>
              </a:spcBef>
              <a:spcAft>
                <a:spcPct val="0"/>
              </a:spcAft>
              <a:buClrTx/>
              <a:buSzTx/>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R="0" lvl="0" algn="l" defTabSz="914400" rtl="0" eaLnBrk="1" fontAlgn="base" latinLnBrk="0" hangingPunct="1">
              <a:lnSpc>
                <a:spcPct val="100000"/>
              </a:lnSpc>
              <a:spcBef>
                <a:spcPts val="300"/>
              </a:spcBef>
              <a:spcAft>
                <a:spcPct val="0"/>
              </a:spcAft>
              <a:buClrTx/>
              <a:buSzTx/>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342900" marR="0" lvl="0" indent="-3429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lang="en-US" altLang="en-US" sz="2800" dirty="0">
                <a:solidFill>
                  <a:srgbClr val="000000"/>
                </a:solidFill>
                <a:latin typeface="Calibri" panose="020F0502020204030204" pitchFamily="34" charset="0"/>
                <a:cs typeface="Calibri" panose="020F0502020204030204" pitchFamily="34" charset="0"/>
              </a:rPr>
              <a:t>The solicitations are  Total Small Business Set-Aside procurements</a:t>
            </a:r>
            <a:endParaRPr kumimoji="0" lang="en-US" alt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342900" marR="0" lvl="0" indent="-3429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endParaRPr kumimoji="0" lang="en-US" altLang="en-US" sz="1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342900" marR="0" lvl="0" indent="-3429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Project award will be made via a Two-Phase “Best Value Trade-off” basis as described in the evaluation criteria.</a:t>
            </a:r>
          </a:p>
          <a:p>
            <a:pPr marL="0" marR="0" lvl="0" indent="0" algn="l" defTabSz="914400" rtl="0" eaLnBrk="1" fontAlgn="base" latinLnBrk="0" hangingPunct="1">
              <a:lnSpc>
                <a:spcPct val="100000"/>
              </a:lnSpc>
              <a:spcBef>
                <a:spcPts val="300"/>
              </a:spcBef>
              <a:spcAft>
                <a:spcPct val="0"/>
              </a:spcAft>
              <a:buClrTx/>
              <a:buSzTx/>
              <a:buFont typeface="Arial" pitchFamily="34" charset="0"/>
              <a:buNone/>
              <a:tabLst/>
              <a:defRPr/>
            </a:pPr>
            <a:endParaRPr kumimoji="0" lang="en-US" altLang="en-US" sz="1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342900" marR="0" lvl="0" indent="-3429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Proposals must be submitted on time.</a:t>
            </a:r>
          </a:p>
          <a:p>
            <a:pPr marL="914400" marR="0" lvl="1" indent="-457200" algn="l" defTabSz="914400" rtl="0" eaLnBrk="1" fontAlgn="base" latinLnBrk="0" hangingPunct="1">
              <a:lnSpc>
                <a:spcPct val="100000"/>
              </a:lnSpc>
              <a:spcBef>
                <a:spcPts val="300"/>
              </a:spcBef>
              <a:spcAft>
                <a:spcPct val="0"/>
              </a:spcAft>
              <a:buClrTx/>
              <a:buSzTx/>
              <a:buFont typeface="Wingdings" panose="05000000000000000000" pitchFamily="2" charset="2"/>
              <a:buChar char="Ø"/>
              <a:tabLst/>
              <a:defRPr/>
            </a:pPr>
            <a:r>
              <a:rPr kumimoji="0" lang="en-US" altLang="en-US" sz="2800" b="1" i="0" u="sng"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The Louisville District is located within the Eastern time zone.</a:t>
            </a:r>
          </a:p>
          <a:p>
            <a:pPr marL="457200" marR="0" lvl="1" indent="0" algn="l" defTabSz="914400" rtl="0" eaLnBrk="1" fontAlgn="base" latinLnBrk="0" hangingPunct="1">
              <a:lnSpc>
                <a:spcPct val="100000"/>
              </a:lnSpc>
              <a:spcBef>
                <a:spcPts val="300"/>
              </a:spcBef>
              <a:spcAft>
                <a:spcPct val="0"/>
              </a:spcAft>
              <a:buClrTx/>
              <a:buSzTx/>
              <a:buFont typeface="Arial" pitchFamily="34" charset="0"/>
              <a:buNone/>
              <a:tabLst/>
              <a:defRPr/>
            </a:pPr>
            <a:endParaRPr kumimoji="0" lang="en-US" altLang="en-US" sz="1600" b="1" i="0" u="sng"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endParaRPr>
          </a:p>
          <a:p>
            <a:pPr marL="342900" marR="0" lvl="0" indent="-3429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Source Selection Evaluation Board (SSEB) will evaluate offerors’ proposals based on specific factors which are defined in the RFP Package.</a:t>
            </a:r>
          </a:p>
          <a:p>
            <a:endParaRPr lang="en-US" dirty="0"/>
          </a:p>
        </p:txBody>
      </p:sp>
      <p:sp>
        <p:nvSpPr>
          <p:cNvPr id="4" name="Title 3">
            <a:extLst>
              <a:ext uri="{FF2B5EF4-FFF2-40B4-BE49-F238E27FC236}">
                <a16:creationId xmlns:a16="http://schemas.microsoft.com/office/drawing/2014/main" id="{9A9AC50D-5111-B6F3-0215-C5E7AF594F1B}"/>
              </a:ext>
            </a:extLst>
          </p:cNvPr>
          <p:cNvSpPr>
            <a:spLocks noGrp="1"/>
          </p:cNvSpPr>
          <p:nvPr>
            <p:ph type="title"/>
          </p:nvPr>
        </p:nvSpPr>
        <p:spPr>
          <a:xfrm>
            <a:off x="948366" y="443345"/>
            <a:ext cx="10386814" cy="518556"/>
          </a:xfrm>
        </p:spPr>
        <p:txBody>
          <a:bodyPr/>
          <a:lstStyle/>
          <a:p>
            <a:pPr algn="ctr"/>
            <a:r>
              <a:rPr kumimoji="0" lang="en-US" sz="4000" b="1" i="0" u="none" strike="noStrike" kern="1200" cap="none" spc="0" normalizeH="0" baseline="0" noProof="0" dirty="0">
                <a:ln>
                  <a:noFill/>
                </a:ln>
                <a:solidFill>
                  <a:prstClr val="black"/>
                </a:solidFill>
                <a:effectLst/>
                <a:uLnTx/>
                <a:uFillTx/>
                <a:latin typeface="Arial" pitchFamily="34" charset="0"/>
                <a:ea typeface="ＭＳ Ｐゴシック" charset="0"/>
                <a:cs typeface="Arial" pitchFamily="34" charset="0"/>
              </a:rPr>
              <a:t>THE PROCUREMENT PROCESS</a:t>
            </a:r>
            <a:br>
              <a:rPr kumimoji="0" lang="en-US" sz="4000" b="0" i="0" u="none" strike="noStrike" kern="1200" cap="none" spc="0" normalizeH="0" baseline="0" noProof="0" dirty="0">
                <a:ln>
                  <a:noFill/>
                </a:ln>
                <a:solidFill>
                  <a:prstClr val="black"/>
                </a:solidFill>
                <a:effectLst/>
                <a:uLnTx/>
                <a:uFillTx/>
                <a:latin typeface="Arial" pitchFamily="34" charset="0"/>
                <a:ea typeface="ＭＳ Ｐゴシック" charset="0"/>
                <a:cs typeface="Arial" pitchFamily="34" charset="0"/>
              </a:rPr>
            </a:br>
            <a:endParaRPr lang="en-US" dirty="0"/>
          </a:p>
        </p:txBody>
      </p:sp>
      <p:sp>
        <p:nvSpPr>
          <p:cNvPr id="5" name="TextBox 4">
            <a:extLst>
              <a:ext uri="{FF2B5EF4-FFF2-40B4-BE49-F238E27FC236}">
                <a16:creationId xmlns:a16="http://schemas.microsoft.com/office/drawing/2014/main" id="{B12428CA-F3F2-AB3C-5D36-6694DD794C2B}"/>
              </a:ext>
            </a:extLst>
          </p:cNvPr>
          <p:cNvSpPr txBox="1"/>
          <p:nvPr/>
        </p:nvSpPr>
        <p:spPr>
          <a:xfrm>
            <a:off x="1710089" y="1473530"/>
            <a:ext cx="9168118" cy="830997"/>
          </a:xfrm>
          <a:prstGeom prst="rect">
            <a:avLst/>
          </a:prstGeom>
          <a:noFill/>
        </p:spPr>
        <p:txBody>
          <a:bodyPr wrap="square">
            <a:spAutoFit/>
          </a:bodyPr>
          <a:lstStyle/>
          <a:p>
            <a:r>
              <a:rPr kumimoji="0" lang="en-US" sz="2400" b="0" i="0" u="none" strike="noStrike" kern="1200" cap="none" spc="0" normalizeH="0" baseline="0" noProof="0" dirty="0">
                <a:ln>
                  <a:noFill/>
                </a:ln>
                <a:effectLst/>
                <a:uLnTx/>
                <a:uFillTx/>
                <a:latin typeface="Calibri" panose="020F0502020204030204" pitchFamily="34" charset="0"/>
                <a:cs typeface="Calibri" panose="020F0502020204030204" pitchFamily="34" charset="0"/>
              </a:rPr>
              <a:t>New Cumberland Solicitation will be </a:t>
            </a:r>
            <a:r>
              <a:rPr kumimoji="0" lang="en-US" sz="2400" b="1" i="0" u="none" strike="noStrike" kern="1200" cap="none" spc="0" normalizeH="0" baseline="0" noProof="0" dirty="0">
                <a:ln>
                  <a:noFill/>
                </a:ln>
                <a:effectLst/>
                <a:uLnTx/>
                <a:uFillTx/>
                <a:latin typeface="Calibri" panose="020F0502020204030204" pitchFamily="34" charset="0"/>
                <a:cs typeface="Calibri" panose="020F0502020204030204" pitchFamily="34" charset="0"/>
              </a:rPr>
              <a:t>W912QR25NEWCUMBERLAND</a:t>
            </a:r>
          </a:p>
          <a:p>
            <a:r>
              <a:rPr lang="en-US" sz="2400" dirty="0">
                <a:latin typeface="Calibri" panose="020F0502020204030204" pitchFamily="34" charset="0"/>
                <a:cs typeface="Calibri" panose="020F0502020204030204" pitchFamily="34" charset="0"/>
              </a:rPr>
              <a:t>Newtown Square Solicitation will be </a:t>
            </a:r>
            <a:r>
              <a:rPr lang="en-US" sz="2400" b="1" dirty="0">
                <a:latin typeface="Calibri" panose="020F0502020204030204" pitchFamily="34" charset="0"/>
                <a:cs typeface="Calibri" panose="020F0502020204030204" pitchFamily="34" charset="0"/>
              </a:rPr>
              <a:t>W912QR25RA019</a:t>
            </a:r>
            <a:endParaRPr lang="en-US" sz="2400" b="1" dirty="0"/>
          </a:p>
        </p:txBody>
      </p:sp>
    </p:spTree>
    <p:extLst>
      <p:ext uri="{BB962C8B-B14F-4D97-AF65-F5344CB8AC3E}">
        <p14:creationId xmlns:p14="http://schemas.microsoft.com/office/powerpoint/2010/main" val="23546962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72D10D-918A-7601-A324-854915CC7749}"/>
              </a:ext>
            </a:extLst>
          </p:cNvPr>
          <p:cNvSpPr>
            <a:spLocks noGrp="1"/>
          </p:cNvSpPr>
          <p:nvPr>
            <p:ph sz="quarter" idx="10"/>
          </p:nvPr>
        </p:nvSpPr>
        <p:spPr>
          <a:xfrm>
            <a:off x="207050" y="1170030"/>
            <a:ext cx="9977185" cy="5600700"/>
          </a:xfrm>
        </p:spPr>
        <p:txBody>
          <a:bodyPr>
            <a:normAutofit/>
          </a:bodyPr>
          <a:lstStyle/>
          <a:p>
            <a:pPr marL="457200" marR="0" lvl="0" indent="-4572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alt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Source Selection Evaluation Criteria for the “Best Value Trade-Off” </a:t>
            </a:r>
          </a:p>
          <a:p>
            <a:pPr marR="0" lvl="0" algn="l" defTabSz="914400" rtl="0" eaLnBrk="1" fontAlgn="base" latinLnBrk="0" hangingPunct="1">
              <a:lnSpc>
                <a:spcPct val="100000"/>
              </a:lnSpc>
              <a:spcBef>
                <a:spcPts val="300"/>
              </a:spcBef>
              <a:spcAft>
                <a:spcPct val="0"/>
              </a:spcAft>
              <a:buClrTx/>
              <a:buSzTx/>
              <a:tabLst/>
              <a:defRPr/>
            </a:pPr>
            <a:r>
              <a:rPr kumimoji="0" lang="en-US" alt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consists of the following elements for </a:t>
            </a:r>
            <a:r>
              <a:rPr kumimoji="0" lang="en-US" altLang="en-US" sz="2600" b="1" i="0" u="sng"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Phase I</a:t>
            </a:r>
            <a:r>
              <a:rPr kumimoji="0" lang="en-US" alt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a:p>
            <a:pPr marR="0" lvl="0" algn="ctr" defTabSz="914400" rtl="0" eaLnBrk="1" fontAlgn="base" latinLnBrk="0" hangingPunct="1">
              <a:lnSpc>
                <a:spcPct val="100000"/>
              </a:lnSpc>
              <a:spcBef>
                <a:spcPts val="300"/>
              </a:spcBef>
              <a:spcAft>
                <a:spcPct val="0"/>
              </a:spcAft>
              <a:buClrTx/>
              <a:buSzTx/>
              <a:tabLst/>
              <a:defRPr/>
            </a:pPr>
            <a:endParaRPr kumimoji="0" lang="en-US" altLang="en-US" sz="3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514350" marR="0" lvl="1" indent="0" algn="l" defTabSz="914400" rtl="0" eaLnBrk="1" fontAlgn="base" latinLnBrk="0" hangingPunct="1">
              <a:lnSpc>
                <a:spcPct val="100000"/>
              </a:lnSpc>
              <a:spcBef>
                <a:spcPts val="0"/>
              </a:spcBef>
              <a:spcAft>
                <a:spcPct val="0"/>
              </a:spcAft>
              <a:buClrTx/>
              <a:buSzTx/>
              <a:buFont typeface="Arial" pitchFamily="34" charset="0"/>
              <a:buNone/>
              <a:tabLst/>
              <a:defRPr/>
            </a:pPr>
            <a:r>
              <a:rPr lang="en-US" altLang="en-US" sz="2200" dirty="0">
                <a:solidFill>
                  <a:srgbClr val="000000"/>
                </a:solidFill>
                <a:latin typeface="Calibri" panose="020F0502020204030204" pitchFamily="34" charset="0"/>
                <a:cs typeface="Calibri" panose="020F0502020204030204" pitchFamily="34" charset="0"/>
              </a:rPr>
              <a:t>1</a:t>
            </a:r>
            <a:r>
              <a:rPr kumimoji="0" lang="en-US" altLang="en-US" sz="2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Volume I – </a:t>
            </a:r>
            <a:r>
              <a:rPr kumimoji="0" lang="en-US" altLang="en-US" sz="2200" b="1" i="0" u="none" strike="noStrike" kern="1200" cap="none" spc="0" normalizeH="0" baseline="0" noProof="0" dirty="0">
                <a:ln>
                  <a:noFill/>
                </a:ln>
                <a:solidFill>
                  <a:srgbClr val="00308F">
                    <a:lumMod val="60000"/>
                    <a:lumOff val="40000"/>
                  </a:srgbClr>
                </a:solidFill>
                <a:effectLst/>
                <a:uLnTx/>
                <a:uFillTx/>
                <a:latin typeface="Calibri" panose="020F0502020204030204" pitchFamily="34" charset="0"/>
                <a:cs typeface="Calibri" panose="020F0502020204030204" pitchFamily="34" charset="0"/>
              </a:rPr>
              <a:t>Factor I:  Past Performance Evaluation</a:t>
            </a:r>
          </a:p>
          <a:p>
            <a:pPr marL="1257300" marR="0" lvl="2" indent="-342900" algn="l" defTabSz="914400" rtl="0" eaLnBrk="1" fontAlgn="base" latinLnBrk="0" hangingPunct="1">
              <a:lnSpc>
                <a:spcPct val="100000"/>
              </a:lnSpc>
              <a:spcBef>
                <a:spcPts val="0"/>
              </a:spcBef>
              <a:spcAft>
                <a:spcPct val="0"/>
              </a:spcAft>
              <a:buClrTx/>
              <a:buSzTx/>
              <a:buFont typeface="Wingdings" panose="05000000000000000000" pitchFamily="2" charset="2"/>
              <a:buChar char="ü"/>
              <a:tabLst/>
              <a:defRPr/>
            </a:pPr>
            <a:r>
              <a:rPr kumimoji="0" lang="en-US" altLang="en-US" sz="2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Project(s) submitted for </a:t>
            </a:r>
            <a:r>
              <a:rPr kumimoji="0" lang="en-US" altLang="en-US" sz="2000" b="0" i="0" u="sng"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both</a:t>
            </a:r>
            <a:r>
              <a:rPr kumimoji="0" lang="en-US" altLang="en-US" sz="2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t>
            </a:r>
            <a:r>
              <a:rPr kumimoji="0" lang="en-US" altLang="en-US" sz="2000" b="1"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Prime Contractor </a:t>
            </a:r>
            <a:r>
              <a:rPr kumimoji="0" lang="en-US" altLang="en-US" sz="2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a:t>
            </a:r>
            <a:r>
              <a:rPr kumimoji="0" lang="en-US" altLang="en-US" sz="2000" b="1"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A/E Designer of Record   </a:t>
            </a:r>
          </a:p>
          <a:p>
            <a:pPr marL="914400" marR="0" lvl="2" indent="0" algn="l" defTabSz="914400" rtl="0" eaLnBrk="1" fontAlgn="base" latinLnBrk="0" hangingPunct="1">
              <a:lnSpc>
                <a:spcPct val="100000"/>
              </a:lnSpc>
              <a:spcBef>
                <a:spcPts val="0"/>
              </a:spcBef>
              <a:spcAft>
                <a:spcPct val="0"/>
              </a:spcAft>
              <a:buClrTx/>
              <a:buSzTx/>
              <a:buFont typeface="Arial" pitchFamily="34" charset="0"/>
              <a:buNone/>
              <a:tabLst/>
              <a:defRPr/>
            </a:pPr>
            <a:r>
              <a:rPr kumimoji="0" lang="en-US" altLang="en-US" sz="2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(maximum 3 each)</a:t>
            </a:r>
          </a:p>
          <a:p>
            <a:pPr marL="1371600" marR="0" lvl="2" indent="-457200" algn="l" defTabSz="914400" rtl="0" eaLnBrk="1" fontAlgn="base" latinLnBrk="0" hangingPunct="1">
              <a:lnSpc>
                <a:spcPct val="100000"/>
              </a:lnSpc>
              <a:spcBef>
                <a:spcPts val="0"/>
              </a:spcBef>
              <a:spcAft>
                <a:spcPct val="0"/>
              </a:spcAft>
              <a:buClrTx/>
              <a:buSzTx/>
              <a:buFont typeface="Wingdings" panose="05000000000000000000" pitchFamily="2" charset="2"/>
              <a:buChar char="ü"/>
              <a:tabLst/>
              <a:defRPr/>
            </a:pPr>
            <a:r>
              <a:rPr kumimoji="0" lang="en-US" altLang="en-US" sz="2000" b="0" i="0" u="sng"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Relevancy</a:t>
            </a:r>
            <a:r>
              <a:rPr kumimoji="0" lang="en-US" altLang="en-US" sz="2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 Recent projects, similar in size, scope, magnitude of effort &amp;         complexities</a:t>
            </a:r>
          </a:p>
          <a:p>
            <a:pPr marL="1371600" marR="0" lvl="2" indent="-457200" algn="l" defTabSz="914400" rtl="0" eaLnBrk="1" fontAlgn="base" latinLnBrk="0" hangingPunct="1">
              <a:lnSpc>
                <a:spcPct val="100000"/>
              </a:lnSpc>
              <a:spcBef>
                <a:spcPts val="0"/>
              </a:spcBef>
              <a:spcAft>
                <a:spcPct val="0"/>
              </a:spcAft>
              <a:buClrTx/>
              <a:buSzTx/>
              <a:buFont typeface="Wingdings" panose="05000000000000000000" pitchFamily="2" charset="2"/>
              <a:buChar char="ü"/>
              <a:tabLst/>
              <a:defRPr/>
            </a:pPr>
            <a:r>
              <a:rPr kumimoji="0" lang="en-US" altLang="en-US" sz="2000" b="0" i="0" u="sng"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Quality</a:t>
            </a:r>
            <a:r>
              <a:rPr kumimoji="0" lang="en-US" altLang="en-US" sz="2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of performance on submitted projects</a:t>
            </a:r>
          </a:p>
          <a:p>
            <a:pPr marL="1257300" marR="0" lvl="2" indent="-342900" algn="l" defTabSz="914400" rtl="0" eaLnBrk="1" fontAlgn="base" latinLnBrk="0" hangingPunct="1">
              <a:lnSpc>
                <a:spcPct val="100000"/>
              </a:lnSpc>
              <a:spcBef>
                <a:spcPts val="0"/>
              </a:spcBef>
              <a:spcAft>
                <a:spcPct val="0"/>
              </a:spcAft>
              <a:buClrTx/>
              <a:buSzTx/>
              <a:buFont typeface="Wingdings" panose="05000000000000000000" pitchFamily="2" charset="2"/>
              <a:buChar char="ü"/>
              <a:tabLst/>
              <a:defRPr/>
            </a:pPr>
            <a:r>
              <a:rPr kumimoji="0" lang="en-US" altLang="en-US" sz="2000"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cs typeface="Calibri" panose="020F0502020204030204" pitchFamily="34" charset="0"/>
              </a:rPr>
              <a:t>  </a:t>
            </a:r>
            <a:r>
              <a:rPr kumimoji="0" lang="en-US" altLang="en-US" sz="2000" b="0" i="0" u="sng" strike="noStrike" kern="1200" cap="none" spc="0" normalizeH="0" baseline="0" noProof="0" dirty="0">
                <a:ln>
                  <a:noFill/>
                </a:ln>
                <a:solidFill>
                  <a:srgbClr val="000000">
                    <a:lumMod val="75000"/>
                    <a:lumOff val="25000"/>
                  </a:srgbClr>
                </a:solidFill>
                <a:effectLst/>
                <a:uLnTx/>
                <a:uFillTx/>
                <a:latin typeface="Calibri" panose="020F0502020204030204" pitchFamily="34" charset="0"/>
                <a:cs typeface="Calibri" panose="020F0502020204030204" pitchFamily="34" charset="0"/>
              </a:rPr>
              <a:t>Other sources </a:t>
            </a:r>
            <a:r>
              <a:rPr kumimoji="0" lang="en-US" altLang="en-US" sz="2000"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cs typeface="Calibri" panose="020F0502020204030204" pitchFamily="34" charset="0"/>
              </a:rPr>
              <a:t>of relevant past performance information (i.e., CPARS, FAPIIS,   </a:t>
            </a:r>
          </a:p>
          <a:p>
            <a:pPr marL="914400" marR="0" lvl="2" indent="0" algn="l" defTabSz="914400" rtl="0" eaLnBrk="1" fontAlgn="base" latinLnBrk="0" hangingPunct="1">
              <a:lnSpc>
                <a:spcPct val="100000"/>
              </a:lnSpc>
              <a:spcBef>
                <a:spcPts val="0"/>
              </a:spcBef>
              <a:spcAft>
                <a:spcPct val="0"/>
              </a:spcAft>
              <a:buClrTx/>
              <a:buSzTx/>
              <a:buFont typeface="Arial" pitchFamily="34" charset="0"/>
              <a:buNone/>
              <a:tabLst/>
              <a:defRPr/>
            </a:pPr>
            <a:r>
              <a:rPr kumimoji="0" lang="en-US" altLang="en-US" sz="2000"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cs typeface="Calibri" panose="020F0502020204030204" pitchFamily="34" charset="0"/>
              </a:rPr>
              <a:t>        </a:t>
            </a:r>
            <a:r>
              <a:rPr kumimoji="0" lang="en-US" altLang="en-US" sz="2000" b="0" i="0" u="none" strike="noStrike" kern="1200" cap="none" spc="0" normalizeH="0" baseline="0" noProof="0" dirty="0" err="1">
                <a:ln>
                  <a:noFill/>
                </a:ln>
                <a:solidFill>
                  <a:srgbClr val="000000">
                    <a:lumMod val="75000"/>
                    <a:lumOff val="25000"/>
                  </a:srgbClr>
                </a:solidFill>
                <a:effectLst/>
                <a:uLnTx/>
                <a:uFillTx/>
                <a:latin typeface="Calibri" panose="020F0502020204030204" pitchFamily="34" charset="0"/>
                <a:cs typeface="Calibri" panose="020F0502020204030204" pitchFamily="34" charset="0"/>
              </a:rPr>
              <a:t>eSRS</a:t>
            </a:r>
            <a:r>
              <a:rPr kumimoji="0" lang="en-US" altLang="en-US" sz="2000"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cs typeface="Calibri" panose="020F0502020204030204" pitchFamily="34" charset="0"/>
              </a:rPr>
              <a:t>)</a:t>
            </a:r>
          </a:p>
          <a:p>
            <a:pPr marL="514350" marR="0" lvl="1" indent="0" algn="l" defTabSz="914400" rtl="0" eaLnBrk="1" fontAlgn="base" latinLnBrk="0" hangingPunct="1">
              <a:lnSpc>
                <a:spcPct val="100000"/>
              </a:lnSpc>
              <a:spcAft>
                <a:spcPct val="0"/>
              </a:spcAft>
              <a:buClrTx/>
              <a:buSzTx/>
              <a:buNone/>
              <a:tabLst/>
              <a:defRPr/>
            </a:pPr>
            <a:endParaRPr lang="en-US" altLang="en-US" sz="1500" dirty="0">
              <a:solidFill>
                <a:srgbClr val="000000"/>
              </a:solidFill>
              <a:latin typeface="Calibri" panose="020F0502020204030204" pitchFamily="34" charset="0"/>
              <a:cs typeface="Calibri" panose="020F0502020204030204" pitchFamily="34" charset="0"/>
            </a:endParaRPr>
          </a:p>
          <a:p>
            <a:pPr marL="971550" marR="0" lvl="1" indent="-457200" algn="l" defTabSz="914400" rtl="0" eaLnBrk="1" fontAlgn="base" latinLnBrk="0" hangingPunct="1">
              <a:lnSpc>
                <a:spcPct val="100000"/>
              </a:lnSpc>
              <a:spcAft>
                <a:spcPct val="0"/>
              </a:spcAft>
              <a:buClrTx/>
              <a:buSzTx/>
              <a:buAutoNum type="arabicParenR" startAt="2"/>
              <a:tabLst/>
              <a:defRPr/>
            </a:pPr>
            <a:r>
              <a:rPr kumimoji="0" lang="en-US" altLang="en-US" sz="2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Volume I – </a:t>
            </a:r>
            <a:r>
              <a:rPr kumimoji="0" lang="en-US" altLang="en-US" sz="2200" b="1" i="0" u="none" strike="noStrike" kern="1200" cap="none" spc="0" normalizeH="0" baseline="0" noProof="0" dirty="0">
                <a:ln>
                  <a:noFill/>
                </a:ln>
                <a:solidFill>
                  <a:schemeClr val="accent5">
                    <a:lumMod val="60000"/>
                    <a:lumOff val="40000"/>
                  </a:schemeClr>
                </a:solidFill>
                <a:effectLst/>
                <a:uLnTx/>
                <a:uFillTx/>
                <a:latin typeface="Calibri" panose="020F0502020204030204" pitchFamily="34" charset="0"/>
                <a:cs typeface="Calibri" panose="020F0502020204030204" pitchFamily="34" charset="0"/>
              </a:rPr>
              <a:t>Factor II:  Technical Approach for Design-Build</a:t>
            </a:r>
          </a:p>
          <a:p>
            <a:pPr marL="514350" marR="0" lvl="1" indent="0" algn="l" defTabSz="914400" rtl="0" eaLnBrk="1" fontAlgn="base" latinLnBrk="0" hangingPunct="1">
              <a:lnSpc>
                <a:spcPct val="100000"/>
              </a:lnSpc>
              <a:spcAft>
                <a:spcPct val="0"/>
              </a:spcAft>
              <a:buClrTx/>
              <a:buSzTx/>
              <a:buNone/>
              <a:tabLst/>
              <a:defRPr/>
            </a:pPr>
            <a:r>
              <a:rPr lang="en-US" altLang="en-US" sz="2200" dirty="0">
                <a:solidFill>
                  <a:srgbClr val="000000"/>
                </a:solidFill>
                <a:latin typeface="Calibri" panose="020F0502020204030204" pitchFamily="34" charset="0"/>
                <a:cs typeface="Calibri" panose="020F0502020204030204" pitchFamily="34" charset="0"/>
              </a:rPr>
              <a:t>			          (i.e., Collaboration, Organization, Quality Control)</a:t>
            </a:r>
            <a:r>
              <a:rPr kumimoji="0" lang="en-US" altLang="en-US" sz="2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t>
            </a:r>
          </a:p>
          <a:p>
            <a:pPr marL="914400" marR="0" lvl="2" indent="0" algn="l" defTabSz="914400" rtl="0" eaLnBrk="1" fontAlgn="base" latinLnBrk="0" hangingPunct="1">
              <a:lnSpc>
                <a:spcPct val="100000"/>
              </a:lnSpc>
              <a:spcAft>
                <a:spcPct val="0"/>
              </a:spcAft>
              <a:buClrTx/>
              <a:buSzTx/>
              <a:buNone/>
              <a:tabLst/>
              <a:defRPr/>
            </a:pPr>
            <a:endParaRPr kumimoji="0" lang="en-US" altLang="en-US" sz="2000"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cs typeface="Calibri" panose="020F0502020204030204" pitchFamily="34" charset="0"/>
            </a:endParaRPr>
          </a:p>
          <a:p>
            <a:pPr marL="914400" marR="0" lvl="2" indent="0" algn="l" defTabSz="914400" rtl="0" eaLnBrk="1" fontAlgn="base" latinLnBrk="0" hangingPunct="1">
              <a:lnSpc>
                <a:spcPct val="100000"/>
              </a:lnSpc>
              <a:spcAft>
                <a:spcPct val="0"/>
              </a:spcAft>
              <a:buClrTx/>
              <a:buSzTx/>
              <a:buNone/>
              <a:tabLst/>
              <a:defRPr/>
            </a:pPr>
            <a:endParaRPr kumimoji="0" lang="en-US" altLang="en-US" sz="2200"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cs typeface="Calibri" panose="020F0502020204030204" pitchFamily="34" charset="0"/>
            </a:endParaRPr>
          </a:p>
          <a:p>
            <a:endParaRPr lang="en-US" dirty="0">
              <a:latin typeface="+mn-lt"/>
            </a:endParaRPr>
          </a:p>
        </p:txBody>
      </p:sp>
      <p:sp>
        <p:nvSpPr>
          <p:cNvPr id="4" name="Title 3">
            <a:extLst>
              <a:ext uri="{FF2B5EF4-FFF2-40B4-BE49-F238E27FC236}">
                <a16:creationId xmlns:a16="http://schemas.microsoft.com/office/drawing/2014/main" id="{97E4FC17-3211-B683-66E1-1C1F14CE1F77}"/>
              </a:ext>
            </a:extLst>
          </p:cNvPr>
          <p:cNvSpPr>
            <a:spLocks noGrp="1"/>
          </p:cNvSpPr>
          <p:nvPr>
            <p:ph type="title"/>
          </p:nvPr>
        </p:nvSpPr>
        <p:spPr>
          <a:xfrm>
            <a:off x="948366" y="615196"/>
            <a:ext cx="10386814" cy="476992"/>
          </a:xfrm>
        </p:spPr>
        <p:txBody>
          <a:bodyPr>
            <a:normAutofit fontScale="90000"/>
          </a:bodyPr>
          <a:lstStyle/>
          <a:p>
            <a:r>
              <a:rPr kumimoji="0" lang="en-US" altLang="en-US" sz="3600" b="1" i="0" u="none" strike="noStrike" kern="1200" cap="none" spc="0" normalizeH="0" baseline="0" noProof="0" dirty="0">
                <a:ln>
                  <a:noFill/>
                </a:ln>
                <a:solidFill>
                  <a:srgbClr val="000000"/>
                </a:solidFill>
                <a:effectLst/>
                <a:uLnTx/>
                <a:uFillTx/>
                <a:latin typeface="Arial" pitchFamily="34" charset="0"/>
                <a:ea typeface="ＭＳ Ｐゴシック" charset="0"/>
                <a:cs typeface="Arial" pitchFamily="34" charset="0"/>
              </a:rPr>
              <a:t>  PROPOSAL REQUIREMENTS</a:t>
            </a:r>
            <a:br>
              <a:rPr kumimoji="0" lang="en-US" altLang="en-US" sz="2600" b="0" i="0" u="none" strike="noStrike" kern="1200" cap="none" spc="0" normalizeH="0" baseline="0" noProof="0" dirty="0">
                <a:ln>
                  <a:noFill/>
                </a:ln>
                <a:solidFill>
                  <a:prstClr val="black">
                    <a:lumMod val="75000"/>
                    <a:lumOff val="25000"/>
                  </a:prstClr>
                </a:solidFill>
                <a:effectLst/>
                <a:uLnTx/>
                <a:uFillTx/>
                <a:latin typeface="Calibri Light" panose="020F0302020204030204"/>
                <a:ea typeface="ＭＳ Ｐゴシック" charset="0"/>
                <a:cs typeface="Arial" pitchFamily="34" charset="0"/>
              </a:rPr>
            </a:br>
            <a:r>
              <a:rPr kumimoji="0" lang="en-US" altLang="en-US" sz="2600" b="0" i="0" u="none" strike="noStrike" kern="1200" cap="none" spc="0" normalizeH="0" baseline="0" noProof="0" dirty="0">
                <a:ln>
                  <a:noFill/>
                </a:ln>
                <a:solidFill>
                  <a:prstClr val="black">
                    <a:lumMod val="75000"/>
                    <a:lumOff val="25000"/>
                  </a:prstClr>
                </a:solidFill>
                <a:effectLst/>
                <a:uLnTx/>
                <a:uFillTx/>
                <a:latin typeface="Calibri Light" panose="020F0302020204030204"/>
                <a:ea typeface="ＭＳ Ｐゴシック" charset="0"/>
                <a:cs typeface="Arial" pitchFamily="34" charset="0"/>
              </a:rPr>
              <a:t>  </a:t>
            </a:r>
            <a:endParaRPr lang="en-US" dirty="0"/>
          </a:p>
        </p:txBody>
      </p:sp>
      <p:grpSp>
        <p:nvGrpSpPr>
          <p:cNvPr id="7" name="Group 6">
            <a:extLst>
              <a:ext uri="{FF2B5EF4-FFF2-40B4-BE49-F238E27FC236}">
                <a16:creationId xmlns:a16="http://schemas.microsoft.com/office/drawing/2014/main" id="{B2AFBC13-6C77-A1B4-E3B6-BB4C7CCC4230}"/>
              </a:ext>
            </a:extLst>
          </p:cNvPr>
          <p:cNvGrpSpPr/>
          <p:nvPr/>
        </p:nvGrpSpPr>
        <p:grpSpPr>
          <a:xfrm>
            <a:off x="9410066" y="2550478"/>
            <a:ext cx="2260012" cy="3544708"/>
            <a:chOff x="9295678" y="2122853"/>
            <a:chExt cx="2269427" cy="2089454"/>
          </a:xfrm>
        </p:grpSpPr>
        <p:sp>
          <p:nvSpPr>
            <p:cNvPr id="5" name="Right Brace 4">
              <a:extLst>
                <a:ext uri="{FF2B5EF4-FFF2-40B4-BE49-F238E27FC236}">
                  <a16:creationId xmlns:a16="http://schemas.microsoft.com/office/drawing/2014/main" id="{4E9F61E5-381C-4229-4DB8-9A071EB239A3}"/>
                </a:ext>
              </a:extLst>
            </p:cNvPr>
            <p:cNvSpPr/>
            <p:nvPr/>
          </p:nvSpPr>
          <p:spPr>
            <a:xfrm>
              <a:off x="9295678" y="2122853"/>
              <a:ext cx="676189" cy="2089454"/>
            </a:xfrm>
            <a:prstGeom prst="rightBrace">
              <a:avLst/>
            </a:prstGeom>
            <a:ln w="38100">
              <a:solidFill>
                <a:schemeClr val="accent5">
                  <a:lumMod val="60000"/>
                  <a:lumOff val="40000"/>
                </a:schemeClr>
              </a:solidFill>
            </a:ln>
          </p:spPr>
          <p:style>
            <a:lnRef idx="1">
              <a:schemeClr val="accent5"/>
            </a:lnRef>
            <a:fillRef idx="0">
              <a:schemeClr val="accent5"/>
            </a:fillRef>
            <a:effectRef idx="0">
              <a:schemeClr val="accent5"/>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1F20"/>
                </a:solidFill>
                <a:effectLst/>
                <a:uLnTx/>
                <a:uFillTx/>
                <a:latin typeface="Arial"/>
                <a:ea typeface="+mn-ea"/>
                <a:cs typeface="+mn-cs"/>
              </a:endParaRPr>
            </a:p>
          </p:txBody>
        </p:sp>
        <p:sp>
          <p:nvSpPr>
            <p:cNvPr id="6" name="TextBox 5">
              <a:extLst>
                <a:ext uri="{FF2B5EF4-FFF2-40B4-BE49-F238E27FC236}">
                  <a16:creationId xmlns:a16="http://schemas.microsoft.com/office/drawing/2014/main" id="{C333ED62-CDDB-C29E-3976-07B93FBA9C52}"/>
                </a:ext>
              </a:extLst>
            </p:cNvPr>
            <p:cNvSpPr txBox="1"/>
            <p:nvPr/>
          </p:nvSpPr>
          <p:spPr>
            <a:xfrm>
              <a:off x="10077437" y="2926056"/>
              <a:ext cx="1487668" cy="4534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308F">
                      <a:lumMod val="60000"/>
                      <a:lumOff val="40000"/>
                    </a:srgbClr>
                  </a:solidFill>
                  <a:effectLst/>
                  <a:uLnTx/>
                  <a:uFillTx/>
                  <a:latin typeface="Arial"/>
                  <a:ea typeface="+mn-ea"/>
                  <a:cs typeface="+mn-cs"/>
                </a:rPr>
                <a:t>Technical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308F">
                      <a:lumMod val="60000"/>
                      <a:lumOff val="40000"/>
                    </a:srgbClr>
                  </a:solidFill>
                  <a:effectLst/>
                  <a:uLnTx/>
                  <a:uFillTx/>
                  <a:latin typeface="Arial"/>
                  <a:ea typeface="+mn-ea"/>
                  <a:cs typeface="+mn-cs"/>
                </a:rPr>
                <a:t>Evaluation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308F">
                      <a:lumMod val="60000"/>
                      <a:lumOff val="40000"/>
                    </a:srgbClr>
                  </a:solidFill>
                  <a:effectLst/>
                  <a:uLnTx/>
                  <a:uFillTx/>
                  <a:latin typeface="Arial"/>
                  <a:ea typeface="+mn-ea"/>
                  <a:cs typeface="+mn-cs"/>
                </a:rPr>
                <a:t>Factors</a:t>
              </a:r>
            </a:p>
          </p:txBody>
        </p:sp>
      </p:grpSp>
    </p:spTree>
    <p:extLst>
      <p:ext uri="{BB962C8B-B14F-4D97-AF65-F5344CB8AC3E}">
        <p14:creationId xmlns:p14="http://schemas.microsoft.com/office/powerpoint/2010/main" val="13985004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72D10D-918A-7601-A324-854915CC7749}"/>
              </a:ext>
            </a:extLst>
          </p:cNvPr>
          <p:cNvSpPr>
            <a:spLocks noGrp="1"/>
          </p:cNvSpPr>
          <p:nvPr>
            <p:ph sz="quarter" idx="10"/>
          </p:nvPr>
        </p:nvSpPr>
        <p:spPr>
          <a:xfrm>
            <a:off x="794875" y="1322761"/>
            <a:ext cx="10123359" cy="5237430"/>
          </a:xfrm>
        </p:spPr>
        <p:txBody>
          <a:bodyPr>
            <a:normAutofit/>
          </a:bodyPr>
          <a:lstStyle/>
          <a:p>
            <a:pPr marL="457200" marR="0" lvl="0" indent="-4572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alt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Source Selection Evaluation Criteria for a “Best Value Trade-Off” consists of the following elements </a:t>
            </a:r>
            <a:r>
              <a:rPr kumimoji="0" lang="en-US" altLang="en-US" sz="2600" b="1" i="0" u="sng"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Phase I</a:t>
            </a:r>
            <a:r>
              <a:rPr kumimoji="0" lang="en-US" alt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a:p>
            <a:pPr marR="0" lvl="0" algn="l" defTabSz="914400" rtl="0" eaLnBrk="1" fontAlgn="base" latinLnBrk="0" hangingPunct="1">
              <a:lnSpc>
                <a:spcPct val="100000"/>
              </a:lnSpc>
              <a:spcBef>
                <a:spcPts val="300"/>
              </a:spcBef>
              <a:spcAft>
                <a:spcPct val="0"/>
              </a:spcAft>
              <a:buClrTx/>
              <a:buSzTx/>
              <a:tabLst/>
              <a:defRPr/>
            </a:pPr>
            <a:endParaRPr kumimoji="0" lang="en-US" altLang="en-US" sz="3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514350" marR="0" lvl="1" indent="0" algn="l" defTabSz="914400" rtl="0" eaLnBrk="1" fontAlgn="base" latinLnBrk="0" hangingPunct="1">
              <a:lnSpc>
                <a:spcPct val="100000"/>
              </a:lnSpc>
              <a:spcAft>
                <a:spcPct val="0"/>
              </a:spcAft>
              <a:buClrTx/>
              <a:buSz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3)	Volume II – </a:t>
            </a:r>
            <a:r>
              <a:rPr kumimoji="0" lang="en-US" altLang="en-US" sz="2400" b="1" i="0" u="none" strike="noStrike" kern="1200" cap="none" spc="0" normalizeH="0" baseline="0" noProof="0" dirty="0">
                <a:ln>
                  <a:noFill/>
                </a:ln>
                <a:solidFill>
                  <a:schemeClr val="accent5">
                    <a:lumMod val="60000"/>
                    <a:lumOff val="40000"/>
                  </a:schemeClr>
                </a:solidFill>
                <a:effectLst/>
                <a:uLnTx/>
                <a:uFillTx/>
                <a:latin typeface="Calibri" panose="020F0502020204030204" pitchFamily="34" charset="0"/>
                <a:cs typeface="Calibri" panose="020F0502020204030204" pitchFamily="34" charset="0"/>
              </a:rPr>
              <a:t>Pro Forma &amp; Price Information</a:t>
            </a:r>
          </a:p>
          <a:p>
            <a:pPr marL="1317625" marR="0" lvl="3" indent="-342900" algn="l" defTabSz="914400" rtl="0" eaLnBrk="1" fontAlgn="base" latinLnBrk="0" hangingPunct="1">
              <a:lnSpc>
                <a:spcPct val="100000"/>
              </a:lnSpc>
              <a:spcBef>
                <a:spcPts val="0"/>
              </a:spcBef>
              <a:spcAft>
                <a:spcPct val="0"/>
              </a:spcAft>
              <a:buClrTx/>
              <a:buSzTx/>
              <a:buFont typeface="Wingdings" panose="05000000000000000000" pitchFamily="2" charset="2"/>
              <a:buChar char="ü"/>
              <a:tabLst/>
              <a:defRPr/>
            </a:pPr>
            <a:r>
              <a:rPr kumimoji="0" lang="en-US" altLang="en-US" sz="2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Tab A:  Standard Form 1442 </a:t>
            </a:r>
            <a:r>
              <a:rPr kumimoji="0" lang="en-US" altLang="en-US" sz="2200" b="1"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(Price is not included in Phase I)</a:t>
            </a:r>
          </a:p>
          <a:p>
            <a:pPr marL="1317625" marR="0" lvl="3" indent="-342900" algn="l" defTabSz="914400" rtl="0" eaLnBrk="1" fontAlgn="base" latinLnBrk="0" hangingPunct="1">
              <a:lnSpc>
                <a:spcPct val="100000"/>
              </a:lnSpc>
              <a:spcBef>
                <a:spcPts val="0"/>
              </a:spcBef>
              <a:spcAft>
                <a:spcPct val="0"/>
              </a:spcAft>
              <a:buClrTx/>
              <a:buSzTx/>
              <a:buFont typeface="Wingdings" panose="05000000000000000000" pitchFamily="2" charset="2"/>
              <a:buChar char="ü"/>
              <a:tabLst/>
              <a:defRPr/>
            </a:pPr>
            <a:r>
              <a:rPr kumimoji="0" lang="en-US" altLang="en-US" sz="2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Tab B:  Joint Venture Agreements </a:t>
            </a:r>
            <a:r>
              <a:rPr kumimoji="0" lang="en-US" altLang="en-US" sz="2200" b="0" i="1"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applicable)</a:t>
            </a:r>
          </a:p>
          <a:p>
            <a:pPr marL="1317625" marR="0" lvl="3" indent="-342900" algn="l" defTabSz="914400" rtl="0" eaLnBrk="1" fontAlgn="base" latinLnBrk="0" hangingPunct="1">
              <a:lnSpc>
                <a:spcPct val="100000"/>
              </a:lnSpc>
              <a:spcBef>
                <a:spcPts val="0"/>
              </a:spcBef>
              <a:spcAft>
                <a:spcPct val="0"/>
              </a:spcAft>
              <a:buClrTx/>
              <a:buSzTx/>
              <a:buFont typeface="Wingdings" panose="05000000000000000000" pitchFamily="2" charset="2"/>
              <a:buChar char="ü"/>
              <a:tabLst/>
              <a:defRPr/>
            </a:pPr>
            <a:r>
              <a:rPr kumimoji="0" lang="en-US" altLang="en-US" sz="2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Tab C:  </a:t>
            </a:r>
            <a:r>
              <a:rPr kumimoji="0" lang="en-US" sz="2200" b="0" i="0" u="none" strike="noStrike" kern="1200" cap="none" spc="0" normalizeH="0" baseline="0" noProof="0" dirty="0">
                <a:ln>
                  <a:noFill/>
                </a:ln>
                <a:solidFill>
                  <a:srgbClr val="221F20">
                    <a:lumMod val="90000"/>
                    <a:lumOff val="10000"/>
                  </a:srgbClr>
                </a:solidFill>
                <a:effectLst/>
                <a:uLnTx/>
                <a:uFillTx/>
                <a:latin typeface="Calibri" panose="020F0502020204030204" pitchFamily="34" charset="0"/>
                <a:cs typeface="Calibri" panose="020F0502020204030204" pitchFamily="34" charset="0"/>
              </a:rPr>
              <a:t>Evidence of Ability to Obtain Bonding &amp; Proof of Financial Ability </a:t>
            </a:r>
            <a:r>
              <a:rPr lang="en-US" sz="2200" dirty="0">
                <a:solidFill>
                  <a:srgbClr val="221F20">
                    <a:lumMod val="90000"/>
                    <a:lumOff val="10000"/>
                  </a:srgbClr>
                </a:solidFill>
                <a:latin typeface="Calibri" panose="020F0502020204030204" pitchFamily="34" charset="0"/>
                <a:cs typeface="Calibri" panose="020F0502020204030204" pitchFamily="34" charset="0"/>
              </a:rPr>
              <a:t>       </a:t>
            </a:r>
            <a:endParaRPr kumimoji="0" lang="en-US" sz="2200" b="0" i="0" u="none" strike="noStrike" kern="1200" cap="none" spc="0" normalizeH="0" baseline="0" noProof="0" dirty="0">
              <a:ln>
                <a:noFill/>
              </a:ln>
              <a:solidFill>
                <a:srgbClr val="221F20">
                  <a:lumMod val="90000"/>
                  <a:lumOff val="10000"/>
                </a:srgbClr>
              </a:solidFill>
              <a:effectLst/>
              <a:uLnTx/>
              <a:uFillTx/>
              <a:latin typeface="Calibri" panose="020F0502020204030204" pitchFamily="34" charset="0"/>
              <a:cs typeface="Calibri" panose="020F0502020204030204" pitchFamily="34" charset="0"/>
            </a:endParaRPr>
          </a:p>
          <a:p>
            <a:pPr marL="1317625" marR="0" lvl="3" indent="-342900" algn="l" defTabSz="914400" rtl="0" eaLnBrk="1" fontAlgn="base" latinLnBrk="0" hangingPunct="1">
              <a:lnSpc>
                <a:spcPct val="100000"/>
              </a:lnSpc>
              <a:spcBef>
                <a:spcPts val="0"/>
              </a:spcBef>
              <a:spcAft>
                <a:spcPct val="0"/>
              </a:spcAft>
              <a:buClrTx/>
              <a:buSzTx/>
              <a:buFont typeface="Wingdings" panose="05000000000000000000" pitchFamily="2" charset="2"/>
              <a:buChar char="ü"/>
              <a:tabLst/>
              <a:defRPr/>
            </a:pPr>
            <a:r>
              <a:rPr kumimoji="0" lang="en-US" sz="2200" b="0" i="0" u="none" strike="noStrike" kern="1200" cap="none" spc="0" normalizeH="0" baseline="0" noProof="0" dirty="0">
                <a:ln>
                  <a:noFill/>
                </a:ln>
                <a:solidFill>
                  <a:srgbClr val="221F20">
                    <a:lumMod val="90000"/>
                    <a:lumOff val="10000"/>
                  </a:srgbClr>
                </a:solidFill>
                <a:effectLst/>
                <a:uLnTx/>
                <a:uFillTx/>
                <a:latin typeface="Calibri" panose="020F0502020204030204" pitchFamily="34" charset="0"/>
                <a:cs typeface="Calibri" panose="020F0502020204030204" pitchFamily="34" charset="0"/>
              </a:rPr>
              <a:t>Tab D:  Pre-Award Information </a:t>
            </a:r>
          </a:p>
          <a:p>
            <a:pPr marL="974725" marR="0" lvl="3" indent="0" algn="l" defTabSz="914400" rtl="0" eaLnBrk="1" fontAlgn="base" latinLnBrk="0" hangingPunct="1">
              <a:lnSpc>
                <a:spcPct val="100000"/>
              </a:lnSpc>
              <a:spcBef>
                <a:spcPts val="0"/>
              </a:spcBef>
              <a:spcAft>
                <a:spcPct val="0"/>
              </a:spcAft>
              <a:buClrTx/>
              <a:buSzTx/>
              <a:buNone/>
              <a:tabLst/>
              <a:defRPr/>
            </a:pPr>
            <a:r>
              <a:rPr kumimoji="0" lang="en-US" sz="2200" b="0" i="0" u="none" strike="noStrike" kern="1200" cap="none" spc="0" normalizeH="0" baseline="0" noProof="0" dirty="0">
                <a:ln>
                  <a:noFill/>
                </a:ln>
                <a:solidFill>
                  <a:srgbClr val="221F20">
                    <a:lumMod val="90000"/>
                    <a:lumOff val="10000"/>
                  </a:srgbClr>
                </a:solidFill>
                <a:effectLst/>
                <a:uLnTx/>
                <a:uFillTx/>
                <a:latin typeface="Calibri" panose="020F0502020204030204" pitchFamily="34" charset="0"/>
                <a:cs typeface="Calibri" panose="020F0502020204030204" pitchFamily="34" charset="0"/>
              </a:rPr>
              <a:t>                   (i.e., Reps &amp; Certs, offeror information, etc.)</a:t>
            </a:r>
          </a:p>
          <a:p>
            <a:pPr marL="514350" marR="0" lvl="1" indent="0" algn="l" defTabSz="914400" rtl="0" eaLnBrk="1" fontAlgn="base" latinLnBrk="0" hangingPunct="1">
              <a:lnSpc>
                <a:spcPct val="100000"/>
              </a:lnSpc>
              <a:spcAft>
                <a:spcPct val="0"/>
              </a:spcAft>
              <a:buClrTx/>
              <a:buSzTx/>
              <a:buNone/>
              <a:tabLst/>
              <a:defRPr/>
            </a:pPr>
            <a:endParaRPr kumimoji="0" lang="en-US" altLang="en-US" sz="2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endParaRPr lang="en-US" dirty="0">
              <a:latin typeface="+mn-lt"/>
            </a:endParaRPr>
          </a:p>
        </p:txBody>
      </p:sp>
      <p:sp>
        <p:nvSpPr>
          <p:cNvPr id="4" name="Title 3">
            <a:extLst>
              <a:ext uri="{FF2B5EF4-FFF2-40B4-BE49-F238E27FC236}">
                <a16:creationId xmlns:a16="http://schemas.microsoft.com/office/drawing/2014/main" id="{97E4FC17-3211-B683-66E1-1C1F14CE1F77}"/>
              </a:ext>
            </a:extLst>
          </p:cNvPr>
          <p:cNvSpPr>
            <a:spLocks noGrp="1"/>
          </p:cNvSpPr>
          <p:nvPr>
            <p:ph type="title"/>
          </p:nvPr>
        </p:nvSpPr>
        <p:spPr>
          <a:xfrm>
            <a:off x="948366" y="564554"/>
            <a:ext cx="10386814" cy="476992"/>
          </a:xfrm>
        </p:spPr>
        <p:txBody>
          <a:bodyPr>
            <a:normAutofit fontScale="90000"/>
          </a:bodyPr>
          <a:lstStyle/>
          <a:p>
            <a:r>
              <a:rPr kumimoji="0" lang="en-US" altLang="en-US" sz="3600" b="1" i="0" u="none" strike="noStrike" kern="1200" cap="none" spc="0" normalizeH="0" baseline="0" noProof="0" dirty="0">
                <a:ln>
                  <a:noFill/>
                </a:ln>
                <a:solidFill>
                  <a:srgbClr val="000000"/>
                </a:solidFill>
                <a:effectLst/>
                <a:uLnTx/>
                <a:uFillTx/>
                <a:latin typeface="Arial" pitchFamily="34" charset="0"/>
                <a:ea typeface="ＭＳ Ｐゴシック" charset="0"/>
                <a:cs typeface="Arial" pitchFamily="34" charset="0"/>
              </a:rPr>
              <a:t>  PROPOSAL REQUIREMENTS</a:t>
            </a:r>
            <a:br>
              <a:rPr kumimoji="0" lang="en-US" altLang="en-US" sz="2600" b="0" i="0" u="none" strike="noStrike" kern="1200" cap="none" spc="0" normalizeH="0" baseline="0" noProof="0" dirty="0">
                <a:ln>
                  <a:noFill/>
                </a:ln>
                <a:solidFill>
                  <a:prstClr val="black">
                    <a:lumMod val="75000"/>
                    <a:lumOff val="25000"/>
                  </a:prstClr>
                </a:solidFill>
                <a:effectLst/>
                <a:uLnTx/>
                <a:uFillTx/>
                <a:latin typeface="Calibri Light" panose="020F0302020204030204"/>
                <a:ea typeface="ＭＳ Ｐゴシック" charset="0"/>
                <a:cs typeface="Arial" pitchFamily="34" charset="0"/>
              </a:rPr>
            </a:br>
            <a:r>
              <a:rPr kumimoji="0" lang="en-US" altLang="en-US" sz="2600" b="0" i="0" u="none" strike="noStrike" kern="1200" cap="none" spc="0" normalizeH="0" baseline="0" noProof="0" dirty="0">
                <a:ln>
                  <a:noFill/>
                </a:ln>
                <a:solidFill>
                  <a:prstClr val="black">
                    <a:lumMod val="75000"/>
                    <a:lumOff val="25000"/>
                  </a:prstClr>
                </a:solidFill>
                <a:effectLst/>
                <a:uLnTx/>
                <a:uFillTx/>
                <a:latin typeface="Calibri Light" panose="020F0302020204030204"/>
                <a:ea typeface="ＭＳ Ｐゴシック" charset="0"/>
                <a:cs typeface="Arial" pitchFamily="34" charset="0"/>
              </a:rPr>
              <a:t>  </a:t>
            </a:r>
            <a:endParaRPr lang="en-US" dirty="0"/>
          </a:p>
        </p:txBody>
      </p:sp>
    </p:spTree>
    <p:extLst>
      <p:ext uri="{BB962C8B-B14F-4D97-AF65-F5344CB8AC3E}">
        <p14:creationId xmlns:p14="http://schemas.microsoft.com/office/powerpoint/2010/main" val="25443699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72D10D-918A-7601-A324-854915CC7749}"/>
              </a:ext>
            </a:extLst>
          </p:cNvPr>
          <p:cNvSpPr>
            <a:spLocks noGrp="1"/>
          </p:cNvSpPr>
          <p:nvPr>
            <p:ph sz="quarter" idx="10"/>
          </p:nvPr>
        </p:nvSpPr>
        <p:spPr>
          <a:xfrm>
            <a:off x="566145" y="1557132"/>
            <a:ext cx="11077773" cy="5237430"/>
          </a:xfrm>
        </p:spPr>
        <p:txBody>
          <a:bodyPr>
            <a:normAutofit/>
          </a:bodyPr>
          <a:lstStyle/>
          <a:p>
            <a:pPr marL="457200" marR="0" lvl="0" indent="-4572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altLang="en-US" sz="26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Offerors selected as among the most highly qualified will be invited to participate in Phase II.</a:t>
            </a:r>
          </a:p>
          <a:p>
            <a:pPr marL="457200" marR="0" lvl="0" indent="-4572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endParaRPr lang="en-US" altLang="en-US" sz="2600" dirty="0">
              <a:solidFill>
                <a:srgbClr val="000000"/>
              </a:solidFill>
              <a:latin typeface="Calibri" panose="020F0502020204030204" pitchFamily="34" charset="0"/>
              <a:cs typeface="Calibri" panose="020F0502020204030204" pitchFamily="34" charset="0"/>
            </a:endParaRPr>
          </a:p>
          <a:p>
            <a:pPr marL="457200" marR="0" lvl="0" indent="-4572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altLang="en-US" sz="26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Phase II will be issued as an Amendment.</a:t>
            </a:r>
          </a:p>
          <a:p>
            <a:pPr marL="457200" marR="0" lvl="0" indent="-4572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endParaRPr kumimoji="0" lang="en-US" altLang="en-US" sz="12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endParaRPr>
          </a:p>
          <a:p>
            <a:pPr marL="919163" lvl="2" indent="-457200">
              <a:spcBef>
                <a:spcPts val="300"/>
              </a:spcBef>
              <a:buFont typeface="Wingdings" panose="05000000000000000000" pitchFamily="2" charset="2"/>
              <a:buChar char="Ø"/>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Submission Requirements and Source Selection Evaluation Criteria will be issued as a </a:t>
            </a:r>
            <a:r>
              <a:rPr kumimoji="0" lang="en-US" altLang="en-US" sz="2400" b="1"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DRAFT during Phase I</a:t>
            </a:r>
            <a:r>
              <a:rPr kumimoji="0" lang="en-US" altLang="en-US" sz="240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r>
              <a:rPr kumimoji="0" lang="en-US" altLang="en-US" sz="24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subject to change w/the Phase II Amendment. </a:t>
            </a:r>
          </a:p>
          <a:p>
            <a:pPr lvl="2" indent="0">
              <a:spcBef>
                <a:spcPts val="300"/>
              </a:spcBef>
              <a:buNone/>
              <a:defRPr/>
            </a:pPr>
            <a:endParaRPr kumimoji="0" lang="en-US" altLang="en-US" sz="1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919163" lvl="2" indent="-457200">
              <a:spcBef>
                <a:spcPts val="300"/>
              </a:spcBef>
              <a:buFont typeface="Wingdings" panose="05000000000000000000" pitchFamily="2" charset="2"/>
              <a:buChar char="Ø"/>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Information for an Optional Site Visit provided.</a:t>
            </a:r>
            <a:endParaRPr kumimoji="0" lang="en-US" altLang="en-US" sz="24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514350" marR="0" lvl="1" indent="0" algn="l" defTabSz="914400" rtl="0" eaLnBrk="1" fontAlgn="base" latinLnBrk="0" hangingPunct="1">
              <a:lnSpc>
                <a:spcPct val="100000"/>
              </a:lnSpc>
              <a:spcAft>
                <a:spcPct val="0"/>
              </a:spcAft>
              <a:buClrTx/>
              <a:buSzTx/>
              <a:buNone/>
              <a:tabLst/>
              <a:defRPr/>
            </a:pPr>
            <a:endParaRPr kumimoji="0" lang="en-US" altLang="en-US" sz="2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endParaRPr lang="en-US" dirty="0">
              <a:latin typeface="+mn-lt"/>
            </a:endParaRPr>
          </a:p>
        </p:txBody>
      </p:sp>
      <p:sp>
        <p:nvSpPr>
          <p:cNvPr id="4" name="Title 3">
            <a:extLst>
              <a:ext uri="{FF2B5EF4-FFF2-40B4-BE49-F238E27FC236}">
                <a16:creationId xmlns:a16="http://schemas.microsoft.com/office/drawing/2014/main" id="{97E4FC17-3211-B683-66E1-1C1F14CE1F77}"/>
              </a:ext>
            </a:extLst>
          </p:cNvPr>
          <p:cNvSpPr>
            <a:spLocks noGrp="1"/>
          </p:cNvSpPr>
          <p:nvPr>
            <p:ph type="title"/>
          </p:nvPr>
        </p:nvSpPr>
        <p:spPr>
          <a:xfrm>
            <a:off x="1057423" y="564554"/>
            <a:ext cx="10386814" cy="476992"/>
          </a:xfrm>
        </p:spPr>
        <p:txBody>
          <a:bodyPr>
            <a:normAutofit fontScale="90000"/>
          </a:bodyPr>
          <a:lstStyle/>
          <a:p>
            <a:r>
              <a:rPr kumimoji="0" lang="en-US" altLang="en-US" sz="3600" b="1" i="0" u="none" strike="noStrike" kern="1200" cap="none" spc="0" normalizeH="0" baseline="0" noProof="0" dirty="0">
                <a:ln>
                  <a:noFill/>
                </a:ln>
                <a:solidFill>
                  <a:srgbClr val="000000"/>
                </a:solidFill>
                <a:effectLst/>
                <a:uLnTx/>
                <a:uFillTx/>
                <a:latin typeface="Arial" pitchFamily="34" charset="0"/>
                <a:ea typeface="ＭＳ Ｐゴシック" charset="0"/>
                <a:cs typeface="Arial" pitchFamily="34" charset="0"/>
              </a:rPr>
              <a:t>  PROPOSAL REQUIREMENTS</a:t>
            </a:r>
            <a:br>
              <a:rPr kumimoji="0" lang="en-US" altLang="en-US" sz="2600" b="0" i="0" u="none" strike="noStrike" kern="1200" cap="none" spc="0" normalizeH="0" baseline="0" noProof="0" dirty="0">
                <a:ln>
                  <a:noFill/>
                </a:ln>
                <a:solidFill>
                  <a:prstClr val="black">
                    <a:lumMod val="75000"/>
                    <a:lumOff val="25000"/>
                  </a:prstClr>
                </a:solidFill>
                <a:effectLst/>
                <a:uLnTx/>
                <a:uFillTx/>
                <a:latin typeface="Calibri Light" panose="020F0302020204030204"/>
                <a:ea typeface="ＭＳ Ｐゴシック" charset="0"/>
                <a:cs typeface="Arial" pitchFamily="34" charset="0"/>
              </a:rPr>
            </a:br>
            <a:r>
              <a:rPr kumimoji="0" lang="en-US" altLang="en-US" sz="2600" b="0" i="0" u="none" strike="noStrike" kern="1200" cap="none" spc="0" normalizeH="0" baseline="0" noProof="0" dirty="0">
                <a:ln>
                  <a:noFill/>
                </a:ln>
                <a:solidFill>
                  <a:prstClr val="black">
                    <a:lumMod val="75000"/>
                    <a:lumOff val="25000"/>
                  </a:prstClr>
                </a:solidFill>
                <a:effectLst/>
                <a:uLnTx/>
                <a:uFillTx/>
                <a:latin typeface="Calibri Light" panose="020F0302020204030204"/>
                <a:ea typeface="ＭＳ Ｐゴシック" charset="0"/>
                <a:cs typeface="Arial" pitchFamily="34" charset="0"/>
              </a:rPr>
              <a:t>  </a:t>
            </a:r>
            <a:endParaRPr lang="en-US" dirty="0"/>
          </a:p>
        </p:txBody>
      </p:sp>
    </p:spTree>
    <p:extLst>
      <p:ext uri="{BB962C8B-B14F-4D97-AF65-F5344CB8AC3E}">
        <p14:creationId xmlns:p14="http://schemas.microsoft.com/office/powerpoint/2010/main" val="35880911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72D10D-918A-7601-A324-854915CC7749}"/>
              </a:ext>
            </a:extLst>
          </p:cNvPr>
          <p:cNvSpPr>
            <a:spLocks noGrp="1"/>
          </p:cNvSpPr>
          <p:nvPr>
            <p:ph sz="quarter" idx="10"/>
          </p:nvPr>
        </p:nvSpPr>
        <p:spPr>
          <a:xfrm>
            <a:off x="210687" y="1210490"/>
            <a:ext cx="10924860" cy="5600700"/>
          </a:xfrm>
        </p:spPr>
        <p:txBody>
          <a:bodyPr>
            <a:normAutofit/>
          </a:bodyPr>
          <a:lstStyle/>
          <a:p>
            <a:pPr marL="457200" marR="0" lvl="0" indent="-4572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altLang="en-US" sz="3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Source Selection Evaluation Criteria for the “Best Value Trade-Off” consists of the following elements for </a:t>
            </a:r>
            <a:r>
              <a:rPr kumimoji="0" lang="en-US" altLang="en-US" sz="3000" b="1"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Phase II </a:t>
            </a:r>
            <a:r>
              <a:rPr kumimoji="0" lang="en-US" altLang="en-US" sz="3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(subject to change):</a:t>
            </a:r>
          </a:p>
          <a:p>
            <a:pPr marR="0" lvl="0" algn="l" defTabSz="914400" rtl="0" eaLnBrk="1" fontAlgn="base" latinLnBrk="0" hangingPunct="1">
              <a:lnSpc>
                <a:spcPct val="100000"/>
              </a:lnSpc>
              <a:spcBef>
                <a:spcPts val="300"/>
              </a:spcBef>
              <a:spcAft>
                <a:spcPct val="0"/>
              </a:spcAft>
              <a:buClrTx/>
              <a:buSzTx/>
              <a:tabLst/>
              <a:defRPr/>
            </a:pPr>
            <a:endParaRPr kumimoji="0" lang="en-US" altLang="en-US" sz="3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514350" marR="0" lvl="1" indent="0" algn="l" defTabSz="914400" rtl="0" eaLnBrk="1" fontAlgn="base" latinLnBrk="0" hangingPunct="1">
              <a:lnSpc>
                <a:spcPct val="100000"/>
              </a:lnSpc>
              <a:spcAft>
                <a:spcPct val="0"/>
              </a:spcAft>
              <a:buClrTx/>
              <a:buSzTx/>
              <a:buNone/>
              <a:tabLst/>
              <a:defRPr/>
            </a:pPr>
            <a:r>
              <a:rPr kumimoji="0" lang="en-US" alt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1)  Volume I – </a:t>
            </a:r>
            <a:r>
              <a:rPr kumimoji="0" lang="en-US" altLang="en-US" sz="2800" b="1" i="0" u="none" strike="noStrike" kern="1200" cap="none" spc="0" normalizeH="0" baseline="0" noProof="0" dirty="0">
                <a:ln>
                  <a:noFill/>
                </a:ln>
                <a:solidFill>
                  <a:schemeClr val="accent5">
                    <a:lumMod val="60000"/>
                    <a:lumOff val="40000"/>
                  </a:schemeClr>
                </a:solidFill>
                <a:effectLst/>
                <a:uLnTx/>
                <a:uFillTx/>
                <a:latin typeface="Calibri" panose="020F0502020204030204" pitchFamily="34" charset="0"/>
                <a:cs typeface="Calibri" panose="020F0502020204030204" pitchFamily="34" charset="0"/>
              </a:rPr>
              <a:t>Factor </a:t>
            </a:r>
            <a:r>
              <a:rPr lang="en-US" altLang="en-US" sz="2800" b="1" dirty="0">
                <a:solidFill>
                  <a:schemeClr val="accent5">
                    <a:lumMod val="60000"/>
                    <a:lumOff val="40000"/>
                  </a:schemeClr>
                </a:solidFill>
                <a:latin typeface="Calibri" panose="020F0502020204030204" pitchFamily="34" charset="0"/>
                <a:cs typeface="Calibri" panose="020F0502020204030204" pitchFamily="34" charset="0"/>
              </a:rPr>
              <a:t>I</a:t>
            </a:r>
            <a:r>
              <a:rPr kumimoji="0" lang="en-US" altLang="en-US" sz="2800" b="1" i="0" u="none" strike="noStrike" kern="1200" cap="none" spc="0" normalizeH="0" baseline="0" noProof="0" dirty="0">
                <a:ln>
                  <a:noFill/>
                </a:ln>
                <a:solidFill>
                  <a:schemeClr val="accent5">
                    <a:lumMod val="60000"/>
                    <a:lumOff val="40000"/>
                  </a:schemeClr>
                </a:solidFill>
                <a:effectLst/>
                <a:uLnTx/>
                <a:uFillTx/>
                <a:latin typeface="Calibri" panose="020F0502020204030204" pitchFamily="34" charset="0"/>
                <a:cs typeface="Calibri" panose="020F0502020204030204" pitchFamily="34" charset="0"/>
              </a:rPr>
              <a:t>:  Design Narrative</a:t>
            </a:r>
          </a:p>
          <a:p>
            <a:pPr marL="514350" marR="0" lvl="1" indent="0" algn="l" defTabSz="914400" rtl="0" eaLnBrk="1" fontAlgn="base" latinLnBrk="0" hangingPunct="1">
              <a:lnSpc>
                <a:spcPct val="100000"/>
              </a:lnSpc>
              <a:spcBef>
                <a:spcPts val="0"/>
              </a:spcBef>
              <a:spcAft>
                <a:spcPct val="0"/>
              </a:spcAft>
              <a:buClrTx/>
              <a:buSzTx/>
              <a:buFont typeface="Arial" pitchFamily="34" charset="0"/>
              <a:buNone/>
              <a:tabLst/>
              <a:defRPr/>
            </a:pPr>
            <a:r>
              <a:rPr kumimoji="0" lang="en-US" alt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t>
            </a:r>
            <a:endParaRPr kumimoji="0" lang="en-US" altLang="en-US" sz="2800"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cs typeface="Calibri" panose="020F0502020204030204" pitchFamily="34" charset="0"/>
            </a:endParaRPr>
          </a:p>
          <a:p>
            <a:pPr marL="971550" marR="0" lvl="1" indent="-457200" algn="l" defTabSz="914400" rtl="0" eaLnBrk="1" fontAlgn="base" latinLnBrk="0" hangingPunct="1">
              <a:lnSpc>
                <a:spcPct val="100000"/>
              </a:lnSpc>
              <a:spcAft>
                <a:spcPct val="0"/>
              </a:spcAft>
              <a:buClrTx/>
              <a:buSzTx/>
              <a:buAutoNum type="arabicParenR" startAt="2"/>
              <a:tabLst/>
              <a:defRPr/>
            </a:pPr>
            <a:r>
              <a:rPr kumimoji="0" lang="en-US" alt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Volume I – </a:t>
            </a:r>
            <a:r>
              <a:rPr kumimoji="0" lang="en-US" altLang="en-US" sz="2800" b="1" i="0" u="none" strike="noStrike" kern="1200" cap="none" spc="0" normalizeH="0" baseline="0" noProof="0" dirty="0">
                <a:ln>
                  <a:noFill/>
                </a:ln>
                <a:solidFill>
                  <a:schemeClr val="accent5">
                    <a:lumMod val="60000"/>
                    <a:lumOff val="40000"/>
                  </a:schemeClr>
                </a:solidFill>
                <a:effectLst/>
                <a:uLnTx/>
                <a:uFillTx/>
                <a:latin typeface="Calibri" panose="020F0502020204030204" pitchFamily="34" charset="0"/>
                <a:cs typeface="Calibri" panose="020F0502020204030204" pitchFamily="34" charset="0"/>
              </a:rPr>
              <a:t>Factor II:  Management Plan</a:t>
            </a:r>
          </a:p>
          <a:p>
            <a:pPr marL="514350" marR="0" lvl="1" indent="0" algn="l" defTabSz="914400" rtl="0" eaLnBrk="1" fontAlgn="base" latinLnBrk="0" hangingPunct="1">
              <a:lnSpc>
                <a:spcPct val="100000"/>
              </a:lnSpc>
              <a:spcAft>
                <a:spcPct val="0"/>
              </a:spcAft>
              <a:buClrTx/>
              <a:buSzTx/>
              <a:buNone/>
              <a:tabLst/>
              <a:defRPr/>
            </a:pPr>
            <a:endParaRPr lang="en-US" altLang="en-US" sz="2800" dirty="0">
              <a:solidFill>
                <a:srgbClr val="000000"/>
              </a:solidFill>
              <a:latin typeface="Calibri" panose="020F0502020204030204" pitchFamily="34" charset="0"/>
              <a:cs typeface="Calibri" panose="020F0502020204030204" pitchFamily="34" charset="0"/>
            </a:endParaRPr>
          </a:p>
          <a:p>
            <a:pPr marL="971550" marR="0" lvl="1" indent="-457200" algn="l" defTabSz="914400" rtl="0" eaLnBrk="1" fontAlgn="base" latinLnBrk="0" hangingPunct="1">
              <a:lnSpc>
                <a:spcPct val="100000"/>
              </a:lnSpc>
              <a:spcBef>
                <a:spcPts val="0"/>
              </a:spcBef>
              <a:spcAft>
                <a:spcPct val="0"/>
              </a:spcAft>
              <a:buClrTx/>
              <a:buSzTx/>
              <a:buAutoNum type="arabicParenR" startAt="3"/>
              <a:tabLst/>
              <a:defRPr/>
            </a:pPr>
            <a:r>
              <a:rPr kumimoji="0" lang="en-US" altLang="en-US" sz="280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Volume I – </a:t>
            </a:r>
            <a:r>
              <a:rPr kumimoji="0" lang="en-US" altLang="en-US" sz="2800" b="1" i="0" u="none" strike="noStrike" kern="1200" cap="none" spc="0" normalizeH="0" baseline="0" noProof="0" dirty="0">
                <a:ln>
                  <a:noFill/>
                </a:ln>
                <a:solidFill>
                  <a:schemeClr val="accent5">
                    <a:lumMod val="60000"/>
                    <a:lumOff val="40000"/>
                  </a:schemeClr>
                </a:solidFill>
                <a:effectLst/>
                <a:uLnTx/>
                <a:uFillTx/>
                <a:latin typeface="Calibri" panose="020F0502020204030204" pitchFamily="34" charset="0"/>
                <a:cs typeface="Calibri" panose="020F0502020204030204" pitchFamily="34" charset="0"/>
              </a:rPr>
              <a:t>Factor III:  Schedule Narrative</a:t>
            </a:r>
          </a:p>
          <a:p>
            <a:pPr marL="514350" marR="0" lvl="1" indent="0" algn="l" defTabSz="914400" rtl="0" eaLnBrk="1" fontAlgn="base" latinLnBrk="0" hangingPunct="1">
              <a:lnSpc>
                <a:spcPct val="100000"/>
              </a:lnSpc>
              <a:spcBef>
                <a:spcPts val="0"/>
              </a:spcBef>
              <a:spcAft>
                <a:spcPct val="0"/>
              </a:spcAft>
              <a:buClrTx/>
              <a:buSzTx/>
              <a:buNone/>
              <a:tabLst/>
              <a:defRPr/>
            </a:pPr>
            <a:r>
              <a:rPr lang="en-US" altLang="en-US" sz="2400" dirty="0">
                <a:solidFill>
                  <a:srgbClr val="000000"/>
                </a:solidFill>
                <a:latin typeface="Calibri" panose="020F0502020204030204" pitchFamily="34" charset="0"/>
                <a:cs typeface="Calibri" panose="020F0502020204030204" pitchFamily="34" charset="0"/>
              </a:rPr>
              <a:t>	</a:t>
            </a:r>
            <a:endParaRPr kumimoji="0" lang="en-US" altLang="en-US" sz="2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endParaRPr lang="en-US" dirty="0">
              <a:latin typeface="+mn-lt"/>
            </a:endParaRPr>
          </a:p>
        </p:txBody>
      </p:sp>
      <p:sp>
        <p:nvSpPr>
          <p:cNvPr id="4" name="Title 3">
            <a:extLst>
              <a:ext uri="{FF2B5EF4-FFF2-40B4-BE49-F238E27FC236}">
                <a16:creationId xmlns:a16="http://schemas.microsoft.com/office/drawing/2014/main" id="{97E4FC17-3211-B683-66E1-1C1F14CE1F77}"/>
              </a:ext>
            </a:extLst>
          </p:cNvPr>
          <p:cNvSpPr>
            <a:spLocks noGrp="1"/>
          </p:cNvSpPr>
          <p:nvPr>
            <p:ph type="title"/>
          </p:nvPr>
        </p:nvSpPr>
        <p:spPr>
          <a:xfrm>
            <a:off x="948366" y="615196"/>
            <a:ext cx="10386814" cy="476992"/>
          </a:xfrm>
        </p:spPr>
        <p:txBody>
          <a:bodyPr>
            <a:normAutofit fontScale="90000"/>
          </a:bodyPr>
          <a:lstStyle/>
          <a:p>
            <a:r>
              <a:rPr kumimoji="0" lang="en-US" altLang="en-US" sz="3600" b="1" i="0" u="none" strike="noStrike" kern="1200" cap="none" spc="0" normalizeH="0" baseline="0" noProof="0" dirty="0">
                <a:ln>
                  <a:noFill/>
                </a:ln>
                <a:solidFill>
                  <a:srgbClr val="000000"/>
                </a:solidFill>
                <a:effectLst/>
                <a:uLnTx/>
                <a:uFillTx/>
                <a:latin typeface="Arial" pitchFamily="34" charset="0"/>
                <a:ea typeface="ＭＳ Ｐゴシック" charset="0"/>
                <a:cs typeface="Arial" pitchFamily="34" charset="0"/>
              </a:rPr>
              <a:t>  PROPOSAL REQUIREMENTS</a:t>
            </a:r>
            <a:br>
              <a:rPr kumimoji="0" lang="en-US" altLang="en-US" sz="2600" b="0" i="0" u="none" strike="noStrike" kern="1200" cap="none" spc="0" normalizeH="0" baseline="0" noProof="0" dirty="0">
                <a:ln>
                  <a:noFill/>
                </a:ln>
                <a:solidFill>
                  <a:prstClr val="black">
                    <a:lumMod val="75000"/>
                    <a:lumOff val="25000"/>
                  </a:prstClr>
                </a:solidFill>
                <a:effectLst/>
                <a:uLnTx/>
                <a:uFillTx/>
                <a:latin typeface="Calibri Light" panose="020F0302020204030204"/>
                <a:ea typeface="ＭＳ Ｐゴシック" charset="0"/>
                <a:cs typeface="Arial" pitchFamily="34" charset="0"/>
              </a:rPr>
            </a:br>
            <a:r>
              <a:rPr kumimoji="0" lang="en-US" altLang="en-US" sz="2600" b="0" i="0" u="none" strike="noStrike" kern="1200" cap="none" spc="0" normalizeH="0" baseline="0" noProof="0" dirty="0">
                <a:ln>
                  <a:noFill/>
                </a:ln>
                <a:solidFill>
                  <a:prstClr val="black">
                    <a:lumMod val="75000"/>
                    <a:lumOff val="25000"/>
                  </a:prstClr>
                </a:solidFill>
                <a:effectLst/>
                <a:uLnTx/>
                <a:uFillTx/>
                <a:latin typeface="Calibri Light" panose="020F0302020204030204"/>
                <a:ea typeface="ＭＳ Ｐゴシック" charset="0"/>
                <a:cs typeface="Arial" pitchFamily="34" charset="0"/>
              </a:rPr>
              <a:t>  </a:t>
            </a:r>
            <a:endParaRPr lang="en-US" dirty="0"/>
          </a:p>
        </p:txBody>
      </p:sp>
      <p:grpSp>
        <p:nvGrpSpPr>
          <p:cNvPr id="7" name="Group 6">
            <a:extLst>
              <a:ext uri="{FF2B5EF4-FFF2-40B4-BE49-F238E27FC236}">
                <a16:creationId xmlns:a16="http://schemas.microsoft.com/office/drawing/2014/main" id="{B2AFBC13-6C77-A1B4-E3B6-BB4C7CCC4230}"/>
              </a:ext>
            </a:extLst>
          </p:cNvPr>
          <p:cNvGrpSpPr/>
          <p:nvPr/>
        </p:nvGrpSpPr>
        <p:grpSpPr>
          <a:xfrm>
            <a:off x="7363752" y="2506728"/>
            <a:ext cx="1844976" cy="2518426"/>
            <a:chOff x="9295678" y="2122853"/>
            <a:chExt cx="4227718" cy="2089454"/>
          </a:xfrm>
        </p:grpSpPr>
        <p:sp>
          <p:nvSpPr>
            <p:cNvPr id="5" name="Right Brace 4">
              <a:extLst>
                <a:ext uri="{FF2B5EF4-FFF2-40B4-BE49-F238E27FC236}">
                  <a16:creationId xmlns:a16="http://schemas.microsoft.com/office/drawing/2014/main" id="{4E9F61E5-381C-4229-4DB8-9A071EB239A3}"/>
                </a:ext>
              </a:extLst>
            </p:cNvPr>
            <p:cNvSpPr/>
            <p:nvPr/>
          </p:nvSpPr>
          <p:spPr>
            <a:xfrm>
              <a:off x="9295678" y="2122853"/>
              <a:ext cx="676189" cy="2089454"/>
            </a:xfrm>
            <a:prstGeom prst="rightBrace">
              <a:avLst/>
            </a:prstGeom>
            <a:ln w="38100">
              <a:solidFill>
                <a:schemeClr val="accent5">
                  <a:lumMod val="60000"/>
                  <a:lumOff val="40000"/>
                </a:schemeClr>
              </a:solidFill>
            </a:ln>
          </p:spPr>
          <p:style>
            <a:lnRef idx="1">
              <a:schemeClr val="accent5"/>
            </a:lnRef>
            <a:fillRef idx="0">
              <a:schemeClr val="accent5"/>
            </a:fillRef>
            <a:effectRef idx="0">
              <a:schemeClr val="accent5"/>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1F20"/>
                </a:solidFill>
                <a:effectLst/>
                <a:uLnTx/>
                <a:uFillTx/>
                <a:latin typeface="Arial"/>
                <a:ea typeface="+mn-ea"/>
                <a:cs typeface="+mn-cs"/>
              </a:endParaRPr>
            </a:p>
          </p:txBody>
        </p:sp>
        <p:sp>
          <p:nvSpPr>
            <p:cNvPr id="6" name="TextBox 5">
              <a:extLst>
                <a:ext uri="{FF2B5EF4-FFF2-40B4-BE49-F238E27FC236}">
                  <a16:creationId xmlns:a16="http://schemas.microsoft.com/office/drawing/2014/main" id="{C333ED62-CDDB-C29E-3976-07B93FBA9C52}"/>
                </a:ext>
              </a:extLst>
            </p:cNvPr>
            <p:cNvSpPr txBox="1"/>
            <p:nvPr/>
          </p:nvSpPr>
          <p:spPr>
            <a:xfrm>
              <a:off x="12035729" y="2714080"/>
              <a:ext cx="1487667" cy="4534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308F">
                      <a:lumMod val="60000"/>
                      <a:lumOff val="40000"/>
                    </a:srgbClr>
                  </a:solidFill>
                  <a:effectLst/>
                  <a:uLnTx/>
                  <a:uFillTx/>
                  <a:latin typeface="Arial"/>
                  <a:ea typeface="+mn-ea"/>
                  <a:cs typeface="+mn-cs"/>
                </a:rPr>
                <a:t>Technical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308F">
                      <a:lumMod val="60000"/>
                      <a:lumOff val="40000"/>
                    </a:srgbClr>
                  </a:solidFill>
                  <a:effectLst/>
                  <a:uLnTx/>
                  <a:uFillTx/>
                  <a:latin typeface="Arial"/>
                  <a:ea typeface="+mn-ea"/>
                  <a:cs typeface="+mn-cs"/>
                </a:rPr>
                <a:t>Evaluation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308F">
                      <a:lumMod val="60000"/>
                      <a:lumOff val="40000"/>
                    </a:srgbClr>
                  </a:solidFill>
                  <a:effectLst/>
                  <a:uLnTx/>
                  <a:uFillTx/>
                  <a:latin typeface="Arial"/>
                  <a:ea typeface="+mn-ea"/>
                  <a:cs typeface="+mn-cs"/>
                </a:rPr>
                <a:t>Factors</a:t>
              </a:r>
            </a:p>
          </p:txBody>
        </p:sp>
      </p:grpSp>
    </p:spTree>
    <p:extLst>
      <p:ext uri="{BB962C8B-B14F-4D97-AF65-F5344CB8AC3E}">
        <p14:creationId xmlns:p14="http://schemas.microsoft.com/office/powerpoint/2010/main" val="9402174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72D10D-918A-7601-A324-854915CC7749}"/>
              </a:ext>
            </a:extLst>
          </p:cNvPr>
          <p:cNvSpPr>
            <a:spLocks noGrp="1"/>
          </p:cNvSpPr>
          <p:nvPr>
            <p:ph sz="quarter" idx="10"/>
          </p:nvPr>
        </p:nvSpPr>
        <p:spPr>
          <a:xfrm>
            <a:off x="371338" y="1481427"/>
            <a:ext cx="11605606" cy="5600700"/>
          </a:xfrm>
        </p:spPr>
        <p:txBody>
          <a:bodyPr>
            <a:normAutofit/>
          </a:bodyPr>
          <a:lstStyle/>
          <a:p>
            <a:pPr marL="457200" marR="0" lvl="0" indent="-4572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altLang="en-US" sz="29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Source Selection Evaluation Criteria for a “Best Value Trade-Off”</a:t>
            </a:r>
          </a:p>
          <a:p>
            <a:pPr marR="0" lvl="0" algn="l" defTabSz="914400" rtl="0" eaLnBrk="1" fontAlgn="base" latinLnBrk="0" hangingPunct="1">
              <a:lnSpc>
                <a:spcPct val="100000"/>
              </a:lnSpc>
              <a:spcBef>
                <a:spcPts val="300"/>
              </a:spcBef>
              <a:spcAft>
                <a:spcPct val="0"/>
              </a:spcAft>
              <a:buClrTx/>
              <a:buSzTx/>
              <a:tabLst/>
              <a:defRPr/>
            </a:pPr>
            <a:r>
              <a:rPr lang="en-US" altLang="en-US" sz="2900" dirty="0">
                <a:solidFill>
                  <a:srgbClr val="000000"/>
                </a:solidFill>
                <a:latin typeface="Calibri" panose="020F0502020204030204" pitchFamily="34" charset="0"/>
                <a:cs typeface="Calibri" panose="020F0502020204030204" pitchFamily="34" charset="0"/>
              </a:rPr>
              <a:t>     </a:t>
            </a:r>
            <a:r>
              <a:rPr kumimoji="0" lang="en-US" altLang="en-US" sz="29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consists of the following element(s) for Phase II:</a:t>
            </a:r>
          </a:p>
          <a:p>
            <a:pPr marR="0" lvl="0" algn="l" defTabSz="914400" rtl="0" eaLnBrk="1" fontAlgn="base" latinLnBrk="0" hangingPunct="1">
              <a:lnSpc>
                <a:spcPct val="100000"/>
              </a:lnSpc>
              <a:spcBef>
                <a:spcPts val="300"/>
              </a:spcBef>
              <a:spcAft>
                <a:spcPct val="0"/>
              </a:spcAft>
              <a:buClrTx/>
              <a:buSzTx/>
              <a:tabLst/>
              <a:defRPr/>
            </a:pPr>
            <a:endParaRPr kumimoji="0" lang="en-US" altLang="en-US" sz="24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514350" marR="0" lvl="1" indent="0" algn="l" defTabSz="914400" rtl="0" eaLnBrk="1" fontAlgn="base" latinLnBrk="0" hangingPunct="1">
              <a:lnSpc>
                <a:spcPct val="100000"/>
              </a:lnSpc>
              <a:spcAft>
                <a:spcPct val="0"/>
              </a:spcAft>
              <a:buClrTx/>
              <a:buSzTx/>
              <a:buNone/>
              <a:tabLst/>
              <a:defRPr/>
            </a:pPr>
            <a:r>
              <a:rPr kumimoji="0" lang="en-US" alt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4)	V</a:t>
            </a:r>
            <a:r>
              <a:rPr kumimoji="0" lang="en-US" altLang="en-US" sz="28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o</a:t>
            </a:r>
            <a:r>
              <a:rPr kumimoji="0" lang="en-US" altLang="en-US" sz="280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lume</a:t>
            </a:r>
            <a:r>
              <a:rPr kumimoji="0" lang="en-US" alt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II – </a:t>
            </a:r>
            <a:r>
              <a:rPr kumimoji="0" lang="en-US" altLang="en-US" sz="2800" b="1" i="0" u="none" strike="noStrike" kern="1200" cap="none" spc="0" normalizeH="0" baseline="0" noProof="0" dirty="0">
                <a:ln>
                  <a:noFill/>
                </a:ln>
                <a:solidFill>
                  <a:schemeClr val="accent5">
                    <a:lumMod val="60000"/>
                    <a:lumOff val="40000"/>
                  </a:schemeClr>
                </a:solidFill>
                <a:effectLst/>
                <a:uLnTx/>
                <a:uFillTx/>
                <a:latin typeface="Calibri" panose="020F0502020204030204" pitchFamily="34" charset="0"/>
                <a:cs typeface="Calibri" panose="020F0502020204030204" pitchFamily="34" charset="0"/>
              </a:rPr>
              <a:t>Pro Forma &amp; Price Information</a:t>
            </a:r>
          </a:p>
          <a:p>
            <a:pPr marL="1317625" marR="0" lvl="3" indent="-342900" algn="l" defTabSz="914400" rtl="0" eaLnBrk="1" fontAlgn="base" latinLnBrk="0" hangingPunct="1">
              <a:lnSpc>
                <a:spcPct val="100000"/>
              </a:lnSpc>
              <a:spcBef>
                <a:spcPts val="0"/>
              </a:spcBef>
              <a:spcAft>
                <a:spcPct val="0"/>
              </a:spcAft>
              <a:buClrTx/>
              <a:buSzTx/>
              <a:buFont typeface="Wingdings" panose="05000000000000000000" pitchFamily="2" charset="2"/>
              <a:buChar char="ü"/>
              <a:tabLst/>
              <a:defRPr/>
            </a:pPr>
            <a:r>
              <a:rPr kumimoji="0" lang="en-US" altLang="en-US" sz="25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Tab A:  Standard Form 1442 &amp; Price</a:t>
            </a:r>
          </a:p>
          <a:p>
            <a:pPr marL="514350" marR="0" lvl="1" indent="0" algn="l" defTabSz="914400" rtl="0" eaLnBrk="1" fontAlgn="base" latinLnBrk="0" hangingPunct="1">
              <a:lnSpc>
                <a:spcPct val="100000"/>
              </a:lnSpc>
              <a:spcAft>
                <a:spcPct val="0"/>
              </a:spcAft>
              <a:buClrTx/>
              <a:buSzTx/>
              <a:buNone/>
              <a:tabLst/>
              <a:defRPr/>
            </a:pPr>
            <a:endParaRPr kumimoji="0" lang="en-US" altLang="en-US" sz="2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endParaRPr lang="en-US" dirty="0">
              <a:latin typeface="+mn-lt"/>
            </a:endParaRPr>
          </a:p>
        </p:txBody>
      </p:sp>
      <p:sp>
        <p:nvSpPr>
          <p:cNvPr id="4" name="Title 3">
            <a:extLst>
              <a:ext uri="{FF2B5EF4-FFF2-40B4-BE49-F238E27FC236}">
                <a16:creationId xmlns:a16="http://schemas.microsoft.com/office/drawing/2014/main" id="{97E4FC17-3211-B683-66E1-1C1F14CE1F77}"/>
              </a:ext>
            </a:extLst>
          </p:cNvPr>
          <p:cNvSpPr>
            <a:spLocks noGrp="1"/>
          </p:cNvSpPr>
          <p:nvPr>
            <p:ph type="title"/>
          </p:nvPr>
        </p:nvSpPr>
        <p:spPr>
          <a:xfrm>
            <a:off x="948366" y="564554"/>
            <a:ext cx="10386814" cy="476992"/>
          </a:xfrm>
        </p:spPr>
        <p:txBody>
          <a:bodyPr>
            <a:normAutofit fontScale="90000"/>
          </a:bodyPr>
          <a:lstStyle/>
          <a:p>
            <a:r>
              <a:rPr kumimoji="0" lang="en-US" altLang="en-US" sz="3600" b="1" i="0" u="none" strike="noStrike" kern="1200" cap="none" spc="0" normalizeH="0" baseline="0" noProof="0" dirty="0">
                <a:ln>
                  <a:noFill/>
                </a:ln>
                <a:solidFill>
                  <a:srgbClr val="000000"/>
                </a:solidFill>
                <a:effectLst/>
                <a:uLnTx/>
                <a:uFillTx/>
                <a:latin typeface="Arial" pitchFamily="34" charset="0"/>
                <a:ea typeface="ＭＳ Ｐゴシック" charset="0"/>
                <a:cs typeface="Arial" pitchFamily="34" charset="0"/>
              </a:rPr>
              <a:t>  PROPOSAL REQUIREMENTS</a:t>
            </a:r>
            <a:br>
              <a:rPr kumimoji="0" lang="en-US" altLang="en-US" sz="2600" b="0" i="0" u="none" strike="noStrike" kern="1200" cap="none" spc="0" normalizeH="0" baseline="0" noProof="0" dirty="0">
                <a:ln>
                  <a:noFill/>
                </a:ln>
                <a:solidFill>
                  <a:prstClr val="black">
                    <a:lumMod val="75000"/>
                    <a:lumOff val="25000"/>
                  </a:prstClr>
                </a:solidFill>
                <a:effectLst/>
                <a:uLnTx/>
                <a:uFillTx/>
                <a:latin typeface="Calibri Light" panose="020F0302020204030204"/>
                <a:ea typeface="ＭＳ Ｐゴシック" charset="0"/>
                <a:cs typeface="Arial" pitchFamily="34" charset="0"/>
              </a:rPr>
            </a:br>
            <a:r>
              <a:rPr kumimoji="0" lang="en-US" altLang="en-US" sz="2600" b="0" i="0" u="none" strike="noStrike" kern="1200" cap="none" spc="0" normalizeH="0" baseline="0" noProof="0" dirty="0">
                <a:ln>
                  <a:noFill/>
                </a:ln>
                <a:solidFill>
                  <a:prstClr val="black">
                    <a:lumMod val="75000"/>
                    <a:lumOff val="25000"/>
                  </a:prstClr>
                </a:solidFill>
                <a:effectLst/>
                <a:uLnTx/>
                <a:uFillTx/>
                <a:latin typeface="Calibri Light" panose="020F0302020204030204"/>
                <a:ea typeface="ＭＳ Ｐゴシック" charset="0"/>
                <a:cs typeface="Arial" pitchFamily="34" charset="0"/>
              </a:rPr>
              <a:t>  </a:t>
            </a:r>
            <a:endParaRPr lang="en-US" dirty="0"/>
          </a:p>
        </p:txBody>
      </p:sp>
    </p:spTree>
    <p:extLst>
      <p:ext uri="{BB962C8B-B14F-4D97-AF65-F5344CB8AC3E}">
        <p14:creationId xmlns:p14="http://schemas.microsoft.com/office/powerpoint/2010/main" val="31826023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72D10D-918A-7601-A324-854915CC7749}"/>
              </a:ext>
            </a:extLst>
          </p:cNvPr>
          <p:cNvSpPr>
            <a:spLocks noGrp="1"/>
          </p:cNvSpPr>
          <p:nvPr>
            <p:ph sz="quarter" idx="10"/>
          </p:nvPr>
        </p:nvSpPr>
        <p:spPr>
          <a:xfrm>
            <a:off x="538109" y="1502895"/>
            <a:ext cx="11337063" cy="5379320"/>
          </a:xfrm>
        </p:spPr>
        <p:txBody>
          <a:bodyPr>
            <a:normAutofit/>
          </a:bodyPr>
          <a:lstStyle/>
          <a:p>
            <a:pPr marL="457200" marR="0" lvl="0" indent="-4572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altLang="en-US" sz="30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Technical Factors listed in relative order of importance for </a:t>
            </a:r>
          </a:p>
          <a:p>
            <a:pPr marR="0" lvl="0" algn="l" defTabSz="914400" rtl="0" eaLnBrk="1" fontAlgn="base" latinLnBrk="0" hangingPunct="1">
              <a:lnSpc>
                <a:spcPct val="100000"/>
              </a:lnSpc>
              <a:spcBef>
                <a:spcPts val="300"/>
              </a:spcBef>
              <a:spcAft>
                <a:spcPct val="0"/>
              </a:spcAft>
              <a:buClrTx/>
              <a:buSzTx/>
              <a:tabLst/>
              <a:defRPr/>
            </a:pPr>
            <a:r>
              <a:rPr lang="en-US" altLang="en-US" sz="3000" dirty="0">
                <a:solidFill>
                  <a:srgbClr val="000000"/>
                </a:solidFill>
                <a:latin typeface="Calibri" panose="020F0502020204030204" pitchFamily="34" charset="0"/>
                <a:cs typeface="Calibri" panose="020F0502020204030204" pitchFamily="34" charset="0"/>
              </a:rPr>
              <a:t>     </a:t>
            </a:r>
            <a:r>
              <a:rPr kumimoji="0" lang="en-US" altLang="en-US" sz="3000" b="1"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Phase I</a:t>
            </a:r>
            <a:r>
              <a:rPr kumimoji="0" lang="en-US" altLang="en-US" sz="30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a:t>
            </a:r>
          </a:p>
          <a:p>
            <a:pPr marL="0" marR="0" lvl="0" indent="0" algn="l" defTabSz="914400" rtl="0" eaLnBrk="1" fontAlgn="base" latinLnBrk="0" hangingPunct="1">
              <a:lnSpc>
                <a:spcPct val="100000"/>
              </a:lnSpc>
              <a:spcBef>
                <a:spcPts val="300"/>
              </a:spcBef>
              <a:spcAft>
                <a:spcPct val="0"/>
              </a:spcAft>
              <a:buClrTx/>
              <a:buSzTx/>
              <a:buFont typeface="Arial" pitchFamily="34" charset="0"/>
              <a:buNone/>
              <a:tabLst/>
              <a:defRPr/>
            </a:pPr>
            <a:endParaRPr kumimoji="0" lang="en-US" altLang="en-US" sz="8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endParaRPr>
          </a:p>
          <a:p>
            <a:pPr marL="687388" marR="0" lvl="3" indent="-225425" algn="l" defTabSz="914400" rtl="0" eaLnBrk="1" fontAlgn="base" latinLnBrk="0" hangingPunct="1">
              <a:lnSpc>
                <a:spcPct val="100000"/>
              </a:lnSpc>
              <a:spcBef>
                <a:spcPts val="0"/>
              </a:spcBef>
              <a:spcAft>
                <a:spcPts val="0"/>
              </a:spcAft>
              <a:buClrTx/>
              <a:buSzTx/>
              <a:buFont typeface="Courier New" panose="02070309020205020404" pitchFamily="49" charset="0"/>
              <a:buChar char="o"/>
              <a:tabLst/>
              <a:defRPr/>
            </a:pPr>
            <a:r>
              <a:rPr kumimoji="0" lang="en-US" sz="2400" b="1" i="0" u="none" strike="noStrike" kern="1200" cap="none" spc="0" normalizeH="0" baseline="0" noProof="0" dirty="0">
                <a:ln>
                  <a:noFill/>
                </a:ln>
                <a:solidFill>
                  <a:srgbClr val="221F20">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rPr>
              <a:t> </a:t>
            </a:r>
            <a:r>
              <a:rPr kumimoji="0" lang="en-US" sz="2600" b="0" i="0" u="none" strike="noStrike" kern="1200" cap="none" spc="0" normalizeH="0" baseline="0" noProof="0" dirty="0">
                <a:ln>
                  <a:noFill/>
                </a:ln>
                <a:solidFill>
                  <a:srgbClr val="221F20">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rPr>
              <a:t>Volume I – Factor I:  </a:t>
            </a:r>
            <a:r>
              <a:rPr kumimoji="0" lang="en-US" sz="2600" b="1" i="0" u="none" strike="noStrike" kern="1200" cap="none" spc="0" normalizeH="0" baseline="0" noProof="0" dirty="0">
                <a:ln>
                  <a:noFill/>
                </a:ln>
                <a:solidFill>
                  <a:schemeClr val="accent5">
                    <a:lumMod val="60000"/>
                    <a:lumOff val="40000"/>
                  </a:schemeClr>
                </a:solidFill>
                <a:effectLst/>
                <a:uLnTx/>
                <a:uFillTx/>
                <a:latin typeface="Calibri" panose="020F0502020204030204" pitchFamily="34" charset="0"/>
                <a:ea typeface="Calibri" panose="020F0502020204030204" pitchFamily="34" charset="0"/>
                <a:cs typeface="Calibri" panose="020F0502020204030204" pitchFamily="34" charset="0"/>
              </a:rPr>
              <a:t>Past Performance</a:t>
            </a:r>
            <a:r>
              <a:rPr kumimoji="0" lang="en-US" sz="2600" b="0" i="0" u="none" strike="noStrike" kern="1200" cap="none" spc="0" normalizeH="0" baseline="0" noProof="0" dirty="0">
                <a:ln>
                  <a:noFill/>
                </a:ln>
                <a:solidFill>
                  <a:srgbClr val="221F20">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rPr>
              <a:t>			          1</a:t>
            </a:r>
            <a:r>
              <a:rPr kumimoji="0" lang="en-US" sz="2600" b="0" i="0" u="none" strike="noStrike" kern="1200" cap="none" spc="0" normalizeH="0" baseline="30000" noProof="0" dirty="0">
                <a:ln>
                  <a:noFill/>
                </a:ln>
                <a:solidFill>
                  <a:srgbClr val="221F20">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rPr>
              <a:t>st </a:t>
            </a:r>
          </a:p>
          <a:p>
            <a:pPr lvl="4" indent="-128588" defTabSz="514350" fontAlgn="auto">
              <a:spcBef>
                <a:spcPct val="20000"/>
              </a:spcBef>
              <a:spcAft>
                <a:spcPts val="0"/>
              </a:spcAft>
              <a:buFont typeface="Wingdings" panose="05000000000000000000" pitchFamily="2" charset="2"/>
              <a:buChar char="ü"/>
              <a:defRPr/>
            </a:pPr>
            <a:r>
              <a:rPr kumimoji="0" lang="en-US" sz="2300" b="0" i="0" u="none" strike="noStrike" kern="1200" cap="none" spc="0" normalizeH="0" baseline="0" noProof="0" dirty="0">
                <a:ln>
                  <a:noFill/>
                </a:ln>
                <a:solidFill>
                  <a:srgbClr val="221F20"/>
                </a:solidFill>
                <a:effectLst/>
                <a:uLnTx/>
                <a:uFillTx/>
                <a:latin typeface="Calibri" panose="020F0502020204030204" pitchFamily="34" charset="0"/>
                <a:ea typeface="Calibri" panose="020F0502020204030204" pitchFamily="34" charset="0"/>
                <a:cs typeface="Calibri" panose="020F0502020204030204" pitchFamily="34" charset="0"/>
              </a:rPr>
              <a:t>  Prime Contractor									     Equal to A/E (DOR)</a:t>
            </a:r>
          </a:p>
          <a:p>
            <a:pPr lvl="4" indent="-128588" defTabSz="514350" fontAlgn="auto">
              <a:spcBef>
                <a:spcPct val="20000"/>
              </a:spcBef>
              <a:spcAft>
                <a:spcPts val="0"/>
              </a:spcAft>
              <a:buFont typeface="Wingdings" panose="05000000000000000000" pitchFamily="2" charset="2"/>
              <a:buChar char="ü"/>
              <a:defRPr/>
            </a:pPr>
            <a:r>
              <a:rPr kumimoji="0" lang="en-US" sz="2300" b="0" i="0" u="none" strike="noStrike" kern="1200" cap="none" spc="0" normalizeH="0" baseline="0" noProof="0" dirty="0">
                <a:ln>
                  <a:noFill/>
                </a:ln>
                <a:solidFill>
                  <a:srgbClr val="221F20"/>
                </a:solidFill>
                <a:effectLst/>
                <a:uLnTx/>
                <a:uFillTx/>
                <a:latin typeface="Calibri" panose="020F0502020204030204" pitchFamily="34" charset="0"/>
                <a:ea typeface="Calibri" panose="020F0502020204030204" pitchFamily="34" charset="0"/>
                <a:cs typeface="Calibri" panose="020F0502020204030204" pitchFamily="34" charset="0"/>
              </a:rPr>
              <a:t>  A/E Designer of Record (DOR)						         Equal to Prime	</a:t>
            </a:r>
          </a:p>
          <a:p>
            <a:pPr marL="687387" marR="0" lvl="4" indent="0" algn="l" defTabSz="914400" rtl="0" eaLnBrk="1" fontAlgn="base" latinLnBrk="0" hangingPunct="1">
              <a:lnSpc>
                <a:spcPct val="100000"/>
              </a:lnSpc>
              <a:spcBef>
                <a:spcPts val="0"/>
              </a:spcBef>
              <a:spcAft>
                <a:spcPts val="0"/>
              </a:spcAft>
              <a:buClrTx/>
              <a:buSzTx/>
              <a:buFont typeface="Arial" pitchFamily="34" charset="0"/>
              <a:buNone/>
              <a:tabLst/>
              <a:defRPr/>
            </a:pPr>
            <a:endParaRPr kumimoji="0" lang="en-US" sz="800" b="0" i="0" u="none" strike="noStrike" kern="1200" cap="none" spc="0" normalizeH="0" baseline="0" noProof="0" dirty="0">
              <a:ln>
                <a:noFill/>
              </a:ln>
              <a:solidFill>
                <a:srgbClr val="221F20">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endParaRPr>
          </a:p>
          <a:p>
            <a:pPr marL="687388" marR="0" lvl="3" indent="-225425" algn="l" defTabSz="914400" rtl="0" eaLnBrk="1" fontAlgn="base" latinLnBrk="0" hangingPunct="1">
              <a:lnSpc>
                <a:spcPct val="100000"/>
              </a:lnSpc>
              <a:spcBef>
                <a:spcPts val="0"/>
              </a:spcBef>
              <a:spcAft>
                <a:spcPts val="0"/>
              </a:spcAft>
              <a:buClrTx/>
              <a:buSzTx/>
              <a:buFont typeface="Courier New" panose="02070309020205020404" pitchFamily="49" charset="0"/>
              <a:buChar char="o"/>
              <a:tabLst/>
              <a:defRPr/>
            </a:pPr>
            <a:r>
              <a:rPr kumimoji="0" lang="en-US" sz="2400" b="0" i="0" u="none" strike="noStrike" kern="1200" cap="none" spc="0" normalizeH="0" baseline="0" noProof="0" dirty="0">
                <a:ln>
                  <a:noFill/>
                </a:ln>
                <a:solidFill>
                  <a:srgbClr val="221F20">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rPr>
              <a:t> </a:t>
            </a:r>
            <a:r>
              <a:rPr kumimoji="0" lang="en-US" sz="2600" b="0" i="0" u="none" strike="noStrike" kern="1200" cap="none" spc="0" normalizeH="0" baseline="0" noProof="0" dirty="0">
                <a:ln>
                  <a:noFill/>
                </a:ln>
                <a:solidFill>
                  <a:srgbClr val="221F20">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rPr>
              <a:t>Volume I – Factor II:  </a:t>
            </a:r>
            <a:r>
              <a:rPr kumimoji="0" lang="en-US" sz="2600" b="1" i="0" u="none" strike="noStrike" kern="1200" cap="none" spc="0" normalizeH="0" baseline="0" noProof="0" dirty="0">
                <a:ln>
                  <a:noFill/>
                </a:ln>
                <a:solidFill>
                  <a:schemeClr val="accent5">
                    <a:lumMod val="60000"/>
                    <a:lumOff val="40000"/>
                  </a:schemeClr>
                </a:solidFill>
                <a:effectLst/>
                <a:uLnTx/>
                <a:uFillTx/>
                <a:latin typeface="Calibri" panose="020F0502020204030204" pitchFamily="34" charset="0"/>
                <a:ea typeface="Calibri" panose="020F0502020204030204" pitchFamily="34" charset="0"/>
                <a:cs typeface="Calibri" panose="020F0502020204030204" pitchFamily="34" charset="0"/>
              </a:rPr>
              <a:t>Technical Approach for D/B</a:t>
            </a:r>
            <a:r>
              <a:rPr kumimoji="0" lang="en-US" sz="2600" b="0" i="0" u="none" strike="noStrike" kern="1200" cap="none" spc="0" normalizeH="0" baseline="0" noProof="0" dirty="0">
                <a:ln>
                  <a:noFill/>
                </a:ln>
                <a:solidFill>
                  <a:srgbClr val="221F20">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rPr>
              <a:t>		          2</a:t>
            </a:r>
            <a:r>
              <a:rPr kumimoji="0" lang="en-US" sz="2600" b="0" i="0" u="none" strike="noStrike" kern="1200" cap="none" spc="0" normalizeH="0" baseline="30000" noProof="0" dirty="0">
                <a:ln>
                  <a:noFill/>
                </a:ln>
                <a:solidFill>
                  <a:srgbClr val="221F20">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rPr>
              <a:t>nd</a:t>
            </a:r>
          </a:p>
          <a:p>
            <a:pPr marL="457200" marR="0" lvl="0" indent="-4572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457200" marR="0" lvl="0" indent="-4572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altLang="en-US" sz="3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ratings from Phase I </a:t>
            </a:r>
            <a:r>
              <a:rPr kumimoji="0" lang="en-US" altLang="en-US" sz="3000" b="0" i="0" u="none" strike="noStrike" kern="120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rPr>
              <a:t>wil</a:t>
            </a:r>
            <a:r>
              <a:rPr lang="en-US" altLang="en-US" sz="3000" dirty="0">
                <a:solidFill>
                  <a:srgbClr val="000000"/>
                </a:solidFill>
                <a:latin typeface="Calibri" panose="020F0502020204030204" pitchFamily="34" charset="0"/>
                <a:cs typeface="Calibri" panose="020F0502020204030204" pitchFamily="34" charset="0"/>
              </a:rPr>
              <a:t>l not be considered in Phase II for the final selection.</a:t>
            </a:r>
          </a:p>
          <a:p>
            <a:pPr marL="461963" lvl="3" indent="0">
              <a:spcAft>
                <a:spcPts val="0"/>
              </a:spcAft>
              <a:buNone/>
            </a:pPr>
            <a:r>
              <a:rPr lang="en-US" sz="2800" baseline="30000" dirty="0">
                <a:latin typeface="Calibri" panose="020F0502020204030204" pitchFamily="34" charset="0"/>
                <a:ea typeface="Calibri" panose="020F0502020204030204" pitchFamily="34" charset="0"/>
                <a:cs typeface="Calibri" panose="020F0502020204030204" pitchFamily="34" charset="0"/>
              </a:rPr>
              <a:t>                                                               </a:t>
            </a:r>
            <a:endParaRPr lang="en-US" sz="2800" baseline="30000"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4" name="Title 3">
            <a:extLst>
              <a:ext uri="{FF2B5EF4-FFF2-40B4-BE49-F238E27FC236}">
                <a16:creationId xmlns:a16="http://schemas.microsoft.com/office/drawing/2014/main" id="{97E4FC17-3211-B683-66E1-1C1F14CE1F77}"/>
              </a:ext>
            </a:extLst>
          </p:cNvPr>
          <p:cNvSpPr>
            <a:spLocks noGrp="1"/>
          </p:cNvSpPr>
          <p:nvPr>
            <p:ph type="title"/>
          </p:nvPr>
        </p:nvSpPr>
        <p:spPr>
          <a:xfrm>
            <a:off x="948366" y="564554"/>
            <a:ext cx="10386814" cy="476992"/>
          </a:xfrm>
        </p:spPr>
        <p:txBody>
          <a:bodyPr>
            <a:normAutofit fontScale="90000"/>
          </a:bodyPr>
          <a:lstStyle/>
          <a:p>
            <a:r>
              <a:rPr kumimoji="0" lang="en-US" altLang="en-US" sz="3600" b="1" i="0" u="none" strike="noStrike" kern="1200" cap="none" spc="0" normalizeH="0" baseline="0" noProof="0" dirty="0">
                <a:ln>
                  <a:noFill/>
                </a:ln>
                <a:solidFill>
                  <a:srgbClr val="000000"/>
                </a:solidFill>
                <a:effectLst/>
                <a:uLnTx/>
                <a:uFillTx/>
                <a:latin typeface="Arial" pitchFamily="34" charset="0"/>
                <a:ea typeface="ＭＳ Ｐゴシック" charset="0"/>
                <a:cs typeface="Arial" pitchFamily="34" charset="0"/>
              </a:rPr>
              <a:t>  PROPOSAL REQUIREMENTS</a:t>
            </a:r>
            <a:br>
              <a:rPr kumimoji="0" lang="en-US" altLang="en-US" sz="2600" b="0" i="0" u="none" strike="noStrike" kern="1200" cap="none" spc="0" normalizeH="0" baseline="0" noProof="0" dirty="0">
                <a:ln>
                  <a:noFill/>
                </a:ln>
                <a:solidFill>
                  <a:prstClr val="black">
                    <a:lumMod val="75000"/>
                    <a:lumOff val="25000"/>
                  </a:prstClr>
                </a:solidFill>
                <a:effectLst/>
                <a:uLnTx/>
                <a:uFillTx/>
                <a:latin typeface="Calibri Light" panose="020F0302020204030204"/>
                <a:ea typeface="ＭＳ Ｐゴシック" charset="0"/>
                <a:cs typeface="Arial" pitchFamily="34" charset="0"/>
              </a:rPr>
            </a:br>
            <a:r>
              <a:rPr kumimoji="0" lang="en-US" altLang="en-US" sz="2600" b="0" i="0" u="none" strike="noStrike" kern="1200" cap="none" spc="0" normalizeH="0" baseline="0" noProof="0" dirty="0">
                <a:ln>
                  <a:noFill/>
                </a:ln>
                <a:solidFill>
                  <a:prstClr val="black">
                    <a:lumMod val="75000"/>
                    <a:lumOff val="25000"/>
                  </a:prstClr>
                </a:solidFill>
                <a:effectLst/>
                <a:uLnTx/>
                <a:uFillTx/>
                <a:latin typeface="Calibri Light" panose="020F0302020204030204"/>
                <a:ea typeface="ＭＳ Ｐゴシック" charset="0"/>
                <a:cs typeface="Arial" pitchFamily="34" charset="0"/>
              </a:rPr>
              <a:t>  </a:t>
            </a:r>
            <a:endParaRPr lang="en-US" dirty="0"/>
          </a:p>
        </p:txBody>
      </p:sp>
    </p:spTree>
    <p:extLst>
      <p:ext uri="{BB962C8B-B14F-4D97-AF65-F5344CB8AC3E}">
        <p14:creationId xmlns:p14="http://schemas.microsoft.com/office/powerpoint/2010/main" val="26130452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72D10D-918A-7601-A324-854915CC7749}"/>
              </a:ext>
            </a:extLst>
          </p:cNvPr>
          <p:cNvSpPr>
            <a:spLocks noGrp="1"/>
          </p:cNvSpPr>
          <p:nvPr>
            <p:ph sz="quarter" idx="10"/>
          </p:nvPr>
        </p:nvSpPr>
        <p:spPr>
          <a:xfrm>
            <a:off x="538109" y="1214923"/>
            <a:ext cx="11337063" cy="5379320"/>
          </a:xfrm>
        </p:spPr>
        <p:txBody>
          <a:bodyPr>
            <a:normAutofit/>
          </a:bodyPr>
          <a:lstStyle/>
          <a:p>
            <a:pPr marL="457200" marR="0" lvl="0" indent="-4572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altLang="en-US" sz="3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Technical Factors listed in relative order of importance for</a:t>
            </a:r>
          </a:p>
          <a:p>
            <a:pPr marR="0" lvl="0" algn="l" defTabSz="914400" rtl="0" eaLnBrk="1" fontAlgn="base" latinLnBrk="0" hangingPunct="1">
              <a:lnSpc>
                <a:spcPct val="100000"/>
              </a:lnSpc>
              <a:spcBef>
                <a:spcPts val="300"/>
              </a:spcBef>
              <a:spcAft>
                <a:spcPct val="0"/>
              </a:spcAft>
              <a:buClrTx/>
              <a:buSzTx/>
              <a:tabLst/>
              <a:defRPr/>
            </a:pPr>
            <a:r>
              <a:rPr lang="en-US" altLang="en-US" sz="3000" dirty="0">
                <a:solidFill>
                  <a:srgbClr val="000000"/>
                </a:solidFill>
                <a:latin typeface="Calibri" panose="020F0502020204030204" pitchFamily="34" charset="0"/>
                <a:cs typeface="Calibri" panose="020F0502020204030204" pitchFamily="34" charset="0"/>
              </a:rPr>
              <a:t>     </a:t>
            </a:r>
            <a:r>
              <a:rPr kumimoji="0" lang="en-US" altLang="en-US" sz="3000" b="1"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Phase II</a:t>
            </a:r>
            <a:r>
              <a:rPr kumimoji="0" lang="en-US" altLang="en-US" sz="3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a:p>
            <a:pPr marL="457200" marR="0" lvl="0" indent="-4572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endParaRPr kumimoji="0" lang="en-US" altLang="en-US" sz="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lvl="3">
              <a:spcAft>
                <a:spcPts val="0"/>
              </a:spcAft>
              <a:buFont typeface="Courier New" panose="02070309020205020404" pitchFamily="49" charset="0"/>
              <a:buChar char="o"/>
            </a:pPr>
            <a:r>
              <a:rPr lang="en-US" sz="2600" b="1" dirty="0">
                <a:effectLst/>
                <a:latin typeface="Calibri" panose="020F0502020204030204" pitchFamily="34" charset="0"/>
                <a:ea typeface="Calibri" panose="020F0502020204030204" pitchFamily="34" charset="0"/>
                <a:cs typeface="Calibri" panose="020F0502020204030204" pitchFamily="34" charset="0"/>
              </a:rPr>
              <a:t> </a:t>
            </a:r>
            <a:r>
              <a:rPr lang="en-US" sz="2600" dirty="0">
                <a:effectLst/>
                <a:latin typeface="Calibri" panose="020F0502020204030204" pitchFamily="34" charset="0"/>
                <a:ea typeface="Calibri" panose="020F0502020204030204" pitchFamily="34" charset="0"/>
                <a:cs typeface="Calibri" panose="020F0502020204030204" pitchFamily="34" charset="0"/>
              </a:rPr>
              <a:t>Volume I – Factor I:  </a:t>
            </a:r>
            <a:r>
              <a:rPr lang="en-US" sz="2600" b="1" dirty="0">
                <a:solidFill>
                  <a:schemeClr val="accent5">
                    <a:lumMod val="60000"/>
                    <a:lumOff val="40000"/>
                  </a:schemeClr>
                </a:solidFill>
                <a:effectLst/>
                <a:latin typeface="Calibri" panose="020F0502020204030204" pitchFamily="34" charset="0"/>
                <a:ea typeface="Calibri" panose="020F0502020204030204" pitchFamily="34" charset="0"/>
                <a:cs typeface="Calibri" panose="020F0502020204030204" pitchFamily="34" charset="0"/>
              </a:rPr>
              <a:t>Design Narrative</a:t>
            </a:r>
            <a:r>
              <a:rPr lang="en-US" sz="2600" dirty="0">
                <a:effectLst/>
                <a:latin typeface="Calibri" panose="020F0502020204030204" pitchFamily="34" charset="0"/>
                <a:ea typeface="Calibri" panose="020F0502020204030204" pitchFamily="34" charset="0"/>
                <a:cs typeface="Calibri" panose="020F0502020204030204" pitchFamily="34" charset="0"/>
              </a:rPr>
              <a:t>		Equal to Factors II &amp; III</a:t>
            </a:r>
            <a:endParaRPr lang="en-US" sz="1800" dirty="0">
              <a:effectLst/>
              <a:latin typeface="Calibri" panose="020F0502020204030204" pitchFamily="34" charset="0"/>
              <a:ea typeface="Calibri" panose="020F0502020204030204" pitchFamily="34" charset="0"/>
              <a:cs typeface="Calibri" panose="020F0502020204030204" pitchFamily="34" charset="0"/>
            </a:endParaRPr>
          </a:p>
          <a:p>
            <a:pPr lvl="3">
              <a:spcAft>
                <a:spcPts val="0"/>
              </a:spcAft>
              <a:buFont typeface="Courier New" panose="02070309020205020404" pitchFamily="49" charset="0"/>
              <a:buChar char="o"/>
            </a:pPr>
            <a:r>
              <a:rPr lang="en-US" sz="2600" dirty="0">
                <a:effectLst/>
                <a:latin typeface="Calibri" panose="020F0502020204030204" pitchFamily="34" charset="0"/>
                <a:ea typeface="Calibri" panose="020F0502020204030204" pitchFamily="34" charset="0"/>
                <a:cs typeface="Calibri" panose="020F0502020204030204" pitchFamily="34" charset="0"/>
              </a:rPr>
              <a:t> Volume I – Factor II:  </a:t>
            </a:r>
            <a:r>
              <a:rPr lang="en-US" sz="2600" b="1" dirty="0">
                <a:solidFill>
                  <a:schemeClr val="accent5">
                    <a:lumMod val="60000"/>
                    <a:lumOff val="40000"/>
                  </a:schemeClr>
                </a:solidFill>
                <a:effectLst/>
                <a:latin typeface="Calibri" panose="020F0502020204030204" pitchFamily="34" charset="0"/>
                <a:ea typeface="Calibri" panose="020F0502020204030204" pitchFamily="34" charset="0"/>
                <a:cs typeface="Calibri" panose="020F0502020204030204" pitchFamily="34" charset="0"/>
              </a:rPr>
              <a:t>Management Plan</a:t>
            </a:r>
            <a:r>
              <a:rPr lang="en-US" sz="2600" dirty="0">
                <a:effectLst/>
                <a:latin typeface="Calibri" panose="020F0502020204030204" pitchFamily="34" charset="0"/>
                <a:ea typeface="Calibri" panose="020F0502020204030204" pitchFamily="34" charset="0"/>
                <a:cs typeface="Calibri" panose="020F0502020204030204" pitchFamily="34" charset="0"/>
              </a:rPr>
              <a:t>		Equal to Factors I &amp; III</a:t>
            </a:r>
            <a:endParaRPr lang="en-US" sz="1800" dirty="0">
              <a:effectLst/>
              <a:latin typeface="Calibri" panose="020F0502020204030204" pitchFamily="34" charset="0"/>
              <a:ea typeface="Calibri" panose="020F0502020204030204" pitchFamily="34" charset="0"/>
              <a:cs typeface="Calibri" panose="020F0502020204030204" pitchFamily="34" charset="0"/>
            </a:endParaRPr>
          </a:p>
          <a:p>
            <a:pPr lvl="3">
              <a:spcAft>
                <a:spcPts val="0"/>
              </a:spcAft>
              <a:buFont typeface="Courier New" panose="02070309020205020404" pitchFamily="49" charset="0"/>
              <a:buChar char="o"/>
            </a:pPr>
            <a:r>
              <a:rPr lang="en-US" sz="2600" dirty="0">
                <a:effectLst/>
                <a:latin typeface="Calibri" panose="020F0502020204030204" pitchFamily="34" charset="0"/>
                <a:ea typeface="Calibri" panose="020F0502020204030204" pitchFamily="34" charset="0"/>
                <a:cs typeface="Calibri" panose="020F0502020204030204" pitchFamily="34" charset="0"/>
              </a:rPr>
              <a:t> Volume I – Factor III:  </a:t>
            </a:r>
            <a:r>
              <a:rPr lang="en-US" sz="2600" b="1" dirty="0">
                <a:solidFill>
                  <a:schemeClr val="accent5">
                    <a:lumMod val="60000"/>
                    <a:lumOff val="40000"/>
                  </a:schemeClr>
                </a:solidFill>
                <a:effectLst/>
                <a:latin typeface="Calibri" panose="020F0502020204030204" pitchFamily="34" charset="0"/>
                <a:ea typeface="Calibri" panose="020F0502020204030204" pitchFamily="34" charset="0"/>
                <a:cs typeface="Calibri" panose="020F0502020204030204" pitchFamily="34" charset="0"/>
              </a:rPr>
              <a:t>Schedule Narrative</a:t>
            </a:r>
            <a:r>
              <a:rPr lang="en-US" sz="2600" dirty="0">
                <a:effectLst/>
                <a:latin typeface="Calibri" panose="020F0502020204030204" pitchFamily="34" charset="0"/>
                <a:ea typeface="Calibri" panose="020F0502020204030204" pitchFamily="34" charset="0"/>
                <a:cs typeface="Calibri" panose="020F0502020204030204" pitchFamily="34" charset="0"/>
              </a:rPr>
              <a:t>		Equal to Factors I &amp; II</a:t>
            </a:r>
            <a:endParaRPr lang="en-US" sz="1800" dirty="0">
              <a:effectLst/>
              <a:latin typeface="Calibri" panose="020F0502020204030204" pitchFamily="34" charset="0"/>
              <a:ea typeface="Calibri" panose="020F0502020204030204" pitchFamily="34" charset="0"/>
              <a:cs typeface="Calibri" panose="020F0502020204030204" pitchFamily="34" charset="0"/>
            </a:endParaRPr>
          </a:p>
          <a:p>
            <a:pPr marL="461963" lvl="3" indent="0">
              <a:spcAft>
                <a:spcPts val="0"/>
              </a:spcAft>
              <a:buNone/>
            </a:pPr>
            <a:endParaRPr kumimoji="0" lang="en-US" altLang="en-US" sz="24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457200" marR="0" lvl="0" indent="-4572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altLang="en-US" sz="3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All Technical Evaluation </a:t>
            </a:r>
            <a:r>
              <a:rPr lang="en-US" altLang="en-US" sz="3000" dirty="0">
                <a:solidFill>
                  <a:srgbClr val="000000"/>
                </a:solidFill>
                <a:latin typeface="Calibri" panose="020F0502020204030204" pitchFamily="34" charset="0"/>
                <a:cs typeface="Calibri" panose="020F0502020204030204" pitchFamily="34" charset="0"/>
              </a:rPr>
              <a:t>F</a:t>
            </a:r>
            <a:r>
              <a:rPr kumimoji="0" lang="en-US" altLang="en-US" sz="3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actors, other than Price, when combined are considered </a:t>
            </a:r>
            <a:r>
              <a:rPr kumimoji="0" lang="en-US" altLang="en-US" sz="3000" b="1" i="0" u="sng"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approximately equal </a:t>
            </a:r>
            <a:r>
              <a:rPr kumimoji="0" lang="en-US" altLang="en-US" sz="3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Price.</a:t>
            </a:r>
          </a:p>
          <a:p>
            <a:pPr marR="0" lvl="0" algn="l" defTabSz="914400" rtl="0" eaLnBrk="1" fontAlgn="base" latinLnBrk="0" hangingPunct="1">
              <a:lnSpc>
                <a:spcPct val="100000"/>
              </a:lnSpc>
              <a:spcBef>
                <a:spcPts val="300"/>
              </a:spcBef>
              <a:spcAft>
                <a:spcPct val="0"/>
              </a:spcAft>
              <a:buClrTx/>
              <a:buSzTx/>
              <a:tabLst/>
              <a:defRPr/>
            </a:pPr>
            <a:endParaRPr lang="en-US" altLang="en-US" sz="2400" b="1" dirty="0">
              <a:solidFill>
                <a:schemeClr val="accent5">
                  <a:lumMod val="60000"/>
                  <a:lumOff val="40000"/>
                </a:schemeClr>
              </a:solidFill>
              <a:latin typeface="Calibri" panose="020F0502020204030204" pitchFamily="34" charset="0"/>
              <a:cs typeface="Calibri" panose="020F0502020204030204" pitchFamily="34" charset="0"/>
            </a:endParaRPr>
          </a:p>
          <a:p>
            <a:pPr marL="457200" marR="0" lvl="0" indent="-4572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lang="en-US" sz="3000" b="0" i="0" u="none" strike="noStrike" baseline="0" dirty="0">
                <a:solidFill>
                  <a:srgbClr val="211F1F"/>
                </a:solidFill>
                <a:latin typeface="Calibri" panose="020F0502020204030204" pitchFamily="34" charset="0"/>
              </a:rPr>
              <a:t>Submit your </a:t>
            </a:r>
            <a:r>
              <a:rPr lang="en-US" sz="3000" b="0" i="0" strike="noStrike" baseline="0" dirty="0">
                <a:solidFill>
                  <a:srgbClr val="211F1F"/>
                </a:solidFill>
                <a:latin typeface="Calibri" panose="020F0502020204030204" pitchFamily="34" charset="0"/>
              </a:rPr>
              <a:t>best proposal </a:t>
            </a:r>
            <a:r>
              <a:rPr lang="en-US" sz="3000" b="0" i="0" u="none" strike="noStrike" baseline="0" dirty="0">
                <a:solidFill>
                  <a:srgbClr val="211F1F"/>
                </a:solidFill>
                <a:latin typeface="Calibri" panose="020F0502020204030204" pitchFamily="34" charset="0"/>
              </a:rPr>
              <a:t>the 1st time. If we receive an initial proposal that is awardable, discussions may not be opened.</a:t>
            </a:r>
            <a:endParaRPr lang="en-US" sz="3000" b="1" dirty="0">
              <a:solidFill>
                <a:schemeClr val="accent5">
                  <a:lumMod val="60000"/>
                  <a:lumOff val="40000"/>
                </a:schemeClr>
              </a:solidFill>
              <a:latin typeface="+mn-lt"/>
            </a:endParaRPr>
          </a:p>
        </p:txBody>
      </p:sp>
      <p:sp>
        <p:nvSpPr>
          <p:cNvPr id="4" name="Title 3">
            <a:extLst>
              <a:ext uri="{FF2B5EF4-FFF2-40B4-BE49-F238E27FC236}">
                <a16:creationId xmlns:a16="http://schemas.microsoft.com/office/drawing/2014/main" id="{97E4FC17-3211-B683-66E1-1C1F14CE1F77}"/>
              </a:ext>
            </a:extLst>
          </p:cNvPr>
          <p:cNvSpPr>
            <a:spLocks noGrp="1"/>
          </p:cNvSpPr>
          <p:nvPr>
            <p:ph type="title"/>
          </p:nvPr>
        </p:nvSpPr>
        <p:spPr>
          <a:xfrm>
            <a:off x="948366" y="564554"/>
            <a:ext cx="10386814" cy="476992"/>
          </a:xfrm>
        </p:spPr>
        <p:txBody>
          <a:bodyPr>
            <a:normAutofit fontScale="90000"/>
          </a:bodyPr>
          <a:lstStyle/>
          <a:p>
            <a:r>
              <a:rPr kumimoji="0" lang="en-US" altLang="en-US" sz="3600" b="1" i="0" u="none" strike="noStrike" kern="1200" cap="none" spc="0" normalizeH="0" baseline="0" noProof="0" dirty="0">
                <a:ln>
                  <a:noFill/>
                </a:ln>
                <a:solidFill>
                  <a:srgbClr val="000000"/>
                </a:solidFill>
                <a:effectLst/>
                <a:uLnTx/>
                <a:uFillTx/>
                <a:latin typeface="Arial" pitchFamily="34" charset="0"/>
                <a:ea typeface="ＭＳ Ｐゴシック" charset="0"/>
                <a:cs typeface="Arial" pitchFamily="34" charset="0"/>
              </a:rPr>
              <a:t>  PROPOSAL REQUIREMENTS</a:t>
            </a:r>
            <a:br>
              <a:rPr kumimoji="0" lang="en-US" altLang="en-US" sz="2600" b="0" i="0" u="none" strike="noStrike" kern="1200" cap="none" spc="0" normalizeH="0" baseline="0" noProof="0" dirty="0">
                <a:ln>
                  <a:noFill/>
                </a:ln>
                <a:solidFill>
                  <a:prstClr val="black">
                    <a:lumMod val="75000"/>
                    <a:lumOff val="25000"/>
                  </a:prstClr>
                </a:solidFill>
                <a:effectLst/>
                <a:uLnTx/>
                <a:uFillTx/>
                <a:latin typeface="Calibri Light" panose="020F0302020204030204"/>
                <a:ea typeface="ＭＳ Ｐゴシック" charset="0"/>
                <a:cs typeface="Arial" pitchFamily="34" charset="0"/>
              </a:rPr>
            </a:br>
            <a:r>
              <a:rPr kumimoji="0" lang="en-US" altLang="en-US" sz="2600" b="0" i="0" u="none" strike="noStrike" kern="1200" cap="none" spc="0" normalizeH="0" baseline="0" noProof="0" dirty="0">
                <a:ln>
                  <a:noFill/>
                </a:ln>
                <a:solidFill>
                  <a:prstClr val="black">
                    <a:lumMod val="75000"/>
                    <a:lumOff val="25000"/>
                  </a:prstClr>
                </a:solidFill>
                <a:effectLst/>
                <a:uLnTx/>
                <a:uFillTx/>
                <a:latin typeface="Calibri Light" panose="020F0302020204030204"/>
                <a:ea typeface="ＭＳ Ｐゴシック" charset="0"/>
                <a:cs typeface="Arial" pitchFamily="34" charset="0"/>
              </a:rPr>
              <a:t>  </a:t>
            </a:r>
            <a:endParaRPr lang="en-US" dirty="0"/>
          </a:p>
        </p:txBody>
      </p:sp>
    </p:spTree>
    <p:extLst>
      <p:ext uri="{BB962C8B-B14F-4D97-AF65-F5344CB8AC3E}">
        <p14:creationId xmlns:p14="http://schemas.microsoft.com/office/powerpoint/2010/main" val="6672504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9939" y="229434"/>
            <a:ext cx="8151322" cy="713185"/>
          </a:xfrm>
        </p:spPr>
        <p:txBody>
          <a:bodyPr>
            <a:noAutofit/>
          </a:bodyPr>
          <a:lstStyle/>
          <a:p>
            <a:r>
              <a:rPr lang="en-US" altLang="en-US" b="1" dirty="0">
                <a:solidFill>
                  <a:schemeClr val="tx1"/>
                </a:solidFill>
                <a:latin typeface="Arial" panose="020B0604020202020204" pitchFamily="34" charset="0"/>
                <a:cs typeface="Arial" panose="020B0604020202020204" pitchFamily="34" charset="0"/>
              </a:rPr>
              <a:t>PROPOSAL REQUIREMENTS</a:t>
            </a:r>
            <a:endParaRPr lang="en-US" sz="3600" b="1"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76019" y="1209218"/>
            <a:ext cx="10716476" cy="5343510"/>
          </a:xfrm>
        </p:spPr>
        <p:txBody>
          <a:bodyPr>
            <a:normAutofit fontScale="92500" lnSpcReduction="10000"/>
          </a:bodyPr>
          <a:lstStyle/>
          <a:p>
            <a:pPr marL="257175" indent="-257175">
              <a:buFont typeface="Arial" panose="020B0604020202020204" pitchFamily="34" charset="0"/>
              <a:buChar char="•"/>
            </a:pPr>
            <a:r>
              <a:rPr lang="en-US" sz="2800" dirty="0">
                <a:solidFill>
                  <a:schemeClr val="tx1"/>
                </a:solidFill>
                <a:latin typeface="Calibri" panose="020F0502020204030204" pitchFamily="34" charset="0"/>
                <a:cs typeface="Calibri" panose="020F0502020204030204" pitchFamily="34" charset="0"/>
              </a:rPr>
              <a:t> </a:t>
            </a:r>
            <a:r>
              <a:rPr lang="en-US" sz="3000" dirty="0">
                <a:solidFill>
                  <a:schemeClr val="tx1"/>
                </a:solidFill>
                <a:latin typeface="Calibri" panose="020F0502020204030204" pitchFamily="34" charset="0"/>
                <a:cs typeface="Calibri" panose="020F0502020204030204" pitchFamily="34" charset="0"/>
              </a:rPr>
              <a:t>Instructions for submitting a Request for Information (RFI) will be   </a:t>
            </a:r>
          </a:p>
          <a:p>
            <a:r>
              <a:rPr lang="en-US" sz="3000" dirty="0">
                <a:solidFill>
                  <a:schemeClr val="tx1"/>
                </a:solidFill>
                <a:latin typeface="Calibri" panose="020F0502020204030204" pitchFamily="34" charset="0"/>
                <a:cs typeface="Calibri" panose="020F0502020204030204" pitchFamily="34" charset="0"/>
              </a:rPr>
              <a:t>    included in the Solicitation.</a:t>
            </a:r>
          </a:p>
          <a:p>
            <a:endParaRPr lang="en-US" sz="2000" dirty="0">
              <a:solidFill>
                <a:schemeClr val="tx1"/>
              </a:solidFill>
              <a:latin typeface="Calibri" panose="020F0502020204030204" pitchFamily="34" charset="0"/>
              <a:cs typeface="Calibri" panose="020F0502020204030204" pitchFamily="34" charset="0"/>
            </a:endParaRPr>
          </a:p>
          <a:p>
            <a:pPr marL="642938" lvl="1" indent="-257175"/>
            <a:r>
              <a:rPr lang="en-US" sz="2700" dirty="0">
                <a:solidFill>
                  <a:schemeClr val="tx1"/>
                </a:solidFill>
                <a:latin typeface="Calibri" panose="020F0502020204030204" pitchFamily="34" charset="0"/>
                <a:cs typeface="Calibri" panose="020F0502020204030204" pitchFamily="34" charset="0"/>
              </a:rPr>
              <a:t>RFIs for these projects will be received and answered through the ProjNet system:  </a:t>
            </a:r>
            <a:r>
              <a:rPr lang="en-US" sz="2700" dirty="0">
                <a:solidFill>
                  <a:schemeClr val="accent5">
                    <a:lumMod val="60000"/>
                    <a:lumOff val="40000"/>
                  </a:schemeClr>
                </a:solidFill>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www.ProjNet.org</a:t>
            </a:r>
            <a:endParaRPr lang="en-US" sz="2700" dirty="0">
              <a:solidFill>
                <a:schemeClr val="accent5">
                  <a:lumMod val="60000"/>
                  <a:lumOff val="40000"/>
                </a:schemeClr>
              </a:solidFill>
              <a:latin typeface="Calibri" panose="020F0502020204030204" pitchFamily="34" charset="0"/>
              <a:cs typeface="Calibri" panose="020F0502020204030204" pitchFamily="34" charset="0"/>
            </a:endParaRPr>
          </a:p>
          <a:p>
            <a:pPr marL="642938" lvl="1" indent="-257175"/>
            <a:endParaRPr lang="en-US" sz="800" dirty="0">
              <a:latin typeface="Calibri" panose="020F0502020204030204" pitchFamily="34" charset="0"/>
              <a:cs typeface="Calibri" panose="020F0502020204030204" pitchFamily="34" charset="0"/>
            </a:endParaRPr>
          </a:p>
          <a:p>
            <a:pPr marL="942975" lvl="2" indent="-257175">
              <a:buFont typeface="Courier New" panose="02070309020205020404" pitchFamily="49" charset="0"/>
              <a:buChar char="o"/>
            </a:pPr>
            <a:r>
              <a:rPr lang="en-US" sz="2700" dirty="0">
                <a:solidFill>
                  <a:schemeClr val="tx1"/>
                </a:solidFill>
                <a:latin typeface="Calibri" panose="020F0502020204030204" pitchFamily="34" charset="0"/>
                <a:cs typeface="Calibri" panose="020F0502020204030204" pitchFamily="34" charset="0"/>
              </a:rPr>
              <a:t>Any RFIs submitted/emailed directly to the Project Team will </a:t>
            </a:r>
            <a:r>
              <a:rPr lang="en-US" sz="2700" b="1" dirty="0">
                <a:solidFill>
                  <a:schemeClr val="tx1"/>
                </a:solidFill>
                <a:latin typeface="Calibri" panose="020F0502020204030204" pitchFamily="34" charset="0"/>
                <a:cs typeface="Calibri" panose="020F0502020204030204" pitchFamily="34" charset="0"/>
              </a:rPr>
              <a:t>NOT</a:t>
            </a:r>
            <a:r>
              <a:rPr lang="en-US" sz="2700" dirty="0">
                <a:solidFill>
                  <a:schemeClr val="tx1"/>
                </a:solidFill>
                <a:latin typeface="Calibri" panose="020F0502020204030204" pitchFamily="34" charset="0"/>
                <a:cs typeface="Calibri" panose="020F0502020204030204" pitchFamily="34" charset="0"/>
              </a:rPr>
              <a:t> receive a response, and offerors will be directed to the ProjNet system.</a:t>
            </a:r>
          </a:p>
          <a:p>
            <a:pPr marL="685800" lvl="2" indent="0">
              <a:buNone/>
            </a:pPr>
            <a:endParaRPr lang="en-US" dirty="0">
              <a:solidFill>
                <a:schemeClr val="tx1"/>
              </a:solidFill>
              <a:latin typeface="Calibri" panose="020F0502020204030204" pitchFamily="34" charset="0"/>
              <a:cs typeface="Calibri" panose="020F0502020204030204" pitchFamily="34" charset="0"/>
            </a:endParaRPr>
          </a:p>
          <a:p>
            <a:pPr marL="642938" lvl="1" indent="-257175"/>
            <a:r>
              <a:rPr lang="en-US" sz="2700" dirty="0">
                <a:solidFill>
                  <a:schemeClr val="tx1"/>
                </a:solidFill>
                <a:latin typeface="Calibri" panose="020F0502020204030204" pitchFamily="34" charset="0"/>
                <a:cs typeface="Calibri" panose="020F0502020204030204" pitchFamily="34" charset="0"/>
              </a:rPr>
              <a:t>A ProjNet Bidder’s Key included in the solicitation’s Project Instructions section of the RFP, which is used to post your RFIs/questions.</a:t>
            </a:r>
          </a:p>
          <a:p>
            <a:pPr lvl="2" indent="0">
              <a:buNone/>
            </a:pPr>
            <a:endParaRPr lang="en-US" dirty="0">
              <a:solidFill>
                <a:schemeClr val="tx1"/>
              </a:solidFill>
              <a:latin typeface="Calibri" panose="020F0502020204030204" pitchFamily="34" charset="0"/>
              <a:cs typeface="Calibri" panose="020F0502020204030204" pitchFamily="34" charset="0"/>
            </a:endParaRPr>
          </a:p>
          <a:p>
            <a:pPr marL="642938" lvl="1" indent="-257175"/>
            <a:r>
              <a:rPr lang="en-US" sz="2700" dirty="0">
                <a:solidFill>
                  <a:schemeClr val="tx1"/>
                </a:solidFill>
                <a:latin typeface="Calibri" panose="020F0502020204030204" pitchFamily="34" charset="0"/>
                <a:cs typeface="Calibri" panose="020F0502020204030204" pitchFamily="34" charset="0"/>
              </a:rPr>
              <a:t>RFIs and their responses will be available for public review through ProjNet. </a:t>
            </a:r>
          </a:p>
          <a:p>
            <a:pPr marL="415925" indent="-257175"/>
            <a:endParaRPr lang="en-US" sz="3000" dirty="0">
              <a:latin typeface="Calibri" panose="020F0502020204030204" pitchFamily="34" charset="0"/>
              <a:cs typeface="Calibri" panose="020F0502020204030204" pitchFamily="34" charset="0"/>
            </a:endParaRPr>
          </a:p>
          <a:p>
            <a:pPr marL="457200" indent="-457200">
              <a:spcBef>
                <a:spcPts val="300"/>
              </a:spcBef>
              <a:buFont typeface="Arial" panose="020B0604020202020204" pitchFamily="34" charset="0"/>
              <a:buChar char="•"/>
              <a:defRPr/>
            </a:pPr>
            <a:r>
              <a:rPr kumimoji="0" lang="en-US" altLang="en-US" sz="3000" b="0" i="0" u="none" strike="noStrike" kern="1200" cap="none" spc="0" normalizeH="0" baseline="0" noProof="0" dirty="0">
                <a:ln>
                  <a:noFill/>
                </a:ln>
                <a:solidFill>
                  <a:srgbClr val="221F20"/>
                </a:solidFill>
                <a:effectLst/>
                <a:uLnTx/>
                <a:uFillTx/>
                <a:latin typeface="Calibri" panose="020F0502020204030204" pitchFamily="34" charset="0"/>
                <a:cs typeface="Calibri" panose="020F0502020204030204" pitchFamily="34" charset="0"/>
              </a:rPr>
              <a:t>Optional Site Visit held to familiarize Offerors with the jobsite and conditions, </a:t>
            </a:r>
            <a:r>
              <a:rPr kumimoji="0" lang="en-US" altLang="en-US" sz="3000" b="1" i="0" u="sng" strike="noStrike" kern="1200" cap="none" spc="0" normalizeH="0" baseline="0" noProof="0" dirty="0">
                <a:ln>
                  <a:noFill/>
                </a:ln>
                <a:solidFill>
                  <a:srgbClr val="221F20"/>
                </a:solidFill>
                <a:effectLst/>
                <a:uLnTx/>
                <a:uFillTx/>
                <a:latin typeface="Calibri" panose="020F0502020204030204" pitchFamily="34" charset="0"/>
                <a:cs typeface="Calibri" panose="020F0502020204030204" pitchFamily="34" charset="0"/>
              </a:rPr>
              <a:t>not</a:t>
            </a:r>
            <a:r>
              <a:rPr kumimoji="0" lang="en-US" altLang="en-US" sz="3000" b="0" i="0" u="none" strike="noStrike" kern="1200" cap="none" spc="0" normalizeH="0" baseline="0" noProof="0" dirty="0">
                <a:ln>
                  <a:noFill/>
                </a:ln>
                <a:solidFill>
                  <a:srgbClr val="221F20"/>
                </a:solidFill>
                <a:effectLst/>
                <a:uLnTx/>
                <a:uFillTx/>
                <a:latin typeface="Calibri" panose="020F0502020204030204" pitchFamily="34" charset="0"/>
                <a:cs typeface="Calibri" panose="020F0502020204030204" pitchFamily="34" charset="0"/>
              </a:rPr>
              <a:t> for the purposes of answering questions.</a:t>
            </a:r>
          </a:p>
          <a:p>
            <a:pPr marL="415925" indent="-257175"/>
            <a:endParaRPr lang="en-US"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188712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3C6756D-2500-A78B-4B08-818D38CA76EE}"/>
              </a:ext>
            </a:extLst>
          </p:cNvPr>
          <p:cNvSpPr>
            <a:spLocks noGrp="1"/>
          </p:cNvSpPr>
          <p:nvPr>
            <p:ph sz="quarter" idx="10"/>
          </p:nvPr>
        </p:nvSpPr>
        <p:spPr>
          <a:xfrm>
            <a:off x="516836" y="1585028"/>
            <a:ext cx="11078816" cy="5257800"/>
          </a:xfrm>
        </p:spPr>
        <p:txBody>
          <a:bodyPr/>
          <a:lstStyle/>
          <a:p>
            <a:pPr marL="342900" marR="0" lvl="0" indent="-342900" algn="l" defTabSz="914400" rtl="0" eaLnBrk="1" fontAlgn="base" latinLnBrk="0" hangingPunct="1">
              <a:lnSpc>
                <a:spcPct val="100000"/>
              </a:lnSpc>
              <a:spcBef>
                <a:spcPts val="300"/>
              </a:spcBef>
              <a:spcAft>
                <a:spcPts val="60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We will utilize the Electronic Receipt of Proposal process – Instructions will be in Section 00 21 00 of the solicitation package</a:t>
            </a:r>
          </a:p>
          <a:p>
            <a:pPr marL="342900" marR="0" lvl="0" indent="-342900" algn="l" defTabSz="914400" rtl="0" eaLnBrk="1" fontAlgn="base" latinLnBrk="0" hangingPunct="1">
              <a:lnSpc>
                <a:spcPct val="100000"/>
              </a:lnSpc>
              <a:spcBef>
                <a:spcPts val="300"/>
              </a:spcBef>
              <a:spcAft>
                <a:spcPts val="600"/>
              </a:spcAft>
              <a:buClrTx/>
              <a:buSzTx/>
              <a:buFont typeface="Arial" panose="020B0604020202020204" pitchFamily="34" charset="0"/>
              <a:buChar char="•"/>
              <a:tabLst/>
              <a:defRPr/>
            </a:pPr>
            <a:endParaRPr kumimoji="0" lang="en-US" sz="1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857250" marR="0" lvl="1" indent="-342900" algn="l" defTabSz="914400" rtl="0" eaLnBrk="1" fontAlgn="base" latinLnBrk="0" hangingPunct="1">
              <a:lnSpc>
                <a:spcPct val="100000"/>
              </a:lnSpc>
              <a:spcBef>
                <a:spcPts val="300"/>
              </a:spcBef>
              <a:spcAft>
                <a:spcPts val="60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Proposals are uploaded to and submitted through PIEE Solicitation Module</a:t>
            </a:r>
          </a:p>
          <a:p>
            <a:pPr marL="1317625" lvl="3" indent="-342900">
              <a:spcBef>
                <a:spcPts val="300"/>
              </a:spcBef>
              <a:spcAft>
                <a:spcPts val="600"/>
              </a:spcAft>
              <a:buFont typeface="Wingdings" panose="05000000000000000000" pitchFamily="2" charset="2"/>
              <a:buChar char="ü"/>
              <a:defRPr/>
            </a:pPr>
            <a:r>
              <a:rPr lang="en-US" sz="2600" dirty="0">
                <a:solidFill>
                  <a:srgbClr val="000000"/>
                </a:solidFill>
                <a:latin typeface="Calibri" panose="020F0502020204030204" pitchFamily="34" charset="0"/>
                <a:cs typeface="Calibri" panose="020F0502020204030204" pitchFamily="34" charset="0"/>
              </a:rPr>
              <a:t>Recommend performing a test run well in advance </a:t>
            </a:r>
            <a:endParaRPr kumimoji="0" 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857250" marR="0" lvl="1" indent="-342900" algn="l" defTabSz="914400" rtl="0" eaLnBrk="1" fontAlgn="base" latinLnBrk="0" hangingPunct="1">
              <a:lnSpc>
                <a:spcPct val="100000"/>
              </a:lnSpc>
              <a:spcBef>
                <a:spcPts val="300"/>
              </a:spcBef>
              <a:spcAft>
                <a:spcPts val="600"/>
              </a:spcAft>
              <a:buClrTx/>
              <a:buSzTx/>
              <a:buFont typeface="Arial" panose="020B0604020202020204" pitchFamily="34" charset="0"/>
              <a:buChar char="•"/>
              <a:tabLst/>
              <a:defRPr/>
            </a:pPr>
            <a:endParaRPr kumimoji="0" lang="en-US" sz="1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857250" marR="0" lvl="1" indent="-342900" algn="l" defTabSz="914400" rtl="0" eaLnBrk="1" fontAlgn="base" latinLnBrk="0" hangingPunct="1">
              <a:lnSpc>
                <a:spcPct val="100000"/>
              </a:lnSpc>
              <a:spcBef>
                <a:spcPts val="300"/>
              </a:spcBef>
              <a:spcAft>
                <a:spcPts val="60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Don’t wait until the last minute to upload your proposal.  Late is Late!  </a:t>
            </a:r>
            <a:r>
              <a:rPr kumimoji="0" lang="en-US" sz="2600" b="1" i="0" u="none" strike="noStrike" kern="1200" cap="none" spc="0" normalizeH="0" baseline="0" noProof="0" dirty="0">
                <a:ln>
                  <a:noFill/>
                </a:ln>
                <a:solidFill>
                  <a:schemeClr val="accent5">
                    <a:lumMod val="60000"/>
                    <a:lumOff val="40000"/>
                  </a:schemeClr>
                </a:solidFill>
                <a:effectLst/>
                <a:uLnTx/>
                <a:uFillTx/>
                <a:latin typeface="Calibri" panose="020F0502020204030204" pitchFamily="34" charset="0"/>
                <a:cs typeface="Calibri" panose="020F0502020204030204" pitchFamily="34" charset="0"/>
              </a:rPr>
              <a:t>No exceptions!</a:t>
            </a:r>
          </a:p>
          <a:p>
            <a:pPr marL="514350" marR="0" lvl="1" indent="0" algn="l" defTabSz="914400" rtl="0" eaLnBrk="1" fontAlgn="base" latinLnBrk="0" hangingPunct="1">
              <a:lnSpc>
                <a:spcPct val="100000"/>
              </a:lnSpc>
              <a:spcBef>
                <a:spcPts val="300"/>
              </a:spcBef>
              <a:spcAft>
                <a:spcPts val="600"/>
              </a:spcAft>
              <a:buClrTx/>
              <a:buSzTx/>
              <a:buNone/>
              <a:tabLst/>
              <a:defRPr/>
            </a:pPr>
            <a:endParaRPr kumimoji="0" lang="en-US" sz="2200" b="1" i="0" u="none" strike="noStrike" kern="1200" cap="none" spc="0" normalizeH="0" baseline="0" noProof="0" dirty="0">
              <a:ln>
                <a:noFill/>
              </a:ln>
              <a:solidFill>
                <a:schemeClr val="accent5">
                  <a:lumMod val="60000"/>
                  <a:lumOff val="40000"/>
                </a:schemeClr>
              </a:solidFill>
              <a:effectLst/>
              <a:uLnTx/>
              <a:uFillTx/>
              <a:latin typeface="Arial" panose="020B0604020202020204" pitchFamily="34" charset="0"/>
              <a:cs typeface="Arial" panose="020B0604020202020204" pitchFamily="34" charset="0"/>
            </a:endParaRPr>
          </a:p>
          <a:p>
            <a:endParaRPr lang="en-US" dirty="0"/>
          </a:p>
        </p:txBody>
      </p:sp>
      <p:sp>
        <p:nvSpPr>
          <p:cNvPr id="5" name="Title 4">
            <a:extLst>
              <a:ext uri="{FF2B5EF4-FFF2-40B4-BE49-F238E27FC236}">
                <a16:creationId xmlns:a16="http://schemas.microsoft.com/office/drawing/2014/main" id="{36F331E3-B41A-3D08-3BD0-FFDF5FD93690}"/>
              </a:ext>
            </a:extLst>
          </p:cNvPr>
          <p:cNvSpPr>
            <a:spLocks noGrp="1"/>
          </p:cNvSpPr>
          <p:nvPr>
            <p:ph type="title"/>
          </p:nvPr>
        </p:nvSpPr>
        <p:spPr>
          <a:xfrm>
            <a:off x="1114096" y="128981"/>
            <a:ext cx="10221083" cy="832920"/>
          </a:xfrm>
        </p:spPr>
        <p:txBody>
          <a:bodyPr/>
          <a:lstStyle/>
          <a:p>
            <a:r>
              <a:rPr lang="en-US" dirty="0"/>
              <a:t>Proposal submission</a:t>
            </a:r>
          </a:p>
        </p:txBody>
      </p:sp>
    </p:spTree>
    <p:extLst>
      <p:ext uri="{BB962C8B-B14F-4D97-AF65-F5344CB8AC3E}">
        <p14:creationId xmlns:p14="http://schemas.microsoft.com/office/powerpoint/2010/main" val="42329233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7323" y="236908"/>
            <a:ext cx="8382000" cy="806451"/>
          </a:xfrm>
        </p:spPr>
        <p:txBody>
          <a:bodyPr/>
          <a:lstStyle/>
          <a:p>
            <a:pPr algn="ctr"/>
            <a:r>
              <a:rPr lang="en-US" sz="3200" dirty="0">
                <a:solidFill>
                  <a:schemeClr val="tx1"/>
                </a:solidFill>
              </a:rPr>
              <a:t>PROCUREMENT SCHEDULE</a:t>
            </a:r>
            <a:br>
              <a:rPr lang="en-US" dirty="0">
                <a:solidFill>
                  <a:schemeClr val="tx1"/>
                </a:solidFill>
              </a:rPr>
            </a:br>
            <a:r>
              <a:rPr lang="en-US" sz="1600" dirty="0">
                <a:solidFill>
                  <a:schemeClr val="tx1"/>
                </a:solidFill>
              </a:rPr>
              <a:t>Dates are </a:t>
            </a:r>
            <a:r>
              <a:rPr lang="en-US" sz="1600" u="sng" dirty="0">
                <a:solidFill>
                  <a:srgbClr val="FF0000"/>
                </a:solidFill>
              </a:rPr>
              <a:t>approximate</a:t>
            </a:r>
            <a:r>
              <a:rPr lang="en-US" sz="1600" dirty="0">
                <a:solidFill>
                  <a:schemeClr val="accent6"/>
                </a:solidFill>
              </a:rPr>
              <a:t> </a:t>
            </a:r>
            <a:r>
              <a:rPr lang="en-US" sz="1600" dirty="0">
                <a:solidFill>
                  <a:schemeClr val="tx1"/>
                </a:solidFill>
              </a:rPr>
              <a:t>AND</a:t>
            </a:r>
            <a:r>
              <a:rPr lang="en-US" sz="1600" dirty="0"/>
              <a:t> </a:t>
            </a:r>
            <a:r>
              <a:rPr lang="en-US" sz="1600" u="sng" dirty="0">
                <a:solidFill>
                  <a:srgbClr val="FF0000"/>
                </a:solidFill>
              </a:rPr>
              <a:t>SUBJECT TO CHANGE</a:t>
            </a:r>
          </a:p>
        </p:txBody>
      </p:sp>
      <p:sp>
        <p:nvSpPr>
          <p:cNvPr id="3" name="Content Placeholder 2"/>
          <p:cNvSpPr>
            <a:spLocks noGrp="1"/>
          </p:cNvSpPr>
          <p:nvPr>
            <p:ph idx="1"/>
          </p:nvPr>
        </p:nvSpPr>
        <p:spPr>
          <a:xfrm>
            <a:off x="2114824" y="1647922"/>
            <a:ext cx="8662958" cy="3628573"/>
          </a:xfrm>
        </p:spPr>
        <p:txBody>
          <a:bodyPr/>
          <a:lstStyle/>
          <a:p>
            <a:r>
              <a:rPr lang="en-US" sz="2000" b="1" dirty="0">
                <a:solidFill>
                  <a:schemeClr val="tx1"/>
                </a:solidFill>
                <a:latin typeface="Calibri" panose="020F0502020204030204" pitchFamily="34" charset="0"/>
                <a:cs typeface="Calibri" panose="020F0502020204030204" pitchFamily="34" charset="0"/>
              </a:rPr>
              <a:t>ISSUE SOLICIATION (PHASE I) </a:t>
            </a:r>
            <a:r>
              <a:rPr lang="en-US" sz="2000" dirty="0">
                <a:solidFill>
                  <a:schemeClr val="tx1"/>
                </a:solidFill>
                <a:latin typeface="Calibri" panose="020F0502020204030204" pitchFamily="34" charset="0"/>
                <a:cs typeface="Calibri" panose="020F0502020204030204" pitchFamily="34" charset="0"/>
              </a:rPr>
              <a:t>			March/April 2025</a:t>
            </a:r>
          </a:p>
          <a:p>
            <a:endParaRPr lang="en-US" sz="2000" dirty="0">
              <a:solidFill>
                <a:schemeClr val="tx1"/>
              </a:solidFill>
              <a:latin typeface="Calibri" panose="020F0502020204030204" pitchFamily="34" charset="0"/>
              <a:cs typeface="Calibri" panose="020F0502020204030204" pitchFamily="34" charset="0"/>
            </a:endParaRPr>
          </a:p>
          <a:p>
            <a:r>
              <a:rPr lang="en-US" sz="2000" b="1" dirty="0">
                <a:solidFill>
                  <a:schemeClr val="tx1"/>
                </a:solidFill>
                <a:latin typeface="Calibri" panose="020F0502020204030204" pitchFamily="34" charset="0"/>
                <a:cs typeface="Calibri" panose="020F0502020204030204" pitchFamily="34" charset="0"/>
              </a:rPr>
              <a:t>PHASE I – SOLICITATION CLOSES</a:t>
            </a:r>
            <a:r>
              <a:rPr lang="en-US" sz="2000" dirty="0">
                <a:solidFill>
                  <a:schemeClr val="tx1"/>
                </a:solidFill>
                <a:latin typeface="Calibri" panose="020F0502020204030204" pitchFamily="34" charset="0"/>
                <a:cs typeface="Calibri" panose="020F0502020204030204" pitchFamily="34" charset="0"/>
              </a:rPr>
              <a:t>			April/May 2025</a:t>
            </a:r>
          </a:p>
          <a:p>
            <a:endParaRPr lang="en-US" sz="2000" dirty="0">
              <a:solidFill>
                <a:schemeClr val="tx1"/>
              </a:solidFill>
              <a:latin typeface="Calibri" panose="020F0502020204030204" pitchFamily="34" charset="0"/>
              <a:cs typeface="Calibri" panose="020F0502020204030204" pitchFamily="34" charset="0"/>
            </a:endParaRPr>
          </a:p>
          <a:p>
            <a:r>
              <a:rPr lang="en-US" sz="2000" b="1" dirty="0">
                <a:solidFill>
                  <a:schemeClr val="tx1"/>
                </a:solidFill>
                <a:latin typeface="Calibri" panose="020F0502020204030204" pitchFamily="34" charset="0"/>
                <a:cs typeface="Calibri" panose="020F0502020204030204" pitchFamily="34" charset="0"/>
              </a:rPr>
              <a:t>PHASE I – EVALUATION BOARD</a:t>
            </a:r>
            <a:r>
              <a:rPr lang="en-US" sz="2000" dirty="0">
                <a:solidFill>
                  <a:schemeClr val="tx1"/>
                </a:solidFill>
                <a:latin typeface="Calibri" panose="020F0502020204030204" pitchFamily="34" charset="0"/>
                <a:cs typeface="Calibri" panose="020F0502020204030204" pitchFamily="34" charset="0"/>
              </a:rPr>
              <a:t>			May 2025</a:t>
            </a:r>
          </a:p>
          <a:p>
            <a:endParaRPr lang="en-US" sz="2000" dirty="0">
              <a:solidFill>
                <a:schemeClr val="tx1"/>
              </a:solidFill>
              <a:latin typeface="Calibri" panose="020F0502020204030204" pitchFamily="34" charset="0"/>
              <a:cs typeface="Calibri" panose="020F0502020204030204" pitchFamily="34" charset="0"/>
            </a:endParaRPr>
          </a:p>
          <a:p>
            <a:r>
              <a:rPr lang="en-US" sz="2000" b="1" dirty="0">
                <a:solidFill>
                  <a:schemeClr val="tx1"/>
                </a:solidFill>
                <a:latin typeface="Calibri" panose="020F0502020204030204" pitchFamily="34" charset="0"/>
                <a:cs typeface="Calibri" panose="020F0502020204030204" pitchFamily="34" charset="0"/>
              </a:rPr>
              <a:t>PHASE II – AMENDMENT ISSUED</a:t>
            </a:r>
            <a:r>
              <a:rPr lang="en-US" sz="2000" dirty="0">
                <a:solidFill>
                  <a:schemeClr val="tx1"/>
                </a:solidFill>
                <a:latin typeface="Calibri" panose="020F0502020204030204" pitchFamily="34" charset="0"/>
                <a:cs typeface="Calibri" panose="020F0502020204030204" pitchFamily="34" charset="0"/>
              </a:rPr>
              <a:t>			JULY 2025</a:t>
            </a:r>
          </a:p>
          <a:p>
            <a:endParaRPr lang="en-US" sz="2000" dirty="0">
              <a:solidFill>
                <a:schemeClr val="tx1"/>
              </a:solidFill>
              <a:latin typeface="Calibri" panose="020F0502020204030204" pitchFamily="34" charset="0"/>
              <a:cs typeface="Calibri" panose="020F0502020204030204" pitchFamily="34" charset="0"/>
            </a:endParaRPr>
          </a:p>
          <a:p>
            <a:r>
              <a:rPr lang="en-US" sz="2000" b="1" dirty="0">
                <a:solidFill>
                  <a:schemeClr val="tx1"/>
                </a:solidFill>
                <a:latin typeface="Calibri" panose="020F0502020204030204" pitchFamily="34" charset="0"/>
                <a:cs typeface="Calibri" panose="020F0502020204030204" pitchFamily="34" charset="0"/>
              </a:rPr>
              <a:t>PHASE II – SOLICITATION CLOSES</a:t>
            </a:r>
            <a:r>
              <a:rPr lang="en-US" sz="2000" dirty="0">
                <a:solidFill>
                  <a:schemeClr val="tx1"/>
                </a:solidFill>
                <a:latin typeface="Calibri" panose="020F0502020204030204" pitchFamily="34" charset="0"/>
                <a:cs typeface="Calibri" panose="020F0502020204030204" pitchFamily="34" charset="0"/>
              </a:rPr>
              <a:t>			AUGUST 2025</a:t>
            </a:r>
          </a:p>
          <a:p>
            <a:endParaRPr lang="en-US" sz="2000" dirty="0">
              <a:solidFill>
                <a:schemeClr val="tx1"/>
              </a:solidFill>
              <a:latin typeface="Calibri" panose="020F0502020204030204" pitchFamily="34" charset="0"/>
              <a:cs typeface="Calibri" panose="020F0502020204030204" pitchFamily="34" charset="0"/>
            </a:endParaRPr>
          </a:p>
          <a:p>
            <a:r>
              <a:rPr lang="en-US" sz="2000" b="1" dirty="0">
                <a:solidFill>
                  <a:schemeClr val="tx1"/>
                </a:solidFill>
                <a:latin typeface="Calibri" panose="020F0502020204030204" pitchFamily="34" charset="0"/>
                <a:cs typeface="Calibri" panose="020F0502020204030204" pitchFamily="34" charset="0"/>
              </a:rPr>
              <a:t>PHASE II – EVALUATION BOARD</a:t>
            </a:r>
            <a:r>
              <a:rPr lang="en-US" sz="2000" dirty="0">
                <a:solidFill>
                  <a:schemeClr val="tx1"/>
                </a:solidFill>
                <a:latin typeface="Calibri" panose="020F0502020204030204" pitchFamily="34" charset="0"/>
                <a:cs typeface="Calibri" panose="020F0502020204030204" pitchFamily="34" charset="0"/>
              </a:rPr>
              <a:t>			SEPTEMBER 2025</a:t>
            </a:r>
          </a:p>
          <a:p>
            <a:endParaRPr lang="en-US" sz="2000" dirty="0">
              <a:solidFill>
                <a:schemeClr val="tx1"/>
              </a:solidFill>
              <a:latin typeface="Calibri" panose="020F0502020204030204" pitchFamily="34" charset="0"/>
              <a:cs typeface="Calibri" panose="020F0502020204030204" pitchFamily="34" charset="0"/>
            </a:endParaRPr>
          </a:p>
          <a:p>
            <a:r>
              <a:rPr lang="en-US" sz="2000" b="1" dirty="0">
                <a:solidFill>
                  <a:schemeClr val="tx1"/>
                </a:solidFill>
                <a:latin typeface="Calibri" panose="020F0502020204030204" pitchFamily="34" charset="0"/>
                <a:cs typeface="Calibri" panose="020F0502020204030204" pitchFamily="34" charset="0"/>
              </a:rPr>
              <a:t>AWARD</a:t>
            </a:r>
            <a:r>
              <a:rPr lang="en-US" sz="2000" dirty="0">
                <a:solidFill>
                  <a:schemeClr val="tx1"/>
                </a:solidFill>
                <a:latin typeface="Calibri" panose="020F0502020204030204" pitchFamily="34" charset="0"/>
                <a:cs typeface="Calibri" panose="020F0502020204030204" pitchFamily="34" charset="0"/>
              </a:rPr>
              <a:t>						SEPTEMBER 2025</a:t>
            </a:r>
          </a:p>
        </p:txBody>
      </p:sp>
      <p:sp>
        <p:nvSpPr>
          <p:cNvPr id="5" name="Slide Number Placeholder 4"/>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257827-C34C-4251-B995-96C9C233CCC8}" type="slidenum">
              <a:rPr kumimoji="0" lang="en-US" sz="1800" b="0" i="0" u="none" strike="noStrike" kern="1200" cap="none" spc="0" normalizeH="0" baseline="0" noProof="0" smtClean="0">
                <a:ln>
                  <a:noFill/>
                </a:ln>
                <a:solidFill>
                  <a:srgbClr val="221F20"/>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dirty="0">
              <a:ln>
                <a:noFill/>
              </a:ln>
              <a:solidFill>
                <a:srgbClr val="221F20"/>
              </a:solidFill>
              <a:effectLst/>
              <a:uLnTx/>
              <a:uFillTx/>
              <a:latin typeface="Arial"/>
              <a:ea typeface="+mn-ea"/>
              <a:cs typeface="+mn-cs"/>
            </a:endParaRPr>
          </a:p>
        </p:txBody>
      </p:sp>
    </p:spTree>
    <p:extLst>
      <p:ext uri="{BB962C8B-B14F-4D97-AF65-F5344CB8AC3E}">
        <p14:creationId xmlns:p14="http://schemas.microsoft.com/office/powerpoint/2010/main" val="8379306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4449749"/>
          </a:xfrm>
        </p:spPr>
        <p:txBody>
          <a:bodyPr/>
          <a:lstStyle/>
          <a:p>
            <a:pPr marL="342900" indent="-342900" algn="ctr">
              <a:lnSpc>
                <a:spcPct val="90000"/>
              </a:lnSpc>
              <a:spcBef>
                <a:spcPct val="20000"/>
              </a:spcBef>
            </a:pPr>
            <a:endParaRPr lang="en-US" altLang="en-US" sz="3200" kern="0" dirty="0">
              <a:solidFill>
                <a:srgbClr val="000000"/>
              </a:solidFill>
              <a:latin typeface="Arial"/>
              <a:ea typeface="+mn-ea"/>
              <a:cs typeface="+mn-cs"/>
            </a:endParaRPr>
          </a:p>
          <a:p>
            <a:pPr marL="342900" indent="-342900" algn="ctr">
              <a:lnSpc>
                <a:spcPct val="90000"/>
              </a:lnSpc>
              <a:spcBef>
                <a:spcPct val="20000"/>
              </a:spcBef>
            </a:pPr>
            <a:br>
              <a:rPr lang="en-US" altLang="en-US" sz="3200" kern="0" dirty="0">
                <a:solidFill>
                  <a:srgbClr val="000000"/>
                </a:solidFill>
                <a:latin typeface="Arial"/>
                <a:ea typeface="+mn-ea"/>
                <a:cs typeface="+mn-cs"/>
              </a:rPr>
            </a:br>
            <a:endParaRPr lang="en-US" altLang="en-US" sz="3200" kern="0" dirty="0">
              <a:solidFill>
                <a:srgbClr val="000000"/>
              </a:solidFill>
              <a:latin typeface="Arial"/>
              <a:ea typeface="+mn-ea"/>
              <a:cs typeface="+mn-cs"/>
            </a:endParaRPr>
          </a:p>
          <a:p>
            <a:pPr marL="342900" indent="-342900" algn="ctr">
              <a:lnSpc>
                <a:spcPct val="90000"/>
              </a:lnSpc>
              <a:spcBef>
                <a:spcPct val="20000"/>
              </a:spcBef>
            </a:pPr>
            <a:endParaRPr lang="en-US" altLang="en-US" sz="3200" b="1" kern="0" dirty="0">
              <a:solidFill>
                <a:srgbClr val="000000"/>
              </a:solidFill>
              <a:latin typeface="Arial"/>
              <a:ea typeface="+mn-ea"/>
              <a:cs typeface="+mn-cs"/>
            </a:endParaRPr>
          </a:p>
          <a:p>
            <a:pPr marL="342900" indent="-342900" algn="ctr">
              <a:lnSpc>
                <a:spcPct val="90000"/>
              </a:lnSpc>
              <a:spcBef>
                <a:spcPct val="20000"/>
              </a:spcBef>
            </a:pPr>
            <a:endParaRPr lang="en-US" altLang="en-US" sz="3200" b="1" kern="0" dirty="0">
              <a:solidFill>
                <a:srgbClr val="000000"/>
              </a:solidFill>
              <a:latin typeface="Arial"/>
              <a:ea typeface="+mn-ea"/>
              <a:cs typeface="+mn-cs"/>
            </a:endParaRPr>
          </a:p>
          <a:p>
            <a:pPr marL="342900" indent="-342900" algn="ctr">
              <a:lnSpc>
                <a:spcPct val="90000"/>
              </a:lnSpc>
              <a:spcBef>
                <a:spcPct val="20000"/>
              </a:spcBef>
            </a:pPr>
            <a:r>
              <a:rPr lang="en-US" altLang="en-US" sz="3600" b="1" kern="0" dirty="0">
                <a:solidFill>
                  <a:srgbClr val="000000"/>
                </a:solidFill>
                <a:latin typeface="Arial"/>
                <a:ea typeface="+mn-ea"/>
                <a:cs typeface="+mn-cs"/>
              </a:rPr>
              <a:t>Crystal Harbin</a:t>
            </a:r>
          </a:p>
          <a:p>
            <a:pPr marL="342900" indent="-342900" algn="ctr">
              <a:lnSpc>
                <a:spcPct val="90000"/>
              </a:lnSpc>
              <a:spcBef>
                <a:spcPct val="20000"/>
              </a:spcBef>
            </a:pPr>
            <a:r>
              <a:rPr lang="en-US" altLang="en-US" sz="3200" kern="0" dirty="0">
                <a:solidFill>
                  <a:srgbClr val="000000"/>
                </a:solidFill>
                <a:latin typeface="Arial"/>
                <a:ea typeface="+mn-ea"/>
                <a:cs typeface="+mn-cs"/>
              </a:rPr>
              <a:t>Deputy for Small Business </a:t>
            </a:r>
          </a:p>
          <a:p>
            <a:pPr marL="342900" indent="-342900" algn="ctr">
              <a:lnSpc>
                <a:spcPct val="90000"/>
              </a:lnSpc>
              <a:spcBef>
                <a:spcPct val="20000"/>
              </a:spcBef>
            </a:pPr>
            <a:r>
              <a:rPr lang="en-US" altLang="en-US" sz="3200" kern="0" dirty="0">
                <a:solidFill>
                  <a:srgbClr val="000000"/>
                </a:solidFill>
                <a:latin typeface="Arial"/>
                <a:ea typeface="+mn-ea"/>
                <a:cs typeface="+mn-cs"/>
              </a:rPr>
              <a:t>Louisville District</a:t>
            </a:r>
          </a:p>
        </p:txBody>
      </p:sp>
      <p:graphicFrame>
        <p:nvGraphicFramePr>
          <p:cNvPr id="4" name="Object 70">
            <a:extLst>
              <a:ext uri="{FF2B5EF4-FFF2-40B4-BE49-F238E27FC236}">
                <a16:creationId xmlns:a16="http://schemas.microsoft.com/office/drawing/2014/main" id="{4DEFC358-A0E1-470A-9ED4-0271816470EB}"/>
              </a:ext>
            </a:extLst>
          </p:cNvPr>
          <p:cNvGraphicFramePr>
            <a:graphicFrameLocks/>
          </p:cNvGraphicFramePr>
          <p:nvPr/>
        </p:nvGraphicFramePr>
        <p:xfrm>
          <a:off x="4653250" y="577228"/>
          <a:ext cx="2733101" cy="2074985"/>
        </p:xfrm>
        <a:graphic>
          <a:graphicData uri="http://schemas.openxmlformats.org/presentationml/2006/ole">
            <mc:AlternateContent xmlns:mc="http://schemas.openxmlformats.org/markup-compatibility/2006">
              <mc:Choice xmlns:v="urn:schemas-microsoft-com:vml" Requires="v">
                <p:oleObj name="Presentation" r:id="rId2" imgW="2459618" imgH="1844186" progId="PowerPoint.Show.8">
                  <p:embed/>
                </p:oleObj>
              </mc:Choice>
              <mc:Fallback>
                <p:oleObj name="Presentation" r:id="rId2" imgW="2459618" imgH="1844186" progId="PowerPoint.Show.8">
                  <p:embed/>
                  <p:pic>
                    <p:nvPicPr>
                      <p:cNvPr id="4" name="Object 70">
                        <a:extLst>
                          <a:ext uri="{FF2B5EF4-FFF2-40B4-BE49-F238E27FC236}">
                            <a16:creationId xmlns:a16="http://schemas.microsoft.com/office/drawing/2014/main" id="{4DEFC358-A0E1-470A-9ED4-0271816470E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3250" y="577228"/>
                        <a:ext cx="2733101" cy="2074985"/>
                      </a:xfrm>
                      <a:prstGeom prst="rect">
                        <a:avLst/>
                      </a:prstGeom>
                      <a:noFill/>
                      <a:ln>
                        <a:noFill/>
                      </a:ln>
                      <a:effectLst/>
                    </p:spPr>
                  </p:pic>
                </p:oleObj>
              </mc:Fallback>
            </mc:AlternateContent>
          </a:graphicData>
        </a:graphic>
      </p:graphicFrame>
      <p:sp>
        <p:nvSpPr>
          <p:cNvPr id="6" name="TextBox 5">
            <a:extLst>
              <a:ext uri="{FF2B5EF4-FFF2-40B4-BE49-F238E27FC236}">
                <a16:creationId xmlns:a16="http://schemas.microsoft.com/office/drawing/2014/main" id="{BED2E5BE-C6AF-8D32-9BEB-EEE3ECADB2AB}"/>
              </a:ext>
            </a:extLst>
          </p:cNvPr>
          <p:cNvSpPr txBox="1"/>
          <p:nvPr/>
        </p:nvSpPr>
        <p:spPr>
          <a:xfrm>
            <a:off x="588397" y="5478449"/>
            <a:ext cx="11336903" cy="1231106"/>
          </a:xfrm>
          <a:prstGeom prst="rect">
            <a:avLst/>
          </a:prstGeom>
          <a:noFill/>
        </p:spPr>
        <p:txBody>
          <a:bodyPr wrap="square" rtlCol="0">
            <a:spAutoFit/>
          </a:bodyPr>
          <a:lstStyle/>
          <a:p>
            <a:pPr marL="342900" indent="-342900" algn="ctr">
              <a:lnSpc>
                <a:spcPct val="90000"/>
              </a:lnSpc>
              <a:spcBef>
                <a:spcPct val="20000"/>
              </a:spcBef>
            </a:pPr>
            <a:endParaRPr lang="en-US" altLang="en-US" sz="2800" kern="0" dirty="0">
              <a:solidFill>
                <a:srgbClr val="000000"/>
              </a:solidFill>
              <a:latin typeface="Arial"/>
              <a:ea typeface="+mn-ea"/>
              <a:cs typeface="+mn-cs"/>
            </a:endParaRPr>
          </a:p>
          <a:p>
            <a:pPr marL="342900" indent="-342900" algn="ctr">
              <a:lnSpc>
                <a:spcPct val="90000"/>
              </a:lnSpc>
              <a:spcBef>
                <a:spcPct val="20000"/>
              </a:spcBef>
            </a:pPr>
            <a:r>
              <a:rPr lang="en-US" altLang="en-US" sz="2800" kern="0" dirty="0">
                <a:solidFill>
                  <a:srgbClr val="000000"/>
                </a:solidFill>
                <a:latin typeface="Arial"/>
                <a:ea typeface="+mn-ea"/>
                <a:cs typeface="+mn-cs"/>
                <a:hlinkClick r:id="rId4"/>
              </a:rPr>
              <a:t>SBO-LRL@usace.army.mil</a:t>
            </a:r>
            <a:r>
              <a:rPr lang="en-US" altLang="en-US" sz="2800" kern="0" dirty="0">
                <a:solidFill>
                  <a:srgbClr val="000000"/>
                </a:solidFill>
                <a:latin typeface="Arial"/>
                <a:ea typeface="+mn-ea"/>
                <a:cs typeface="+mn-cs"/>
              </a:rPr>
              <a:t> </a:t>
            </a:r>
          </a:p>
          <a:p>
            <a:endParaRPr lang="en-US" dirty="0"/>
          </a:p>
        </p:txBody>
      </p:sp>
      <p:sp>
        <p:nvSpPr>
          <p:cNvPr id="8" name="TextBox 7">
            <a:extLst>
              <a:ext uri="{FF2B5EF4-FFF2-40B4-BE49-F238E27FC236}">
                <a16:creationId xmlns:a16="http://schemas.microsoft.com/office/drawing/2014/main" id="{B4272A27-A79A-E204-B007-4EAE1038CF4C}"/>
              </a:ext>
            </a:extLst>
          </p:cNvPr>
          <p:cNvSpPr txBox="1"/>
          <p:nvPr/>
        </p:nvSpPr>
        <p:spPr>
          <a:xfrm>
            <a:off x="5790870" y="3663286"/>
            <a:ext cx="6134430" cy="1674305"/>
          </a:xfrm>
          <a:prstGeom prst="rect">
            <a:avLst/>
          </a:prstGeom>
          <a:noFill/>
        </p:spPr>
        <p:txBody>
          <a:bodyPr wrap="square">
            <a:spAutoFit/>
          </a:bodyPr>
          <a:lstStyle/>
          <a:p>
            <a:pPr marL="342900" marR="0" lvl="0" indent="-342900" algn="ctr" defTabSz="914400" rtl="0" eaLnBrk="1" fontAlgn="base" latinLnBrk="0" hangingPunct="1">
              <a:lnSpc>
                <a:spcPct val="90000"/>
              </a:lnSpc>
              <a:spcBef>
                <a:spcPct val="20000"/>
              </a:spcBef>
              <a:spcAft>
                <a:spcPct val="0"/>
              </a:spcAft>
              <a:buClrTx/>
              <a:buSzTx/>
              <a:buFont typeface="Arial" pitchFamily="34" charset="0"/>
              <a:buNone/>
              <a:tabLst/>
              <a:defRPr/>
            </a:pPr>
            <a:r>
              <a:rPr kumimoji="0" lang="en-US" altLang="en-US" sz="3600" b="1" i="0" u="none" strike="noStrike" kern="0" cap="none" spc="0" normalizeH="0" baseline="0" noProof="0" dirty="0">
                <a:ln>
                  <a:noFill/>
                </a:ln>
                <a:solidFill>
                  <a:srgbClr val="000000"/>
                </a:solidFill>
                <a:effectLst/>
                <a:uLnTx/>
                <a:uFillTx/>
                <a:latin typeface="Arial"/>
                <a:ea typeface="ＭＳ Ｐゴシック" charset="0"/>
                <a:cs typeface="Arial" pitchFamily="34" charset="0"/>
              </a:rPr>
              <a:t>Courtney Luckett</a:t>
            </a:r>
          </a:p>
          <a:p>
            <a:pPr marL="342900" marR="0" lvl="0" indent="-342900" algn="ctr" defTabSz="914400" rtl="0" eaLnBrk="1" fontAlgn="base" latinLnBrk="0" hangingPunct="1">
              <a:lnSpc>
                <a:spcPct val="90000"/>
              </a:lnSpc>
              <a:spcBef>
                <a:spcPct val="20000"/>
              </a:spcBef>
              <a:spcAft>
                <a:spcPct val="0"/>
              </a:spcAft>
              <a:buClrTx/>
              <a:buSzTx/>
              <a:buFont typeface="Arial" pitchFamily="34" charset="0"/>
              <a:buNone/>
              <a:tabLst/>
              <a:defRPr/>
            </a:pPr>
            <a:r>
              <a:rPr kumimoji="0" lang="en-US" altLang="en-US" sz="3200" b="0" i="0" u="none" strike="noStrike" kern="0" cap="none" spc="0" normalizeH="0" baseline="0" noProof="0" dirty="0">
                <a:ln>
                  <a:noFill/>
                </a:ln>
                <a:solidFill>
                  <a:srgbClr val="000000"/>
                </a:solidFill>
                <a:effectLst/>
                <a:uLnTx/>
                <a:uFillTx/>
                <a:latin typeface="Arial"/>
                <a:ea typeface="ＭＳ Ｐゴシック" charset="0"/>
                <a:cs typeface="Arial" pitchFamily="34" charset="0"/>
              </a:rPr>
              <a:t>Small Business Professional </a:t>
            </a:r>
          </a:p>
          <a:p>
            <a:pPr marL="342900" marR="0" lvl="0" indent="-342900" algn="ctr" defTabSz="914400" rtl="0" eaLnBrk="1" fontAlgn="base" latinLnBrk="0" hangingPunct="1">
              <a:lnSpc>
                <a:spcPct val="90000"/>
              </a:lnSpc>
              <a:spcBef>
                <a:spcPct val="20000"/>
              </a:spcBef>
              <a:spcAft>
                <a:spcPct val="0"/>
              </a:spcAft>
              <a:buClrTx/>
              <a:buSzTx/>
              <a:buFont typeface="Arial" pitchFamily="34" charset="0"/>
              <a:buNone/>
              <a:tabLst/>
              <a:defRPr/>
            </a:pPr>
            <a:r>
              <a:rPr kumimoji="0" lang="en-US" altLang="en-US" sz="3200" b="0" i="0" u="none" strike="noStrike" kern="0" cap="none" spc="0" normalizeH="0" baseline="0" noProof="0" dirty="0">
                <a:ln>
                  <a:noFill/>
                </a:ln>
                <a:solidFill>
                  <a:srgbClr val="000000"/>
                </a:solidFill>
                <a:effectLst/>
                <a:uLnTx/>
                <a:uFillTx/>
                <a:latin typeface="Arial"/>
                <a:ea typeface="ＭＳ Ｐゴシック" charset="0"/>
                <a:cs typeface="Arial" pitchFamily="34" charset="0"/>
              </a:rPr>
              <a:t>Louisville District</a:t>
            </a:r>
          </a:p>
        </p:txBody>
      </p:sp>
    </p:spTree>
    <p:extLst>
      <p:ext uri="{BB962C8B-B14F-4D97-AF65-F5344CB8AC3E}">
        <p14:creationId xmlns:p14="http://schemas.microsoft.com/office/powerpoint/2010/main" val="22636664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8366" y="128981"/>
            <a:ext cx="10386814" cy="962972"/>
          </a:xfrm>
        </p:spPr>
        <p:txBody>
          <a:bodyPr/>
          <a:lstStyle/>
          <a:p>
            <a:pPr algn="ctr"/>
            <a:r>
              <a:rPr lang="en-US" dirty="0"/>
              <a:t>Small Business Participation plan &amp; Subcontracting PLAN</a:t>
            </a:r>
          </a:p>
        </p:txBody>
      </p:sp>
      <p:sp>
        <p:nvSpPr>
          <p:cNvPr id="5" name="Content Placeholder 6">
            <a:extLst>
              <a:ext uri="{FF2B5EF4-FFF2-40B4-BE49-F238E27FC236}">
                <a16:creationId xmlns:a16="http://schemas.microsoft.com/office/drawing/2014/main" id="{2E3F898C-0E2C-63D8-7154-6A6B72C7AFA4}"/>
              </a:ext>
            </a:extLst>
          </p:cNvPr>
          <p:cNvSpPr txBox="1">
            <a:spLocks/>
          </p:cNvSpPr>
          <p:nvPr/>
        </p:nvSpPr>
        <p:spPr bwMode="auto">
          <a:xfrm>
            <a:off x="266700" y="1340528"/>
            <a:ext cx="11658600" cy="518219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a:lstStyle>
          <a:p>
            <a:pPr marL="342900" indent="-342900" fontAlgn="auto">
              <a:lnSpc>
                <a:spcPct val="90000"/>
              </a:lnSpc>
              <a:spcBef>
                <a:spcPts val="1000"/>
              </a:spcBef>
              <a:spcAft>
                <a:spcPts val="0"/>
              </a:spcAft>
              <a:buFont typeface="Arial" pitchFamily="34" charset="0"/>
              <a:buChar char="•"/>
              <a:defRPr/>
            </a:pPr>
            <a:r>
              <a:rPr lang="en-US" sz="2000">
                <a:solidFill>
                  <a:srgbClr val="221F20"/>
                </a:solidFill>
              </a:rPr>
              <a:t>The Small Business Participation Plan is a rated evaluation factor in all unrestricted procurements</a:t>
            </a:r>
          </a:p>
          <a:p>
            <a:pPr marL="857250" lvl="1" indent="-342900" fontAlgn="auto">
              <a:lnSpc>
                <a:spcPct val="90000"/>
              </a:lnSpc>
              <a:spcBef>
                <a:spcPts val="1000"/>
              </a:spcBef>
              <a:spcAft>
                <a:spcPts val="0"/>
              </a:spcAft>
              <a:buFont typeface="Arial" pitchFamily="34" charset="0"/>
              <a:buChar char="•"/>
              <a:defRPr/>
            </a:pPr>
            <a:r>
              <a:rPr lang="en-US" sz="2000">
                <a:solidFill>
                  <a:srgbClr val="221F20"/>
                </a:solidFill>
                <a:ea typeface="+mn-ea"/>
              </a:rPr>
              <a:t>Both large and small business offerors must submit a participation plan.</a:t>
            </a:r>
          </a:p>
          <a:p>
            <a:pPr marL="857250" lvl="1" indent="-342900" fontAlgn="auto">
              <a:lnSpc>
                <a:spcPct val="90000"/>
              </a:lnSpc>
              <a:spcBef>
                <a:spcPts val="1000"/>
              </a:spcBef>
              <a:spcAft>
                <a:spcPts val="0"/>
              </a:spcAft>
              <a:buFont typeface="Arial" pitchFamily="34" charset="0"/>
              <a:buChar char="•"/>
              <a:defRPr/>
            </a:pPr>
            <a:r>
              <a:rPr lang="en-US" sz="2000">
                <a:solidFill>
                  <a:srgbClr val="221F20"/>
                </a:solidFill>
                <a:ea typeface="+mn-ea"/>
              </a:rPr>
              <a:t>The participation plan is based on </a:t>
            </a:r>
            <a:r>
              <a:rPr lang="en-US" sz="2000" u="sng">
                <a:solidFill>
                  <a:srgbClr val="221F20"/>
                </a:solidFill>
                <a:ea typeface="+mn-ea"/>
              </a:rPr>
              <a:t>total contract value</a:t>
            </a:r>
            <a:r>
              <a:rPr lang="en-US" sz="2000">
                <a:solidFill>
                  <a:srgbClr val="221F20"/>
                </a:solidFill>
                <a:ea typeface="+mn-ea"/>
              </a:rPr>
              <a:t>.</a:t>
            </a:r>
          </a:p>
          <a:p>
            <a:pPr marL="857250" lvl="1" indent="-342900" fontAlgn="auto">
              <a:lnSpc>
                <a:spcPct val="90000"/>
              </a:lnSpc>
              <a:spcBef>
                <a:spcPts val="1000"/>
              </a:spcBef>
              <a:spcAft>
                <a:spcPts val="0"/>
              </a:spcAft>
              <a:buFont typeface="Arial" pitchFamily="34" charset="0"/>
              <a:buChar char="•"/>
              <a:defRPr/>
            </a:pPr>
            <a:r>
              <a:rPr lang="en-US" sz="2000">
                <a:solidFill>
                  <a:srgbClr val="221F20"/>
                </a:solidFill>
                <a:ea typeface="+mn-ea"/>
              </a:rPr>
              <a:t>The Small Business Participation Plan must meet the minimum Total Small Business Participation goal. The percentage will be included the solicitation. </a:t>
            </a:r>
          </a:p>
          <a:p>
            <a:pPr marL="857250" lvl="1" indent="-342900" fontAlgn="auto">
              <a:lnSpc>
                <a:spcPct val="90000"/>
              </a:lnSpc>
              <a:spcBef>
                <a:spcPts val="1000"/>
              </a:spcBef>
              <a:spcAft>
                <a:spcPts val="0"/>
              </a:spcAft>
              <a:buFont typeface="Arial" pitchFamily="34" charset="0"/>
              <a:buChar char="•"/>
              <a:defRPr/>
            </a:pPr>
            <a:r>
              <a:rPr lang="en-US" sz="2000">
                <a:solidFill>
                  <a:srgbClr val="221F20"/>
                </a:solidFill>
                <a:ea typeface="+mn-ea"/>
              </a:rPr>
              <a:t>Small Business prime self-performance counts as Small Business Participation.</a:t>
            </a:r>
          </a:p>
          <a:p>
            <a:pPr marL="857250" lvl="1" indent="-342900" fontAlgn="auto">
              <a:lnSpc>
                <a:spcPct val="90000"/>
              </a:lnSpc>
              <a:spcBef>
                <a:spcPts val="1000"/>
              </a:spcBef>
              <a:spcAft>
                <a:spcPts val="0"/>
              </a:spcAft>
              <a:buFont typeface="Arial" pitchFamily="34" charset="0"/>
              <a:buChar char="•"/>
              <a:defRPr/>
            </a:pPr>
            <a:endParaRPr lang="en-US" sz="2000">
              <a:solidFill>
                <a:srgbClr val="221F20"/>
              </a:solidFill>
              <a:ea typeface="+mn-ea"/>
            </a:endParaRPr>
          </a:p>
          <a:p>
            <a:pPr marL="342900" indent="-342900" fontAlgn="auto">
              <a:lnSpc>
                <a:spcPct val="90000"/>
              </a:lnSpc>
              <a:spcBef>
                <a:spcPts val="1000"/>
              </a:spcBef>
              <a:spcAft>
                <a:spcPts val="0"/>
              </a:spcAft>
              <a:buFont typeface="Arial" pitchFamily="34" charset="0"/>
              <a:buChar char="•"/>
              <a:defRPr/>
            </a:pPr>
            <a:r>
              <a:rPr lang="en-US" sz="2000">
                <a:solidFill>
                  <a:srgbClr val="221F20"/>
                </a:solidFill>
              </a:rPr>
              <a:t>Large Business offerors </a:t>
            </a:r>
            <a:r>
              <a:rPr lang="en-US" sz="2000" u="sng">
                <a:solidFill>
                  <a:srgbClr val="221F20"/>
                </a:solidFill>
              </a:rPr>
              <a:t>must</a:t>
            </a:r>
            <a:r>
              <a:rPr lang="en-US" sz="2000">
                <a:solidFill>
                  <a:srgbClr val="221F20"/>
                </a:solidFill>
              </a:rPr>
              <a:t> submit a Small Business Subcontracting Plan</a:t>
            </a:r>
          </a:p>
          <a:p>
            <a:pPr marL="857250" lvl="1" indent="-342900" fontAlgn="auto">
              <a:spcBef>
                <a:spcPts val="500"/>
              </a:spcBef>
              <a:spcAft>
                <a:spcPts val="0"/>
              </a:spcAft>
              <a:buFont typeface="Arial" pitchFamily="34" charset="0"/>
              <a:buChar char="•"/>
              <a:defRPr/>
            </a:pPr>
            <a:r>
              <a:rPr lang="en-US" sz="2000">
                <a:solidFill>
                  <a:srgbClr val="221F20"/>
                </a:solidFill>
              </a:rPr>
              <a:t>Mandated by FAR 19.702</a:t>
            </a:r>
          </a:p>
          <a:p>
            <a:pPr marL="857250" lvl="1" indent="-342900" fontAlgn="auto">
              <a:spcBef>
                <a:spcPts val="500"/>
              </a:spcBef>
              <a:spcAft>
                <a:spcPts val="0"/>
              </a:spcAft>
              <a:buFont typeface="Arial" pitchFamily="34" charset="0"/>
              <a:buChar char="•"/>
              <a:defRPr/>
            </a:pPr>
            <a:r>
              <a:rPr lang="en-US" sz="2000">
                <a:solidFill>
                  <a:srgbClr val="221F20"/>
                </a:solidFill>
              </a:rPr>
              <a:t>This is not a rated element as a part of the Source Selection process but the offeror shall submit an acceptable plan </a:t>
            </a:r>
            <a:r>
              <a:rPr lang="en-US" sz="2000" b="1">
                <a:solidFill>
                  <a:srgbClr val="221F20"/>
                </a:solidFill>
              </a:rPr>
              <a:t>prior</a:t>
            </a:r>
            <a:r>
              <a:rPr lang="en-US" sz="2000">
                <a:solidFill>
                  <a:srgbClr val="221F20"/>
                </a:solidFill>
              </a:rPr>
              <a:t> to award </a:t>
            </a:r>
          </a:p>
          <a:p>
            <a:pPr marL="857250" lvl="1" indent="-342900" fontAlgn="auto">
              <a:spcBef>
                <a:spcPts val="500"/>
              </a:spcBef>
              <a:spcAft>
                <a:spcPts val="0"/>
              </a:spcAft>
              <a:buFont typeface="Arial" pitchFamily="34" charset="0"/>
              <a:buChar char="•"/>
              <a:defRPr/>
            </a:pPr>
            <a:r>
              <a:rPr lang="en-US" sz="2000">
                <a:solidFill>
                  <a:srgbClr val="221F20"/>
                </a:solidFill>
              </a:rPr>
              <a:t>The subcontracting plan is based on </a:t>
            </a:r>
            <a:r>
              <a:rPr lang="en-US" sz="2000" u="sng">
                <a:solidFill>
                  <a:srgbClr val="221F20"/>
                </a:solidFill>
              </a:rPr>
              <a:t>total subcontracted dollars</a:t>
            </a:r>
          </a:p>
          <a:p>
            <a:pPr marL="857250" lvl="1" indent="-342900" fontAlgn="auto">
              <a:spcBef>
                <a:spcPts val="500"/>
              </a:spcBef>
              <a:spcAft>
                <a:spcPts val="0"/>
              </a:spcAft>
              <a:buFont typeface="Arial" pitchFamily="34" charset="0"/>
              <a:buChar char="•"/>
              <a:defRPr/>
            </a:pPr>
            <a:r>
              <a:rPr lang="en-US" sz="2000">
                <a:solidFill>
                  <a:srgbClr val="221F20"/>
                </a:solidFill>
              </a:rPr>
              <a:t>Failure to comply in good faith is in material breach of the contract</a:t>
            </a:r>
          </a:p>
          <a:p>
            <a:pPr marL="857250" lvl="1" indent="-342900" fontAlgn="auto">
              <a:spcBef>
                <a:spcPts val="500"/>
              </a:spcBef>
              <a:spcAft>
                <a:spcPts val="0"/>
              </a:spcAft>
              <a:buFont typeface="Arial" pitchFamily="34" charset="0"/>
              <a:buChar char="•"/>
            </a:pPr>
            <a:endParaRPr lang="en-US" dirty="0">
              <a:solidFill>
                <a:schemeClr val="tx1"/>
              </a:solidFill>
              <a:ea typeface="+mn-ea"/>
            </a:endParaRPr>
          </a:p>
        </p:txBody>
      </p:sp>
    </p:spTree>
    <p:extLst>
      <p:ext uri="{BB962C8B-B14F-4D97-AF65-F5344CB8AC3E}">
        <p14:creationId xmlns:p14="http://schemas.microsoft.com/office/powerpoint/2010/main" val="10075307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dirty="0"/>
              <a:t>Obtain information</a:t>
            </a:r>
          </a:p>
        </p:txBody>
      </p:sp>
      <p:sp>
        <p:nvSpPr>
          <p:cNvPr id="3" name="TextBox 2">
            <a:extLst>
              <a:ext uri="{FF2B5EF4-FFF2-40B4-BE49-F238E27FC236}">
                <a16:creationId xmlns:a16="http://schemas.microsoft.com/office/drawing/2014/main" id="{4A747069-6F49-53E4-4E00-543F66FA61F6}"/>
              </a:ext>
            </a:extLst>
          </p:cNvPr>
          <p:cNvSpPr txBox="1"/>
          <p:nvPr/>
        </p:nvSpPr>
        <p:spPr>
          <a:xfrm>
            <a:off x="686475" y="1101611"/>
            <a:ext cx="10910596" cy="4739759"/>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mj-lt"/>
              </a:rPr>
              <a:t>Attend Site Visits, Pre-Proposal Conferences, &amp; Industry Days</a:t>
            </a:r>
          </a:p>
          <a:p>
            <a:pPr marL="800100" lvl="1" indent="-342900">
              <a:buFont typeface="Arial" panose="020B0604020202020204" pitchFamily="34" charset="0"/>
              <a:buChar char="•"/>
            </a:pPr>
            <a:r>
              <a:rPr lang="en-US" sz="2000" dirty="0">
                <a:latin typeface="+mj-lt"/>
              </a:rPr>
              <a:t>Obtain copies of attendee roster for subcontracting opportunities</a:t>
            </a:r>
          </a:p>
          <a:p>
            <a:pPr marL="342900" indent="-342900">
              <a:buFont typeface="Arial" panose="020B0604020202020204" pitchFamily="34" charset="0"/>
              <a:buChar char="•"/>
            </a:pPr>
            <a:endParaRPr lang="en-US" sz="2400" dirty="0">
              <a:latin typeface="+mj-lt"/>
            </a:endParaRPr>
          </a:p>
          <a:p>
            <a:pPr marL="342900" indent="-342900">
              <a:buFont typeface="Arial" panose="020B0604020202020204" pitchFamily="34" charset="0"/>
              <a:buChar char="•"/>
            </a:pPr>
            <a:r>
              <a:rPr lang="en-US" sz="2400" dirty="0">
                <a:latin typeface="+mj-lt"/>
              </a:rPr>
              <a:t>Register as an Interested Vendor on SAM</a:t>
            </a:r>
          </a:p>
          <a:p>
            <a:pPr marL="342900" indent="-342900">
              <a:buFont typeface="Arial" panose="020B0604020202020204" pitchFamily="34" charset="0"/>
              <a:buChar char="•"/>
            </a:pPr>
            <a:endParaRPr lang="en-US" sz="2400" dirty="0">
              <a:latin typeface="+mj-lt"/>
            </a:endParaRPr>
          </a:p>
          <a:p>
            <a:pPr marL="342900" indent="-342900">
              <a:buFont typeface="Arial" panose="020B0604020202020204" pitchFamily="34" charset="0"/>
              <a:buChar char="•"/>
            </a:pPr>
            <a:r>
              <a:rPr lang="en-US" sz="2400" dirty="0">
                <a:latin typeface="+mj-lt"/>
              </a:rPr>
              <a:t>Attend Workshops and Conferences</a:t>
            </a:r>
          </a:p>
          <a:p>
            <a:pPr marL="342900" indent="-342900">
              <a:buFont typeface="Arial" panose="020B0604020202020204" pitchFamily="34" charset="0"/>
              <a:buChar char="•"/>
            </a:pPr>
            <a:endParaRPr lang="en-US" sz="2400" dirty="0">
              <a:latin typeface="+mj-lt"/>
            </a:endParaRPr>
          </a:p>
          <a:p>
            <a:pPr marL="342900" indent="-342900">
              <a:buFont typeface="Arial" panose="020B0604020202020204" pitchFamily="34" charset="0"/>
              <a:buChar char="•"/>
            </a:pPr>
            <a:r>
              <a:rPr lang="en-US" sz="2400" dirty="0">
                <a:latin typeface="+mj-lt"/>
              </a:rPr>
              <a:t>Louisville District Networking: </a:t>
            </a:r>
            <a:r>
              <a:rPr lang="en-US" sz="2400" b="1" i="1" dirty="0">
                <a:latin typeface="+mj-lt"/>
              </a:rPr>
              <a:t>Tentatively</a:t>
            </a:r>
            <a:r>
              <a:rPr lang="en-US" sz="2400" i="1" dirty="0">
                <a:latin typeface="+mj-lt"/>
              </a:rPr>
              <a:t> 29 July 2025</a:t>
            </a:r>
          </a:p>
          <a:p>
            <a:pPr marL="342900" indent="-342900">
              <a:buFont typeface="Arial" panose="020B0604020202020204" pitchFamily="34" charset="0"/>
              <a:buChar char="•"/>
            </a:pPr>
            <a:endParaRPr lang="en-US" sz="2400" dirty="0">
              <a:latin typeface="+mj-lt"/>
            </a:endParaRPr>
          </a:p>
          <a:p>
            <a:pPr marL="342900" indent="-342900">
              <a:buFont typeface="Arial" panose="020B0604020202020204" pitchFamily="34" charset="0"/>
              <a:buChar char="•"/>
            </a:pPr>
            <a:r>
              <a:rPr lang="en-US" sz="2400" dirty="0">
                <a:latin typeface="+mj-lt"/>
              </a:rPr>
              <a:t>Construction &amp; IDIQ Forecast is maintained on the Business with Us page of the Great Lakes and Ohio River Division website, </a:t>
            </a:r>
            <a:r>
              <a:rPr lang="en-US" sz="2400" dirty="0">
                <a:latin typeface="+mj-lt"/>
                <a:hlinkClick r:id="rId2"/>
              </a:rPr>
              <a:t>https://www.lrd.usace.army.mil/Opportunity-Forecast/</a:t>
            </a:r>
            <a:r>
              <a:rPr lang="en-US" sz="2400" dirty="0">
                <a:latin typeface="+mj-lt"/>
              </a:rPr>
              <a:t> </a:t>
            </a:r>
          </a:p>
          <a:p>
            <a:pPr lvl="1"/>
            <a:endParaRPr lang="en-US" kern="0" dirty="0">
              <a:solidFill>
                <a:srgbClr val="FF0000"/>
              </a:solidFill>
              <a:latin typeface="Arial"/>
              <a:ea typeface="ＭＳ Ｐゴシック" pitchFamily="-110" charset="-128"/>
              <a:cs typeface="Times New Roman" pitchFamily="18" charset="0"/>
            </a:endParaRPr>
          </a:p>
        </p:txBody>
      </p:sp>
    </p:spTree>
    <p:extLst>
      <p:ext uri="{BB962C8B-B14F-4D97-AF65-F5344CB8AC3E}">
        <p14:creationId xmlns:p14="http://schemas.microsoft.com/office/powerpoint/2010/main" val="36753566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dirty="0"/>
              <a:t>opportunities</a:t>
            </a:r>
          </a:p>
        </p:txBody>
      </p:sp>
      <p:sp>
        <p:nvSpPr>
          <p:cNvPr id="3" name="TextBox 2">
            <a:extLst>
              <a:ext uri="{FF2B5EF4-FFF2-40B4-BE49-F238E27FC236}">
                <a16:creationId xmlns:a16="http://schemas.microsoft.com/office/drawing/2014/main" id="{36F6DB4A-E0E9-08C7-F083-BA0F8DFF8138}"/>
              </a:ext>
            </a:extLst>
          </p:cNvPr>
          <p:cNvSpPr txBox="1"/>
          <p:nvPr/>
        </p:nvSpPr>
        <p:spPr>
          <a:xfrm>
            <a:off x="254493" y="1491281"/>
            <a:ext cx="11683014" cy="3416320"/>
          </a:xfrm>
          <a:prstGeom prst="rect">
            <a:avLst/>
          </a:prstGeom>
          <a:noFill/>
        </p:spPr>
        <p:txBody>
          <a:bodyPr wrap="square" rtlCol="0">
            <a:spAutoFit/>
          </a:bodyPr>
          <a:lstStyle/>
          <a:p>
            <a:pPr marL="342900" indent="-342900">
              <a:buFont typeface="Arial" panose="020B0604020202020204" pitchFamily="34" charset="0"/>
              <a:buChar char="•"/>
            </a:pPr>
            <a:r>
              <a:rPr lang="en-US" sz="2400" dirty="0"/>
              <a:t>We anticipate executing approximately $1.3B in FY25 through both small and large businesses.</a:t>
            </a:r>
          </a:p>
          <a:p>
            <a:pPr marL="342900" indent="-342900">
              <a:buFont typeface="Arial" panose="020B0604020202020204" pitchFamily="34" charset="0"/>
              <a:buChar char="•"/>
            </a:pPr>
            <a:endParaRPr lang="en-US" sz="2400" dirty="0">
              <a:cs typeface="Times New Roman" pitchFamily="18" charset="0"/>
            </a:endParaRPr>
          </a:p>
          <a:p>
            <a:pPr marL="342900" indent="-342900">
              <a:buFont typeface="Arial" panose="020B0604020202020204" pitchFamily="34" charset="0"/>
              <a:buChar char="•"/>
            </a:pPr>
            <a:r>
              <a:rPr lang="en-US" sz="2400" dirty="0">
                <a:cs typeface="Times New Roman" pitchFamily="18" charset="0"/>
              </a:rPr>
              <a:t>Contracting opportunities are posted in the System for Award Management (SAM) website at </a:t>
            </a:r>
            <a:r>
              <a:rPr lang="en-US" sz="2400" dirty="0">
                <a:cs typeface="Times New Roman" pitchFamily="18" charset="0"/>
                <a:hlinkClick r:id="rId2"/>
              </a:rPr>
              <a:t>www.sam.gov</a:t>
            </a:r>
            <a:r>
              <a:rPr lang="en-US" sz="2400" dirty="0">
                <a:cs typeface="Times New Roman" pitchFamily="18" charset="0"/>
              </a:rPr>
              <a:t>. Use “W912QR” to search for Louisville District projects.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Actively Respond to Sources Sought Notices (Market Surveys) posted to SAM</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Actively Respond to Competitive Requirements posted to SAM</a:t>
            </a:r>
            <a:endParaRPr lang="en-US" sz="2000" dirty="0"/>
          </a:p>
        </p:txBody>
      </p:sp>
    </p:spTree>
    <p:extLst>
      <p:ext uri="{BB962C8B-B14F-4D97-AF65-F5344CB8AC3E}">
        <p14:creationId xmlns:p14="http://schemas.microsoft.com/office/powerpoint/2010/main" val="18997810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A0DB522-41F8-04CF-CACE-8047203C6443}"/>
              </a:ext>
            </a:extLst>
          </p:cNvPr>
          <p:cNvSpPr>
            <a:spLocks noGrp="1"/>
          </p:cNvSpPr>
          <p:nvPr>
            <p:ph type="title"/>
          </p:nvPr>
        </p:nvSpPr>
        <p:spPr/>
        <p:txBody>
          <a:bodyPr/>
          <a:lstStyle/>
          <a:p>
            <a:pPr algn="ctr"/>
            <a:r>
              <a:rPr lang="en-US" sz="3200" dirty="0">
                <a:solidFill>
                  <a:schemeClr val="tx1"/>
                </a:solidFill>
              </a:rPr>
              <a:t>New Cumberland Arc Overview</a:t>
            </a:r>
            <a:endParaRPr lang="en-US" dirty="0"/>
          </a:p>
        </p:txBody>
      </p:sp>
      <p:sp>
        <p:nvSpPr>
          <p:cNvPr id="3" name="Content Placeholder 7">
            <a:extLst>
              <a:ext uri="{FF2B5EF4-FFF2-40B4-BE49-F238E27FC236}">
                <a16:creationId xmlns:a16="http://schemas.microsoft.com/office/drawing/2014/main" id="{ED2F7FE1-2B9A-0E05-C7EE-5B8020025526}"/>
              </a:ext>
            </a:extLst>
          </p:cNvPr>
          <p:cNvSpPr txBox="1">
            <a:spLocks/>
          </p:cNvSpPr>
          <p:nvPr/>
        </p:nvSpPr>
        <p:spPr bwMode="auto">
          <a:xfrm>
            <a:off x="2685360" y="1542468"/>
            <a:ext cx="3485408" cy="306448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1" fontAlgn="base" hangingPunct="1">
              <a:spcBef>
                <a:spcPts val="0"/>
              </a:spcBef>
              <a:spcAft>
                <a:spcPct val="0"/>
              </a:spcAft>
              <a:buFont typeface="Arial" pitchFamily="34" charset="0"/>
              <a:defRPr sz="1200" kern="1200">
                <a:solidFill>
                  <a:schemeClr val="tx1">
                    <a:lumMod val="75000"/>
                    <a:lumOff val="25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1200" kern="1200">
                <a:solidFill>
                  <a:schemeClr val="tx1">
                    <a:lumMod val="75000"/>
                    <a:lumOff val="25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200" kern="1200">
                <a:solidFill>
                  <a:schemeClr val="tx1">
                    <a:lumMod val="75000"/>
                    <a:lumOff val="25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200" kern="1200">
                <a:solidFill>
                  <a:schemeClr val="tx1">
                    <a:lumMod val="75000"/>
                    <a:lumOff val="25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200" kern="1200">
                <a:solidFill>
                  <a:schemeClr val="tx1">
                    <a:lumMod val="75000"/>
                    <a:lumOff val="25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a:lstStyle>
          <a:p>
            <a:pPr algn="ctr"/>
            <a:endParaRPr lang="en-US" dirty="0"/>
          </a:p>
          <a:p>
            <a:pPr algn="ctr"/>
            <a:endParaRPr lang="en-US" dirty="0"/>
          </a:p>
          <a:p>
            <a:pPr algn="ctr"/>
            <a:endParaRPr lang="en-US" dirty="0"/>
          </a:p>
          <a:p>
            <a:pPr algn="ctr"/>
            <a:endParaRPr lang="en-US" dirty="0"/>
          </a:p>
          <a:p>
            <a:pPr algn="ctr"/>
            <a:endParaRPr lang="en-US" dirty="0"/>
          </a:p>
          <a:p>
            <a:pPr algn="ctr"/>
            <a:endParaRPr lang="en-US" sz="2800" b="1" dirty="0">
              <a:latin typeface="Calibri" panose="020F0502020204030204" pitchFamily="34" charset="0"/>
              <a:cs typeface="Calibri" panose="020F0502020204030204" pitchFamily="34" charset="0"/>
            </a:endParaRPr>
          </a:p>
          <a:p>
            <a:pPr algn="ctr"/>
            <a:endParaRPr lang="en-US" sz="2800" b="1" dirty="0">
              <a:latin typeface="Calibri" panose="020F0502020204030204" pitchFamily="34" charset="0"/>
              <a:cs typeface="Calibri" panose="020F0502020204030204" pitchFamily="34" charset="0"/>
            </a:endParaRPr>
          </a:p>
          <a:p>
            <a:pPr algn="ctr"/>
            <a:r>
              <a:rPr lang="en-US" sz="2800" b="1" dirty="0">
                <a:latin typeface="Calibri" panose="020F0502020204030204" pitchFamily="34" charset="0"/>
                <a:cs typeface="Calibri" panose="020F0502020204030204" pitchFamily="34" charset="0"/>
              </a:rPr>
              <a:t>Jonathan Cowen</a:t>
            </a:r>
          </a:p>
          <a:p>
            <a:pPr algn="ctr"/>
            <a:r>
              <a:rPr lang="en-US" sz="2800" dirty="0">
                <a:latin typeface="Calibri" panose="020F0502020204030204" pitchFamily="34" charset="0"/>
                <a:cs typeface="Calibri" panose="020F0502020204030204" pitchFamily="34" charset="0"/>
              </a:rPr>
              <a:t>Project Manager</a:t>
            </a:r>
          </a:p>
        </p:txBody>
      </p:sp>
      <p:sp>
        <p:nvSpPr>
          <p:cNvPr id="5" name="Content Placeholder 7">
            <a:extLst>
              <a:ext uri="{FF2B5EF4-FFF2-40B4-BE49-F238E27FC236}">
                <a16:creationId xmlns:a16="http://schemas.microsoft.com/office/drawing/2014/main" id="{13BE599C-06C8-706F-8DC3-A02E71078EB5}"/>
              </a:ext>
            </a:extLst>
          </p:cNvPr>
          <p:cNvSpPr txBox="1">
            <a:spLocks/>
          </p:cNvSpPr>
          <p:nvPr/>
        </p:nvSpPr>
        <p:spPr bwMode="auto">
          <a:xfrm>
            <a:off x="6025297" y="1559591"/>
            <a:ext cx="3485408" cy="31980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1" fontAlgn="base" hangingPunct="1">
              <a:spcBef>
                <a:spcPts val="0"/>
              </a:spcBef>
              <a:spcAft>
                <a:spcPct val="0"/>
              </a:spcAft>
              <a:buFont typeface="Arial" pitchFamily="34" charset="0"/>
              <a:defRPr sz="1200" kern="1200">
                <a:solidFill>
                  <a:schemeClr val="tx1">
                    <a:lumMod val="75000"/>
                    <a:lumOff val="25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1200" kern="1200">
                <a:solidFill>
                  <a:schemeClr val="tx1">
                    <a:lumMod val="75000"/>
                    <a:lumOff val="25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200" kern="1200">
                <a:solidFill>
                  <a:schemeClr val="tx1">
                    <a:lumMod val="75000"/>
                    <a:lumOff val="25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200" kern="1200">
                <a:solidFill>
                  <a:schemeClr val="tx1">
                    <a:lumMod val="75000"/>
                    <a:lumOff val="25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200" kern="1200">
                <a:solidFill>
                  <a:schemeClr val="tx1">
                    <a:lumMod val="75000"/>
                    <a:lumOff val="25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a:lstStyle>
          <a:p>
            <a:pPr algn="ctr"/>
            <a:endParaRPr lang="en-US" dirty="0"/>
          </a:p>
          <a:p>
            <a:pPr algn="ctr"/>
            <a:endParaRPr lang="en-US" dirty="0"/>
          </a:p>
          <a:p>
            <a:pPr algn="ctr"/>
            <a:endParaRPr lang="en-US" dirty="0"/>
          </a:p>
          <a:p>
            <a:pPr algn="ctr"/>
            <a:endParaRPr lang="en-US" dirty="0"/>
          </a:p>
          <a:p>
            <a:pPr algn="ctr"/>
            <a:endParaRPr lang="en-US" dirty="0"/>
          </a:p>
          <a:p>
            <a:pPr algn="ctr"/>
            <a:endParaRPr lang="en-US" sz="2800" b="1" dirty="0">
              <a:latin typeface="Calibri" panose="020F0502020204030204" pitchFamily="34" charset="0"/>
              <a:cs typeface="Calibri" panose="020F0502020204030204" pitchFamily="34" charset="0"/>
            </a:endParaRPr>
          </a:p>
          <a:p>
            <a:pPr algn="ctr"/>
            <a:endParaRPr lang="en-US" sz="2800" b="1" dirty="0">
              <a:latin typeface="Calibri" panose="020F0502020204030204" pitchFamily="34" charset="0"/>
              <a:cs typeface="Calibri" panose="020F0502020204030204" pitchFamily="34" charset="0"/>
            </a:endParaRPr>
          </a:p>
          <a:p>
            <a:pPr algn="ctr"/>
            <a:r>
              <a:rPr lang="en-US" sz="2800" b="1" dirty="0">
                <a:solidFill>
                  <a:schemeClr val="tx1"/>
                </a:solidFill>
                <a:latin typeface="Calibri" panose="020F0502020204030204" pitchFamily="34" charset="0"/>
                <a:cs typeface="Calibri" panose="020F0502020204030204" pitchFamily="34" charset="0"/>
              </a:rPr>
              <a:t>Felix Carrion-Viera </a:t>
            </a:r>
            <a:r>
              <a:rPr lang="en-US" sz="2800" dirty="0">
                <a:latin typeface="Calibri" panose="020F0502020204030204" pitchFamily="34" charset="0"/>
                <a:cs typeface="Calibri" panose="020F0502020204030204" pitchFamily="34" charset="0"/>
              </a:rPr>
              <a:t>Project Engineer</a:t>
            </a:r>
          </a:p>
        </p:txBody>
      </p:sp>
      <p:sp>
        <p:nvSpPr>
          <p:cNvPr id="6" name="TextBox 5">
            <a:extLst>
              <a:ext uri="{FF2B5EF4-FFF2-40B4-BE49-F238E27FC236}">
                <a16:creationId xmlns:a16="http://schemas.microsoft.com/office/drawing/2014/main" id="{B6531F95-CDE3-0B7F-DC3A-AA118B1CBB21}"/>
              </a:ext>
            </a:extLst>
          </p:cNvPr>
          <p:cNvSpPr txBox="1"/>
          <p:nvPr/>
        </p:nvSpPr>
        <p:spPr>
          <a:xfrm>
            <a:off x="1013359" y="5120720"/>
            <a:ext cx="10165282" cy="523220"/>
          </a:xfrm>
          <a:prstGeom prst="rect">
            <a:avLst/>
          </a:prstGeom>
          <a:noFill/>
        </p:spPr>
        <p:txBody>
          <a:bodyPr wrap="square" rtlCol="0">
            <a:spAutoFit/>
          </a:bodyPr>
          <a:lstStyle/>
          <a:p>
            <a:pPr algn="ctr"/>
            <a:r>
              <a:rPr lang="en-US" sz="2800" dirty="0">
                <a:latin typeface="Calibri" panose="020F0502020204030204" pitchFamily="34" charset="0"/>
                <a:cs typeface="Calibri" panose="020F0502020204030204" pitchFamily="34" charset="0"/>
              </a:rPr>
              <a:t>U.S. Army Corps of Engineers - Louisville District</a:t>
            </a:r>
            <a:endParaRPr lang="en-US" sz="2800" dirty="0"/>
          </a:p>
        </p:txBody>
      </p:sp>
    </p:spTree>
    <p:extLst>
      <p:ext uri="{BB962C8B-B14F-4D97-AF65-F5344CB8AC3E}">
        <p14:creationId xmlns:p14="http://schemas.microsoft.com/office/powerpoint/2010/main" val="14588659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D76C740C-D604-0BD8-4FCD-EB5245FDF218}"/>
              </a:ext>
            </a:extLst>
          </p:cNvPr>
          <p:cNvSpPr>
            <a:spLocks noGrp="1"/>
          </p:cNvSpPr>
          <p:nvPr>
            <p:ph sz="quarter" idx="15"/>
          </p:nvPr>
        </p:nvSpPr>
        <p:spPr>
          <a:xfrm>
            <a:off x="266700" y="1028700"/>
            <a:ext cx="5937194" cy="5600700"/>
          </a:xfrm>
        </p:spPr>
        <p:txBody>
          <a:bodyPr/>
          <a:lstStyle/>
          <a:p>
            <a:r>
              <a:rPr lang="en-US" sz="2000" b="1" dirty="0">
                <a:solidFill>
                  <a:schemeClr val="tx1"/>
                </a:solidFill>
                <a:latin typeface="Calibri" panose="020F0502020204030204" pitchFamily="34" charset="0"/>
                <a:cs typeface="Calibri" panose="020F0502020204030204" pitchFamily="34" charset="0"/>
              </a:rPr>
              <a:t>Project Information:</a:t>
            </a:r>
          </a:p>
          <a:p>
            <a:endParaRPr lang="en-US" sz="1100" dirty="0">
              <a:solidFill>
                <a:schemeClr val="tx1"/>
              </a:solidFill>
              <a:latin typeface="Calibri" panose="020F0502020204030204" pitchFamily="34" charset="0"/>
              <a:cs typeface="Calibri" panose="020F0502020204030204" pitchFamily="34" charset="0"/>
            </a:endParaRPr>
          </a:p>
          <a:p>
            <a:r>
              <a:rPr lang="en-US" sz="1600" u="sng" dirty="0">
                <a:solidFill>
                  <a:schemeClr val="tx1"/>
                </a:solidFill>
                <a:latin typeface="Calibri" panose="020F0502020204030204" pitchFamily="34" charset="0"/>
                <a:cs typeface="Calibri" panose="020F0502020204030204" pitchFamily="34" charset="0"/>
              </a:rPr>
              <a:t>Description-</a:t>
            </a:r>
            <a:r>
              <a:rPr lang="en-US" sz="1600" dirty="0">
                <a:solidFill>
                  <a:schemeClr val="tx1"/>
                </a:solidFill>
                <a:latin typeface="Calibri" panose="020F0502020204030204" pitchFamily="34" charset="0"/>
                <a:cs typeface="Calibri" panose="020F0502020204030204" pitchFamily="34" charset="0"/>
              </a:rPr>
              <a:t>This project will repair an existing 28,989 square feet Army Reserve Center, Training Building 315, that is in a failed or failing condition. Constructed in July 1992, building 315 provides mission essential functional areas in support of USAR units.  The repairs will provide the necessary operational building functional areas for the training and mission support of these commands.  The mechanical, plumbing and electrical systems are beyond serviceable life. A</a:t>
            </a:r>
          </a:p>
          <a:p>
            <a:r>
              <a:rPr lang="en-US" sz="1600" dirty="0">
                <a:solidFill>
                  <a:schemeClr val="tx1"/>
                </a:solidFill>
                <a:latin typeface="Calibri" panose="020F0502020204030204" pitchFamily="34" charset="0"/>
                <a:cs typeface="Calibri" panose="020F0502020204030204" pitchFamily="34" charset="0"/>
              </a:rPr>
              <a:t>technical review will be conducted, work classification verified, and other facility alternatives were visited but the most expedient and best option was to repair the listed facility.  This project is required right now, because the present condition of the facility has extensive Life Safety issues and inadequate power and cooling which has a</a:t>
            </a:r>
          </a:p>
          <a:p>
            <a:r>
              <a:rPr lang="en-US" sz="1600" dirty="0">
                <a:solidFill>
                  <a:schemeClr val="tx1"/>
                </a:solidFill>
                <a:latin typeface="Calibri" panose="020F0502020204030204" pitchFamily="34" charset="0"/>
                <a:cs typeface="Calibri" panose="020F0502020204030204" pitchFamily="34" charset="0"/>
              </a:rPr>
              <a:t>negative impact on the operations mission and the health of Soldiers.</a:t>
            </a:r>
          </a:p>
          <a:p>
            <a:endParaRPr lang="en-US" sz="2000" u="sng" dirty="0">
              <a:solidFill>
                <a:srgbClr val="FF0000"/>
              </a:solidFill>
              <a:latin typeface="Calibri" panose="020F0502020204030204" pitchFamily="34" charset="0"/>
              <a:cs typeface="Calibri" panose="020F0502020204030204" pitchFamily="34" charset="0"/>
            </a:endParaRPr>
          </a:p>
          <a:p>
            <a:r>
              <a:rPr lang="en-US" sz="2000" u="sng" dirty="0">
                <a:solidFill>
                  <a:schemeClr val="tx1"/>
                </a:solidFill>
                <a:latin typeface="Calibri" panose="020F0502020204030204" pitchFamily="34" charset="0"/>
                <a:cs typeface="Calibri" panose="020F0502020204030204" pitchFamily="34" charset="0"/>
              </a:rPr>
              <a:t>Project Delivery Method </a:t>
            </a:r>
            <a:r>
              <a:rPr lang="en-US" sz="2000" dirty="0">
                <a:solidFill>
                  <a:schemeClr val="tx1"/>
                </a:solidFill>
                <a:latin typeface="Calibri" panose="020F0502020204030204" pitchFamily="34" charset="0"/>
                <a:cs typeface="Calibri" panose="020F0502020204030204" pitchFamily="34" charset="0"/>
              </a:rPr>
              <a:t>- Design/Bid/Build</a:t>
            </a:r>
            <a:endParaRPr lang="en-US" sz="1600" dirty="0">
              <a:solidFill>
                <a:schemeClr val="tx1"/>
              </a:solidFill>
              <a:latin typeface="Calibri" panose="020F0502020204030204" pitchFamily="34" charset="0"/>
              <a:cs typeface="Calibri" panose="020F0502020204030204" pitchFamily="34" charset="0"/>
            </a:endParaRPr>
          </a:p>
          <a:p>
            <a:r>
              <a:rPr lang="en-US" sz="2000" u="sng" dirty="0">
                <a:solidFill>
                  <a:schemeClr val="tx1"/>
                </a:solidFill>
                <a:latin typeface="Calibri" panose="020F0502020204030204" pitchFamily="34" charset="0"/>
                <a:cs typeface="Calibri" panose="020F0502020204030204" pitchFamily="34" charset="0"/>
              </a:rPr>
              <a:t>Procurement Method</a:t>
            </a:r>
            <a:r>
              <a:rPr lang="en-US" sz="2000" dirty="0">
                <a:solidFill>
                  <a:schemeClr val="tx1"/>
                </a:solidFill>
                <a:latin typeface="Calibri" panose="020F0502020204030204" pitchFamily="34" charset="0"/>
                <a:cs typeface="Calibri" panose="020F0502020204030204" pitchFamily="34" charset="0"/>
              </a:rPr>
              <a:t>- Best Value Trade Off SSEB</a:t>
            </a:r>
            <a:endParaRPr lang="en-US" sz="1600" dirty="0">
              <a:solidFill>
                <a:schemeClr val="tx1"/>
              </a:solidFill>
              <a:latin typeface="Calibri" panose="020F0502020204030204" pitchFamily="34" charset="0"/>
              <a:cs typeface="Calibri" panose="020F0502020204030204" pitchFamily="34" charset="0"/>
            </a:endParaRPr>
          </a:p>
          <a:p>
            <a:r>
              <a:rPr lang="en-US" sz="2000" u="sng" dirty="0">
                <a:solidFill>
                  <a:schemeClr val="tx1"/>
                </a:solidFill>
                <a:latin typeface="Calibri" panose="020F0502020204030204" pitchFamily="34" charset="0"/>
                <a:cs typeface="Calibri" panose="020F0502020204030204" pitchFamily="34" charset="0"/>
              </a:rPr>
              <a:t>Estimated Construction Duration</a:t>
            </a:r>
            <a:r>
              <a:rPr lang="en-US" sz="2000" dirty="0">
                <a:solidFill>
                  <a:schemeClr val="tx1"/>
                </a:solidFill>
                <a:latin typeface="Calibri" panose="020F0502020204030204" pitchFamily="34" charset="0"/>
                <a:cs typeface="Calibri" panose="020F0502020204030204" pitchFamily="34" charset="0"/>
              </a:rPr>
              <a:t> -  1100 days</a:t>
            </a:r>
          </a:p>
          <a:p>
            <a:r>
              <a:rPr lang="en-US" sz="2000" u="sng" dirty="0">
                <a:solidFill>
                  <a:schemeClr val="tx1"/>
                </a:solidFill>
                <a:latin typeface="Calibri" panose="020F0502020204030204" pitchFamily="34" charset="0"/>
                <a:cs typeface="Calibri" panose="020F0502020204030204" pitchFamily="34" charset="0"/>
              </a:rPr>
              <a:t>Stakeholder</a:t>
            </a:r>
            <a:r>
              <a:rPr lang="en-US" sz="2000" dirty="0">
                <a:solidFill>
                  <a:schemeClr val="tx1"/>
                </a:solidFill>
                <a:latin typeface="Calibri" panose="020F0502020204030204" pitchFamily="34" charset="0"/>
                <a:cs typeface="Calibri" panose="020F0502020204030204" pitchFamily="34" charset="0"/>
              </a:rPr>
              <a:t>- 99th  Readiness Division and ARIMD</a:t>
            </a:r>
          </a:p>
        </p:txBody>
      </p:sp>
      <p:sp>
        <p:nvSpPr>
          <p:cNvPr id="9" name="Content Placeholder 8">
            <a:extLst>
              <a:ext uri="{FF2B5EF4-FFF2-40B4-BE49-F238E27FC236}">
                <a16:creationId xmlns:a16="http://schemas.microsoft.com/office/drawing/2014/main" id="{40DFC35E-ACB6-59A4-FCEB-D1B8EF9994DE}"/>
              </a:ext>
            </a:extLst>
          </p:cNvPr>
          <p:cNvSpPr>
            <a:spLocks noGrp="1"/>
          </p:cNvSpPr>
          <p:nvPr>
            <p:ph sz="quarter" idx="19"/>
          </p:nvPr>
        </p:nvSpPr>
        <p:spPr>
          <a:xfrm>
            <a:off x="6203894" y="1028700"/>
            <a:ext cx="5721406" cy="5600700"/>
          </a:xfrm>
        </p:spPr>
        <p:txBody>
          <a:bodyPr/>
          <a:lstStyle/>
          <a:p>
            <a:r>
              <a:rPr lang="en-US" sz="2000" b="1" dirty="0">
                <a:solidFill>
                  <a:schemeClr val="tx1"/>
                </a:solidFill>
                <a:latin typeface="Calibri" panose="020F0502020204030204" pitchFamily="34" charset="0"/>
                <a:cs typeface="Calibri" panose="020F0502020204030204" pitchFamily="34" charset="0"/>
              </a:rPr>
              <a:t>Scheduled Milestones (</a:t>
            </a:r>
            <a:r>
              <a:rPr lang="en-US" sz="2000" b="1" u="sng" dirty="0">
                <a:solidFill>
                  <a:schemeClr val="tx1"/>
                </a:solidFill>
                <a:latin typeface="Calibri" panose="020F0502020204030204" pitchFamily="34" charset="0"/>
                <a:cs typeface="Calibri" panose="020F0502020204030204" pitchFamily="34" charset="0"/>
              </a:rPr>
              <a:t>estimates for planning</a:t>
            </a:r>
            <a:r>
              <a:rPr lang="en-US" sz="2000" b="1" dirty="0">
                <a:solidFill>
                  <a:schemeClr val="tx1"/>
                </a:solidFill>
                <a:latin typeface="Calibri" panose="020F0502020204030204" pitchFamily="34" charset="0"/>
                <a:cs typeface="Calibri" panose="020F0502020204030204" pitchFamily="34" charset="0"/>
              </a:rPr>
              <a:t>): </a:t>
            </a:r>
          </a:p>
          <a:p>
            <a:endParaRPr lang="en-US" sz="2000" dirty="0">
              <a:solidFill>
                <a:schemeClr val="tx1"/>
              </a:solidFill>
              <a:latin typeface="Calibri" panose="020F0502020204030204" pitchFamily="34" charset="0"/>
              <a:cs typeface="Calibri" panose="020F0502020204030204" pitchFamily="34" charset="0"/>
            </a:endParaRPr>
          </a:p>
          <a:p>
            <a:pPr marL="342900" indent="-342900">
              <a:lnSpc>
                <a:spcPct val="150000"/>
              </a:lnSpc>
              <a:buFont typeface="Arial" panose="020B0604020202020204" pitchFamily="34" charset="0"/>
              <a:buChar char="•"/>
            </a:pPr>
            <a:r>
              <a:rPr lang="en-US" sz="2000" u="sng" dirty="0">
                <a:solidFill>
                  <a:schemeClr val="tx1"/>
                </a:solidFill>
                <a:latin typeface="Calibri" panose="020F0502020204030204" pitchFamily="34" charset="0"/>
                <a:cs typeface="Calibri" panose="020F0502020204030204" pitchFamily="34" charset="0"/>
              </a:rPr>
              <a:t>Advertise Period </a:t>
            </a:r>
            <a:r>
              <a:rPr lang="en-US" sz="2000" dirty="0">
                <a:solidFill>
                  <a:schemeClr val="tx1"/>
                </a:solidFill>
                <a:latin typeface="Calibri" panose="020F0502020204030204" pitchFamily="34" charset="0"/>
                <a:cs typeface="Calibri" panose="020F0502020204030204" pitchFamily="34" charset="0"/>
              </a:rPr>
              <a:t> – JUN-JUL 2025</a:t>
            </a:r>
          </a:p>
          <a:p>
            <a:pPr marL="342900" indent="-342900">
              <a:lnSpc>
                <a:spcPct val="150000"/>
              </a:lnSpc>
              <a:buFont typeface="Arial" panose="020B0604020202020204" pitchFamily="34" charset="0"/>
              <a:buChar char="•"/>
            </a:pPr>
            <a:r>
              <a:rPr lang="en-US" sz="2000" u="sng" dirty="0">
                <a:solidFill>
                  <a:schemeClr val="tx1"/>
                </a:solidFill>
                <a:latin typeface="Calibri" panose="020F0502020204030204" pitchFamily="34" charset="0"/>
                <a:cs typeface="Calibri" panose="020F0502020204030204" pitchFamily="34" charset="0"/>
              </a:rPr>
              <a:t>Source Selection Evaluation Board </a:t>
            </a:r>
            <a:r>
              <a:rPr lang="en-US" sz="2000" dirty="0">
                <a:solidFill>
                  <a:schemeClr val="tx1"/>
                </a:solidFill>
                <a:latin typeface="Calibri" panose="020F0502020204030204" pitchFamily="34" charset="0"/>
                <a:cs typeface="Calibri" panose="020F0502020204030204" pitchFamily="34" charset="0"/>
              </a:rPr>
              <a:t>– JUL 2025</a:t>
            </a:r>
          </a:p>
          <a:p>
            <a:pPr marL="342900" indent="-342900">
              <a:lnSpc>
                <a:spcPct val="150000"/>
              </a:lnSpc>
              <a:buFont typeface="Arial" panose="020B0604020202020204" pitchFamily="34" charset="0"/>
              <a:buChar char="•"/>
            </a:pPr>
            <a:r>
              <a:rPr lang="en-US" sz="2000" u="sng" dirty="0">
                <a:solidFill>
                  <a:schemeClr val="tx1"/>
                </a:solidFill>
                <a:latin typeface="Calibri" panose="020F0502020204030204" pitchFamily="34" charset="0"/>
                <a:cs typeface="Calibri" panose="020F0502020204030204" pitchFamily="34" charset="0"/>
              </a:rPr>
              <a:t>Discussions (if needed) </a:t>
            </a:r>
            <a:r>
              <a:rPr lang="en-US" sz="2000" dirty="0">
                <a:solidFill>
                  <a:schemeClr val="tx1"/>
                </a:solidFill>
                <a:latin typeface="Calibri" panose="020F0502020204030204" pitchFamily="34" charset="0"/>
                <a:cs typeface="Calibri" panose="020F0502020204030204" pitchFamily="34" charset="0"/>
              </a:rPr>
              <a:t>– AUG 2025</a:t>
            </a:r>
          </a:p>
          <a:p>
            <a:pPr marL="342900" indent="-342900">
              <a:lnSpc>
                <a:spcPct val="150000"/>
              </a:lnSpc>
              <a:buFont typeface="Arial" panose="020B0604020202020204" pitchFamily="34" charset="0"/>
              <a:buChar char="•"/>
            </a:pPr>
            <a:r>
              <a:rPr lang="en-US" sz="2000" u="sng" dirty="0">
                <a:solidFill>
                  <a:schemeClr val="tx1"/>
                </a:solidFill>
                <a:latin typeface="Calibri" panose="020F0502020204030204" pitchFamily="34" charset="0"/>
                <a:cs typeface="Calibri" panose="020F0502020204030204" pitchFamily="34" charset="0"/>
              </a:rPr>
              <a:t>Contract Award </a:t>
            </a:r>
            <a:r>
              <a:rPr lang="en-US" sz="2000" dirty="0">
                <a:solidFill>
                  <a:schemeClr val="tx1"/>
                </a:solidFill>
                <a:latin typeface="Calibri" panose="020F0502020204030204" pitchFamily="34" charset="0"/>
                <a:cs typeface="Calibri" panose="020F0502020204030204" pitchFamily="34" charset="0"/>
              </a:rPr>
              <a:t>– AUG 2025</a:t>
            </a:r>
          </a:p>
          <a:p>
            <a:pPr marL="342900" indent="-342900">
              <a:lnSpc>
                <a:spcPct val="150000"/>
              </a:lnSpc>
              <a:buFont typeface="Arial" panose="020B0604020202020204" pitchFamily="34" charset="0"/>
              <a:buChar char="•"/>
            </a:pPr>
            <a:r>
              <a:rPr lang="en-US" sz="2000" u="sng" dirty="0">
                <a:solidFill>
                  <a:schemeClr val="tx1"/>
                </a:solidFill>
                <a:latin typeface="Calibri" panose="020F0502020204030204" pitchFamily="34" charset="0"/>
                <a:cs typeface="Calibri" panose="020F0502020204030204" pitchFamily="34" charset="0"/>
              </a:rPr>
              <a:t>Admin NTP </a:t>
            </a:r>
            <a:r>
              <a:rPr lang="en-US" sz="2000" dirty="0">
                <a:solidFill>
                  <a:schemeClr val="tx1"/>
                </a:solidFill>
                <a:latin typeface="Calibri" panose="020F0502020204030204" pitchFamily="34" charset="0"/>
                <a:cs typeface="Calibri" panose="020F0502020204030204" pitchFamily="34" charset="0"/>
              </a:rPr>
              <a:t>– SEP 2025</a:t>
            </a:r>
          </a:p>
          <a:p>
            <a:pPr marL="342900" indent="-342900">
              <a:lnSpc>
                <a:spcPct val="150000"/>
              </a:lnSpc>
              <a:buFont typeface="Arial" panose="020B0604020202020204" pitchFamily="34" charset="0"/>
              <a:buChar char="•"/>
            </a:pPr>
            <a:r>
              <a:rPr lang="en-US" sz="2000" u="sng" dirty="0">
                <a:solidFill>
                  <a:schemeClr val="tx1"/>
                </a:solidFill>
                <a:latin typeface="Calibri" panose="020F0502020204030204" pitchFamily="34" charset="0"/>
                <a:cs typeface="Calibri" panose="020F0502020204030204" pitchFamily="34" charset="0"/>
              </a:rPr>
              <a:t>Construction NTP </a:t>
            </a:r>
            <a:r>
              <a:rPr lang="en-US" sz="2000" dirty="0">
                <a:solidFill>
                  <a:schemeClr val="tx1"/>
                </a:solidFill>
                <a:latin typeface="Calibri" panose="020F0502020204030204" pitchFamily="34" charset="0"/>
                <a:cs typeface="Calibri" panose="020F0502020204030204" pitchFamily="34" charset="0"/>
              </a:rPr>
              <a:t>– OCT 2025</a:t>
            </a:r>
          </a:p>
          <a:p>
            <a:pPr marL="342900" indent="-342900">
              <a:lnSpc>
                <a:spcPct val="150000"/>
              </a:lnSpc>
              <a:buFont typeface="Arial" panose="020B0604020202020204" pitchFamily="34" charset="0"/>
              <a:buChar char="•"/>
            </a:pPr>
            <a:r>
              <a:rPr lang="en-US" sz="2000" u="sng" dirty="0">
                <a:solidFill>
                  <a:schemeClr val="tx1"/>
                </a:solidFill>
                <a:latin typeface="Calibri" panose="020F0502020204030204" pitchFamily="34" charset="0"/>
                <a:cs typeface="Calibri" panose="020F0502020204030204" pitchFamily="34" charset="0"/>
              </a:rPr>
              <a:t>Construction Completion</a:t>
            </a:r>
            <a:r>
              <a:rPr lang="en-US" sz="2000" dirty="0">
                <a:solidFill>
                  <a:schemeClr val="tx1"/>
                </a:solidFill>
                <a:latin typeface="Calibri" panose="020F0502020204030204" pitchFamily="34" charset="0"/>
                <a:cs typeface="Calibri" panose="020F0502020204030204" pitchFamily="34" charset="0"/>
              </a:rPr>
              <a:t> –  APR 2028</a:t>
            </a:r>
          </a:p>
          <a:p>
            <a:pPr marL="342900" indent="-342900">
              <a:lnSpc>
                <a:spcPct val="150000"/>
              </a:lnSpc>
              <a:buFont typeface="Arial" panose="020B0604020202020204" pitchFamily="34" charset="0"/>
              <a:buChar char="•"/>
            </a:pPr>
            <a:endParaRPr lang="en-US" sz="2000" dirty="0">
              <a:solidFill>
                <a:schemeClr val="tx1"/>
              </a:solidFill>
              <a:highlight>
                <a:srgbClr val="FFFF00"/>
              </a:highlight>
              <a:latin typeface="Calibri" panose="020F0502020204030204" pitchFamily="34" charset="0"/>
              <a:cs typeface="Calibri" panose="020F0502020204030204" pitchFamily="34" charset="0"/>
            </a:endParaRPr>
          </a:p>
          <a:p>
            <a:pPr>
              <a:lnSpc>
                <a:spcPct val="150000"/>
              </a:lnSpc>
            </a:pPr>
            <a:endParaRPr lang="en-US" sz="2000" u="sng" dirty="0">
              <a:solidFill>
                <a:schemeClr val="tx1"/>
              </a:solidFill>
            </a:endParaRPr>
          </a:p>
        </p:txBody>
      </p:sp>
      <p:sp>
        <p:nvSpPr>
          <p:cNvPr id="7" name="Title 6">
            <a:extLst>
              <a:ext uri="{FF2B5EF4-FFF2-40B4-BE49-F238E27FC236}">
                <a16:creationId xmlns:a16="http://schemas.microsoft.com/office/drawing/2014/main" id="{34542168-35EB-F49F-C52E-EFF14AC90744}"/>
              </a:ext>
            </a:extLst>
          </p:cNvPr>
          <p:cNvSpPr>
            <a:spLocks noGrp="1"/>
          </p:cNvSpPr>
          <p:nvPr>
            <p:ph type="title"/>
          </p:nvPr>
        </p:nvSpPr>
        <p:spPr/>
        <p:txBody>
          <a:bodyPr/>
          <a:lstStyle/>
          <a:p>
            <a:pPr algn="ctr"/>
            <a:r>
              <a:rPr lang="en-US" dirty="0"/>
              <a:t>New Cumberland ARC</a:t>
            </a:r>
          </a:p>
        </p:txBody>
      </p:sp>
    </p:spTree>
    <p:extLst>
      <p:ext uri="{BB962C8B-B14F-4D97-AF65-F5344CB8AC3E}">
        <p14:creationId xmlns:p14="http://schemas.microsoft.com/office/powerpoint/2010/main" val="864547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BFA7AE9-F489-D141-6191-A692F403E6F5}"/>
              </a:ext>
            </a:extLst>
          </p:cNvPr>
          <p:cNvSpPr>
            <a:spLocks noGrp="1"/>
          </p:cNvSpPr>
          <p:nvPr>
            <p:ph type="title"/>
          </p:nvPr>
        </p:nvSpPr>
        <p:spPr/>
        <p:txBody>
          <a:bodyPr/>
          <a:lstStyle/>
          <a:p>
            <a:pPr algn="ctr"/>
            <a:r>
              <a:rPr lang="en-US" dirty="0"/>
              <a:t>New Cumberland arc</a:t>
            </a:r>
          </a:p>
        </p:txBody>
      </p:sp>
      <p:sp>
        <p:nvSpPr>
          <p:cNvPr id="11" name="TextBox 10">
            <a:extLst>
              <a:ext uri="{FF2B5EF4-FFF2-40B4-BE49-F238E27FC236}">
                <a16:creationId xmlns:a16="http://schemas.microsoft.com/office/drawing/2014/main" id="{67241BD9-FE0C-B25E-535F-08B7FC9C592F}"/>
              </a:ext>
            </a:extLst>
          </p:cNvPr>
          <p:cNvSpPr txBox="1"/>
          <p:nvPr/>
        </p:nvSpPr>
        <p:spPr>
          <a:xfrm>
            <a:off x="1697241" y="961901"/>
            <a:ext cx="9390185" cy="954107"/>
          </a:xfrm>
          <a:prstGeom prst="rect">
            <a:avLst/>
          </a:prstGeom>
          <a:noFill/>
        </p:spPr>
        <p:txBody>
          <a:bodyPr wrap="square">
            <a:spAutoFit/>
          </a:bodyPr>
          <a:lstStyle/>
          <a:p>
            <a:pPr algn="ctr"/>
            <a:r>
              <a:rPr lang="en-US" sz="2800" dirty="0"/>
              <a:t>DLA Distribution Center Susquehanna, PA</a:t>
            </a:r>
          </a:p>
          <a:p>
            <a:pPr algn="ctr"/>
            <a:r>
              <a:rPr lang="en-US" sz="2800" dirty="0"/>
              <a:t>40.21182364094431, -76.83435547365774</a:t>
            </a:r>
          </a:p>
        </p:txBody>
      </p:sp>
      <p:pic>
        <p:nvPicPr>
          <p:cNvPr id="3" name="Picture 2">
            <a:extLst>
              <a:ext uri="{FF2B5EF4-FFF2-40B4-BE49-F238E27FC236}">
                <a16:creationId xmlns:a16="http://schemas.microsoft.com/office/drawing/2014/main" id="{D6A1C2D4-8C29-4609-798C-3FC82D8FB08B}"/>
              </a:ext>
            </a:extLst>
          </p:cNvPr>
          <p:cNvPicPr>
            <a:picLocks noChangeAspect="1"/>
          </p:cNvPicPr>
          <p:nvPr/>
        </p:nvPicPr>
        <p:blipFill>
          <a:blip r:embed="rId2"/>
          <a:srcRect l="29640" t="16390" r="6158" b="6916"/>
          <a:stretch/>
        </p:blipFill>
        <p:spPr>
          <a:xfrm>
            <a:off x="2967014" y="1916008"/>
            <a:ext cx="6850638" cy="4901625"/>
          </a:xfrm>
          <a:prstGeom prst="rect">
            <a:avLst/>
          </a:prstGeom>
        </p:spPr>
      </p:pic>
    </p:spTree>
    <p:extLst>
      <p:ext uri="{BB962C8B-B14F-4D97-AF65-F5344CB8AC3E}">
        <p14:creationId xmlns:p14="http://schemas.microsoft.com/office/powerpoint/2010/main" val="34534974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018317C-E7C0-FCFA-D662-1DA71C483BDB}"/>
              </a:ext>
            </a:extLst>
          </p:cNvPr>
          <p:cNvSpPr>
            <a:spLocks noGrp="1"/>
          </p:cNvSpPr>
          <p:nvPr>
            <p:ph type="title"/>
          </p:nvPr>
        </p:nvSpPr>
        <p:spPr>
          <a:xfrm>
            <a:off x="1055076" y="128981"/>
            <a:ext cx="10280103" cy="832920"/>
          </a:xfrm>
        </p:spPr>
        <p:txBody>
          <a:bodyPr/>
          <a:lstStyle/>
          <a:p>
            <a:pPr algn="ctr"/>
            <a:r>
              <a:rPr lang="en-US" dirty="0"/>
              <a:t>New Cumberland site plan</a:t>
            </a:r>
          </a:p>
        </p:txBody>
      </p:sp>
      <p:pic>
        <p:nvPicPr>
          <p:cNvPr id="9" name="Picture 8">
            <a:extLst>
              <a:ext uri="{FF2B5EF4-FFF2-40B4-BE49-F238E27FC236}">
                <a16:creationId xmlns:a16="http://schemas.microsoft.com/office/drawing/2014/main" id="{72058CF5-B6BF-4735-0B13-9082D2F4A00C}"/>
              </a:ext>
            </a:extLst>
          </p:cNvPr>
          <p:cNvPicPr>
            <a:picLocks noChangeAspect="1"/>
          </p:cNvPicPr>
          <p:nvPr/>
        </p:nvPicPr>
        <p:blipFill>
          <a:blip r:embed="rId3"/>
          <a:srcRect l="16059" t="19013" r="19386" b="10864"/>
          <a:stretch/>
        </p:blipFill>
        <p:spPr>
          <a:xfrm>
            <a:off x="1862666" y="812711"/>
            <a:ext cx="9093200" cy="5916308"/>
          </a:xfrm>
          <a:prstGeom prst="rect">
            <a:avLst/>
          </a:prstGeom>
        </p:spPr>
      </p:pic>
    </p:spTree>
    <p:extLst>
      <p:ext uri="{BB962C8B-B14F-4D97-AF65-F5344CB8AC3E}">
        <p14:creationId xmlns:p14="http://schemas.microsoft.com/office/powerpoint/2010/main" val="9572654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BFA7AE9-F489-D141-6191-A692F403E6F5}"/>
              </a:ext>
            </a:extLst>
          </p:cNvPr>
          <p:cNvSpPr>
            <a:spLocks noGrp="1"/>
          </p:cNvSpPr>
          <p:nvPr>
            <p:ph type="title"/>
          </p:nvPr>
        </p:nvSpPr>
        <p:spPr/>
        <p:txBody>
          <a:bodyPr/>
          <a:lstStyle/>
          <a:p>
            <a:pPr algn="ctr"/>
            <a:r>
              <a:rPr lang="en-US" dirty="0"/>
              <a:t>New Cumberland Army reserve Center</a:t>
            </a:r>
          </a:p>
        </p:txBody>
      </p:sp>
      <p:pic>
        <p:nvPicPr>
          <p:cNvPr id="3" name="Picture 2">
            <a:extLst>
              <a:ext uri="{FF2B5EF4-FFF2-40B4-BE49-F238E27FC236}">
                <a16:creationId xmlns:a16="http://schemas.microsoft.com/office/drawing/2014/main" id="{6329BE6C-D586-72B0-BBF2-B08A864A030A}"/>
              </a:ext>
            </a:extLst>
          </p:cNvPr>
          <p:cNvPicPr>
            <a:picLocks noChangeAspect="1"/>
          </p:cNvPicPr>
          <p:nvPr/>
        </p:nvPicPr>
        <p:blipFill>
          <a:blip r:embed="rId2"/>
          <a:stretch>
            <a:fillRect/>
          </a:stretch>
        </p:blipFill>
        <p:spPr>
          <a:xfrm>
            <a:off x="1587180" y="944967"/>
            <a:ext cx="9182420" cy="5519220"/>
          </a:xfrm>
          <a:prstGeom prst="rect">
            <a:avLst/>
          </a:prstGeom>
        </p:spPr>
      </p:pic>
    </p:spTree>
    <p:extLst>
      <p:ext uri="{BB962C8B-B14F-4D97-AF65-F5344CB8AC3E}">
        <p14:creationId xmlns:p14="http://schemas.microsoft.com/office/powerpoint/2010/main" val="15145990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018317C-E7C0-FCFA-D662-1DA71C483BDB}"/>
              </a:ext>
            </a:extLst>
          </p:cNvPr>
          <p:cNvSpPr>
            <a:spLocks noGrp="1"/>
          </p:cNvSpPr>
          <p:nvPr>
            <p:ph type="title"/>
          </p:nvPr>
        </p:nvSpPr>
        <p:spPr/>
        <p:txBody>
          <a:bodyPr/>
          <a:lstStyle/>
          <a:p>
            <a:pPr algn="ctr"/>
            <a:r>
              <a:rPr lang="en-US" dirty="0"/>
              <a:t>New Cumberland main floor</a:t>
            </a:r>
          </a:p>
        </p:txBody>
      </p:sp>
      <p:pic>
        <p:nvPicPr>
          <p:cNvPr id="11" name="Picture 10">
            <a:extLst>
              <a:ext uri="{FF2B5EF4-FFF2-40B4-BE49-F238E27FC236}">
                <a16:creationId xmlns:a16="http://schemas.microsoft.com/office/drawing/2014/main" id="{DC467E0C-8703-C276-7417-8EF79F5303FC}"/>
              </a:ext>
            </a:extLst>
          </p:cNvPr>
          <p:cNvPicPr>
            <a:picLocks noChangeAspect="1"/>
          </p:cNvPicPr>
          <p:nvPr/>
        </p:nvPicPr>
        <p:blipFill>
          <a:blip r:embed="rId2"/>
          <a:srcRect l="15971" t="21654" r="19817" b="9087"/>
          <a:stretch/>
        </p:blipFill>
        <p:spPr>
          <a:xfrm>
            <a:off x="1666362" y="961901"/>
            <a:ext cx="8859275" cy="5723421"/>
          </a:xfrm>
          <a:prstGeom prst="rect">
            <a:avLst/>
          </a:prstGeom>
        </p:spPr>
      </p:pic>
    </p:spTree>
    <p:extLst>
      <p:ext uri="{BB962C8B-B14F-4D97-AF65-F5344CB8AC3E}">
        <p14:creationId xmlns:p14="http://schemas.microsoft.com/office/powerpoint/2010/main" val="37937847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C642CA-CB07-0C6B-C7CE-CC2B12B6AF59}"/>
              </a:ext>
            </a:extLst>
          </p:cNvPr>
          <p:cNvSpPr>
            <a:spLocks noGrp="1"/>
          </p:cNvSpPr>
          <p:nvPr>
            <p:ph type="title"/>
          </p:nvPr>
        </p:nvSpPr>
        <p:spPr/>
        <p:txBody>
          <a:bodyPr/>
          <a:lstStyle/>
          <a:p>
            <a:pPr algn="ctr"/>
            <a:r>
              <a:rPr lang="en-US" dirty="0"/>
              <a:t>New Cumberland lower floor</a:t>
            </a:r>
          </a:p>
        </p:txBody>
      </p:sp>
      <p:pic>
        <p:nvPicPr>
          <p:cNvPr id="9" name="Picture 8">
            <a:extLst>
              <a:ext uri="{FF2B5EF4-FFF2-40B4-BE49-F238E27FC236}">
                <a16:creationId xmlns:a16="http://schemas.microsoft.com/office/drawing/2014/main" id="{2870C340-1978-0BAC-FB98-B501702B1354}"/>
              </a:ext>
            </a:extLst>
          </p:cNvPr>
          <p:cNvPicPr>
            <a:picLocks noChangeAspect="1"/>
          </p:cNvPicPr>
          <p:nvPr/>
        </p:nvPicPr>
        <p:blipFill>
          <a:blip r:embed="rId2"/>
          <a:srcRect l="15911" t="17037" r="19387" b="12716"/>
          <a:stretch/>
        </p:blipFill>
        <p:spPr>
          <a:xfrm>
            <a:off x="1667933" y="961901"/>
            <a:ext cx="8856133" cy="5759017"/>
          </a:xfrm>
          <a:prstGeom prst="rect">
            <a:avLst/>
          </a:prstGeom>
        </p:spPr>
      </p:pic>
    </p:spTree>
    <p:extLst>
      <p:ext uri="{BB962C8B-B14F-4D97-AF65-F5344CB8AC3E}">
        <p14:creationId xmlns:p14="http://schemas.microsoft.com/office/powerpoint/2010/main" val="38677789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D76C740C-D604-0BD8-4FCD-EB5245FDF218}"/>
              </a:ext>
            </a:extLst>
          </p:cNvPr>
          <p:cNvSpPr>
            <a:spLocks noGrp="1"/>
          </p:cNvSpPr>
          <p:nvPr>
            <p:ph sz="quarter" idx="15"/>
          </p:nvPr>
        </p:nvSpPr>
        <p:spPr>
          <a:xfrm>
            <a:off x="266700" y="1028700"/>
            <a:ext cx="5937194" cy="5600700"/>
          </a:xfrm>
        </p:spPr>
        <p:txBody>
          <a:bodyPr/>
          <a:lstStyle/>
          <a:p>
            <a:r>
              <a:rPr lang="en-US" sz="2000" b="1" dirty="0">
                <a:solidFill>
                  <a:schemeClr val="tx1"/>
                </a:solidFill>
                <a:latin typeface="Calibri" panose="020F0502020204030204" pitchFamily="34" charset="0"/>
                <a:cs typeface="Calibri" panose="020F0502020204030204" pitchFamily="34" charset="0"/>
              </a:rPr>
              <a:t>Project Information:</a:t>
            </a:r>
          </a:p>
          <a:p>
            <a:endParaRPr lang="en-US" sz="1100" dirty="0">
              <a:solidFill>
                <a:schemeClr val="tx1"/>
              </a:solidFill>
              <a:latin typeface="Calibri" panose="020F0502020204030204" pitchFamily="34" charset="0"/>
              <a:cs typeface="Calibri" panose="020F0502020204030204" pitchFamily="34" charset="0"/>
            </a:endParaRPr>
          </a:p>
          <a:p>
            <a:r>
              <a:rPr lang="en-US" sz="1600" u="sng" dirty="0">
                <a:solidFill>
                  <a:schemeClr val="tx1"/>
                </a:solidFill>
                <a:latin typeface="Calibri" panose="020F0502020204030204" pitchFamily="34" charset="0"/>
                <a:cs typeface="Calibri" panose="020F0502020204030204" pitchFamily="34" charset="0"/>
              </a:rPr>
              <a:t>Description- </a:t>
            </a:r>
            <a:r>
              <a:rPr lang="en-US" sz="1600" dirty="0">
                <a:solidFill>
                  <a:schemeClr val="tx1"/>
                </a:solidFill>
                <a:latin typeface="Calibri" panose="020F0502020204030204" pitchFamily="34" charset="0"/>
                <a:cs typeface="Calibri" panose="020F0502020204030204" pitchFamily="34" charset="0"/>
              </a:rPr>
              <a:t>This project will repair the failing 38,987 square feet Edgemont Army Reserve Center (ARC) Building 92001 located on approximately 45 acres in Newtown Square, PA. This facility was constructed in 1976 to provide mission essential training and operational capabilities supporting USAR units. This project is required now due to the present conditions of the facility which include extensive life safety issues and inadequate power and</a:t>
            </a:r>
          </a:p>
          <a:p>
            <a:r>
              <a:rPr lang="en-US" sz="1600" dirty="0">
                <a:solidFill>
                  <a:schemeClr val="tx1"/>
                </a:solidFill>
                <a:latin typeface="Calibri" panose="020F0502020204030204" pitchFamily="34" charset="0"/>
                <a:cs typeface="Calibri" panose="020F0502020204030204" pitchFamily="34" charset="0"/>
              </a:rPr>
              <a:t>cooling which has a negative impact on the health and mission of assigned personnel. Much of the infrastructure is over 46 years old and requires replacement to ensure continuous mission operation. If not corrected in this project, temporary repairs will continue to be costly and conditions in the facility will continue to degrade.</a:t>
            </a:r>
          </a:p>
          <a:p>
            <a:endParaRPr lang="en-US" sz="2000" u="sng" dirty="0">
              <a:solidFill>
                <a:srgbClr val="FF0000"/>
              </a:solidFill>
              <a:latin typeface="Calibri" panose="020F0502020204030204" pitchFamily="34" charset="0"/>
              <a:cs typeface="Calibri" panose="020F0502020204030204" pitchFamily="34" charset="0"/>
            </a:endParaRPr>
          </a:p>
          <a:p>
            <a:r>
              <a:rPr lang="en-US" sz="2000" u="sng" dirty="0">
                <a:solidFill>
                  <a:schemeClr val="tx1"/>
                </a:solidFill>
                <a:latin typeface="Calibri" panose="020F0502020204030204" pitchFamily="34" charset="0"/>
                <a:cs typeface="Calibri" panose="020F0502020204030204" pitchFamily="34" charset="0"/>
              </a:rPr>
              <a:t>Project Delivery Method </a:t>
            </a:r>
            <a:r>
              <a:rPr lang="en-US" sz="2000" dirty="0">
                <a:solidFill>
                  <a:schemeClr val="tx1"/>
                </a:solidFill>
                <a:latin typeface="Calibri" panose="020F0502020204030204" pitchFamily="34" charset="0"/>
                <a:cs typeface="Calibri" panose="020F0502020204030204" pitchFamily="34" charset="0"/>
              </a:rPr>
              <a:t>- Design/Bid/Build</a:t>
            </a:r>
            <a:endParaRPr lang="en-US" sz="1600" dirty="0">
              <a:solidFill>
                <a:schemeClr val="tx1"/>
              </a:solidFill>
              <a:latin typeface="Calibri" panose="020F0502020204030204" pitchFamily="34" charset="0"/>
              <a:cs typeface="Calibri" panose="020F0502020204030204" pitchFamily="34" charset="0"/>
            </a:endParaRPr>
          </a:p>
          <a:p>
            <a:r>
              <a:rPr lang="en-US" sz="2000" u="sng" dirty="0">
                <a:solidFill>
                  <a:schemeClr val="tx1"/>
                </a:solidFill>
                <a:latin typeface="Calibri" panose="020F0502020204030204" pitchFamily="34" charset="0"/>
                <a:cs typeface="Calibri" panose="020F0502020204030204" pitchFamily="34" charset="0"/>
              </a:rPr>
              <a:t>Procurement Method</a:t>
            </a:r>
            <a:r>
              <a:rPr lang="en-US" sz="2000" dirty="0">
                <a:solidFill>
                  <a:schemeClr val="tx1"/>
                </a:solidFill>
                <a:latin typeface="Calibri" panose="020F0502020204030204" pitchFamily="34" charset="0"/>
                <a:cs typeface="Calibri" panose="020F0502020204030204" pitchFamily="34" charset="0"/>
              </a:rPr>
              <a:t>- Best Value Trade Off SSEB</a:t>
            </a:r>
            <a:endParaRPr lang="en-US" sz="1600" dirty="0">
              <a:solidFill>
                <a:schemeClr val="tx1"/>
              </a:solidFill>
              <a:latin typeface="Calibri" panose="020F0502020204030204" pitchFamily="34" charset="0"/>
              <a:cs typeface="Calibri" panose="020F0502020204030204" pitchFamily="34" charset="0"/>
            </a:endParaRPr>
          </a:p>
          <a:p>
            <a:r>
              <a:rPr lang="en-US" sz="2000" u="sng" dirty="0">
                <a:solidFill>
                  <a:schemeClr val="tx1"/>
                </a:solidFill>
                <a:latin typeface="Calibri" panose="020F0502020204030204" pitchFamily="34" charset="0"/>
                <a:cs typeface="Calibri" panose="020F0502020204030204" pitchFamily="34" charset="0"/>
              </a:rPr>
              <a:t>Estimated Construction Duration</a:t>
            </a:r>
            <a:r>
              <a:rPr lang="en-US" sz="2000" dirty="0">
                <a:solidFill>
                  <a:schemeClr val="tx1"/>
                </a:solidFill>
                <a:latin typeface="Calibri" panose="020F0502020204030204" pitchFamily="34" charset="0"/>
                <a:cs typeface="Calibri" panose="020F0502020204030204" pitchFamily="34" charset="0"/>
              </a:rPr>
              <a:t> -  1100 days</a:t>
            </a:r>
          </a:p>
          <a:p>
            <a:r>
              <a:rPr lang="en-US" sz="2000" u="sng" dirty="0">
                <a:solidFill>
                  <a:schemeClr val="tx1"/>
                </a:solidFill>
                <a:latin typeface="Calibri" panose="020F0502020204030204" pitchFamily="34" charset="0"/>
                <a:cs typeface="Calibri" panose="020F0502020204030204" pitchFamily="34" charset="0"/>
              </a:rPr>
              <a:t>Stakeholder</a:t>
            </a:r>
            <a:r>
              <a:rPr lang="en-US" sz="2000" dirty="0">
                <a:solidFill>
                  <a:schemeClr val="tx1"/>
                </a:solidFill>
                <a:latin typeface="Calibri" panose="020F0502020204030204" pitchFamily="34" charset="0"/>
                <a:cs typeface="Calibri" panose="020F0502020204030204" pitchFamily="34" charset="0"/>
              </a:rPr>
              <a:t>- 99th  Readiness Division and ARIMD</a:t>
            </a:r>
          </a:p>
        </p:txBody>
      </p:sp>
      <p:sp>
        <p:nvSpPr>
          <p:cNvPr id="9" name="Content Placeholder 8">
            <a:extLst>
              <a:ext uri="{FF2B5EF4-FFF2-40B4-BE49-F238E27FC236}">
                <a16:creationId xmlns:a16="http://schemas.microsoft.com/office/drawing/2014/main" id="{40DFC35E-ACB6-59A4-FCEB-D1B8EF9994DE}"/>
              </a:ext>
            </a:extLst>
          </p:cNvPr>
          <p:cNvSpPr>
            <a:spLocks noGrp="1"/>
          </p:cNvSpPr>
          <p:nvPr>
            <p:ph sz="quarter" idx="19"/>
          </p:nvPr>
        </p:nvSpPr>
        <p:spPr>
          <a:xfrm>
            <a:off x="6203894" y="1028700"/>
            <a:ext cx="5721406" cy="5600700"/>
          </a:xfrm>
        </p:spPr>
        <p:txBody>
          <a:bodyPr/>
          <a:lstStyle/>
          <a:p>
            <a:r>
              <a:rPr lang="en-US" sz="2000" b="1" dirty="0">
                <a:solidFill>
                  <a:schemeClr val="tx1"/>
                </a:solidFill>
                <a:latin typeface="Calibri" panose="020F0502020204030204" pitchFamily="34" charset="0"/>
                <a:cs typeface="Calibri" panose="020F0502020204030204" pitchFamily="34" charset="0"/>
              </a:rPr>
              <a:t>Scheduled Milestones (</a:t>
            </a:r>
            <a:r>
              <a:rPr lang="en-US" sz="2000" b="1" u="sng" dirty="0">
                <a:solidFill>
                  <a:schemeClr val="tx1"/>
                </a:solidFill>
                <a:latin typeface="Calibri" panose="020F0502020204030204" pitchFamily="34" charset="0"/>
                <a:cs typeface="Calibri" panose="020F0502020204030204" pitchFamily="34" charset="0"/>
              </a:rPr>
              <a:t>estimates for planning</a:t>
            </a:r>
            <a:r>
              <a:rPr lang="en-US" sz="2000" b="1" dirty="0">
                <a:solidFill>
                  <a:schemeClr val="tx1"/>
                </a:solidFill>
                <a:latin typeface="Calibri" panose="020F0502020204030204" pitchFamily="34" charset="0"/>
                <a:cs typeface="Calibri" panose="020F0502020204030204" pitchFamily="34" charset="0"/>
              </a:rPr>
              <a:t>): </a:t>
            </a:r>
          </a:p>
          <a:p>
            <a:endParaRPr lang="en-US" sz="2000" dirty="0">
              <a:solidFill>
                <a:schemeClr val="tx1"/>
              </a:solidFill>
              <a:latin typeface="Calibri" panose="020F0502020204030204" pitchFamily="34" charset="0"/>
              <a:cs typeface="Calibri" panose="020F0502020204030204" pitchFamily="34" charset="0"/>
            </a:endParaRPr>
          </a:p>
          <a:p>
            <a:pPr marL="342900" indent="-342900">
              <a:lnSpc>
                <a:spcPct val="150000"/>
              </a:lnSpc>
              <a:buFont typeface="Arial" panose="020B0604020202020204" pitchFamily="34" charset="0"/>
              <a:buChar char="•"/>
            </a:pPr>
            <a:r>
              <a:rPr lang="en-US" sz="2000" u="sng" dirty="0">
                <a:solidFill>
                  <a:schemeClr val="tx1"/>
                </a:solidFill>
                <a:latin typeface="Calibri" panose="020F0502020204030204" pitchFamily="34" charset="0"/>
                <a:cs typeface="Calibri" panose="020F0502020204030204" pitchFamily="34" charset="0"/>
              </a:rPr>
              <a:t>Advertise Period </a:t>
            </a:r>
            <a:r>
              <a:rPr lang="en-US" sz="2000" dirty="0">
                <a:solidFill>
                  <a:schemeClr val="tx1"/>
                </a:solidFill>
                <a:latin typeface="Calibri" panose="020F0502020204030204" pitchFamily="34" charset="0"/>
                <a:cs typeface="Calibri" panose="020F0502020204030204" pitchFamily="34" charset="0"/>
              </a:rPr>
              <a:t> – JUN-JUL 2025</a:t>
            </a:r>
          </a:p>
          <a:p>
            <a:pPr marL="342900" indent="-342900">
              <a:lnSpc>
                <a:spcPct val="150000"/>
              </a:lnSpc>
              <a:buFont typeface="Arial" panose="020B0604020202020204" pitchFamily="34" charset="0"/>
              <a:buChar char="•"/>
            </a:pPr>
            <a:r>
              <a:rPr lang="en-US" sz="2000" u="sng" dirty="0">
                <a:solidFill>
                  <a:schemeClr val="tx1"/>
                </a:solidFill>
                <a:latin typeface="Calibri" panose="020F0502020204030204" pitchFamily="34" charset="0"/>
                <a:cs typeface="Calibri" panose="020F0502020204030204" pitchFamily="34" charset="0"/>
              </a:rPr>
              <a:t>Source Selection Evaluation Board </a:t>
            </a:r>
            <a:r>
              <a:rPr lang="en-US" sz="2000" dirty="0">
                <a:solidFill>
                  <a:schemeClr val="tx1"/>
                </a:solidFill>
                <a:latin typeface="Calibri" panose="020F0502020204030204" pitchFamily="34" charset="0"/>
                <a:cs typeface="Calibri" panose="020F0502020204030204" pitchFamily="34" charset="0"/>
              </a:rPr>
              <a:t>– JUL 2025</a:t>
            </a:r>
          </a:p>
          <a:p>
            <a:pPr marL="342900" indent="-342900">
              <a:lnSpc>
                <a:spcPct val="150000"/>
              </a:lnSpc>
              <a:buFont typeface="Arial" panose="020B0604020202020204" pitchFamily="34" charset="0"/>
              <a:buChar char="•"/>
            </a:pPr>
            <a:r>
              <a:rPr lang="en-US" sz="2000" u="sng" dirty="0">
                <a:solidFill>
                  <a:schemeClr val="tx1"/>
                </a:solidFill>
                <a:latin typeface="Calibri" panose="020F0502020204030204" pitchFamily="34" charset="0"/>
                <a:cs typeface="Calibri" panose="020F0502020204030204" pitchFamily="34" charset="0"/>
              </a:rPr>
              <a:t>Discussions (if needed) </a:t>
            </a:r>
            <a:r>
              <a:rPr lang="en-US" sz="2000" dirty="0">
                <a:solidFill>
                  <a:schemeClr val="tx1"/>
                </a:solidFill>
                <a:latin typeface="Calibri" panose="020F0502020204030204" pitchFamily="34" charset="0"/>
                <a:cs typeface="Calibri" panose="020F0502020204030204" pitchFamily="34" charset="0"/>
              </a:rPr>
              <a:t>– AUG 2025</a:t>
            </a:r>
          </a:p>
          <a:p>
            <a:pPr marL="342900" indent="-342900">
              <a:lnSpc>
                <a:spcPct val="150000"/>
              </a:lnSpc>
              <a:buFont typeface="Arial" panose="020B0604020202020204" pitchFamily="34" charset="0"/>
              <a:buChar char="•"/>
            </a:pPr>
            <a:r>
              <a:rPr lang="en-US" sz="2000" u="sng" dirty="0">
                <a:solidFill>
                  <a:schemeClr val="tx1"/>
                </a:solidFill>
                <a:latin typeface="Calibri" panose="020F0502020204030204" pitchFamily="34" charset="0"/>
                <a:cs typeface="Calibri" panose="020F0502020204030204" pitchFamily="34" charset="0"/>
              </a:rPr>
              <a:t>Contract Award </a:t>
            </a:r>
            <a:r>
              <a:rPr lang="en-US" sz="2000" dirty="0">
                <a:solidFill>
                  <a:schemeClr val="tx1"/>
                </a:solidFill>
                <a:latin typeface="Calibri" panose="020F0502020204030204" pitchFamily="34" charset="0"/>
                <a:cs typeface="Calibri" panose="020F0502020204030204" pitchFamily="34" charset="0"/>
              </a:rPr>
              <a:t>– AUG 2025</a:t>
            </a:r>
          </a:p>
          <a:p>
            <a:pPr marL="342900" indent="-342900">
              <a:lnSpc>
                <a:spcPct val="150000"/>
              </a:lnSpc>
              <a:buFont typeface="Arial" panose="020B0604020202020204" pitchFamily="34" charset="0"/>
              <a:buChar char="•"/>
            </a:pPr>
            <a:r>
              <a:rPr lang="en-US" sz="2000" u="sng" dirty="0">
                <a:solidFill>
                  <a:schemeClr val="tx1"/>
                </a:solidFill>
                <a:latin typeface="Calibri" panose="020F0502020204030204" pitchFamily="34" charset="0"/>
                <a:cs typeface="Calibri" panose="020F0502020204030204" pitchFamily="34" charset="0"/>
              </a:rPr>
              <a:t>Admin NTP </a:t>
            </a:r>
            <a:r>
              <a:rPr lang="en-US" sz="2000" dirty="0">
                <a:solidFill>
                  <a:schemeClr val="tx1"/>
                </a:solidFill>
                <a:latin typeface="Calibri" panose="020F0502020204030204" pitchFamily="34" charset="0"/>
                <a:cs typeface="Calibri" panose="020F0502020204030204" pitchFamily="34" charset="0"/>
              </a:rPr>
              <a:t>– SEP 2025</a:t>
            </a:r>
          </a:p>
          <a:p>
            <a:pPr marL="342900" indent="-342900">
              <a:lnSpc>
                <a:spcPct val="150000"/>
              </a:lnSpc>
              <a:buFont typeface="Arial" panose="020B0604020202020204" pitchFamily="34" charset="0"/>
              <a:buChar char="•"/>
            </a:pPr>
            <a:r>
              <a:rPr lang="en-US" sz="2000" u="sng" dirty="0">
                <a:solidFill>
                  <a:schemeClr val="tx1"/>
                </a:solidFill>
                <a:latin typeface="Calibri" panose="020F0502020204030204" pitchFamily="34" charset="0"/>
                <a:cs typeface="Calibri" panose="020F0502020204030204" pitchFamily="34" charset="0"/>
              </a:rPr>
              <a:t>Construction NTP </a:t>
            </a:r>
            <a:r>
              <a:rPr lang="en-US" sz="2000" dirty="0">
                <a:solidFill>
                  <a:schemeClr val="tx1"/>
                </a:solidFill>
                <a:latin typeface="Calibri" panose="020F0502020204030204" pitchFamily="34" charset="0"/>
                <a:cs typeface="Calibri" panose="020F0502020204030204" pitchFamily="34" charset="0"/>
              </a:rPr>
              <a:t>– OCT 2025</a:t>
            </a:r>
          </a:p>
          <a:p>
            <a:pPr marL="342900" indent="-342900">
              <a:lnSpc>
                <a:spcPct val="150000"/>
              </a:lnSpc>
              <a:buFont typeface="Arial" panose="020B0604020202020204" pitchFamily="34" charset="0"/>
              <a:buChar char="•"/>
            </a:pPr>
            <a:r>
              <a:rPr lang="en-US" sz="2000" u="sng" dirty="0">
                <a:solidFill>
                  <a:schemeClr val="tx1"/>
                </a:solidFill>
                <a:latin typeface="Calibri" panose="020F0502020204030204" pitchFamily="34" charset="0"/>
                <a:cs typeface="Calibri" panose="020F0502020204030204" pitchFamily="34" charset="0"/>
              </a:rPr>
              <a:t>Construction Completion</a:t>
            </a:r>
            <a:r>
              <a:rPr lang="en-US" sz="2000" dirty="0">
                <a:solidFill>
                  <a:schemeClr val="tx1"/>
                </a:solidFill>
                <a:latin typeface="Calibri" panose="020F0502020204030204" pitchFamily="34" charset="0"/>
                <a:cs typeface="Calibri" panose="020F0502020204030204" pitchFamily="34" charset="0"/>
              </a:rPr>
              <a:t> –  APR 2028</a:t>
            </a:r>
          </a:p>
          <a:p>
            <a:pPr marL="342900" indent="-342900">
              <a:lnSpc>
                <a:spcPct val="150000"/>
              </a:lnSpc>
              <a:buFont typeface="Arial" panose="020B0604020202020204" pitchFamily="34" charset="0"/>
              <a:buChar char="•"/>
            </a:pPr>
            <a:endParaRPr lang="en-US" sz="2000" dirty="0">
              <a:solidFill>
                <a:schemeClr val="tx1"/>
              </a:solidFill>
              <a:highlight>
                <a:srgbClr val="FFFF00"/>
              </a:highlight>
              <a:latin typeface="Calibri" panose="020F0502020204030204" pitchFamily="34" charset="0"/>
              <a:cs typeface="Calibri" panose="020F0502020204030204" pitchFamily="34" charset="0"/>
            </a:endParaRPr>
          </a:p>
          <a:p>
            <a:pPr>
              <a:lnSpc>
                <a:spcPct val="150000"/>
              </a:lnSpc>
            </a:pPr>
            <a:endParaRPr lang="en-US" sz="2000" u="sng" dirty="0">
              <a:solidFill>
                <a:schemeClr val="tx1"/>
              </a:solidFill>
            </a:endParaRPr>
          </a:p>
        </p:txBody>
      </p:sp>
      <p:sp>
        <p:nvSpPr>
          <p:cNvPr id="7" name="Title 6">
            <a:extLst>
              <a:ext uri="{FF2B5EF4-FFF2-40B4-BE49-F238E27FC236}">
                <a16:creationId xmlns:a16="http://schemas.microsoft.com/office/drawing/2014/main" id="{34542168-35EB-F49F-C52E-EFF14AC90744}"/>
              </a:ext>
            </a:extLst>
          </p:cNvPr>
          <p:cNvSpPr>
            <a:spLocks noGrp="1"/>
          </p:cNvSpPr>
          <p:nvPr>
            <p:ph type="title"/>
          </p:nvPr>
        </p:nvSpPr>
        <p:spPr/>
        <p:txBody>
          <a:bodyPr/>
          <a:lstStyle/>
          <a:p>
            <a:pPr algn="ctr"/>
            <a:r>
              <a:rPr lang="en-US" dirty="0"/>
              <a:t>Newtown square ARC</a:t>
            </a:r>
          </a:p>
        </p:txBody>
      </p:sp>
    </p:spTree>
    <p:extLst>
      <p:ext uri="{BB962C8B-B14F-4D97-AF65-F5344CB8AC3E}">
        <p14:creationId xmlns:p14="http://schemas.microsoft.com/office/powerpoint/2010/main" val="31920779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BFA7AE9-F489-D141-6191-A692F403E6F5}"/>
              </a:ext>
            </a:extLst>
          </p:cNvPr>
          <p:cNvSpPr>
            <a:spLocks noGrp="1"/>
          </p:cNvSpPr>
          <p:nvPr>
            <p:ph type="title"/>
          </p:nvPr>
        </p:nvSpPr>
        <p:spPr/>
        <p:txBody>
          <a:bodyPr/>
          <a:lstStyle/>
          <a:p>
            <a:pPr algn="ctr"/>
            <a:r>
              <a:rPr lang="en-US" dirty="0"/>
              <a:t>Newtown square arc</a:t>
            </a:r>
          </a:p>
        </p:txBody>
      </p:sp>
      <p:sp>
        <p:nvSpPr>
          <p:cNvPr id="11" name="TextBox 10">
            <a:extLst>
              <a:ext uri="{FF2B5EF4-FFF2-40B4-BE49-F238E27FC236}">
                <a16:creationId xmlns:a16="http://schemas.microsoft.com/office/drawing/2014/main" id="{67241BD9-FE0C-B25E-535F-08B7FC9C592F}"/>
              </a:ext>
            </a:extLst>
          </p:cNvPr>
          <p:cNvSpPr txBox="1"/>
          <p:nvPr/>
        </p:nvSpPr>
        <p:spPr>
          <a:xfrm>
            <a:off x="1697241" y="961901"/>
            <a:ext cx="9390185" cy="523220"/>
          </a:xfrm>
          <a:prstGeom prst="rect">
            <a:avLst/>
          </a:prstGeom>
          <a:noFill/>
        </p:spPr>
        <p:txBody>
          <a:bodyPr wrap="square">
            <a:spAutoFit/>
          </a:bodyPr>
          <a:lstStyle/>
          <a:p>
            <a:pPr algn="ctr"/>
            <a:r>
              <a:rPr lang="en-US" sz="2800" dirty="0"/>
              <a:t>2101 Delchester Rd. Newtown Square PA 19073</a:t>
            </a:r>
          </a:p>
        </p:txBody>
      </p:sp>
      <p:pic>
        <p:nvPicPr>
          <p:cNvPr id="5" name="Picture 4">
            <a:extLst>
              <a:ext uri="{FF2B5EF4-FFF2-40B4-BE49-F238E27FC236}">
                <a16:creationId xmlns:a16="http://schemas.microsoft.com/office/drawing/2014/main" id="{C34EBB25-0FAB-B472-3A57-F2A9597C48CC}"/>
              </a:ext>
            </a:extLst>
          </p:cNvPr>
          <p:cNvPicPr>
            <a:picLocks noChangeAspect="1"/>
          </p:cNvPicPr>
          <p:nvPr/>
        </p:nvPicPr>
        <p:blipFill>
          <a:blip r:embed="rId2"/>
          <a:srcRect l="27447" t="19724" r="7186" b="10893"/>
          <a:stretch/>
        </p:blipFill>
        <p:spPr>
          <a:xfrm>
            <a:off x="2726267" y="1916008"/>
            <a:ext cx="7484533" cy="4758266"/>
          </a:xfrm>
          <a:prstGeom prst="rect">
            <a:avLst/>
          </a:prstGeom>
        </p:spPr>
      </p:pic>
    </p:spTree>
    <p:extLst>
      <p:ext uri="{BB962C8B-B14F-4D97-AF65-F5344CB8AC3E}">
        <p14:creationId xmlns:p14="http://schemas.microsoft.com/office/powerpoint/2010/main" val="34295082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018317C-E7C0-FCFA-D662-1DA71C483BDB}"/>
              </a:ext>
            </a:extLst>
          </p:cNvPr>
          <p:cNvSpPr>
            <a:spLocks noGrp="1"/>
          </p:cNvSpPr>
          <p:nvPr>
            <p:ph type="title"/>
          </p:nvPr>
        </p:nvSpPr>
        <p:spPr>
          <a:xfrm>
            <a:off x="1055076" y="128981"/>
            <a:ext cx="10280103" cy="832920"/>
          </a:xfrm>
        </p:spPr>
        <p:txBody>
          <a:bodyPr/>
          <a:lstStyle/>
          <a:p>
            <a:pPr algn="ctr"/>
            <a:r>
              <a:rPr lang="en-US" dirty="0"/>
              <a:t>Newtown square site plan</a:t>
            </a:r>
          </a:p>
        </p:txBody>
      </p:sp>
      <p:pic>
        <p:nvPicPr>
          <p:cNvPr id="3" name="Picture 2">
            <a:extLst>
              <a:ext uri="{FF2B5EF4-FFF2-40B4-BE49-F238E27FC236}">
                <a16:creationId xmlns:a16="http://schemas.microsoft.com/office/drawing/2014/main" id="{2B664AB5-E935-194C-CA32-EF192540D373}"/>
              </a:ext>
            </a:extLst>
          </p:cNvPr>
          <p:cNvPicPr>
            <a:picLocks noChangeAspect="1"/>
          </p:cNvPicPr>
          <p:nvPr/>
        </p:nvPicPr>
        <p:blipFill>
          <a:blip r:embed="rId3"/>
          <a:srcRect l="11253" t="27729" r="24193" b="10494"/>
          <a:stretch/>
        </p:blipFill>
        <p:spPr>
          <a:xfrm>
            <a:off x="1363687" y="961901"/>
            <a:ext cx="9464626" cy="5425040"/>
          </a:xfrm>
          <a:prstGeom prst="rect">
            <a:avLst/>
          </a:prstGeom>
        </p:spPr>
      </p:pic>
    </p:spTree>
    <p:extLst>
      <p:ext uri="{BB962C8B-B14F-4D97-AF65-F5344CB8AC3E}">
        <p14:creationId xmlns:p14="http://schemas.microsoft.com/office/powerpoint/2010/main" val="15979052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BFA7AE9-F489-D141-6191-A692F403E6F5}"/>
              </a:ext>
            </a:extLst>
          </p:cNvPr>
          <p:cNvSpPr>
            <a:spLocks noGrp="1"/>
          </p:cNvSpPr>
          <p:nvPr>
            <p:ph type="title"/>
          </p:nvPr>
        </p:nvSpPr>
        <p:spPr/>
        <p:txBody>
          <a:bodyPr/>
          <a:lstStyle/>
          <a:p>
            <a:pPr algn="ctr"/>
            <a:r>
              <a:rPr lang="en-US" dirty="0"/>
              <a:t>Newtown square Army reserve Center</a:t>
            </a:r>
          </a:p>
        </p:txBody>
      </p:sp>
      <p:pic>
        <p:nvPicPr>
          <p:cNvPr id="5" name="Picture 4">
            <a:extLst>
              <a:ext uri="{FF2B5EF4-FFF2-40B4-BE49-F238E27FC236}">
                <a16:creationId xmlns:a16="http://schemas.microsoft.com/office/drawing/2014/main" id="{F8CE872D-3878-2EAD-A66A-46CE3927F72B}"/>
              </a:ext>
            </a:extLst>
          </p:cNvPr>
          <p:cNvPicPr>
            <a:picLocks noChangeAspect="1"/>
          </p:cNvPicPr>
          <p:nvPr/>
        </p:nvPicPr>
        <p:blipFill>
          <a:blip r:embed="rId2"/>
          <a:stretch>
            <a:fillRect/>
          </a:stretch>
        </p:blipFill>
        <p:spPr>
          <a:xfrm>
            <a:off x="2386512" y="961901"/>
            <a:ext cx="7418975" cy="5430556"/>
          </a:xfrm>
          <a:prstGeom prst="rect">
            <a:avLst/>
          </a:prstGeom>
        </p:spPr>
      </p:pic>
    </p:spTree>
    <p:extLst>
      <p:ext uri="{BB962C8B-B14F-4D97-AF65-F5344CB8AC3E}">
        <p14:creationId xmlns:p14="http://schemas.microsoft.com/office/powerpoint/2010/main" val="31215649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C642CA-CB07-0C6B-C7CE-CC2B12B6AF59}"/>
              </a:ext>
            </a:extLst>
          </p:cNvPr>
          <p:cNvSpPr>
            <a:spLocks noGrp="1"/>
          </p:cNvSpPr>
          <p:nvPr>
            <p:ph type="title"/>
          </p:nvPr>
        </p:nvSpPr>
        <p:spPr/>
        <p:txBody>
          <a:bodyPr/>
          <a:lstStyle/>
          <a:p>
            <a:pPr algn="ctr"/>
            <a:r>
              <a:rPr lang="en-US" dirty="0"/>
              <a:t>Newtown square 1st floor</a:t>
            </a:r>
          </a:p>
        </p:txBody>
      </p:sp>
      <p:pic>
        <p:nvPicPr>
          <p:cNvPr id="3" name="Picture 2">
            <a:extLst>
              <a:ext uri="{FF2B5EF4-FFF2-40B4-BE49-F238E27FC236}">
                <a16:creationId xmlns:a16="http://schemas.microsoft.com/office/drawing/2014/main" id="{87FD09A1-6E0E-A967-5E7D-09EAC1482943}"/>
              </a:ext>
            </a:extLst>
          </p:cNvPr>
          <p:cNvPicPr>
            <a:picLocks noChangeAspect="1"/>
          </p:cNvPicPr>
          <p:nvPr/>
        </p:nvPicPr>
        <p:blipFill>
          <a:blip r:embed="rId2"/>
          <a:srcRect l="11327" t="19630" r="24340" b="10618"/>
          <a:stretch/>
        </p:blipFill>
        <p:spPr>
          <a:xfrm>
            <a:off x="1642533" y="961901"/>
            <a:ext cx="8906934" cy="5784389"/>
          </a:xfrm>
          <a:prstGeom prst="rect">
            <a:avLst/>
          </a:prstGeom>
        </p:spPr>
      </p:pic>
    </p:spTree>
    <p:extLst>
      <p:ext uri="{BB962C8B-B14F-4D97-AF65-F5344CB8AC3E}">
        <p14:creationId xmlns:p14="http://schemas.microsoft.com/office/powerpoint/2010/main" val="21097755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018317C-E7C0-FCFA-D662-1DA71C483BDB}"/>
              </a:ext>
            </a:extLst>
          </p:cNvPr>
          <p:cNvSpPr>
            <a:spLocks noGrp="1"/>
          </p:cNvSpPr>
          <p:nvPr>
            <p:ph type="title"/>
          </p:nvPr>
        </p:nvSpPr>
        <p:spPr/>
        <p:txBody>
          <a:bodyPr/>
          <a:lstStyle/>
          <a:p>
            <a:pPr algn="ctr"/>
            <a:r>
              <a:rPr lang="en-US" dirty="0"/>
              <a:t>Newtown square 2nd floor</a:t>
            </a:r>
          </a:p>
        </p:txBody>
      </p:sp>
      <p:pic>
        <p:nvPicPr>
          <p:cNvPr id="6" name="Picture 5">
            <a:extLst>
              <a:ext uri="{FF2B5EF4-FFF2-40B4-BE49-F238E27FC236}">
                <a16:creationId xmlns:a16="http://schemas.microsoft.com/office/drawing/2014/main" id="{5D8E6F90-741B-D0B4-D7BE-167F4654045E}"/>
              </a:ext>
            </a:extLst>
          </p:cNvPr>
          <p:cNvPicPr>
            <a:picLocks noChangeAspect="1"/>
          </p:cNvPicPr>
          <p:nvPr/>
        </p:nvPicPr>
        <p:blipFill>
          <a:blip r:embed="rId2"/>
          <a:srcRect l="11475" t="23457" r="24193" b="6420"/>
          <a:stretch/>
        </p:blipFill>
        <p:spPr>
          <a:xfrm>
            <a:off x="1773767" y="1085275"/>
            <a:ext cx="8644466" cy="5643744"/>
          </a:xfrm>
          <a:prstGeom prst="rect">
            <a:avLst/>
          </a:prstGeom>
        </p:spPr>
      </p:pic>
    </p:spTree>
    <p:extLst>
      <p:ext uri="{BB962C8B-B14F-4D97-AF65-F5344CB8AC3E}">
        <p14:creationId xmlns:p14="http://schemas.microsoft.com/office/powerpoint/2010/main" val="12370831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483C43-3FBF-4223-FD45-9496815C8950}"/>
              </a:ext>
            </a:extLst>
          </p:cNvPr>
          <p:cNvSpPr>
            <a:spLocks noGrp="1"/>
          </p:cNvSpPr>
          <p:nvPr>
            <p:ph sz="quarter" idx="10"/>
          </p:nvPr>
        </p:nvSpPr>
        <p:spPr/>
        <p:txBody>
          <a:bodyPr/>
          <a:lstStyle/>
          <a:p>
            <a:pPr marL="342900" marR="0" lvl="0" indent="-3429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cs typeface="Calibri" panose="020F0502020204030204" pitchFamily="34" charset="0"/>
              </a:rPr>
              <a:t>Register SAM.gov to obtain and respond to solicitations</a:t>
            </a:r>
          </a:p>
          <a:p>
            <a:pPr marR="0" lvl="0" algn="l" defTabSz="914400" rtl="0" eaLnBrk="1" fontAlgn="base" latinLnBrk="0" hangingPunct="1">
              <a:lnSpc>
                <a:spcPct val="100000"/>
              </a:lnSpc>
              <a:spcBef>
                <a:spcPts val="300"/>
              </a:spcBef>
              <a:spcAft>
                <a:spcPct val="0"/>
              </a:spcAft>
              <a:buClrTx/>
              <a:buSzTx/>
              <a:tabLst/>
              <a:defRPr/>
            </a:pPr>
            <a:endParaRPr kumimoji="0" lang="en-US" sz="2400"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cs typeface="Calibri" panose="020F0502020204030204" pitchFamily="34" charset="0"/>
            </a:endParaRPr>
          </a:p>
          <a:p>
            <a:pPr marL="342900" marR="0" lvl="0" indent="-3429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cs typeface="Calibri" panose="020F0502020204030204" pitchFamily="34" charset="0"/>
              </a:rPr>
              <a:t>Source Selection Evaluation Criteria are basis for selection by source evaluation boards</a:t>
            </a:r>
          </a:p>
          <a:p>
            <a:pPr marR="0" lvl="0" algn="l" defTabSz="914400" rtl="0" eaLnBrk="1" fontAlgn="base" latinLnBrk="0" hangingPunct="1">
              <a:lnSpc>
                <a:spcPct val="100000"/>
              </a:lnSpc>
              <a:spcBef>
                <a:spcPts val="300"/>
              </a:spcBef>
              <a:spcAft>
                <a:spcPct val="0"/>
              </a:spcAft>
              <a:buClrTx/>
              <a:buSzTx/>
              <a:tabLst/>
              <a:defRPr/>
            </a:pPr>
            <a:endParaRPr kumimoji="0" lang="en-US" sz="2400"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cs typeface="Calibri" panose="020F0502020204030204" pitchFamily="34" charset="0"/>
            </a:endParaRPr>
          </a:p>
          <a:p>
            <a:pPr marL="342900" marR="0" lvl="0" indent="-3429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cs typeface="Calibri" panose="020F0502020204030204" pitchFamily="34" charset="0"/>
              </a:rPr>
              <a:t>Unrestricted solicitations require small business participation plan</a:t>
            </a:r>
          </a:p>
          <a:p>
            <a:pPr marR="0" lvl="0" algn="l" defTabSz="914400" rtl="0" eaLnBrk="1" fontAlgn="base" latinLnBrk="0" hangingPunct="1">
              <a:lnSpc>
                <a:spcPct val="100000"/>
              </a:lnSpc>
              <a:spcBef>
                <a:spcPts val="300"/>
              </a:spcBef>
              <a:spcAft>
                <a:spcPct val="0"/>
              </a:spcAft>
              <a:buClrTx/>
              <a:buSzTx/>
              <a:tabLst/>
              <a:defRPr/>
            </a:pPr>
            <a:endParaRPr kumimoji="0" lang="en-US" sz="2400"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cs typeface="Calibri" panose="020F0502020204030204" pitchFamily="34" charset="0"/>
            </a:endParaRPr>
          </a:p>
          <a:p>
            <a:pPr marL="342900" marR="0" lvl="0" indent="-3429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cs typeface="Calibri" panose="020F0502020204030204" pitchFamily="34" charset="0"/>
              </a:rPr>
              <a:t>New Cumberland project is scheduled for bids due in:</a:t>
            </a:r>
          </a:p>
          <a:p>
            <a:pPr marR="0" lvl="0" algn="l" defTabSz="914400" rtl="0" eaLnBrk="1" fontAlgn="base" latinLnBrk="0" hangingPunct="1">
              <a:lnSpc>
                <a:spcPct val="100000"/>
              </a:lnSpc>
              <a:spcBef>
                <a:spcPts val="300"/>
              </a:spcBef>
              <a:spcAft>
                <a:spcPct val="0"/>
              </a:spcAft>
              <a:buClrTx/>
              <a:buSzTx/>
              <a:tabLst/>
              <a:defRPr/>
            </a:pPr>
            <a:endParaRPr kumimoji="0" lang="en-US" sz="2400"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cs typeface="Calibri" panose="020F0502020204030204" pitchFamily="34" charset="0"/>
            </a:endParaRPr>
          </a:p>
          <a:p>
            <a:pPr marL="857250" marR="0" lvl="1" indent="-3429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lang="en-US" sz="2400" dirty="0">
                <a:solidFill>
                  <a:srgbClr val="FF0000"/>
                </a:solidFill>
                <a:latin typeface="Calibri" panose="020F0502020204030204" pitchFamily="34" charset="0"/>
                <a:cs typeface="Calibri" panose="020F0502020204030204" pitchFamily="34" charset="0"/>
              </a:rPr>
              <a:t>November</a:t>
            </a:r>
            <a:r>
              <a:rPr kumimoji="0" lang="en-US" sz="2400" b="0" i="0" u="none" strike="noStrike" kern="1200" cap="none" spc="0" normalizeH="0" baseline="0" noProof="0" dirty="0">
                <a:ln>
                  <a:noFill/>
                </a:ln>
                <a:solidFill>
                  <a:srgbClr val="FF0000"/>
                </a:solidFill>
                <a:effectLst/>
                <a:uLnTx/>
                <a:uFillTx/>
                <a:latin typeface="Calibri" panose="020F0502020204030204" pitchFamily="34" charset="0"/>
                <a:cs typeface="Calibri" panose="020F0502020204030204" pitchFamily="34" charset="0"/>
              </a:rPr>
              <a:t> 2024 via Solicitation W912QR-24-R-0077</a:t>
            </a:r>
          </a:p>
          <a:p>
            <a:pPr marL="857250" marR="0" lvl="1" indent="-3429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srgbClr val="FF0000"/>
              </a:solidFill>
              <a:effectLst/>
              <a:uLnTx/>
              <a:uFillTx/>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Newtown Square project is scheduled for bids due in:</a:t>
            </a:r>
          </a:p>
          <a:p>
            <a:endParaRPr lang="en-US" sz="2400" dirty="0">
              <a:latin typeface="Calibri" panose="020F0502020204030204" pitchFamily="34" charset="0"/>
              <a:ea typeface="Calibri" panose="020F0502020204030204" pitchFamily="34" charset="0"/>
              <a:cs typeface="Calibri" panose="020F0502020204030204" pitchFamily="34" charset="0"/>
            </a:endParaRPr>
          </a:p>
          <a:p>
            <a:pPr marL="804863" lvl="2" indent="-342900"/>
            <a:r>
              <a:rPr lang="en-US" sz="2400" dirty="0">
                <a:solidFill>
                  <a:srgbClr val="FF0000"/>
                </a:solidFill>
                <a:latin typeface="Calibri" panose="020F0502020204030204" pitchFamily="34" charset="0"/>
                <a:ea typeface="Calibri" panose="020F0502020204030204" pitchFamily="34" charset="0"/>
                <a:cs typeface="Calibri" panose="020F0502020204030204" pitchFamily="34" charset="0"/>
              </a:rPr>
              <a:t>November 2024 via Solicitation W912QR-24-R-0077</a:t>
            </a:r>
          </a:p>
          <a:p>
            <a:endParaRPr lang="en-US" dirty="0"/>
          </a:p>
        </p:txBody>
      </p:sp>
      <p:sp>
        <p:nvSpPr>
          <p:cNvPr id="4" name="Title 3">
            <a:extLst>
              <a:ext uri="{FF2B5EF4-FFF2-40B4-BE49-F238E27FC236}">
                <a16:creationId xmlns:a16="http://schemas.microsoft.com/office/drawing/2014/main" id="{984BD323-2428-D418-D2E3-A777F56DE5FF}"/>
              </a:ext>
            </a:extLst>
          </p:cNvPr>
          <p:cNvSpPr>
            <a:spLocks noGrp="1"/>
          </p:cNvSpPr>
          <p:nvPr>
            <p:ph type="title"/>
          </p:nvPr>
        </p:nvSpPr>
        <p:spPr/>
        <p:txBody>
          <a:bodyPr/>
          <a:lstStyle/>
          <a:p>
            <a:pPr algn="ctr"/>
            <a:r>
              <a:rPr kumimoji="0" lang="en-US" sz="4000" b="1" i="0" u="none" strike="noStrike" kern="1200" cap="none" spc="0" normalizeH="0" baseline="0" noProof="0" dirty="0">
                <a:ln>
                  <a:noFill/>
                </a:ln>
                <a:solidFill>
                  <a:srgbClr val="000000">
                    <a:lumMod val="75000"/>
                    <a:lumOff val="25000"/>
                  </a:srgbClr>
                </a:solidFill>
                <a:effectLst/>
                <a:uLnTx/>
                <a:uFillTx/>
                <a:latin typeface="Arial" pitchFamily="34" charset="0"/>
                <a:ea typeface="ＭＳ Ｐゴシック" charset="0"/>
                <a:cs typeface="Arial" pitchFamily="34" charset="0"/>
              </a:rPr>
              <a:t>SUMMARY</a:t>
            </a:r>
            <a:endParaRPr lang="en-US" dirty="0"/>
          </a:p>
        </p:txBody>
      </p:sp>
    </p:spTree>
    <p:extLst>
      <p:ext uri="{BB962C8B-B14F-4D97-AF65-F5344CB8AC3E}">
        <p14:creationId xmlns:p14="http://schemas.microsoft.com/office/powerpoint/2010/main" val="1901211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5DF8B7-65FA-D1F4-EF10-F5FDDF09D12D}"/>
              </a:ext>
            </a:extLst>
          </p:cNvPr>
          <p:cNvSpPr>
            <a:spLocks noGrp="1"/>
          </p:cNvSpPr>
          <p:nvPr>
            <p:ph type="title"/>
          </p:nvPr>
        </p:nvSpPr>
        <p:spPr>
          <a:xfrm>
            <a:off x="902593" y="3012540"/>
            <a:ext cx="10386814" cy="832920"/>
          </a:xfrm>
        </p:spPr>
        <p:txBody>
          <a:bodyPr/>
          <a:lstStyle/>
          <a:p>
            <a:pPr algn="ctr"/>
            <a:r>
              <a:rPr lang="en-US" dirty="0"/>
              <a:t>What Questions do you have for us? </a:t>
            </a:r>
          </a:p>
        </p:txBody>
      </p:sp>
    </p:spTree>
    <p:extLst>
      <p:ext uri="{BB962C8B-B14F-4D97-AF65-F5344CB8AC3E}">
        <p14:creationId xmlns:p14="http://schemas.microsoft.com/office/powerpoint/2010/main" val="3249128953"/>
      </p:ext>
    </p:extLst>
  </p:cSld>
  <p:clrMapOvr>
    <a:masterClrMapping/>
  </p:clrMapOvr>
</p:sld>
</file>

<file path=ppt/theme/theme1.xml><?xml version="1.0" encoding="utf-8"?>
<a:theme xmlns:a="http://schemas.openxmlformats.org/drawingml/2006/main" name="Upper left castle template public">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2.xml><?xml version="1.0" encoding="utf-8"?>
<a:theme xmlns:a="http://schemas.openxmlformats.org/drawingml/2006/main" name="CUI Upper left Castle template ">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3.xml><?xml version="1.0" encoding="utf-8"?>
<a:theme xmlns:a="http://schemas.openxmlformats.org/drawingml/2006/main" name="traditional template NON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4.xml><?xml version="1.0" encoding="utf-8"?>
<a:theme xmlns:a="http://schemas.openxmlformats.org/drawingml/2006/main" name="Traditional template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5.xml><?xml version="1.0" encoding="utf-8"?>
<a:theme xmlns:a="http://schemas.openxmlformats.org/drawingml/2006/main" name="2_Upper Left Star and Castle NON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6.xml><?xml version="1.0" encoding="utf-8"?>
<a:theme xmlns:a="http://schemas.openxmlformats.org/drawingml/2006/main" name="Upper Left Star and Castle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7.xml><?xml version="1.0" encoding="utf-8"?>
<a:theme xmlns:a="http://schemas.openxmlformats.org/drawingml/2006/main" name="Chart Color Templates">
  <a:themeElements>
    <a:clrScheme name="Charts">
      <a:dk1>
        <a:srgbClr val="221F20"/>
      </a:dk1>
      <a:lt1>
        <a:srgbClr val="565557"/>
      </a:lt1>
      <a:dk2>
        <a:srgbClr val="FFFFFF"/>
      </a:dk2>
      <a:lt2>
        <a:srgbClr val="D5D5D7"/>
      </a:lt2>
      <a:accent1>
        <a:srgbClr val="F16521"/>
      </a:accent1>
      <a:accent2>
        <a:srgbClr val="2DAA27"/>
      </a:accent2>
      <a:accent3>
        <a:srgbClr val="CF0000"/>
      </a:accent3>
      <a:accent4>
        <a:srgbClr val="FFCC01"/>
      </a:accent4>
      <a:accent5>
        <a:srgbClr val="00308F"/>
      </a:accent5>
      <a:accent6>
        <a:srgbClr val="532476"/>
      </a:accent6>
      <a:hlink>
        <a:srgbClr val="4D7EA1"/>
      </a:hlink>
      <a:folHlink>
        <a:srgbClr val="CF000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7A4F02DA-9F69-4CE8-8688-F5382440A1E1}"/>
    </a:ext>
  </a:extLst>
</a:theme>
</file>

<file path=ppt/theme/theme8.xml><?xml version="1.0" encoding="utf-8"?>
<a:theme xmlns:a="http://schemas.openxmlformats.org/drawingml/2006/main" name="2_traditional template NON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8306E62ACD7194CB5569EDCC29018C1" ma:contentTypeVersion="13" ma:contentTypeDescription="Create a new document." ma:contentTypeScope="" ma:versionID="a18618c4f784b261712098dab10db08b">
  <xsd:schema xmlns:xsd="http://www.w3.org/2001/XMLSchema" xmlns:xs="http://www.w3.org/2001/XMLSchema" xmlns:p="http://schemas.microsoft.com/office/2006/metadata/properties" xmlns:ns1="http://schemas.microsoft.com/sharepoint/v3" xmlns:ns2="a62f2820-d4f7-4116-8da7-341863dcf762" xmlns:ns3="b65aa6f8-8819-45a8-b6a0-906d6a702c4f" xmlns:ns4="4baeaec8-4928-4375-bdfb-ddb7c7196353" targetNamespace="http://schemas.microsoft.com/office/2006/metadata/properties" ma:root="true" ma:fieldsID="ecdf03241d752fff07264fd355140b78" ns1:_="" ns2:_="" ns3:_="" ns4:_="">
    <xsd:import namespace="http://schemas.microsoft.com/sharepoint/v3"/>
    <xsd:import namespace="a62f2820-d4f7-4116-8da7-341863dcf762"/>
    <xsd:import namespace="b65aa6f8-8819-45a8-b6a0-906d6a702c4f"/>
    <xsd:import namespace="4baeaec8-4928-4375-bdfb-ddb7c7196353"/>
    <xsd:element name="properties">
      <xsd:complexType>
        <xsd:sequence>
          <xsd:element name="documentManagement">
            <xsd:complexType>
              <xsd:all>
                <xsd:element ref="ns1:PublishingStartDate" minOccurs="0"/>
                <xsd:element ref="ns1:PublishingExpirationDate" minOccurs="0"/>
                <xsd:element ref="ns2:SharedWithUser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 ma:hidden="true" ma:internalName="PublishingStartDate">
      <xsd:simpleType>
        <xsd:restriction base="dms:Unknown"/>
      </xsd:simpleType>
    </xsd:element>
    <xsd:element name="PublishingExpirationDate" ma:index="9" nillable="true" ma:displayName="Scheduling End Date" ma:description=""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62f2820-d4f7-4116-8da7-341863dcf762" elementFormDefault="qualified">
    <xsd:import namespace="http://schemas.microsoft.com/office/2006/documentManagement/types"/>
    <xsd:import namespace="http://schemas.microsoft.com/office/infopath/2007/PartnerControls"/>
    <xsd:element name="SharedWithUsers" ma:index="10"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b65aa6f8-8819-45a8-b6a0-906d6a702c4f"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2e6c1609-49e0-4fdc-8f5b-8b798a969131"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4baeaec8-4928-4375-bdfb-ddb7c7196353"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75e900b0-493a-4298-a51a-8f0676c612fa}" ma:internalName="TaxCatchAll" ma:showField="CatchAllData" ma:web="4baeaec8-4928-4375-bdfb-ddb7c719635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4baeaec8-4928-4375-bdfb-ddb7c7196353" xsi:nil="true"/>
    <PublishingExpirationDate xmlns="http://schemas.microsoft.com/sharepoint/v3" xsi:nil="true"/>
    <PublishingStartDate xmlns="http://schemas.microsoft.com/sharepoint/v3" xsi:nil="true"/>
    <lcf76f155ced4ddcb4097134ff3c332f xmlns="b65aa6f8-8819-45a8-b6a0-906d6a702c4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7CAE72E-856B-4DF4-A9F6-93C41667E9A0}">
  <ds:schemaRefs>
    <ds:schemaRef ds:uri="http://schemas.microsoft.com/sharepoint/v3/contenttype/forms"/>
  </ds:schemaRefs>
</ds:datastoreItem>
</file>

<file path=customXml/itemProps2.xml><?xml version="1.0" encoding="utf-8"?>
<ds:datastoreItem xmlns:ds="http://schemas.openxmlformats.org/officeDocument/2006/customXml" ds:itemID="{CA44228C-BC0D-47EA-B705-B50FC273ED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a62f2820-d4f7-4116-8da7-341863dcf762"/>
    <ds:schemaRef ds:uri="b65aa6f8-8819-45a8-b6a0-906d6a702c4f"/>
    <ds:schemaRef ds:uri="4baeaec8-4928-4375-bdfb-ddb7c719635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B8C2CD5-50C2-4A7C-996A-3D6312B83669}">
  <ds:schemaRefs>
    <ds:schemaRef ds:uri="http://schemas.microsoft.com/office/2006/documentManagement/types"/>
    <ds:schemaRef ds:uri="http://schemas.microsoft.com/office/2006/metadata/properties"/>
    <ds:schemaRef ds:uri="http://schemas.microsoft.com/office/infopath/2007/PartnerControls"/>
    <ds:schemaRef ds:uri="http://purl.org/dc/terms/"/>
    <ds:schemaRef ds:uri="http://purl.org/dc/dcmitype/"/>
    <ds:schemaRef ds:uri="18f88ba2-4714-4ce4-8806-1d85d427829f"/>
    <ds:schemaRef ds:uri="http://schemas.openxmlformats.org/package/2006/metadata/core-properties"/>
    <ds:schemaRef ds:uri="http://www.w3.org/XML/1998/namespace"/>
    <ds:schemaRef ds:uri="http://purl.org/dc/elements/1.1/"/>
    <ds:schemaRef ds:uri="4baeaec8-4928-4375-bdfb-ddb7c7196353"/>
    <ds:schemaRef ds:uri="http://schemas.microsoft.com/sharepoint/v3"/>
    <ds:schemaRef ds:uri="b65aa6f8-8819-45a8-b6a0-906d6a702c4f"/>
  </ds:schemaRefs>
</ds:datastoreItem>
</file>

<file path=docProps/app.xml><?xml version="1.0" encoding="utf-8"?>
<Properties xmlns="http://schemas.openxmlformats.org/officeDocument/2006/extended-properties" xmlns:vt="http://schemas.openxmlformats.org/officeDocument/2006/docPropsVTypes">
  <Template/>
  <TotalTime>17173</TotalTime>
  <Words>2812</Words>
  <Application>Microsoft Office PowerPoint</Application>
  <PresentationFormat>Widescreen</PresentationFormat>
  <Paragraphs>456</Paragraphs>
  <Slides>42</Slides>
  <Notes>18</Notes>
  <HiddenSlides>0</HiddenSlides>
  <MMClips>0</MMClips>
  <ScaleCrop>false</ScaleCrop>
  <HeadingPairs>
    <vt:vector size="8" baseType="variant">
      <vt:variant>
        <vt:lpstr>Fonts Used</vt:lpstr>
      </vt:variant>
      <vt:variant>
        <vt:i4>6</vt:i4>
      </vt:variant>
      <vt:variant>
        <vt:lpstr>Theme</vt:lpstr>
      </vt:variant>
      <vt:variant>
        <vt:i4>8</vt:i4>
      </vt:variant>
      <vt:variant>
        <vt:lpstr>Embedded OLE Servers</vt:lpstr>
      </vt:variant>
      <vt:variant>
        <vt:i4>1</vt:i4>
      </vt:variant>
      <vt:variant>
        <vt:lpstr>Slide Titles</vt:lpstr>
      </vt:variant>
      <vt:variant>
        <vt:i4>42</vt:i4>
      </vt:variant>
    </vt:vector>
  </HeadingPairs>
  <TitlesOfParts>
    <vt:vector size="57" baseType="lpstr">
      <vt:lpstr>Arial</vt:lpstr>
      <vt:lpstr>Calibri</vt:lpstr>
      <vt:lpstr>Calibri Light</vt:lpstr>
      <vt:lpstr>Courier New</vt:lpstr>
      <vt:lpstr>Times New Roman</vt:lpstr>
      <vt:lpstr>Wingdings</vt:lpstr>
      <vt:lpstr>Upper left castle template public</vt:lpstr>
      <vt:lpstr>CUI Upper left Castle template </vt:lpstr>
      <vt:lpstr>traditional template NON CUI</vt:lpstr>
      <vt:lpstr>Traditional template CUI</vt:lpstr>
      <vt:lpstr>2_Upper Left Star and Castle NON CUI</vt:lpstr>
      <vt:lpstr>Upper Left Star and Castle CUI</vt:lpstr>
      <vt:lpstr>Chart Color Templates</vt:lpstr>
      <vt:lpstr>2_traditional template NON CUI</vt:lpstr>
      <vt:lpstr>Presentation</vt:lpstr>
      <vt:lpstr>INDUSTRY DAY FORUM New Cumberland and Newtown square ARC</vt:lpstr>
      <vt:lpstr>ADMINISTRATIVE ANNOUNCEMENTS</vt:lpstr>
      <vt:lpstr>AGENDA</vt:lpstr>
      <vt:lpstr>US Army Reserve OVERVIEW</vt:lpstr>
      <vt:lpstr>Army reserve program</vt:lpstr>
      <vt:lpstr>Army reserve MILCON program management</vt:lpstr>
      <vt:lpstr>Army reserves milcon communication plan</vt:lpstr>
      <vt:lpstr>USACE PROCUREMENT PROCESS OVERVIEW</vt:lpstr>
      <vt:lpstr>HOW TO OBTAIN THE SOLICITATION </vt:lpstr>
      <vt:lpstr>OBTAINING THE ISSUE DOCUMENTS </vt:lpstr>
      <vt:lpstr>OBTAINING THE ISSUE DOCUMENTS </vt:lpstr>
      <vt:lpstr>OBTAINING THE ISSUE DOCUMENTS </vt:lpstr>
      <vt:lpstr>THE PROCUREMENT PROCESS </vt:lpstr>
      <vt:lpstr>  PROPOSAL REQUIREMENTS   </vt:lpstr>
      <vt:lpstr>  PROPOSAL REQUIREMENTS   </vt:lpstr>
      <vt:lpstr>  PROPOSAL REQUIREMENTS   </vt:lpstr>
      <vt:lpstr>  PROPOSAL REQUIREMENTS   </vt:lpstr>
      <vt:lpstr>  PROPOSAL REQUIREMENTS   </vt:lpstr>
      <vt:lpstr>  PROPOSAL REQUIREMENTS   </vt:lpstr>
      <vt:lpstr>  PROPOSAL REQUIREMENTS   </vt:lpstr>
      <vt:lpstr>PROPOSAL REQUIREMENTS</vt:lpstr>
      <vt:lpstr>Proposal submission</vt:lpstr>
      <vt:lpstr>PROCUREMENT SCHEDULE Dates are approximate AND SUBJECT TO CHANGE</vt:lpstr>
      <vt:lpstr>PowerPoint Presentation</vt:lpstr>
      <vt:lpstr>Small Business Participation plan &amp; Subcontracting PLAN</vt:lpstr>
      <vt:lpstr>Obtain information</vt:lpstr>
      <vt:lpstr>opportunities</vt:lpstr>
      <vt:lpstr>New Cumberland Arc Overview</vt:lpstr>
      <vt:lpstr>New Cumberland ARC</vt:lpstr>
      <vt:lpstr>New Cumberland arc</vt:lpstr>
      <vt:lpstr>New Cumberland site plan</vt:lpstr>
      <vt:lpstr>New Cumberland Army reserve Center</vt:lpstr>
      <vt:lpstr>New Cumberland main floor</vt:lpstr>
      <vt:lpstr>New Cumberland lower floor</vt:lpstr>
      <vt:lpstr>Newtown square ARC</vt:lpstr>
      <vt:lpstr>Newtown square arc</vt:lpstr>
      <vt:lpstr>Newtown square site plan</vt:lpstr>
      <vt:lpstr>Newtown square Army reserve Center</vt:lpstr>
      <vt:lpstr>Newtown square 1st floor</vt:lpstr>
      <vt:lpstr>Newtown square 2nd floor</vt:lpstr>
      <vt:lpstr>SUMMARY</vt:lpstr>
      <vt:lpstr>What Questions do you have for us? </vt:lpstr>
    </vt:vector>
  </TitlesOfParts>
  <Company>United States Army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ELW</dc:creator>
  <cp:lastModifiedBy>King, Ryan M CIV USARMY CELRL (USA)</cp:lastModifiedBy>
  <cp:revision>437</cp:revision>
  <dcterms:created xsi:type="dcterms:W3CDTF">2017-02-20T05:10:01Z</dcterms:created>
  <dcterms:modified xsi:type="dcterms:W3CDTF">2025-03-04T22:19:19Z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0x01010098306E62ACD7194CB5569EDCC29018C1</vt:lpwstr>
  </property>
</Properties>
</file>