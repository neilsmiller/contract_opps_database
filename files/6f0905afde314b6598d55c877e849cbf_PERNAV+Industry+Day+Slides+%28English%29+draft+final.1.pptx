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5.xml" ContentType="application/vnd.openxmlformats-officedocument.theme+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6.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Lst>
  <p:notesMasterIdLst>
    <p:notesMasterId r:id="rId48"/>
  </p:notesMasterIdLst>
  <p:handoutMasterIdLst>
    <p:handoutMasterId r:id="rId49"/>
  </p:handoutMasterIdLst>
  <p:sldIdLst>
    <p:sldId id="274" r:id="rId11"/>
    <p:sldId id="287" r:id="rId12"/>
    <p:sldId id="6598" r:id="rId13"/>
    <p:sldId id="5507" r:id="rId14"/>
    <p:sldId id="317" r:id="rId15"/>
    <p:sldId id="288" r:id="rId16"/>
    <p:sldId id="292" r:id="rId17"/>
    <p:sldId id="293" r:id="rId18"/>
    <p:sldId id="294" r:id="rId19"/>
    <p:sldId id="295" r:id="rId20"/>
    <p:sldId id="296" r:id="rId21"/>
    <p:sldId id="297" r:id="rId22"/>
    <p:sldId id="278" r:id="rId23"/>
    <p:sldId id="5003" r:id="rId24"/>
    <p:sldId id="324" r:id="rId25"/>
    <p:sldId id="289" r:id="rId26"/>
    <p:sldId id="6600" r:id="rId27"/>
    <p:sldId id="323" r:id="rId28"/>
    <p:sldId id="5004" r:id="rId29"/>
    <p:sldId id="290" r:id="rId30"/>
    <p:sldId id="322" r:id="rId31"/>
    <p:sldId id="5005" r:id="rId32"/>
    <p:sldId id="5006" r:id="rId33"/>
    <p:sldId id="5007" r:id="rId34"/>
    <p:sldId id="319" r:id="rId35"/>
    <p:sldId id="291" r:id="rId36"/>
    <p:sldId id="304" r:id="rId37"/>
    <p:sldId id="6599" r:id="rId38"/>
    <p:sldId id="300" r:id="rId39"/>
    <p:sldId id="301" r:id="rId40"/>
    <p:sldId id="303" r:id="rId41"/>
    <p:sldId id="306" r:id="rId42"/>
    <p:sldId id="308" r:id="rId43"/>
    <p:sldId id="320" r:id="rId44"/>
    <p:sldId id="321" r:id="rId45"/>
    <p:sldId id="311" r:id="rId46"/>
    <p:sldId id="312" r:id="rId47"/>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4D4D"/>
    <a:srgbClr val="DEDEDE"/>
    <a:srgbClr val="A29A92"/>
    <a:srgbClr val="00863D"/>
    <a:srgbClr val="00B050"/>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6357" autoAdjust="0"/>
  </p:normalViewPr>
  <p:slideViewPr>
    <p:cSldViewPr snapToGrid="0">
      <p:cViewPr>
        <p:scale>
          <a:sx n="63" d="100"/>
          <a:sy n="63" d="100"/>
        </p:scale>
        <p:origin x="728" y="52"/>
      </p:cViewPr>
      <p:guideLst/>
    </p:cSldViewPr>
  </p:slideViewPr>
  <p:notesTextViewPr>
    <p:cViewPr>
      <p:scale>
        <a:sx n="1" d="1"/>
        <a:sy n="1" d="1"/>
      </p:scale>
      <p:origin x="0" y="0"/>
    </p:cViewPr>
  </p:notesTextViewPr>
  <p:notesViewPr>
    <p:cSldViewPr snapToGrid="0" showGuides="1">
      <p:cViewPr varScale="1">
        <p:scale>
          <a:sx n="98" d="100"/>
          <a:sy n="98" d="100"/>
        </p:scale>
        <p:origin x="3516"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7072"/>
          </a:xfrm>
          <a:prstGeom prst="rect">
            <a:avLst/>
          </a:prstGeom>
        </p:spPr>
        <p:txBody>
          <a:bodyPr vert="horz" lIns="93324" tIns="46662" rIns="93324" bIns="46662" rtlCol="0"/>
          <a:lstStyle>
            <a:lvl1pPr algn="r">
              <a:defRPr sz="1200"/>
            </a:lvl1pPr>
          </a:lstStyle>
          <a:p>
            <a:fld id="{52CF3383-DF08-4C90-8557-22EF3027DD43}" type="datetimeFigureOut">
              <a:rPr lang="en-US" smtClean="0"/>
              <a:t>5/7/2025</a:t>
            </a:fld>
            <a:endParaRPr lang="en-US"/>
          </a:p>
        </p:txBody>
      </p:sp>
      <p:sp>
        <p:nvSpPr>
          <p:cNvPr id="4" name="Footer Placeholder 3"/>
          <p:cNvSpPr>
            <a:spLocks noGrp="1"/>
          </p:cNvSpPr>
          <p:nvPr>
            <p:ph type="ftr" sz="quarter" idx="2"/>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D7D16557-6E8E-4D95-8DF3-2DE1590C714A}" type="datetimeFigureOut">
              <a:rPr lang="en-US" smtClean="0"/>
              <a:t>5/7/2025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199331949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8" name="Picture 7" descr="A picture containing text&#10;&#10;Description automatically generated">
            <a:extLst>
              <a:ext uri="{FF2B5EF4-FFF2-40B4-BE49-F238E27FC236}">
                <a16:creationId xmlns:a16="http://schemas.microsoft.com/office/drawing/2014/main" id="{B52CA88B-F278-0804-2C75-F7C55AD34C3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6B1FB983-3737-2701-4DD9-F43022ED32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6EE69868-1FE0-B964-A206-4C0F333A924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1A9501D2-C168-7B8F-999B-292E269DCFD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966BA7AC-8849-CFEA-0A9E-66C398EFBF4A}"/>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3F3F69EF-5214-81F2-8D96-C7C7CCCAF1C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9E3B760C-551A-157C-0BB7-A15B9685CFF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790D0847-2248-4AB0-056B-DB19479B2F6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09F906BB-5B6D-167B-CEB2-555B2A6F33C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E493B1B0-DF6E-0428-EB43-55E52C2E199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ACE7BC05-CBC4-01BC-3051-4157C01B9CD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9FCFC2E2-33B3-8BAE-3588-CDEDB2A6880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DF4B9351-9AD5-4E21-ABCA-0B975FFF963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023FA402-301C-C967-3EA0-510A37AA7A3B}"/>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8E83443D-1AD1-C3E3-BC61-B4B390735178}"/>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3671130F-2E3C-F17C-8392-BF344960A8B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E50A0CC3-0883-A5EF-98C4-FBFF86B812D3}"/>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1104329D-841F-322F-B4FD-50C3753B429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BC588FE8-0901-4037-1E8D-D0F5B2B5416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A5BABB77-B12F-CBB8-747F-18ED075A64D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DD2DD55B-BFD5-4CD1-262D-A97B8E2CBDF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6" name="Picture 5" descr="A picture containing text&#10;&#10;Description automatically generated">
            <a:extLst>
              <a:ext uri="{FF2B5EF4-FFF2-40B4-BE49-F238E27FC236}">
                <a16:creationId xmlns:a16="http://schemas.microsoft.com/office/drawing/2014/main" id="{D5313449-BD74-1284-FB9A-6F672926DD0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587A808D-60A0-8D4E-3813-06475C2FCB0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D0237BC8-B60F-FCD2-5F43-0C404EADE0E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9409BB-CD30-4097-927B-06021F7328B4}"/>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EC759E00-A94A-4859-8180-D8F2F137281B}"/>
              </a:ext>
            </a:extLst>
          </p:cNvPr>
          <p:cNvSpPr>
            <a:spLocks noGrp="1"/>
          </p:cNvSpPr>
          <p:nvPr>
            <p:ph type="dt" sz="half" idx="10"/>
          </p:nvPr>
        </p:nvSpPr>
        <p:spPr/>
        <p:txBody>
          <a:bodyPr/>
          <a:lstStyle/>
          <a:p>
            <a:fld id="{86BFDF87-924C-4D65-8D86-11EFE18CF7BD}" type="datetime4">
              <a:rPr lang="es-PE" smtClean="0"/>
              <a:t>7 de Mayo de 2025</a:t>
            </a:fld>
            <a:endParaRPr lang="es-PE"/>
          </a:p>
        </p:txBody>
      </p:sp>
      <p:sp>
        <p:nvSpPr>
          <p:cNvPr id="4" name="Marcador de pie de página 3">
            <a:extLst>
              <a:ext uri="{FF2B5EF4-FFF2-40B4-BE49-F238E27FC236}">
                <a16:creationId xmlns:a16="http://schemas.microsoft.com/office/drawing/2014/main" id="{87496A1D-8111-4095-B1FD-B92097248E29}"/>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92358D79-C35C-4D0F-AC73-9326B957839D}"/>
              </a:ext>
            </a:extLst>
          </p:cNvPr>
          <p:cNvSpPr>
            <a:spLocks noGrp="1"/>
          </p:cNvSpPr>
          <p:nvPr>
            <p:ph type="sldNum" sz="quarter" idx="12"/>
          </p:nvPr>
        </p:nvSpPr>
        <p:spPr/>
        <p:txBody>
          <a:bodyPr/>
          <a:lstStyle/>
          <a:p>
            <a:fld id="{427E9C28-01D8-4E57-8F18-8E9AF72529E1}" type="slidenum">
              <a:rPr lang="es-PE" smtClean="0"/>
              <a:t>‹#›</a:t>
            </a:fld>
            <a:endParaRPr lang="es-PE"/>
          </a:p>
        </p:txBody>
      </p:sp>
    </p:spTree>
    <p:extLst>
      <p:ext uri="{BB962C8B-B14F-4D97-AF65-F5344CB8AC3E}">
        <p14:creationId xmlns:p14="http://schemas.microsoft.com/office/powerpoint/2010/main" val="1495925750"/>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93436"/>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100" b="1" i="0">
                <a:solidFill>
                  <a:srgbClr val="FFC00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1555540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03EF026-3C6D-DD4C-DB9B-1BB5E88785B6}"/>
              </a:ext>
            </a:extLst>
          </p:cNvPr>
          <p:cNvSpPr>
            <a:spLocks noGrp="1"/>
          </p:cNvSpPr>
          <p:nvPr>
            <p:ph type="dt" sz="half" idx="10"/>
          </p:nvPr>
        </p:nvSpPr>
        <p:spPr/>
        <p:txBody>
          <a:bodyPr/>
          <a:lstStyle/>
          <a:p>
            <a:fld id="{18CCFD4E-418E-49AD-87B6-E24AF27BC59B}" type="datetimeFigureOut">
              <a:rPr lang="es-PE" smtClean="0"/>
              <a:t>7/05/2025</a:t>
            </a:fld>
            <a:endParaRPr lang="es-PE"/>
          </a:p>
        </p:txBody>
      </p:sp>
      <p:sp>
        <p:nvSpPr>
          <p:cNvPr id="3" name="Marcador de pie de página 2">
            <a:extLst>
              <a:ext uri="{FF2B5EF4-FFF2-40B4-BE49-F238E27FC236}">
                <a16:creationId xmlns:a16="http://schemas.microsoft.com/office/drawing/2014/main" id="{C912EC08-F6BF-EA1E-F087-4157879AAA08}"/>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BA2E45BC-8C93-BA57-89E2-A3CCB90F314A}"/>
              </a:ext>
            </a:extLst>
          </p:cNvPr>
          <p:cNvSpPr>
            <a:spLocks noGrp="1"/>
          </p:cNvSpPr>
          <p:nvPr>
            <p:ph type="sldNum" sz="quarter" idx="12"/>
          </p:nvPr>
        </p:nvSpPr>
        <p:spPr/>
        <p:txBody>
          <a:bodyPr/>
          <a:lstStyle/>
          <a:p>
            <a:fld id="{52DC90DD-239A-458D-B662-12A2B7A265CE}" type="slidenum">
              <a:rPr lang="es-PE" smtClean="0"/>
              <a:t>‹#›</a:t>
            </a:fld>
            <a:endParaRPr lang="es-PE"/>
          </a:p>
        </p:txBody>
      </p:sp>
    </p:spTree>
    <p:extLst>
      <p:ext uri="{BB962C8B-B14F-4D97-AF65-F5344CB8AC3E}">
        <p14:creationId xmlns:p14="http://schemas.microsoft.com/office/powerpoint/2010/main" val="35171463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720236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dirty="0"/>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343208891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20949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8" name="Picture 7" descr="A picture containing text&#10;&#10;Description automatically generated">
            <a:extLst>
              <a:ext uri="{FF2B5EF4-FFF2-40B4-BE49-F238E27FC236}">
                <a16:creationId xmlns:a16="http://schemas.microsoft.com/office/drawing/2014/main" id="{0A528D2D-4A4D-F97A-D677-AC453EC5439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18358085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8" name="Picture 7" descr="A picture containing text&#10;&#10;Description automatically generated">
            <a:extLst>
              <a:ext uri="{FF2B5EF4-FFF2-40B4-BE49-F238E27FC236}">
                <a16:creationId xmlns:a16="http://schemas.microsoft.com/office/drawing/2014/main" id="{3A457AD4-2095-3867-221D-70BE6368CA9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89772597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9" name="Picture 8" descr="A picture containing text&#10;&#10;Description automatically generated">
            <a:extLst>
              <a:ext uri="{FF2B5EF4-FFF2-40B4-BE49-F238E27FC236}">
                <a16:creationId xmlns:a16="http://schemas.microsoft.com/office/drawing/2014/main" id="{BEFDFFDD-B6A4-7C36-236F-C8DBE76015C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14510271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66CEE0C2-A2EC-37F8-0FA2-8F6DEE6E6BCE}"/>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75087945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23F52549-A7A2-E579-5C4F-ADDE0FF257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0644205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picture containing text&#10;&#10;Description automatically generated">
            <a:extLst>
              <a:ext uri="{FF2B5EF4-FFF2-40B4-BE49-F238E27FC236}">
                <a16:creationId xmlns:a16="http://schemas.microsoft.com/office/drawing/2014/main" id="{38909C0C-2362-ABC6-14C8-F645259347F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104130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402505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6817793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5084374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299873838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52411938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33171661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62468487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1499288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8753715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367920520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365763881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35299516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4" name="Picture 3" descr="A picture containing text&#10;&#10;Description automatically generated">
            <a:extLst>
              <a:ext uri="{FF2B5EF4-FFF2-40B4-BE49-F238E27FC236}">
                <a16:creationId xmlns:a16="http://schemas.microsoft.com/office/drawing/2014/main" id="{B41DD984-307D-6B65-2EC3-F89F5D49C29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0FF3DB10-B452-8842-9F2D-874A9A01C931}"/>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17509264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AE0F3131-90A2-FA14-46C5-A3E0AE1D26B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4B9358F3-C91B-BAA8-A416-1790F475F524}"/>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15E5515B-7B2D-64A4-F895-5FD24D26EFD9}"/>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C31B2169-6EB9-0A49-F5E2-D1F27F255023}"/>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F4E34A3B-9CCF-08F7-6C86-A697F8C5C6E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A4F571CD-A66A-DAB7-F02C-FE01298A1425}"/>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dirty="0"/>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6890965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347316825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dirty="0"/>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dirty="0"/>
          </a:p>
        </p:txBody>
      </p:sp>
    </p:spTree>
    <p:extLst>
      <p:ext uri="{BB962C8B-B14F-4D97-AF65-F5344CB8AC3E}">
        <p14:creationId xmlns:p14="http://schemas.microsoft.com/office/powerpoint/2010/main" val="401107571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dirty="0"/>
          </a:p>
        </p:txBody>
      </p:sp>
    </p:spTree>
    <p:extLst>
      <p:ext uri="{BB962C8B-B14F-4D97-AF65-F5344CB8AC3E}">
        <p14:creationId xmlns:p14="http://schemas.microsoft.com/office/powerpoint/2010/main" val="384004314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97479366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8507183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dirty="0"/>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dirty="0"/>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08090194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69610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dirty="0"/>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dirty="0"/>
          </a:p>
        </p:txBody>
      </p:sp>
    </p:spTree>
    <p:extLst>
      <p:ext uri="{BB962C8B-B14F-4D97-AF65-F5344CB8AC3E}">
        <p14:creationId xmlns:p14="http://schemas.microsoft.com/office/powerpoint/2010/main" val="59704092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dirty="0"/>
          </a:p>
        </p:txBody>
      </p:sp>
    </p:spTree>
    <p:extLst>
      <p:ext uri="{BB962C8B-B14F-4D97-AF65-F5344CB8AC3E}">
        <p14:creationId xmlns:p14="http://schemas.microsoft.com/office/powerpoint/2010/main" val="11761343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dirty="0"/>
          </a:p>
        </p:txBody>
      </p:sp>
    </p:spTree>
    <p:extLst>
      <p:ext uri="{BB962C8B-B14F-4D97-AF65-F5344CB8AC3E}">
        <p14:creationId xmlns:p14="http://schemas.microsoft.com/office/powerpoint/2010/main" val="131414139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dirty="0"/>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dirty="0"/>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pic>
        <p:nvPicPr>
          <p:cNvPr id="2" name="Picture 1" descr="A picture containing text&#10;&#10;Description automatically generated">
            <a:extLst>
              <a:ext uri="{FF2B5EF4-FFF2-40B4-BE49-F238E27FC236}">
                <a16:creationId xmlns:a16="http://schemas.microsoft.com/office/drawing/2014/main" id="{E6C9BA8D-46F9-F05A-42C6-7CBE7CDA20C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45072710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7" name="Picture 6" descr="A picture containing text&#10;&#10;Description automatically generated">
            <a:extLst>
              <a:ext uri="{FF2B5EF4-FFF2-40B4-BE49-F238E27FC236}">
                <a16:creationId xmlns:a16="http://schemas.microsoft.com/office/drawing/2014/main" id="{327AC6EC-2F2B-A3E4-430A-803829E55097}"/>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C8D93FF2-5777-4C38-8099-77E0E8AF0CE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1C9058F6-5220-6556-559F-C21E1D90B502}"/>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2" name="Picture 1" descr="A picture containing text&#10;&#10;Description automatically generated">
            <a:extLst>
              <a:ext uri="{FF2B5EF4-FFF2-40B4-BE49-F238E27FC236}">
                <a16:creationId xmlns:a16="http://schemas.microsoft.com/office/drawing/2014/main" id="{6D73CDD9-EDBA-C0D2-35EF-FE0BA5A32206}"/>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descr="A picture containing text&#10;&#10;Description automatically generated">
            <a:extLst>
              <a:ext uri="{FF2B5EF4-FFF2-40B4-BE49-F238E27FC236}">
                <a16:creationId xmlns:a16="http://schemas.microsoft.com/office/drawing/2014/main" id="{818652AA-FE2A-0539-B355-5FE7E3A248B0}"/>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5" name="Picture 4" descr="A picture containing text&#10;&#10;Description automatically generated">
            <a:extLst>
              <a:ext uri="{FF2B5EF4-FFF2-40B4-BE49-F238E27FC236}">
                <a16:creationId xmlns:a16="http://schemas.microsoft.com/office/drawing/2014/main" id="{6D974C97-2663-9CEF-62F3-79D2C7EF4D6D}"/>
              </a:ext>
            </a:extLst>
          </p:cNvPr>
          <p:cNvPicPr>
            <a:picLocks noChangeAspect="1"/>
          </p:cNvPicPr>
          <p:nvPr userDrawn="1"/>
        </p:nvPicPr>
        <p:blipFill>
          <a:blip r:embed="rId3"/>
          <a:stretch>
            <a:fillRect/>
          </a:stretch>
        </p:blipFill>
        <p:spPr>
          <a:xfrm>
            <a:off x="190500" y="5598467"/>
            <a:ext cx="2404153" cy="1069848"/>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dirty="0"/>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34" Type="http://schemas.openxmlformats.org/officeDocument/2006/relationships/image" Target="../media/image5.png"/><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image" Target="../media/image2.png"/><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slideLayout" Target="../slideLayouts/slideLayout8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image" Target="../media/image1.png"/><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theme" Target="../theme/theme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theme" Target="../theme/theme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image" Target="../media/image5.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 Type="http://schemas.openxmlformats.org/officeDocument/2006/relationships/slideLayout" Target="../slideLayouts/slideLayout115.xml"/><Relationship Id="rId21" Type="http://schemas.openxmlformats.org/officeDocument/2006/relationships/slideLayout" Target="../slideLayouts/slideLayout133.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0" Type="http://schemas.openxmlformats.org/officeDocument/2006/relationships/slideLayout" Target="../slideLayouts/slideLayout132.xml"/><Relationship Id="rId29" Type="http://schemas.openxmlformats.org/officeDocument/2006/relationships/image" Target="../media/image1.png"/><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theme" Target="../theme/theme5.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26" Type="http://schemas.openxmlformats.org/officeDocument/2006/relationships/slideLayout" Target="../slideLayouts/slideLayout165.xml"/><Relationship Id="rId3" Type="http://schemas.openxmlformats.org/officeDocument/2006/relationships/slideLayout" Target="../slideLayouts/slideLayout142.xml"/><Relationship Id="rId21" Type="http://schemas.openxmlformats.org/officeDocument/2006/relationships/slideLayout" Target="../slideLayouts/slideLayout160.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5" Type="http://schemas.openxmlformats.org/officeDocument/2006/relationships/slideLayout" Target="../slideLayouts/slideLayout164.xml"/><Relationship Id="rId2" Type="http://schemas.openxmlformats.org/officeDocument/2006/relationships/slideLayout" Target="../slideLayouts/slideLayout141.xml"/><Relationship Id="rId16" Type="http://schemas.openxmlformats.org/officeDocument/2006/relationships/slideLayout" Target="../slideLayouts/slideLayout155.xml"/><Relationship Id="rId20" Type="http://schemas.openxmlformats.org/officeDocument/2006/relationships/slideLayout" Target="../slideLayouts/slideLayout159.xml"/><Relationship Id="rId29" Type="http://schemas.openxmlformats.org/officeDocument/2006/relationships/image" Target="../media/image1.png"/><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24" Type="http://schemas.openxmlformats.org/officeDocument/2006/relationships/slideLayout" Target="../slideLayouts/slideLayout163.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23" Type="http://schemas.openxmlformats.org/officeDocument/2006/relationships/slideLayout" Target="../slideLayouts/slideLayout162.xml"/><Relationship Id="rId28" Type="http://schemas.openxmlformats.org/officeDocument/2006/relationships/theme" Target="../theme/theme6.xml"/><Relationship Id="rId10" Type="http://schemas.openxmlformats.org/officeDocument/2006/relationships/slideLayout" Target="../slideLayouts/slideLayout149.xml"/><Relationship Id="rId19" Type="http://schemas.openxmlformats.org/officeDocument/2006/relationships/slideLayout" Target="../slideLayouts/slideLayout158.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30"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8.xml"/><Relationship Id="rId1" Type="http://schemas.openxmlformats.org/officeDocument/2006/relationships/slideLayout" Target="../slideLayouts/slideLayout167.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32"/>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3"/>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4"/>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 id="2147484198" r:id="rId28"/>
    <p:sldLayoutId id="2147484199" r:id="rId29"/>
    <p:sldLayoutId id="2147484200" r:id="rId30"/>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descr="A picture containing icon&#10;&#10;Description automatically generated">
            <a:extLst>
              <a:ext uri="{FF2B5EF4-FFF2-40B4-BE49-F238E27FC236}">
                <a16:creationId xmlns:a16="http://schemas.microsoft.com/office/drawing/2014/main" id="{8DE6348B-DEF4-FBB3-A87A-F5A9102DCF20}"/>
              </a:ext>
            </a:extLst>
          </p:cNvPr>
          <p:cNvPicPr>
            <a:picLocks noChangeAspect="1"/>
          </p:cNvPicPr>
          <p:nvPr userDrawn="1"/>
        </p:nvPicPr>
        <p:blipFill>
          <a:blip r:embed="rId30"/>
          <a:stretch>
            <a:fillRect/>
          </a:stretch>
        </p:blipFill>
        <p:spPr>
          <a:xfrm>
            <a:off x="190500" y="86740"/>
            <a:ext cx="1972638" cy="877824"/>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dirty="0"/>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pic>
        <p:nvPicPr>
          <p:cNvPr id="9" name="Picture 8" descr="A picture containing icon&#10;&#10;Description automatically generated">
            <a:extLst>
              <a:ext uri="{FF2B5EF4-FFF2-40B4-BE49-F238E27FC236}">
                <a16:creationId xmlns:a16="http://schemas.microsoft.com/office/drawing/2014/main" id="{8506E2F7-B97E-E420-81D5-4C7D829D1CFA}"/>
              </a:ext>
            </a:extLst>
          </p:cNvPr>
          <p:cNvPicPr>
            <a:picLocks noChangeAspect="1"/>
          </p:cNvPicPr>
          <p:nvPr userDrawn="1"/>
        </p:nvPicPr>
        <p:blipFill>
          <a:blip r:embed="rId30"/>
          <a:stretch>
            <a:fillRect/>
          </a:stretch>
        </p:blipFill>
        <p:spPr>
          <a:xfrm>
            <a:off x="190500" y="86740"/>
            <a:ext cx="1972638" cy="877824"/>
          </a:xfrm>
          <a:prstGeom prst="rect">
            <a:avLst/>
          </a:prstGeom>
        </p:spPr>
      </p:pic>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dirty="0"/>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4.xml"/><Relationship Id="rId4"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8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3" Type="http://schemas.openxmlformats.org/officeDocument/2006/relationships/hyperlink" Target="https://piee.be.mil/" TargetMode="External"/><Relationship Id="rId2" Type="http://schemas.openxmlformats.org/officeDocument/2006/relationships/hyperlink" Target="https://sam.gov/" TargetMode="External"/><Relationship Id="rId1" Type="http://schemas.openxmlformats.org/officeDocument/2006/relationships/slideLayout" Target="../slideLayouts/slideLayout56.xml"/><Relationship Id="rId6" Type="http://schemas.openxmlformats.org/officeDocument/2006/relationships/hyperlink" Target="https://piee.eb.mil/xhtml/unauth/help/helpvendors.xhtml" TargetMode="External"/><Relationship Id="rId5" Type="http://schemas.openxmlformats.org/officeDocument/2006/relationships/hyperlink" Target="https://www.fsd.gov/sys_attachment.do?sys_id=c3fbd4771be83898d3ab404fe54bcb19" TargetMode="External"/><Relationship Id="rId4" Type="http://schemas.openxmlformats.org/officeDocument/2006/relationships/hyperlink" Target="https://eportal.nspa.nato.int/Codification/CageTool/request-new-cag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sam.gov/" TargetMode="External"/><Relationship Id="rId2" Type="http://schemas.openxmlformats.org/officeDocument/2006/relationships/hyperlink" Target="https://www.projnet.org/" TargetMode="External"/><Relationship Id="rId1" Type="http://schemas.openxmlformats.org/officeDocument/2006/relationships/slideLayout" Target="../slideLayouts/slideLayout56.xml"/><Relationship Id="rId4" Type="http://schemas.openxmlformats.org/officeDocument/2006/relationships/hyperlink" Target="https://piee.eb.mi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dol.gov/agencies/owcp/dlhwc/lsdba" TargetMode="External"/><Relationship Id="rId2" Type="http://schemas.openxmlformats.org/officeDocument/2006/relationships/hyperlink" Target="https://www.acquisition.gov/far/52.228-15" TargetMode="External"/><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hyperlink" Target="http://www.publications.usace.army.mil/Portals/76/Publications/EngineerManuals/EM_385-1-1.pdf" TargetMode="Externa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4.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www.publications.usace.army.mil/Portals/76/Publications/EngineerPamphlets/EP_715-1-7.pdf" TargetMode="External"/><Relationship Id="rId2" Type="http://schemas.openxmlformats.org/officeDocument/2006/relationships/hyperlink" Target="https://www.acquisition.gov/far/subpart-36.6" TargetMode="External"/><Relationship Id="rId1" Type="http://schemas.openxmlformats.org/officeDocument/2006/relationships/slideLayout" Target="../slideLayouts/slideLayout56.xml"/></Relationships>
</file>

<file path=ppt/slides/_rels/slide16.xml.rels><?xml version="1.0" encoding="UTF-8" standalone="yes"?>
<Relationships xmlns="http://schemas.openxmlformats.org/package/2006/relationships"><Relationship Id="rId2" Type="http://schemas.openxmlformats.org/officeDocument/2006/relationships/hyperlink" Target="https://www.naics.com/search/" TargetMode="External"/><Relationship Id="rId1"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2" Type="http://schemas.openxmlformats.org/officeDocument/2006/relationships/hyperlink" Target="mailto:jillian.e.saffle@usace.army.mil" TargetMode="Externa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6.xml.rels><?xml version="1.0" encoding="UTF-8" standalone="yes"?>
<Relationships xmlns="http://schemas.openxmlformats.org/package/2006/relationships"><Relationship Id="rId3" Type="http://schemas.openxmlformats.org/officeDocument/2006/relationships/hyperlink" Target="https://piee.eb.mil/" TargetMode="External"/><Relationship Id="rId2" Type="http://schemas.openxmlformats.org/officeDocument/2006/relationships/hyperlink" Target="https://piee.eb.mil/xhtml/unauth/home/login.xhtml" TargetMode="External"/><Relationship Id="rId1" Type="http://schemas.openxmlformats.org/officeDocument/2006/relationships/slideLayout" Target="../slideLayouts/slideLayout56.xml"/><Relationship Id="rId4" Type="http://schemas.openxmlformats.org/officeDocument/2006/relationships/hyperlink" Target="https://www.projnet.org/" TargetMode="External"/></Relationships>
</file>

<file path=ppt/slides/_rels/slide37.xml.rels><?xml version="1.0" encoding="UTF-8" standalone="yes"?>
<Relationships xmlns="http://schemas.openxmlformats.org/package/2006/relationships"><Relationship Id="rId2" Type="http://schemas.openxmlformats.org/officeDocument/2006/relationships/hyperlink" Target="mailto:jillian.e.saffle@usace.army.mil" TargetMode="Externa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a:xfrm>
            <a:off x="266700" y="260931"/>
            <a:ext cx="6329001" cy="3007055"/>
          </a:xfrm>
        </p:spPr>
        <p:txBody>
          <a:bodyPr/>
          <a:lstStyle/>
          <a:p>
            <a:r>
              <a:rPr lang="en-US" dirty="0"/>
              <a:t>US Army Corps of Engineers’ construction opportunities in support of the Peruvian Navy at the Port of Callao</a:t>
            </a:r>
          </a:p>
        </p:txBody>
      </p:sp>
      <p:sp>
        <p:nvSpPr>
          <p:cNvPr id="7" name="Picture Placeholder 6">
            <a:extLst>
              <a:ext uri="{FF2B5EF4-FFF2-40B4-BE49-F238E27FC236}">
                <a16:creationId xmlns:a16="http://schemas.microsoft.com/office/drawing/2014/main" id="{2F31E74A-A6B4-2E28-2C57-4182308E7C0C}"/>
              </a:ext>
            </a:extLst>
          </p:cNvPr>
          <p:cNvSpPr>
            <a:spLocks noGrp="1"/>
          </p:cNvSpPr>
          <p:nvPr>
            <p:ph type="pic" sz="quarter" idx="15"/>
          </p:nvPr>
        </p:nvSpPr>
        <p:spPr/>
        <p:txBody>
          <a:bodyPr/>
          <a:lstStyle/>
          <a:p>
            <a:endParaRPr lang="en-US"/>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700" y="3343630"/>
            <a:ext cx="6329001" cy="2023708"/>
          </a:xfrm>
        </p:spPr>
        <p:txBody>
          <a:bodyPr/>
          <a:lstStyle/>
          <a:p>
            <a:r>
              <a:rPr lang="en-US" dirty="0"/>
              <a:t>Industry Day</a:t>
            </a:r>
          </a:p>
          <a:p>
            <a:r>
              <a:rPr lang="en-US" dirty="0"/>
              <a:t>May 8, 2025</a:t>
            </a:r>
          </a:p>
        </p:txBody>
      </p:sp>
      <p:sp>
        <p:nvSpPr>
          <p:cNvPr id="8" name="Picture Placeholder 7">
            <a:extLst>
              <a:ext uri="{FF2B5EF4-FFF2-40B4-BE49-F238E27FC236}">
                <a16:creationId xmlns:a16="http://schemas.microsoft.com/office/drawing/2014/main" id="{A7836D14-2EC2-59AA-6E2E-0D6A5A8510E0}"/>
              </a:ext>
            </a:extLst>
          </p:cNvPr>
          <p:cNvSpPr>
            <a:spLocks noGrp="1"/>
          </p:cNvSpPr>
          <p:nvPr>
            <p:ph type="pic" sz="quarter" idx="16"/>
          </p:nvPr>
        </p:nvSpPr>
        <p:spPr/>
        <p:txBody>
          <a:bodyPr/>
          <a:lstStyle/>
          <a:p>
            <a:endParaRPr lang="en-US"/>
          </a:p>
        </p:txBody>
      </p:sp>
      <p:pic>
        <p:nvPicPr>
          <p:cNvPr id="10" name="Picture Placeholder 6">
            <a:extLst>
              <a:ext uri="{FF2B5EF4-FFF2-40B4-BE49-F238E27FC236}">
                <a16:creationId xmlns:a16="http://schemas.microsoft.com/office/drawing/2014/main" id="{F9280A7F-EB2C-C722-E5AD-BC11F8179B10}"/>
              </a:ext>
            </a:extLst>
          </p:cNvPr>
          <p:cNvPicPr>
            <a:picLocks noChangeAspect="1"/>
          </p:cNvPicPr>
          <p:nvPr/>
        </p:nvPicPr>
        <p:blipFill>
          <a:blip r:embed="rId2"/>
          <a:srcRect t="368" b="368"/>
          <a:stretch/>
        </p:blipFill>
        <p:spPr bwMode="auto">
          <a:xfrm>
            <a:off x="6750657" y="262499"/>
            <a:ext cx="5176211" cy="3081131"/>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pic>
        <p:nvPicPr>
          <p:cNvPr id="11" name="Picture Placeholder 7">
            <a:extLst>
              <a:ext uri="{FF2B5EF4-FFF2-40B4-BE49-F238E27FC236}">
                <a16:creationId xmlns:a16="http://schemas.microsoft.com/office/drawing/2014/main" id="{59733DC9-C6C1-B464-D93E-21728877937A}"/>
              </a:ext>
            </a:extLst>
          </p:cNvPr>
          <p:cNvPicPr>
            <a:picLocks noChangeAspect="1"/>
          </p:cNvPicPr>
          <p:nvPr/>
        </p:nvPicPr>
        <p:blipFill>
          <a:blip r:embed="rId3"/>
          <a:srcRect t="15142" b="15142"/>
          <a:stretch/>
        </p:blipFill>
        <p:spPr bwMode="auto">
          <a:xfrm>
            <a:off x="8610600" y="3505886"/>
            <a:ext cx="3314700" cy="3081131"/>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pic>
        <p:nvPicPr>
          <p:cNvPr id="12" name="Picture Placeholder 8">
            <a:extLst>
              <a:ext uri="{FF2B5EF4-FFF2-40B4-BE49-F238E27FC236}">
                <a16:creationId xmlns:a16="http://schemas.microsoft.com/office/drawing/2014/main" id="{01AD1E0C-10A1-C79C-454D-2108450194E4}"/>
              </a:ext>
            </a:extLst>
          </p:cNvPr>
          <p:cNvPicPr>
            <a:picLocks noChangeAspect="1"/>
          </p:cNvPicPr>
          <p:nvPr/>
        </p:nvPicPr>
        <p:blipFill>
          <a:blip r:embed="rId4"/>
          <a:srcRect l="4489" r="4489"/>
          <a:stretch/>
        </p:blipFill>
        <p:spPr bwMode="auto">
          <a:xfrm>
            <a:off x="5142512" y="3509022"/>
            <a:ext cx="3314700" cy="3093720"/>
          </a:xfrm>
          <a:prstGeom prst="rect">
            <a:avLst/>
          </a:prstGeom>
          <a:solidFill>
            <a:schemeClr val="tx2"/>
          </a:solidFill>
          <a:ln w="38100" cap="flat" cmpd="sng" algn="ctr">
            <a:noFill/>
            <a:prstDash val="solid"/>
            <a:miter lim="800000"/>
            <a:headEnd/>
            <a:tailEnd/>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5766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p:txBody>
          <a:bodyPr/>
          <a:lstStyle/>
          <a:p>
            <a:r>
              <a:rPr lang="en-US" dirty="0"/>
              <a:t>Purpose of this Presentation</a:t>
            </a:r>
          </a:p>
        </p:txBody>
      </p:sp>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129085"/>
            <a:ext cx="11658600" cy="5500315"/>
          </a:xfrm>
        </p:spPr>
        <p:txBody>
          <a:bodyPr/>
          <a:lstStyle/>
          <a:p>
            <a:r>
              <a:rPr lang="en-US" dirty="0"/>
              <a:t>Familiarize Contractors with the Peruvian Navy Special Projects Office and the Mobile District, US Army Corps of Engineers (USACE), and its engineering and construction mission in support of the Peruvian Navy at the Port of Callao.</a:t>
            </a:r>
          </a:p>
          <a:p>
            <a:endParaRPr lang="en-US" dirty="0"/>
          </a:p>
          <a:p>
            <a:r>
              <a:rPr lang="en-US" dirty="0"/>
              <a:t>Discuss the purpose of planned solicitations and the resulting contracts.</a:t>
            </a:r>
          </a:p>
          <a:p>
            <a:endParaRPr lang="en-US" dirty="0"/>
          </a:p>
          <a:p>
            <a:r>
              <a:rPr lang="en-US" dirty="0"/>
              <a:t>Familiarize Contractors with the timeframes and submission requirements for planned solicitations.</a:t>
            </a:r>
          </a:p>
          <a:p>
            <a:endParaRPr lang="en-US" dirty="0"/>
          </a:p>
          <a:p>
            <a:r>
              <a:rPr lang="en-US" dirty="0"/>
              <a:t>Request industry feedback on the proposed solicitations and technical requirements.</a:t>
            </a:r>
          </a:p>
          <a:p>
            <a:endParaRPr lang="en-US" dirty="0"/>
          </a:p>
          <a:p>
            <a:r>
              <a:rPr lang="en-US" dirty="0">
                <a:solidFill>
                  <a:srgbClr val="FF0000"/>
                </a:solidFill>
              </a:rPr>
              <a:t>Disclaimer: This pre-proposal conference is for informational purposes only.</a:t>
            </a:r>
          </a:p>
          <a:p>
            <a:endParaRPr lang="en-US" dirty="0"/>
          </a:p>
          <a:p>
            <a:r>
              <a:rPr lang="en-US" dirty="0"/>
              <a:t>Any remarks or explanations given during this conference (or in the conference notes) will not change the terms and conditions of the solicitation.  Offerors are cautioned to carefully read the requirements of the solicitation and comply accordingly.  Oral exchanges between offerors and the Government will not be binding unless changes are incorporated by a written amendment.</a:t>
            </a:r>
          </a:p>
          <a:p>
            <a:endParaRPr lang="en-US" dirty="0"/>
          </a:p>
        </p:txBody>
      </p:sp>
    </p:spTree>
    <p:extLst>
      <p:ext uri="{BB962C8B-B14F-4D97-AF65-F5344CB8AC3E}">
        <p14:creationId xmlns:p14="http://schemas.microsoft.com/office/powerpoint/2010/main" val="3632363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C9EFF77C-26F1-C74A-8BA9-C8C70DF28E10}"/>
              </a:ext>
            </a:extLst>
          </p:cNvPr>
          <p:cNvSpPr/>
          <p:nvPr/>
        </p:nvSpPr>
        <p:spPr>
          <a:xfrm>
            <a:off x="10035251" y="2882096"/>
            <a:ext cx="1458410" cy="3070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Imagen 5" descr="Interfaz de usuario gráfica, Aplicación, Word&#10;&#10;Descripción generada automáticamente">
            <a:extLst>
              <a:ext uri="{FF2B5EF4-FFF2-40B4-BE49-F238E27FC236}">
                <a16:creationId xmlns:a16="http://schemas.microsoft.com/office/drawing/2014/main" id="{8DA73A49-2DA2-3C4B-8F87-0C02E268C51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05032" y="1295316"/>
            <a:ext cx="3249281" cy="3390176"/>
          </a:xfrm>
          <a:prstGeom prst="rect">
            <a:avLst/>
          </a:prstGeom>
          <a:ln>
            <a:solidFill>
              <a:schemeClr val="tx1"/>
            </a:solidFill>
          </a:ln>
        </p:spPr>
      </p:pic>
      <p:sp>
        <p:nvSpPr>
          <p:cNvPr id="10" name="Flecha derecha 9">
            <a:extLst>
              <a:ext uri="{FF2B5EF4-FFF2-40B4-BE49-F238E27FC236}">
                <a16:creationId xmlns:a16="http://schemas.microsoft.com/office/drawing/2014/main" id="{815C6E37-D9AF-814A-BDB1-791FEF2FD04C}"/>
              </a:ext>
            </a:extLst>
          </p:cNvPr>
          <p:cNvSpPr/>
          <p:nvPr/>
        </p:nvSpPr>
        <p:spPr>
          <a:xfrm>
            <a:off x="4758807" y="2762686"/>
            <a:ext cx="935775" cy="1018251"/>
          </a:xfrm>
          <a:prstGeom prst="rightArrow">
            <a:avLst/>
          </a:prstGeom>
          <a:solidFill>
            <a:srgbClr val="0033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Imagen 12">
            <a:extLst>
              <a:ext uri="{FF2B5EF4-FFF2-40B4-BE49-F238E27FC236}">
                <a16:creationId xmlns:a16="http://schemas.microsoft.com/office/drawing/2014/main" id="{C4B69CF5-CC8B-EF4F-96D3-9DDD4B58E982}"/>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5914447" y="1166913"/>
            <a:ext cx="5718753" cy="4820637"/>
          </a:xfrm>
          <a:prstGeom prst="rect">
            <a:avLst/>
          </a:prstGeom>
        </p:spPr>
      </p:pic>
      <p:sp>
        <p:nvSpPr>
          <p:cNvPr id="2" name="CuadroTexto 1">
            <a:extLst>
              <a:ext uri="{FF2B5EF4-FFF2-40B4-BE49-F238E27FC236}">
                <a16:creationId xmlns:a16="http://schemas.microsoft.com/office/drawing/2014/main" id="{8C5149EA-D0F5-204D-A49B-16E3C363C49E}"/>
              </a:ext>
            </a:extLst>
          </p:cNvPr>
          <p:cNvSpPr txBox="1"/>
          <p:nvPr/>
        </p:nvSpPr>
        <p:spPr>
          <a:xfrm>
            <a:off x="707532" y="6056313"/>
            <a:ext cx="11484468"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 Se proyecta el desarrollo potencial del TPC en un horizonte de largo plazo de 30 años</a:t>
            </a:r>
            <a:r>
              <a:rPr kumimoji="0" lang="es-PE" sz="1400" b="0" i="0" u="none" strike="noStrike" kern="1200" cap="none" spc="0" normalizeH="0" baseline="0" noProof="0" dirty="0">
                <a:ln>
                  <a:noFill/>
                </a:ln>
                <a:solidFill>
                  <a:prstClr val="black"/>
                </a:solidFill>
                <a:effectLst/>
                <a:uLnTx/>
                <a:uFillTx/>
                <a:latin typeface="Helvetica" pitchFamily="2" charset="0"/>
                <a:ea typeface="+mn-ea"/>
                <a:cs typeface="+mn-cs"/>
              </a:rPr>
              <a:t> </a:t>
            </a: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que se corresponde con el periodo 2019-2048.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400" b="0" i="1" u="none" strike="noStrike" kern="1200" cap="none" spc="0" normalizeH="0" baseline="0" noProof="0" dirty="0">
                <a:ln>
                  <a:noFill/>
                </a:ln>
                <a:solidFill>
                  <a:prstClr val="black"/>
                </a:solidFill>
                <a:effectLst/>
                <a:uLnTx/>
                <a:uFillTx/>
                <a:latin typeface="Helvetica" pitchFamily="2" charset="0"/>
                <a:ea typeface="+mn-ea"/>
                <a:cs typeface="+mn-cs"/>
              </a:rPr>
              <a:t>(**) </a:t>
            </a:r>
            <a:r>
              <a:rPr kumimoji="0" lang="en-US" sz="1400" b="0" i="1" u="none" strike="noStrike" kern="1200" cap="none" spc="0" normalizeH="0" baseline="0" noProof="0" dirty="0">
                <a:ln>
                  <a:noFill/>
                </a:ln>
                <a:solidFill>
                  <a:prstClr val="black"/>
                </a:solidFill>
                <a:effectLst/>
                <a:uLnTx/>
                <a:uFillTx/>
                <a:latin typeface="Helvetica" pitchFamily="2" charset="0"/>
                <a:ea typeface="+mn-ea"/>
                <a:cs typeface="+mn-cs"/>
              </a:rPr>
              <a:t>The current requirement is the expansion of Phase 1 - South Pier Terminal (DPW Callao) and the Multipurpose North Terminal (APMT Callao)</a:t>
            </a:r>
            <a:endParaRPr kumimoji="0" lang="es-PE" sz="14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20" name="CuadroTexto 19"/>
          <p:cNvSpPr txBox="1"/>
          <p:nvPr/>
        </p:nvSpPr>
        <p:spPr>
          <a:xfrm>
            <a:off x="805032" y="4834528"/>
            <a:ext cx="4407963" cy="738664"/>
          </a:xfrm>
          <a:prstGeom prst="rect">
            <a:avLst/>
          </a:prstGeom>
          <a:noFill/>
          <a:ln>
            <a:solidFill>
              <a:srgbClr val="002060"/>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PE" sz="1400" b="1" i="0" u="none" strike="noStrike" kern="1200" cap="none" spc="0" normalizeH="0" baseline="0" noProof="0" dirty="0">
                <a:ln>
                  <a:noFill/>
                </a:ln>
                <a:solidFill>
                  <a:prstClr val="black"/>
                </a:solidFill>
                <a:effectLst/>
                <a:uLnTx/>
                <a:uFillTx/>
                <a:latin typeface="Calibri" panose="020F0502020204030204"/>
                <a:ea typeface="+mn-ea"/>
                <a:cs typeface="+mn-cs"/>
              </a:rPr>
              <a:t>APN – Callao Port Terminal Master Plan.</a:t>
            </a:r>
            <a:r>
              <a:rPr kumimoji="0" lang="es-PE"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updated version was approved with the Board of Directors Agreement Resolution</a:t>
            </a:r>
            <a:r>
              <a:rPr kumimoji="0" lang="es-ES" sz="1400" b="0" i="0" u="none" strike="noStrike" kern="1200" cap="none" spc="0" normalizeH="0" baseline="0" noProof="0" dirty="0">
                <a:ln>
                  <a:noFill/>
                </a:ln>
                <a:solidFill>
                  <a:prstClr val="black"/>
                </a:solidFill>
                <a:effectLst/>
                <a:uLnTx/>
                <a:uFillTx/>
                <a:latin typeface="Calibri" panose="020F0502020204030204"/>
                <a:ea typeface="+mn-ea"/>
                <a:cs typeface="+mn-cs"/>
              </a:rPr>
              <a:t>   N°0070-2020-APN-DIR</a:t>
            </a:r>
            <a:endParaRPr kumimoji="0" lang="es-PE"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ítulo 2">
            <a:extLst>
              <a:ext uri="{FF2B5EF4-FFF2-40B4-BE49-F238E27FC236}">
                <a16:creationId xmlns:a16="http://schemas.microsoft.com/office/drawing/2014/main" id="{54567355-B3B5-F452-9225-739DFC0A7F0B}"/>
              </a:ext>
            </a:extLst>
          </p:cNvPr>
          <p:cNvSpPr>
            <a:spLocks noGrp="1"/>
          </p:cNvSpPr>
          <p:nvPr>
            <p:ph type="title"/>
          </p:nvPr>
        </p:nvSpPr>
        <p:spPr>
          <a:xfrm>
            <a:off x="838200" y="154540"/>
            <a:ext cx="10515600" cy="424732"/>
          </a:xfrm>
        </p:spPr>
        <p:txBody>
          <a:bodyPr/>
          <a:lstStyle/>
          <a:p>
            <a:r>
              <a:rPr lang="es-MX" dirty="0">
                <a:latin typeface="Thaoma"/>
                <a:ea typeface="+mn-ea"/>
                <a:cs typeface="+mn-cs"/>
              </a:rPr>
              <a:t>Callao Port Terminal Master Plan</a:t>
            </a:r>
            <a:endParaRPr lang="es-PE" dirty="0">
              <a:latin typeface="Thaoma"/>
              <a:ea typeface="+mn-ea"/>
              <a:cs typeface="+mn-cs"/>
            </a:endParaRPr>
          </a:p>
        </p:txBody>
      </p:sp>
    </p:spTree>
    <p:extLst>
      <p:ext uri="{BB962C8B-B14F-4D97-AF65-F5344CB8AC3E}">
        <p14:creationId xmlns:p14="http://schemas.microsoft.com/office/powerpoint/2010/main" val="26598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rma libre 35">
            <a:extLst>
              <a:ext uri="{FF2B5EF4-FFF2-40B4-BE49-F238E27FC236}">
                <a16:creationId xmlns:a16="http://schemas.microsoft.com/office/drawing/2014/main" id="{0D351713-AD61-4610-9B83-EC78915FC2BE}"/>
              </a:ext>
            </a:extLst>
          </p:cNvPr>
          <p:cNvSpPr/>
          <p:nvPr/>
        </p:nvSpPr>
        <p:spPr>
          <a:xfrm>
            <a:off x="4757684" y="5333559"/>
            <a:ext cx="1346200" cy="1524000"/>
          </a:xfrm>
          <a:custGeom>
            <a:avLst/>
            <a:gdLst>
              <a:gd name="connsiteX0" fmla="*/ 698500 w 1346200"/>
              <a:gd name="connsiteY0" fmla="*/ 101600 h 1524000"/>
              <a:gd name="connsiteX1" fmla="*/ 609600 w 1346200"/>
              <a:gd name="connsiteY1" fmla="*/ 0 h 1524000"/>
              <a:gd name="connsiteX2" fmla="*/ 0 w 1346200"/>
              <a:gd name="connsiteY2" fmla="*/ 603250 h 1524000"/>
              <a:gd name="connsiteX3" fmla="*/ 996950 w 1346200"/>
              <a:gd name="connsiteY3" fmla="*/ 1524000 h 1524000"/>
              <a:gd name="connsiteX4" fmla="*/ 1346200 w 1346200"/>
              <a:gd name="connsiteY4" fmla="*/ 1231900 h 1524000"/>
              <a:gd name="connsiteX5" fmla="*/ 444500 w 1346200"/>
              <a:gd name="connsiteY5" fmla="*/ 387350 h 1524000"/>
              <a:gd name="connsiteX6" fmla="*/ 698500 w 1346200"/>
              <a:gd name="connsiteY6" fmla="*/ 101600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6200" h="1524000">
                <a:moveTo>
                  <a:pt x="698500" y="101600"/>
                </a:moveTo>
                <a:lnTo>
                  <a:pt x="609600" y="0"/>
                </a:lnTo>
                <a:lnTo>
                  <a:pt x="0" y="603250"/>
                </a:lnTo>
                <a:lnTo>
                  <a:pt x="996950" y="1524000"/>
                </a:lnTo>
                <a:lnTo>
                  <a:pt x="1346200" y="1231900"/>
                </a:lnTo>
                <a:lnTo>
                  <a:pt x="444500" y="387350"/>
                </a:lnTo>
                <a:lnTo>
                  <a:pt x="698500" y="101600"/>
                </a:lnTo>
                <a:close/>
              </a:path>
            </a:pathLst>
          </a:custGeom>
          <a:solidFill>
            <a:schemeClr val="accent1">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Rectángulo 4">
            <a:extLst>
              <a:ext uri="{FF2B5EF4-FFF2-40B4-BE49-F238E27FC236}">
                <a16:creationId xmlns:a16="http://schemas.microsoft.com/office/drawing/2014/main" id="{3263C9DF-8D1B-E447-A9F7-08AB4A662DFD}"/>
              </a:ext>
            </a:extLst>
          </p:cNvPr>
          <p:cNvSpPr/>
          <p:nvPr/>
        </p:nvSpPr>
        <p:spPr>
          <a:xfrm>
            <a:off x="10087731" y="3627033"/>
            <a:ext cx="2089618" cy="9449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6" name="Grupo 5">
            <a:extLst>
              <a:ext uri="{FF2B5EF4-FFF2-40B4-BE49-F238E27FC236}">
                <a16:creationId xmlns:a16="http://schemas.microsoft.com/office/drawing/2014/main" id="{2E5CAB15-4963-8344-8683-0939532546D4}"/>
              </a:ext>
            </a:extLst>
          </p:cNvPr>
          <p:cNvGrpSpPr/>
          <p:nvPr/>
        </p:nvGrpSpPr>
        <p:grpSpPr>
          <a:xfrm>
            <a:off x="4865437" y="5737841"/>
            <a:ext cx="2243960" cy="1119717"/>
            <a:chOff x="3826313" y="5723987"/>
            <a:chExt cx="2243960" cy="1113130"/>
          </a:xfrm>
        </p:grpSpPr>
        <p:sp>
          <p:nvSpPr>
            <p:cNvPr id="24" name="Forma libre 16">
              <a:extLst>
                <a:ext uri="{FF2B5EF4-FFF2-40B4-BE49-F238E27FC236}">
                  <a16:creationId xmlns:a16="http://schemas.microsoft.com/office/drawing/2014/main" id="{CF9E4062-FCF8-47CF-A623-A4C06DBE64A6}"/>
                </a:ext>
              </a:extLst>
            </p:cNvPr>
            <p:cNvSpPr/>
            <p:nvPr/>
          </p:nvSpPr>
          <p:spPr>
            <a:xfrm>
              <a:off x="4449388" y="5723987"/>
              <a:ext cx="1517650" cy="1066800"/>
            </a:xfrm>
            <a:custGeom>
              <a:avLst/>
              <a:gdLst>
                <a:gd name="connsiteX0" fmla="*/ 266700 w 1517650"/>
                <a:gd name="connsiteY0" fmla="*/ 0 h 1066800"/>
                <a:gd name="connsiteX1" fmla="*/ 0 w 1517650"/>
                <a:gd name="connsiteY1" fmla="*/ 260350 h 1066800"/>
                <a:gd name="connsiteX2" fmla="*/ 717550 w 1517650"/>
                <a:gd name="connsiteY2" fmla="*/ 901700 h 1066800"/>
                <a:gd name="connsiteX3" fmla="*/ 869950 w 1517650"/>
                <a:gd name="connsiteY3" fmla="*/ 1066800 h 1066800"/>
                <a:gd name="connsiteX4" fmla="*/ 1130300 w 1517650"/>
                <a:gd name="connsiteY4" fmla="*/ 927100 h 1066800"/>
                <a:gd name="connsiteX5" fmla="*/ 1371600 w 1517650"/>
                <a:gd name="connsiteY5" fmla="*/ 654050 h 1066800"/>
                <a:gd name="connsiteX6" fmla="*/ 1517650 w 1517650"/>
                <a:gd name="connsiteY6" fmla="*/ 400050 h 1066800"/>
                <a:gd name="connsiteX7" fmla="*/ 1225550 w 1517650"/>
                <a:gd name="connsiteY7" fmla="*/ 203200 h 1066800"/>
                <a:gd name="connsiteX8" fmla="*/ 889000 w 1517650"/>
                <a:gd name="connsiteY8" fmla="*/ 577850 h 1066800"/>
                <a:gd name="connsiteX9" fmla="*/ 266700 w 1517650"/>
                <a:gd name="connsiteY9" fmla="*/ 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7650" h="1066800">
                  <a:moveTo>
                    <a:pt x="266700" y="0"/>
                  </a:moveTo>
                  <a:lnTo>
                    <a:pt x="0" y="260350"/>
                  </a:lnTo>
                  <a:lnTo>
                    <a:pt x="717550" y="901700"/>
                  </a:lnTo>
                  <a:lnTo>
                    <a:pt x="869950" y="1066800"/>
                  </a:lnTo>
                  <a:lnTo>
                    <a:pt x="1130300" y="927100"/>
                  </a:lnTo>
                  <a:lnTo>
                    <a:pt x="1371600" y="654050"/>
                  </a:lnTo>
                  <a:lnTo>
                    <a:pt x="1517650" y="400050"/>
                  </a:lnTo>
                  <a:lnTo>
                    <a:pt x="1225550" y="203200"/>
                  </a:lnTo>
                  <a:lnTo>
                    <a:pt x="889000" y="577850"/>
                  </a:lnTo>
                  <a:lnTo>
                    <a:pt x="266700" y="0"/>
                  </a:lnTo>
                  <a:close/>
                </a:path>
              </a:pathLst>
            </a:custGeom>
            <a:solidFill>
              <a:srgbClr val="F8CBAD">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8" name="Rectángulo 57">
              <a:extLst>
                <a:ext uri="{FF2B5EF4-FFF2-40B4-BE49-F238E27FC236}">
                  <a16:creationId xmlns:a16="http://schemas.microsoft.com/office/drawing/2014/main" id="{C0819039-8D7D-CD43-8A05-D28F678027E2}"/>
                </a:ext>
              </a:extLst>
            </p:cNvPr>
            <p:cNvSpPr/>
            <p:nvPr/>
          </p:nvSpPr>
          <p:spPr>
            <a:xfrm>
              <a:off x="3826313" y="6242166"/>
              <a:ext cx="2243960" cy="594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3" name="Imagen 2">
            <a:extLst>
              <a:ext uri="{FF2B5EF4-FFF2-40B4-BE49-F238E27FC236}">
                <a16:creationId xmlns:a16="http://schemas.microsoft.com/office/drawing/2014/main" id="{F55C792A-377A-ED46-97BE-F2F9FD9FC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3523"/>
            <a:ext cx="12177348" cy="6810953"/>
          </a:xfrm>
          <a:prstGeom prst="rect">
            <a:avLst/>
          </a:prstGeom>
        </p:spPr>
      </p:pic>
      <p:sp>
        <p:nvSpPr>
          <p:cNvPr id="59" name="CuadroTexto 58">
            <a:extLst>
              <a:ext uri="{FF2B5EF4-FFF2-40B4-BE49-F238E27FC236}">
                <a16:creationId xmlns:a16="http://schemas.microsoft.com/office/drawing/2014/main" id="{B2DFD6D3-738F-414C-92D6-3BF07A551EB6}"/>
              </a:ext>
            </a:extLst>
          </p:cNvPr>
          <p:cNvSpPr txBox="1"/>
          <p:nvPr/>
        </p:nvSpPr>
        <p:spPr>
          <a:xfrm>
            <a:off x="1012527" y="405412"/>
            <a:ext cx="2421812" cy="1015663"/>
          </a:xfrm>
          <a:prstGeom prst="rect">
            <a:avLst/>
          </a:prstGeom>
          <a:noFill/>
        </p:spPr>
        <p:txBody>
          <a:bodyPr wrap="square" rtlCol="0">
            <a:spAutoFit/>
          </a:bodyPr>
          <a:lstStyle/>
          <a:p>
            <a:pPr algn="ctr"/>
            <a:r>
              <a:rPr lang="es-ES" sz="1200" b="1" dirty="0">
                <a:solidFill>
                  <a:schemeClr val="bg1"/>
                </a:solidFill>
              </a:rPr>
              <a:t>PROYECCION MGP</a:t>
            </a:r>
          </a:p>
          <a:p>
            <a:pPr algn="ctr"/>
            <a:endParaRPr lang="es-ES" sz="1200" b="1" dirty="0">
              <a:solidFill>
                <a:schemeClr val="bg1"/>
              </a:solidFill>
            </a:endParaRPr>
          </a:p>
          <a:p>
            <a:pPr algn="ctr"/>
            <a:r>
              <a:rPr lang="es-ES" sz="1200" b="1" dirty="0">
                <a:solidFill>
                  <a:schemeClr val="bg1"/>
                </a:solidFill>
              </a:rPr>
              <a:t>PROYECCION MTC</a:t>
            </a:r>
          </a:p>
          <a:p>
            <a:pPr algn="ctr"/>
            <a:endParaRPr lang="es-ES" sz="1200" b="1" dirty="0">
              <a:solidFill>
                <a:schemeClr val="bg1"/>
              </a:solidFill>
            </a:endParaRPr>
          </a:p>
          <a:p>
            <a:pPr algn="ctr"/>
            <a:r>
              <a:rPr lang="es-ES" sz="1200" b="1" dirty="0">
                <a:solidFill>
                  <a:schemeClr val="bg1"/>
                </a:solidFill>
              </a:rPr>
              <a:t>PROYECCION APN</a:t>
            </a:r>
          </a:p>
        </p:txBody>
      </p:sp>
      <p:sp>
        <p:nvSpPr>
          <p:cNvPr id="2" name="Rectángulo 1">
            <a:extLst>
              <a:ext uri="{FF2B5EF4-FFF2-40B4-BE49-F238E27FC236}">
                <a16:creationId xmlns:a16="http://schemas.microsoft.com/office/drawing/2014/main" id="{1A2F894C-B025-0F4B-9DBC-10040723C378}"/>
              </a:ext>
            </a:extLst>
          </p:cNvPr>
          <p:cNvSpPr/>
          <p:nvPr/>
        </p:nvSpPr>
        <p:spPr>
          <a:xfrm>
            <a:off x="398401" y="470504"/>
            <a:ext cx="692629" cy="198189"/>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Rectángulo 60">
            <a:extLst>
              <a:ext uri="{FF2B5EF4-FFF2-40B4-BE49-F238E27FC236}">
                <a16:creationId xmlns:a16="http://schemas.microsoft.com/office/drawing/2014/main" id="{A8ED0D98-9DC6-684E-B99D-6A2DD7E3D9ED}"/>
              </a:ext>
            </a:extLst>
          </p:cNvPr>
          <p:cNvSpPr/>
          <p:nvPr/>
        </p:nvSpPr>
        <p:spPr>
          <a:xfrm>
            <a:off x="410663" y="787722"/>
            <a:ext cx="692629" cy="198189"/>
          </a:xfrm>
          <a:prstGeom prst="rect">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Rectángulo 61">
            <a:extLst>
              <a:ext uri="{FF2B5EF4-FFF2-40B4-BE49-F238E27FC236}">
                <a16:creationId xmlns:a16="http://schemas.microsoft.com/office/drawing/2014/main" id="{7A33EF4F-C359-F34C-91D1-B4278EE3EB6D}"/>
              </a:ext>
            </a:extLst>
          </p:cNvPr>
          <p:cNvSpPr/>
          <p:nvPr/>
        </p:nvSpPr>
        <p:spPr>
          <a:xfrm>
            <a:off x="410663" y="1150285"/>
            <a:ext cx="692629" cy="198189"/>
          </a:xfrm>
          <a:prstGeom prst="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0" name="CuadroTexto 69">
            <a:extLst>
              <a:ext uri="{FF2B5EF4-FFF2-40B4-BE49-F238E27FC236}">
                <a16:creationId xmlns:a16="http://schemas.microsoft.com/office/drawing/2014/main" id="{67FF55A6-F6D5-3D4F-97AC-0114390C9355}"/>
              </a:ext>
            </a:extLst>
          </p:cNvPr>
          <p:cNvSpPr txBox="1"/>
          <p:nvPr/>
        </p:nvSpPr>
        <p:spPr>
          <a:xfrm>
            <a:off x="1012527" y="1528225"/>
            <a:ext cx="2421812" cy="367984"/>
          </a:xfrm>
          <a:prstGeom prst="rect">
            <a:avLst/>
          </a:prstGeom>
          <a:noFill/>
        </p:spPr>
        <p:txBody>
          <a:bodyPr wrap="square" rtlCol="0">
            <a:spAutoFit/>
          </a:bodyPr>
          <a:lstStyle/>
          <a:p>
            <a:pPr algn="ctr"/>
            <a:r>
              <a:rPr lang="es-ES" sz="1200" b="1" dirty="0">
                <a:solidFill>
                  <a:schemeClr val="bg1"/>
                </a:solidFill>
              </a:rPr>
              <a:t>ARSENAL NAVAL</a:t>
            </a:r>
          </a:p>
        </p:txBody>
      </p:sp>
      <p:sp>
        <p:nvSpPr>
          <p:cNvPr id="71" name="Rectángulo 70">
            <a:extLst>
              <a:ext uri="{FF2B5EF4-FFF2-40B4-BE49-F238E27FC236}">
                <a16:creationId xmlns:a16="http://schemas.microsoft.com/office/drawing/2014/main" id="{7A3114F2-EBDB-BA45-B0C9-0BC766139D71}"/>
              </a:ext>
            </a:extLst>
          </p:cNvPr>
          <p:cNvSpPr/>
          <p:nvPr/>
        </p:nvSpPr>
        <p:spPr>
          <a:xfrm>
            <a:off x="398401" y="1593318"/>
            <a:ext cx="692629" cy="198189"/>
          </a:xfrm>
          <a:prstGeom prst="rect">
            <a:avLst/>
          </a:prstGeom>
          <a:solidFill>
            <a:srgbClr val="FFFF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2" name="Rectángulo 71">
            <a:extLst>
              <a:ext uri="{FF2B5EF4-FFF2-40B4-BE49-F238E27FC236}">
                <a16:creationId xmlns:a16="http://schemas.microsoft.com/office/drawing/2014/main" id="{1F5984FD-9E8C-2645-838F-58DBA52030F5}"/>
              </a:ext>
            </a:extLst>
          </p:cNvPr>
          <p:cNvSpPr/>
          <p:nvPr/>
        </p:nvSpPr>
        <p:spPr>
          <a:xfrm rot="20675895">
            <a:off x="9083452" y="2765962"/>
            <a:ext cx="181582" cy="1513432"/>
          </a:xfrm>
          <a:custGeom>
            <a:avLst/>
            <a:gdLst>
              <a:gd name="connsiteX0" fmla="*/ 0 w 154814"/>
              <a:gd name="connsiteY0" fmla="*/ 0 h 1060394"/>
              <a:gd name="connsiteX1" fmla="*/ 154814 w 154814"/>
              <a:gd name="connsiteY1" fmla="*/ 0 h 1060394"/>
              <a:gd name="connsiteX2" fmla="*/ 154814 w 154814"/>
              <a:gd name="connsiteY2" fmla="*/ 1060394 h 1060394"/>
              <a:gd name="connsiteX3" fmla="*/ 0 w 154814"/>
              <a:gd name="connsiteY3" fmla="*/ 1060394 h 1060394"/>
              <a:gd name="connsiteX4" fmla="*/ 0 w 154814"/>
              <a:gd name="connsiteY4" fmla="*/ 0 h 1060394"/>
              <a:gd name="connsiteX0" fmla="*/ 8994 w 154814"/>
              <a:gd name="connsiteY0" fmla="*/ 0 h 1113059"/>
              <a:gd name="connsiteX1" fmla="*/ 154814 w 154814"/>
              <a:gd name="connsiteY1" fmla="*/ 52665 h 1113059"/>
              <a:gd name="connsiteX2" fmla="*/ 154814 w 154814"/>
              <a:gd name="connsiteY2" fmla="*/ 1113059 h 1113059"/>
              <a:gd name="connsiteX3" fmla="*/ 0 w 154814"/>
              <a:gd name="connsiteY3" fmla="*/ 1113059 h 1113059"/>
              <a:gd name="connsiteX4" fmla="*/ 8994 w 154814"/>
              <a:gd name="connsiteY4" fmla="*/ 0 h 1113059"/>
              <a:gd name="connsiteX0" fmla="*/ 8994 w 155181"/>
              <a:gd name="connsiteY0" fmla="*/ 0 h 1113059"/>
              <a:gd name="connsiteX1" fmla="*/ 155181 w 155181"/>
              <a:gd name="connsiteY1" fmla="*/ 91365 h 1113059"/>
              <a:gd name="connsiteX2" fmla="*/ 154814 w 155181"/>
              <a:gd name="connsiteY2" fmla="*/ 1113059 h 1113059"/>
              <a:gd name="connsiteX3" fmla="*/ 0 w 155181"/>
              <a:gd name="connsiteY3" fmla="*/ 1113059 h 1113059"/>
              <a:gd name="connsiteX4" fmla="*/ 8994 w 155181"/>
              <a:gd name="connsiteY4" fmla="*/ 0 h 1113059"/>
              <a:gd name="connsiteX0" fmla="*/ 8994 w 165954"/>
              <a:gd name="connsiteY0" fmla="*/ 0 h 1132669"/>
              <a:gd name="connsiteX1" fmla="*/ 155181 w 165954"/>
              <a:gd name="connsiteY1" fmla="*/ 91365 h 1132669"/>
              <a:gd name="connsiteX2" fmla="*/ 165953 w 165954"/>
              <a:gd name="connsiteY2" fmla="*/ 1132669 h 1132669"/>
              <a:gd name="connsiteX3" fmla="*/ 0 w 165954"/>
              <a:gd name="connsiteY3" fmla="*/ 1113059 h 1132669"/>
              <a:gd name="connsiteX4" fmla="*/ 8994 w 165954"/>
              <a:gd name="connsiteY4" fmla="*/ 0 h 1132669"/>
              <a:gd name="connsiteX0" fmla="*/ 8994 w 155181"/>
              <a:gd name="connsiteY0" fmla="*/ 0 h 1125609"/>
              <a:gd name="connsiteX1" fmla="*/ 155181 w 155181"/>
              <a:gd name="connsiteY1" fmla="*/ 91365 h 1125609"/>
              <a:gd name="connsiteX2" fmla="*/ 140327 w 155181"/>
              <a:gd name="connsiteY2" fmla="*/ 1125609 h 1125609"/>
              <a:gd name="connsiteX3" fmla="*/ 0 w 155181"/>
              <a:gd name="connsiteY3" fmla="*/ 1113059 h 1125609"/>
              <a:gd name="connsiteX4" fmla="*/ 8994 w 155181"/>
              <a:gd name="connsiteY4" fmla="*/ 0 h 1125609"/>
              <a:gd name="connsiteX0" fmla="*/ 8994 w 140327"/>
              <a:gd name="connsiteY0" fmla="*/ 0 h 1125609"/>
              <a:gd name="connsiteX1" fmla="*/ 127254 w 140327"/>
              <a:gd name="connsiteY1" fmla="*/ 72642 h 1125609"/>
              <a:gd name="connsiteX2" fmla="*/ 140327 w 140327"/>
              <a:gd name="connsiteY2" fmla="*/ 1125609 h 1125609"/>
              <a:gd name="connsiteX3" fmla="*/ 0 w 140327"/>
              <a:gd name="connsiteY3" fmla="*/ 1113059 h 1125609"/>
              <a:gd name="connsiteX4" fmla="*/ 8994 w 140327"/>
              <a:gd name="connsiteY4" fmla="*/ 0 h 1125609"/>
              <a:gd name="connsiteX0" fmla="*/ 8994 w 127254"/>
              <a:gd name="connsiteY0" fmla="*/ 0 h 1131102"/>
              <a:gd name="connsiteX1" fmla="*/ 127254 w 127254"/>
              <a:gd name="connsiteY1" fmla="*/ 72642 h 1131102"/>
              <a:gd name="connsiteX2" fmla="*/ 100214 w 127254"/>
              <a:gd name="connsiteY2" fmla="*/ 1131102 h 1131102"/>
              <a:gd name="connsiteX3" fmla="*/ 0 w 127254"/>
              <a:gd name="connsiteY3" fmla="*/ 1113059 h 1131102"/>
              <a:gd name="connsiteX4" fmla="*/ 8994 w 127254"/>
              <a:gd name="connsiteY4" fmla="*/ 0 h 1131102"/>
              <a:gd name="connsiteX0" fmla="*/ 8994 w 108164"/>
              <a:gd name="connsiteY0" fmla="*/ 0 h 1131102"/>
              <a:gd name="connsiteX1" fmla="*/ 108164 w 108164"/>
              <a:gd name="connsiteY1" fmla="*/ 61870 h 1131102"/>
              <a:gd name="connsiteX2" fmla="*/ 100214 w 108164"/>
              <a:gd name="connsiteY2" fmla="*/ 1131102 h 1131102"/>
              <a:gd name="connsiteX3" fmla="*/ 0 w 108164"/>
              <a:gd name="connsiteY3" fmla="*/ 1113059 h 1131102"/>
              <a:gd name="connsiteX4" fmla="*/ 8994 w 108164"/>
              <a:gd name="connsiteY4" fmla="*/ 0 h 1131102"/>
              <a:gd name="connsiteX0" fmla="*/ 8994 w 122128"/>
              <a:gd name="connsiteY0" fmla="*/ 0 h 1131102"/>
              <a:gd name="connsiteX1" fmla="*/ 122128 w 122128"/>
              <a:gd name="connsiteY1" fmla="*/ 71231 h 1131102"/>
              <a:gd name="connsiteX2" fmla="*/ 100214 w 122128"/>
              <a:gd name="connsiteY2" fmla="*/ 1131102 h 1131102"/>
              <a:gd name="connsiteX3" fmla="*/ 0 w 122128"/>
              <a:gd name="connsiteY3" fmla="*/ 1113059 h 1131102"/>
              <a:gd name="connsiteX4" fmla="*/ 8994 w 122128"/>
              <a:gd name="connsiteY4" fmla="*/ 0 h 1131102"/>
              <a:gd name="connsiteX0" fmla="*/ 8994 w 110581"/>
              <a:gd name="connsiteY0" fmla="*/ 0 h 1131102"/>
              <a:gd name="connsiteX1" fmla="*/ 110581 w 110581"/>
              <a:gd name="connsiteY1" fmla="*/ 57906 h 1131102"/>
              <a:gd name="connsiteX2" fmla="*/ 100214 w 110581"/>
              <a:gd name="connsiteY2" fmla="*/ 1131102 h 1131102"/>
              <a:gd name="connsiteX3" fmla="*/ 0 w 110581"/>
              <a:gd name="connsiteY3" fmla="*/ 1113059 h 1131102"/>
              <a:gd name="connsiteX4" fmla="*/ 8994 w 110581"/>
              <a:gd name="connsiteY4" fmla="*/ 0 h 1131102"/>
              <a:gd name="connsiteX0" fmla="*/ 8994 w 125543"/>
              <a:gd name="connsiteY0" fmla="*/ 0 h 1131102"/>
              <a:gd name="connsiteX1" fmla="*/ 125543 w 125543"/>
              <a:gd name="connsiteY1" fmla="*/ 77244 h 1131102"/>
              <a:gd name="connsiteX2" fmla="*/ 100214 w 125543"/>
              <a:gd name="connsiteY2" fmla="*/ 1131102 h 1131102"/>
              <a:gd name="connsiteX3" fmla="*/ 0 w 125543"/>
              <a:gd name="connsiteY3" fmla="*/ 1113059 h 1131102"/>
              <a:gd name="connsiteX4" fmla="*/ 8994 w 125543"/>
              <a:gd name="connsiteY4" fmla="*/ 0 h 1131102"/>
              <a:gd name="connsiteX0" fmla="*/ 16305 w 125543"/>
              <a:gd name="connsiteY0" fmla="*/ 0 h 1139232"/>
              <a:gd name="connsiteX1" fmla="*/ 125543 w 125543"/>
              <a:gd name="connsiteY1" fmla="*/ 85374 h 1139232"/>
              <a:gd name="connsiteX2" fmla="*/ 100214 w 125543"/>
              <a:gd name="connsiteY2" fmla="*/ 1139232 h 1139232"/>
              <a:gd name="connsiteX3" fmla="*/ 0 w 125543"/>
              <a:gd name="connsiteY3" fmla="*/ 1121189 h 1139232"/>
              <a:gd name="connsiteX4" fmla="*/ 16305 w 125543"/>
              <a:gd name="connsiteY4" fmla="*/ 0 h 1139232"/>
              <a:gd name="connsiteX0" fmla="*/ 16305 w 127223"/>
              <a:gd name="connsiteY0" fmla="*/ 0 h 1139232"/>
              <a:gd name="connsiteX1" fmla="*/ 127223 w 127223"/>
              <a:gd name="connsiteY1" fmla="*/ 61887 h 1139232"/>
              <a:gd name="connsiteX2" fmla="*/ 100214 w 127223"/>
              <a:gd name="connsiteY2" fmla="*/ 1139232 h 1139232"/>
              <a:gd name="connsiteX3" fmla="*/ 0 w 127223"/>
              <a:gd name="connsiteY3" fmla="*/ 1121189 h 1139232"/>
              <a:gd name="connsiteX4" fmla="*/ 16305 w 127223"/>
              <a:gd name="connsiteY4" fmla="*/ 0 h 113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223" h="1139232">
                <a:moveTo>
                  <a:pt x="16305" y="0"/>
                </a:moveTo>
                <a:lnTo>
                  <a:pt x="127223" y="61887"/>
                </a:lnTo>
                <a:cubicBezTo>
                  <a:pt x="127101" y="402452"/>
                  <a:pt x="100336" y="798667"/>
                  <a:pt x="100214" y="1139232"/>
                </a:cubicBezTo>
                <a:lnTo>
                  <a:pt x="0" y="1121189"/>
                </a:lnTo>
                <a:lnTo>
                  <a:pt x="16305"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Forma libre 3">
            <a:extLst>
              <a:ext uri="{FF2B5EF4-FFF2-40B4-BE49-F238E27FC236}">
                <a16:creationId xmlns:a16="http://schemas.microsoft.com/office/drawing/2014/main" id="{FD3C779E-2B59-DB46-9877-02D85D952E48}"/>
              </a:ext>
            </a:extLst>
          </p:cNvPr>
          <p:cNvSpPr/>
          <p:nvPr/>
        </p:nvSpPr>
        <p:spPr>
          <a:xfrm>
            <a:off x="8022453" y="2553199"/>
            <a:ext cx="3071592" cy="871183"/>
          </a:xfrm>
          <a:custGeom>
            <a:avLst/>
            <a:gdLst>
              <a:gd name="connsiteX0" fmla="*/ 0 w 2212109"/>
              <a:gd name="connsiteY0" fmla="*/ 0 h 692727"/>
              <a:gd name="connsiteX1" fmla="*/ 1270000 w 2212109"/>
              <a:gd name="connsiteY1" fmla="*/ 341746 h 692727"/>
              <a:gd name="connsiteX2" fmla="*/ 2212109 w 2212109"/>
              <a:gd name="connsiteY2" fmla="*/ 669637 h 692727"/>
              <a:gd name="connsiteX3" fmla="*/ 2207491 w 2212109"/>
              <a:gd name="connsiteY3" fmla="*/ 692727 h 692727"/>
              <a:gd name="connsiteX4" fmla="*/ 660400 w 2212109"/>
              <a:gd name="connsiteY4" fmla="*/ 217055 h 692727"/>
              <a:gd name="connsiteX5" fmla="*/ 101600 w 2212109"/>
              <a:gd name="connsiteY5" fmla="*/ 101600 h 692727"/>
              <a:gd name="connsiteX6" fmla="*/ 50800 w 2212109"/>
              <a:gd name="connsiteY6" fmla="*/ 13855 h 692727"/>
              <a:gd name="connsiteX7" fmla="*/ 0 w 2212109"/>
              <a:gd name="connsiteY7" fmla="*/ 0 h 692727"/>
              <a:gd name="connsiteX0" fmla="*/ 0 w 2212109"/>
              <a:gd name="connsiteY0" fmla="*/ 0 h 692727"/>
              <a:gd name="connsiteX1" fmla="*/ 1270000 w 2212109"/>
              <a:gd name="connsiteY1" fmla="*/ 341746 h 692727"/>
              <a:gd name="connsiteX2" fmla="*/ 2212109 w 2212109"/>
              <a:gd name="connsiteY2" fmla="*/ 669637 h 692727"/>
              <a:gd name="connsiteX3" fmla="*/ 2207491 w 2212109"/>
              <a:gd name="connsiteY3" fmla="*/ 692727 h 692727"/>
              <a:gd name="connsiteX4" fmla="*/ 660400 w 2212109"/>
              <a:gd name="connsiteY4" fmla="*/ 217055 h 692727"/>
              <a:gd name="connsiteX5" fmla="*/ 101600 w 2212109"/>
              <a:gd name="connsiteY5" fmla="*/ 101600 h 692727"/>
              <a:gd name="connsiteX6" fmla="*/ 0 w 2212109"/>
              <a:gd name="connsiteY6" fmla="*/ 0 h 692727"/>
              <a:gd name="connsiteX0" fmla="*/ 9236 w 2221345"/>
              <a:gd name="connsiteY0" fmla="*/ 0 h 692727"/>
              <a:gd name="connsiteX1" fmla="*/ 1279236 w 2221345"/>
              <a:gd name="connsiteY1" fmla="*/ 341746 h 692727"/>
              <a:gd name="connsiteX2" fmla="*/ 2221345 w 2221345"/>
              <a:gd name="connsiteY2" fmla="*/ 669637 h 692727"/>
              <a:gd name="connsiteX3" fmla="*/ 2216727 w 2221345"/>
              <a:gd name="connsiteY3" fmla="*/ 692727 h 692727"/>
              <a:gd name="connsiteX4" fmla="*/ 669636 w 2221345"/>
              <a:gd name="connsiteY4" fmla="*/ 217055 h 692727"/>
              <a:gd name="connsiteX5" fmla="*/ 0 w 2221345"/>
              <a:gd name="connsiteY5" fmla="*/ 46182 h 692727"/>
              <a:gd name="connsiteX6" fmla="*/ 9236 w 2221345"/>
              <a:gd name="connsiteY6" fmla="*/ 0 h 692727"/>
              <a:gd name="connsiteX0" fmla="*/ 23091 w 2221345"/>
              <a:gd name="connsiteY0" fmla="*/ 0 h 674254"/>
              <a:gd name="connsiteX1" fmla="*/ 1279236 w 2221345"/>
              <a:gd name="connsiteY1" fmla="*/ 323273 h 674254"/>
              <a:gd name="connsiteX2" fmla="*/ 2221345 w 2221345"/>
              <a:gd name="connsiteY2" fmla="*/ 651164 h 674254"/>
              <a:gd name="connsiteX3" fmla="*/ 2216727 w 2221345"/>
              <a:gd name="connsiteY3" fmla="*/ 674254 h 674254"/>
              <a:gd name="connsiteX4" fmla="*/ 669636 w 2221345"/>
              <a:gd name="connsiteY4" fmla="*/ 198582 h 674254"/>
              <a:gd name="connsiteX5" fmla="*/ 0 w 2221345"/>
              <a:gd name="connsiteY5" fmla="*/ 27709 h 674254"/>
              <a:gd name="connsiteX6" fmla="*/ 23091 w 2221345"/>
              <a:gd name="connsiteY6" fmla="*/ 0 h 674254"/>
              <a:gd name="connsiteX0" fmla="*/ 23091 w 2221345"/>
              <a:gd name="connsiteY0" fmla="*/ 0 h 674254"/>
              <a:gd name="connsiteX1" fmla="*/ 1283854 w 2221345"/>
              <a:gd name="connsiteY1" fmla="*/ 332509 h 674254"/>
              <a:gd name="connsiteX2" fmla="*/ 2221345 w 2221345"/>
              <a:gd name="connsiteY2" fmla="*/ 651164 h 674254"/>
              <a:gd name="connsiteX3" fmla="*/ 2216727 w 2221345"/>
              <a:gd name="connsiteY3" fmla="*/ 674254 h 674254"/>
              <a:gd name="connsiteX4" fmla="*/ 669636 w 2221345"/>
              <a:gd name="connsiteY4" fmla="*/ 198582 h 674254"/>
              <a:gd name="connsiteX5" fmla="*/ 0 w 2221345"/>
              <a:gd name="connsiteY5" fmla="*/ 27709 h 674254"/>
              <a:gd name="connsiteX6" fmla="*/ 23091 w 2221345"/>
              <a:gd name="connsiteY6" fmla="*/ 0 h 674254"/>
              <a:gd name="connsiteX0" fmla="*/ 23091 w 2221345"/>
              <a:gd name="connsiteY0" fmla="*/ 0 h 674254"/>
              <a:gd name="connsiteX1" fmla="*/ 1283854 w 2221345"/>
              <a:gd name="connsiteY1" fmla="*/ 332509 h 674254"/>
              <a:gd name="connsiteX2" fmla="*/ 2221345 w 2221345"/>
              <a:gd name="connsiteY2" fmla="*/ 651164 h 674254"/>
              <a:gd name="connsiteX3" fmla="*/ 2216727 w 2221345"/>
              <a:gd name="connsiteY3" fmla="*/ 674254 h 674254"/>
              <a:gd name="connsiteX4" fmla="*/ 1260763 w 2221345"/>
              <a:gd name="connsiteY4" fmla="*/ 355600 h 674254"/>
              <a:gd name="connsiteX5" fmla="*/ 0 w 2221345"/>
              <a:gd name="connsiteY5" fmla="*/ 27709 h 674254"/>
              <a:gd name="connsiteX6" fmla="*/ 23091 w 2221345"/>
              <a:gd name="connsiteY6" fmla="*/ 0 h 674254"/>
              <a:gd name="connsiteX0" fmla="*/ 83127 w 2221345"/>
              <a:gd name="connsiteY0" fmla="*/ 0 h 655781"/>
              <a:gd name="connsiteX1" fmla="*/ 1283854 w 2221345"/>
              <a:gd name="connsiteY1" fmla="*/ 314036 h 655781"/>
              <a:gd name="connsiteX2" fmla="*/ 2221345 w 2221345"/>
              <a:gd name="connsiteY2" fmla="*/ 632691 h 655781"/>
              <a:gd name="connsiteX3" fmla="*/ 2216727 w 2221345"/>
              <a:gd name="connsiteY3" fmla="*/ 655781 h 655781"/>
              <a:gd name="connsiteX4" fmla="*/ 1260763 w 2221345"/>
              <a:gd name="connsiteY4" fmla="*/ 337127 h 655781"/>
              <a:gd name="connsiteX5" fmla="*/ 0 w 2221345"/>
              <a:gd name="connsiteY5" fmla="*/ 9236 h 655781"/>
              <a:gd name="connsiteX6" fmla="*/ 83127 w 2221345"/>
              <a:gd name="connsiteY6" fmla="*/ 0 h 655781"/>
              <a:gd name="connsiteX0" fmla="*/ 18473 w 2156691"/>
              <a:gd name="connsiteY0" fmla="*/ 0 h 655781"/>
              <a:gd name="connsiteX1" fmla="*/ 1219200 w 2156691"/>
              <a:gd name="connsiteY1" fmla="*/ 314036 h 655781"/>
              <a:gd name="connsiteX2" fmla="*/ 2156691 w 2156691"/>
              <a:gd name="connsiteY2" fmla="*/ 632691 h 655781"/>
              <a:gd name="connsiteX3" fmla="*/ 2152073 w 2156691"/>
              <a:gd name="connsiteY3" fmla="*/ 655781 h 655781"/>
              <a:gd name="connsiteX4" fmla="*/ 1196109 w 2156691"/>
              <a:gd name="connsiteY4" fmla="*/ 337127 h 655781"/>
              <a:gd name="connsiteX5" fmla="*/ 0 w 2156691"/>
              <a:gd name="connsiteY5" fmla="*/ 27709 h 655781"/>
              <a:gd name="connsiteX6" fmla="*/ 18473 w 2156691"/>
              <a:gd name="connsiteY6" fmla="*/ 0 h 655781"/>
              <a:gd name="connsiteX0" fmla="*/ 18473 w 2152073"/>
              <a:gd name="connsiteY0" fmla="*/ 0 h 655781"/>
              <a:gd name="connsiteX1" fmla="*/ 1219200 w 2152073"/>
              <a:gd name="connsiteY1" fmla="*/ 314036 h 655781"/>
              <a:gd name="connsiteX2" fmla="*/ 2152073 w 2152073"/>
              <a:gd name="connsiteY2" fmla="*/ 628073 h 655781"/>
              <a:gd name="connsiteX3" fmla="*/ 2152073 w 2152073"/>
              <a:gd name="connsiteY3" fmla="*/ 655781 h 655781"/>
              <a:gd name="connsiteX4" fmla="*/ 1196109 w 2152073"/>
              <a:gd name="connsiteY4" fmla="*/ 337127 h 655781"/>
              <a:gd name="connsiteX5" fmla="*/ 0 w 2152073"/>
              <a:gd name="connsiteY5" fmla="*/ 27709 h 655781"/>
              <a:gd name="connsiteX6" fmla="*/ 18473 w 2152073"/>
              <a:gd name="connsiteY6" fmla="*/ 0 h 65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2073" h="655781">
                <a:moveTo>
                  <a:pt x="18473" y="0"/>
                </a:moveTo>
                <a:lnTo>
                  <a:pt x="1219200" y="314036"/>
                </a:lnTo>
                <a:lnTo>
                  <a:pt x="2152073" y="628073"/>
                </a:lnTo>
                <a:lnTo>
                  <a:pt x="2152073" y="655781"/>
                </a:lnTo>
                <a:lnTo>
                  <a:pt x="1196109" y="337127"/>
                </a:lnTo>
                <a:lnTo>
                  <a:pt x="0" y="27709"/>
                </a:lnTo>
                <a:lnTo>
                  <a:pt x="18473"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Forma libre 7">
            <a:extLst>
              <a:ext uri="{FF2B5EF4-FFF2-40B4-BE49-F238E27FC236}">
                <a16:creationId xmlns:a16="http://schemas.microsoft.com/office/drawing/2014/main" id="{BD951CC1-7FBB-6348-A1E1-94425FF3E1EE}"/>
              </a:ext>
            </a:extLst>
          </p:cNvPr>
          <p:cNvSpPr/>
          <p:nvPr/>
        </p:nvSpPr>
        <p:spPr>
          <a:xfrm>
            <a:off x="8075185" y="3025600"/>
            <a:ext cx="3045226" cy="466267"/>
          </a:xfrm>
          <a:custGeom>
            <a:avLst/>
            <a:gdLst>
              <a:gd name="connsiteX0" fmla="*/ 0 w 2133600"/>
              <a:gd name="connsiteY0" fmla="*/ 281709 h 350981"/>
              <a:gd name="connsiteX1" fmla="*/ 628073 w 2133600"/>
              <a:gd name="connsiteY1" fmla="*/ 55418 h 350981"/>
              <a:gd name="connsiteX2" fmla="*/ 1186873 w 2133600"/>
              <a:gd name="connsiteY2" fmla="*/ 0 h 350981"/>
              <a:gd name="connsiteX3" fmla="*/ 2133600 w 2133600"/>
              <a:gd name="connsiteY3" fmla="*/ 350981 h 350981"/>
            </a:gdLst>
            <a:ahLst/>
            <a:cxnLst>
              <a:cxn ang="0">
                <a:pos x="connsiteX0" y="connsiteY0"/>
              </a:cxn>
              <a:cxn ang="0">
                <a:pos x="connsiteX1" y="connsiteY1"/>
              </a:cxn>
              <a:cxn ang="0">
                <a:pos x="connsiteX2" y="connsiteY2"/>
              </a:cxn>
              <a:cxn ang="0">
                <a:pos x="connsiteX3" y="connsiteY3"/>
              </a:cxn>
            </a:cxnLst>
            <a:rect l="l" t="t" r="r" b="b"/>
            <a:pathLst>
              <a:path w="2133600" h="350981">
                <a:moveTo>
                  <a:pt x="0" y="281709"/>
                </a:moveTo>
                <a:lnTo>
                  <a:pt x="628073" y="55418"/>
                </a:lnTo>
                <a:lnTo>
                  <a:pt x="1186873" y="0"/>
                </a:lnTo>
                <a:lnTo>
                  <a:pt x="2133600" y="350981"/>
                </a:lnTo>
              </a:path>
            </a:pathLst>
          </a:cu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s-ES_tradnl"/>
          </a:p>
        </p:txBody>
      </p:sp>
      <p:sp>
        <p:nvSpPr>
          <p:cNvPr id="11" name="CuadroTexto 10">
            <a:extLst>
              <a:ext uri="{FF2B5EF4-FFF2-40B4-BE49-F238E27FC236}">
                <a16:creationId xmlns:a16="http://schemas.microsoft.com/office/drawing/2014/main" id="{14A8F48B-2511-4DA4-8AE0-CA2B549E6075}"/>
              </a:ext>
            </a:extLst>
          </p:cNvPr>
          <p:cNvSpPr txBox="1"/>
          <p:nvPr/>
        </p:nvSpPr>
        <p:spPr>
          <a:xfrm>
            <a:off x="7767307" y="3022530"/>
            <a:ext cx="439585" cy="369332"/>
          </a:xfrm>
          <a:prstGeom prst="rect">
            <a:avLst/>
          </a:prstGeom>
          <a:noFill/>
        </p:spPr>
        <p:txBody>
          <a:bodyPr wrap="square" rtlCol="0">
            <a:spAutoFit/>
          </a:bodyPr>
          <a:lstStyle/>
          <a:p>
            <a:endParaRPr lang="es-PE" dirty="0"/>
          </a:p>
        </p:txBody>
      </p:sp>
      <p:sp>
        <p:nvSpPr>
          <p:cNvPr id="10" name="Rectángulo 9">
            <a:extLst>
              <a:ext uri="{FF2B5EF4-FFF2-40B4-BE49-F238E27FC236}">
                <a16:creationId xmlns:a16="http://schemas.microsoft.com/office/drawing/2014/main" id="{9C1A3993-86E9-4696-BDF0-84B1861E4D0D}"/>
              </a:ext>
            </a:extLst>
          </p:cNvPr>
          <p:cNvSpPr/>
          <p:nvPr/>
        </p:nvSpPr>
        <p:spPr>
          <a:xfrm rot="1993776">
            <a:off x="1926667" y="2834678"/>
            <a:ext cx="110601" cy="1450688"/>
          </a:xfrm>
          <a:prstGeom prst="rect">
            <a:avLst/>
          </a:prstGeom>
          <a:solidFill>
            <a:srgbClr val="00B0F0">
              <a:alpha val="3882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grpSp>
        <p:nvGrpSpPr>
          <p:cNvPr id="7" name="Grupo 6">
            <a:extLst>
              <a:ext uri="{FF2B5EF4-FFF2-40B4-BE49-F238E27FC236}">
                <a16:creationId xmlns:a16="http://schemas.microsoft.com/office/drawing/2014/main" id="{8867F7BA-BE75-EA44-B494-039B7B2F17AB}"/>
              </a:ext>
            </a:extLst>
          </p:cNvPr>
          <p:cNvGrpSpPr/>
          <p:nvPr/>
        </p:nvGrpSpPr>
        <p:grpSpPr>
          <a:xfrm>
            <a:off x="2216303" y="293249"/>
            <a:ext cx="9921453" cy="6452959"/>
            <a:chOff x="4445434" y="1814127"/>
            <a:chExt cx="9921453" cy="6452959"/>
          </a:xfrm>
        </p:grpSpPr>
        <p:sp>
          <p:nvSpPr>
            <p:cNvPr id="30" name="Forma libre 22">
              <a:extLst>
                <a:ext uri="{FF2B5EF4-FFF2-40B4-BE49-F238E27FC236}">
                  <a16:creationId xmlns:a16="http://schemas.microsoft.com/office/drawing/2014/main" id="{E03785D5-FA13-49F4-972B-FA5FAA8923AB}"/>
                </a:ext>
              </a:extLst>
            </p:cNvPr>
            <p:cNvSpPr/>
            <p:nvPr/>
          </p:nvSpPr>
          <p:spPr>
            <a:xfrm rot="21257051">
              <a:off x="10156242" y="4042472"/>
              <a:ext cx="1032715" cy="824409"/>
            </a:xfrm>
            <a:custGeom>
              <a:avLst/>
              <a:gdLst>
                <a:gd name="connsiteX0" fmla="*/ 66675 w 769144"/>
                <a:gd name="connsiteY0" fmla="*/ 0 h 814388"/>
                <a:gd name="connsiteX1" fmla="*/ 0 w 769144"/>
                <a:gd name="connsiteY1" fmla="*/ 228600 h 814388"/>
                <a:gd name="connsiteX2" fmla="*/ 47625 w 769144"/>
                <a:gd name="connsiteY2" fmla="*/ 483394 h 814388"/>
                <a:gd name="connsiteX3" fmla="*/ 85725 w 769144"/>
                <a:gd name="connsiteY3" fmla="*/ 635794 h 814388"/>
                <a:gd name="connsiteX4" fmla="*/ 178594 w 769144"/>
                <a:gd name="connsiteY4" fmla="*/ 604838 h 814388"/>
                <a:gd name="connsiteX5" fmla="*/ 285750 w 769144"/>
                <a:gd name="connsiteY5" fmla="*/ 814388 h 814388"/>
                <a:gd name="connsiteX6" fmla="*/ 514350 w 769144"/>
                <a:gd name="connsiteY6" fmla="*/ 716757 h 814388"/>
                <a:gd name="connsiteX7" fmla="*/ 769144 w 769144"/>
                <a:gd name="connsiteY7" fmla="*/ 659607 h 814388"/>
                <a:gd name="connsiteX8" fmla="*/ 716757 w 769144"/>
                <a:gd name="connsiteY8" fmla="*/ 250032 h 814388"/>
                <a:gd name="connsiteX9" fmla="*/ 66675 w 769144"/>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514350 w 750317"/>
                <a:gd name="connsiteY6" fmla="*/ 716757 h 814388"/>
                <a:gd name="connsiteX7" fmla="*/ 750317 w 750317"/>
                <a:gd name="connsiteY7" fmla="*/ 467404 h 814388"/>
                <a:gd name="connsiteX8" fmla="*/ 716757 w 750317"/>
                <a:gd name="connsiteY8" fmla="*/ 250032 h 814388"/>
                <a:gd name="connsiteX9" fmla="*/ 66675 w 750317"/>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495525 w 750317"/>
                <a:gd name="connsiteY6" fmla="*/ 524554 h 814388"/>
                <a:gd name="connsiteX7" fmla="*/ 750317 w 750317"/>
                <a:gd name="connsiteY7" fmla="*/ 467404 h 814388"/>
                <a:gd name="connsiteX8" fmla="*/ 716757 w 750317"/>
                <a:gd name="connsiteY8" fmla="*/ 250032 h 814388"/>
                <a:gd name="connsiteX9" fmla="*/ 66675 w 750317"/>
                <a:gd name="connsiteY9" fmla="*/ 0 h 814388"/>
                <a:gd name="connsiteX0" fmla="*/ 66675 w 750317"/>
                <a:gd name="connsiteY0" fmla="*/ 0 h 814388"/>
                <a:gd name="connsiteX1" fmla="*/ 0 w 750317"/>
                <a:gd name="connsiteY1" fmla="*/ 228600 h 814388"/>
                <a:gd name="connsiteX2" fmla="*/ 47625 w 750317"/>
                <a:gd name="connsiteY2" fmla="*/ 483394 h 814388"/>
                <a:gd name="connsiteX3" fmla="*/ 85725 w 750317"/>
                <a:gd name="connsiteY3" fmla="*/ 635794 h 814388"/>
                <a:gd name="connsiteX4" fmla="*/ 178594 w 750317"/>
                <a:gd name="connsiteY4" fmla="*/ 604838 h 814388"/>
                <a:gd name="connsiteX5" fmla="*/ 285750 w 750317"/>
                <a:gd name="connsiteY5" fmla="*/ 814388 h 814388"/>
                <a:gd name="connsiteX6" fmla="*/ 750317 w 750317"/>
                <a:gd name="connsiteY6" fmla="*/ 467404 h 814388"/>
                <a:gd name="connsiteX7" fmla="*/ 716757 w 750317"/>
                <a:gd name="connsiteY7" fmla="*/ 250032 h 814388"/>
                <a:gd name="connsiteX8" fmla="*/ 66675 w 750317"/>
                <a:gd name="connsiteY8" fmla="*/ 0 h 814388"/>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178594 w 750317"/>
                <a:gd name="connsiteY4" fmla="*/ 604838 h 635794"/>
                <a:gd name="connsiteX5" fmla="*/ 750317 w 750317"/>
                <a:gd name="connsiteY5" fmla="*/ 467404 h 635794"/>
                <a:gd name="connsiteX6" fmla="*/ 716757 w 750317"/>
                <a:gd name="connsiteY6" fmla="*/ 250032 h 635794"/>
                <a:gd name="connsiteX7" fmla="*/ 66675 w 750317"/>
                <a:gd name="connsiteY7" fmla="*/ 0 h 635794"/>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412832 w 750317"/>
                <a:gd name="connsiteY4" fmla="*/ 524605 h 635794"/>
                <a:gd name="connsiteX5" fmla="*/ 750317 w 750317"/>
                <a:gd name="connsiteY5" fmla="*/ 467404 h 635794"/>
                <a:gd name="connsiteX6" fmla="*/ 716757 w 750317"/>
                <a:gd name="connsiteY6" fmla="*/ 250032 h 635794"/>
                <a:gd name="connsiteX7" fmla="*/ 66675 w 750317"/>
                <a:gd name="connsiteY7" fmla="*/ 0 h 635794"/>
                <a:gd name="connsiteX0" fmla="*/ 66675 w 750317"/>
                <a:gd name="connsiteY0" fmla="*/ 0 h 635794"/>
                <a:gd name="connsiteX1" fmla="*/ 0 w 750317"/>
                <a:gd name="connsiteY1" fmla="*/ 228600 h 635794"/>
                <a:gd name="connsiteX2" fmla="*/ 47625 w 750317"/>
                <a:gd name="connsiteY2" fmla="*/ 483394 h 635794"/>
                <a:gd name="connsiteX3" fmla="*/ 85725 w 750317"/>
                <a:gd name="connsiteY3" fmla="*/ 635794 h 635794"/>
                <a:gd name="connsiteX4" fmla="*/ 382969 w 750317"/>
                <a:gd name="connsiteY4" fmla="*/ 540467 h 635794"/>
                <a:gd name="connsiteX5" fmla="*/ 750317 w 750317"/>
                <a:gd name="connsiteY5" fmla="*/ 467404 h 635794"/>
                <a:gd name="connsiteX6" fmla="*/ 716757 w 750317"/>
                <a:gd name="connsiteY6" fmla="*/ 250032 h 635794"/>
                <a:gd name="connsiteX7" fmla="*/ 66675 w 750317"/>
                <a:gd name="connsiteY7" fmla="*/ 0 h 635794"/>
                <a:gd name="connsiteX0" fmla="*/ 112409 w 750317"/>
                <a:gd name="connsiteY0" fmla="*/ 0 h 601731"/>
                <a:gd name="connsiteX1" fmla="*/ 0 w 750317"/>
                <a:gd name="connsiteY1" fmla="*/ 194537 h 601731"/>
                <a:gd name="connsiteX2" fmla="*/ 47625 w 750317"/>
                <a:gd name="connsiteY2" fmla="*/ 449331 h 601731"/>
                <a:gd name="connsiteX3" fmla="*/ 85725 w 750317"/>
                <a:gd name="connsiteY3" fmla="*/ 601731 h 601731"/>
                <a:gd name="connsiteX4" fmla="*/ 382969 w 750317"/>
                <a:gd name="connsiteY4" fmla="*/ 506404 h 601731"/>
                <a:gd name="connsiteX5" fmla="*/ 750317 w 750317"/>
                <a:gd name="connsiteY5" fmla="*/ 433341 h 601731"/>
                <a:gd name="connsiteX6" fmla="*/ 716757 w 750317"/>
                <a:gd name="connsiteY6" fmla="*/ 215969 h 601731"/>
                <a:gd name="connsiteX7" fmla="*/ 112409 w 750317"/>
                <a:gd name="connsiteY7" fmla="*/ 0 h 601731"/>
                <a:gd name="connsiteX0" fmla="*/ 85651 w 723559"/>
                <a:gd name="connsiteY0" fmla="*/ 0 h 601731"/>
                <a:gd name="connsiteX1" fmla="*/ 0 w 723559"/>
                <a:gd name="connsiteY1" fmla="*/ 221788 h 601731"/>
                <a:gd name="connsiteX2" fmla="*/ 20867 w 723559"/>
                <a:gd name="connsiteY2" fmla="*/ 449331 h 601731"/>
                <a:gd name="connsiteX3" fmla="*/ 58967 w 723559"/>
                <a:gd name="connsiteY3" fmla="*/ 601731 h 601731"/>
                <a:gd name="connsiteX4" fmla="*/ 356211 w 723559"/>
                <a:gd name="connsiteY4" fmla="*/ 506404 h 601731"/>
                <a:gd name="connsiteX5" fmla="*/ 723559 w 723559"/>
                <a:gd name="connsiteY5" fmla="*/ 433341 h 601731"/>
                <a:gd name="connsiteX6" fmla="*/ 689999 w 723559"/>
                <a:gd name="connsiteY6" fmla="*/ 215969 h 601731"/>
                <a:gd name="connsiteX7" fmla="*/ 85651 w 723559"/>
                <a:gd name="connsiteY7" fmla="*/ 0 h 601731"/>
                <a:gd name="connsiteX0" fmla="*/ 85651 w 723559"/>
                <a:gd name="connsiteY0" fmla="*/ 0 h 601731"/>
                <a:gd name="connsiteX1" fmla="*/ 0 w 723559"/>
                <a:gd name="connsiteY1" fmla="*/ 221788 h 601731"/>
                <a:gd name="connsiteX2" fmla="*/ 25732 w 723559"/>
                <a:gd name="connsiteY2" fmla="*/ 449818 h 601731"/>
                <a:gd name="connsiteX3" fmla="*/ 58967 w 723559"/>
                <a:gd name="connsiteY3" fmla="*/ 601731 h 601731"/>
                <a:gd name="connsiteX4" fmla="*/ 356211 w 723559"/>
                <a:gd name="connsiteY4" fmla="*/ 506404 h 601731"/>
                <a:gd name="connsiteX5" fmla="*/ 723559 w 723559"/>
                <a:gd name="connsiteY5" fmla="*/ 433341 h 601731"/>
                <a:gd name="connsiteX6" fmla="*/ 689999 w 723559"/>
                <a:gd name="connsiteY6" fmla="*/ 215969 h 601731"/>
                <a:gd name="connsiteX7" fmla="*/ 85651 w 723559"/>
                <a:gd name="connsiteY7" fmla="*/ 0 h 601731"/>
                <a:gd name="connsiteX0" fmla="*/ 82895 w 723559"/>
                <a:gd name="connsiteY0" fmla="*/ 0 h 620572"/>
                <a:gd name="connsiteX1" fmla="*/ 0 w 723559"/>
                <a:gd name="connsiteY1" fmla="*/ 240629 h 620572"/>
                <a:gd name="connsiteX2" fmla="*/ 25732 w 723559"/>
                <a:gd name="connsiteY2" fmla="*/ 468659 h 620572"/>
                <a:gd name="connsiteX3" fmla="*/ 58967 w 723559"/>
                <a:gd name="connsiteY3" fmla="*/ 620572 h 620572"/>
                <a:gd name="connsiteX4" fmla="*/ 356211 w 723559"/>
                <a:gd name="connsiteY4" fmla="*/ 525245 h 620572"/>
                <a:gd name="connsiteX5" fmla="*/ 723559 w 723559"/>
                <a:gd name="connsiteY5" fmla="*/ 452182 h 620572"/>
                <a:gd name="connsiteX6" fmla="*/ 689999 w 723559"/>
                <a:gd name="connsiteY6" fmla="*/ 234810 h 620572"/>
                <a:gd name="connsiteX7" fmla="*/ 82895 w 723559"/>
                <a:gd name="connsiteY7" fmla="*/ 0 h 620572"/>
                <a:gd name="connsiteX0" fmla="*/ 82895 w 723559"/>
                <a:gd name="connsiteY0" fmla="*/ 0 h 620572"/>
                <a:gd name="connsiteX1" fmla="*/ 0 w 723559"/>
                <a:gd name="connsiteY1" fmla="*/ 240629 h 620572"/>
                <a:gd name="connsiteX2" fmla="*/ 25732 w 723559"/>
                <a:gd name="connsiteY2" fmla="*/ 468659 h 620572"/>
                <a:gd name="connsiteX3" fmla="*/ 58967 w 723559"/>
                <a:gd name="connsiteY3" fmla="*/ 620572 h 620572"/>
                <a:gd name="connsiteX4" fmla="*/ 356211 w 723559"/>
                <a:gd name="connsiteY4" fmla="*/ 525245 h 620572"/>
                <a:gd name="connsiteX5" fmla="*/ 723559 w 723559"/>
                <a:gd name="connsiteY5" fmla="*/ 452182 h 620572"/>
                <a:gd name="connsiteX6" fmla="*/ 681729 w 723559"/>
                <a:gd name="connsiteY6" fmla="*/ 224700 h 620572"/>
                <a:gd name="connsiteX7" fmla="*/ 82895 w 723559"/>
                <a:gd name="connsiteY7" fmla="*/ 0 h 620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3559" h="620572">
                  <a:moveTo>
                    <a:pt x="82895" y="0"/>
                  </a:moveTo>
                  <a:lnTo>
                    <a:pt x="0" y="240629"/>
                  </a:lnTo>
                  <a:lnTo>
                    <a:pt x="25732" y="468659"/>
                  </a:lnTo>
                  <a:lnTo>
                    <a:pt x="58967" y="620572"/>
                  </a:lnTo>
                  <a:lnTo>
                    <a:pt x="356211" y="525245"/>
                  </a:lnTo>
                  <a:lnTo>
                    <a:pt x="723559" y="452182"/>
                  </a:lnTo>
                  <a:lnTo>
                    <a:pt x="681729" y="224700"/>
                  </a:lnTo>
                  <a:lnTo>
                    <a:pt x="82895" y="0"/>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Forma libre 7">
              <a:extLst>
                <a:ext uri="{FF2B5EF4-FFF2-40B4-BE49-F238E27FC236}">
                  <a16:creationId xmlns:a16="http://schemas.microsoft.com/office/drawing/2014/main" id="{BCD2B0FC-3308-4893-AE50-BD70D8F06C11}"/>
                </a:ext>
              </a:extLst>
            </p:cNvPr>
            <p:cNvSpPr/>
            <p:nvPr/>
          </p:nvSpPr>
          <p:spPr>
            <a:xfrm rot="21257051">
              <a:off x="9465798" y="1814127"/>
              <a:ext cx="3698381" cy="3070618"/>
            </a:xfrm>
            <a:custGeom>
              <a:avLst/>
              <a:gdLst>
                <a:gd name="connsiteX0" fmla="*/ 361950 w 2571750"/>
                <a:gd name="connsiteY0" fmla="*/ 0 h 2311400"/>
                <a:gd name="connsiteX1" fmla="*/ 355600 w 2571750"/>
                <a:gd name="connsiteY1" fmla="*/ 120650 h 2311400"/>
                <a:gd name="connsiteX2" fmla="*/ 127000 w 2571750"/>
                <a:gd name="connsiteY2" fmla="*/ 927100 h 2311400"/>
                <a:gd name="connsiteX3" fmla="*/ 50800 w 2571750"/>
                <a:gd name="connsiteY3" fmla="*/ 958850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61950 w 2571750"/>
                <a:gd name="connsiteY0" fmla="*/ 0 h 2311400"/>
                <a:gd name="connsiteX1" fmla="*/ 355600 w 2571750"/>
                <a:gd name="connsiteY1" fmla="*/ 120650 h 2311400"/>
                <a:gd name="connsiteX2" fmla="*/ 101786 w 2571750"/>
                <a:gd name="connsiteY2" fmla="*/ 856862 h 2311400"/>
                <a:gd name="connsiteX3" fmla="*/ 50800 w 2571750"/>
                <a:gd name="connsiteY3" fmla="*/ 958850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61950 w 2571750"/>
                <a:gd name="connsiteY0" fmla="*/ 0 h 2311400"/>
                <a:gd name="connsiteX1" fmla="*/ 355600 w 2571750"/>
                <a:gd name="connsiteY1" fmla="*/ 120650 h 2311400"/>
                <a:gd name="connsiteX2" fmla="*/ 101786 w 2571750"/>
                <a:gd name="connsiteY2" fmla="*/ 856862 h 2311400"/>
                <a:gd name="connsiteX3" fmla="*/ 22071 w 2571750"/>
                <a:gd name="connsiteY3" fmla="*/ 923731 h 2311400"/>
                <a:gd name="connsiteX4" fmla="*/ 0 w 2571750"/>
                <a:gd name="connsiteY4" fmla="*/ 1028700 h 2311400"/>
                <a:gd name="connsiteX5" fmla="*/ 50800 w 2571750"/>
                <a:gd name="connsiteY5" fmla="*/ 1123950 h 2311400"/>
                <a:gd name="connsiteX6" fmla="*/ 25400 w 2571750"/>
                <a:gd name="connsiteY6" fmla="*/ 1206500 h 2311400"/>
                <a:gd name="connsiteX7" fmla="*/ 69850 w 2571750"/>
                <a:gd name="connsiteY7" fmla="*/ 1289050 h 2311400"/>
                <a:gd name="connsiteX8" fmla="*/ 2527300 w 2571750"/>
                <a:gd name="connsiteY8" fmla="*/ 2311400 h 2311400"/>
                <a:gd name="connsiteX9" fmla="*/ 2533650 w 2571750"/>
                <a:gd name="connsiteY9" fmla="*/ 2228850 h 2311400"/>
                <a:gd name="connsiteX10" fmla="*/ 2514600 w 2571750"/>
                <a:gd name="connsiteY10" fmla="*/ 2006600 h 2311400"/>
                <a:gd name="connsiteX11" fmla="*/ 2501900 w 2571750"/>
                <a:gd name="connsiteY11" fmla="*/ 1835150 h 2311400"/>
                <a:gd name="connsiteX12" fmla="*/ 2501900 w 2571750"/>
                <a:gd name="connsiteY12" fmla="*/ 1708150 h 2311400"/>
                <a:gd name="connsiteX13" fmla="*/ 2559050 w 2571750"/>
                <a:gd name="connsiteY13" fmla="*/ 1600200 h 2311400"/>
                <a:gd name="connsiteX14" fmla="*/ 2571750 w 2571750"/>
                <a:gd name="connsiteY14" fmla="*/ 1435100 h 2311400"/>
                <a:gd name="connsiteX15" fmla="*/ 2559050 w 2571750"/>
                <a:gd name="connsiteY15" fmla="*/ 1174750 h 2311400"/>
                <a:gd name="connsiteX16" fmla="*/ 361950 w 2571750"/>
                <a:gd name="connsiteY16" fmla="*/ 0 h 2311400"/>
                <a:gd name="connsiteX0" fmla="*/ 380109 w 2589909"/>
                <a:gd name="connsiteY0" fmla="*/ 0 h 2311400"/>
                <a:gd name="connsiteX1" fmla="*/ 373759 w 2589909"/>
                <a:gd name="connsiteY1" fmla="*/ 120650 h 2311400"/>
                <a:gd name="connsiteX2" fmla="*/ 119945 w 2589909"/>
                <a:gd name="connsiteY2" fmla="*/ 856862 h 2311400"/>
                <a:gd name="connsiteX3" fmla="*/ 40230 w 2589909"/>
                <a:gd name="connsiteY3" fmla="*/ 923731 h 2311400"/>
                <a:gd name="connsiteX4" fmla="*/ 18159 w 2589909"/>
                <a:gd name="connsiteY4" fmla="*/ 1028700 h 2311400"/>
                <a:gd name="connsiteX5" fmla="*/ 0 w 2589909"/>
                <a:gd name="connsiteY5" fmla="*/ 1136396 h 2311400"/>
                <a:gd name="connsiteX6" fmla="*/ 43559 w 2589909"/>
                <a:gd name="connsiteY6" fmla="*/ 1206500 h 2311400"/>
                <a:gd name="connsiteX7" fmla="*/ 88009 w 2589909"/>
                <a:gd name="connsiteY7" fmla="*/ 1289050 h 2311400"/>
                <a:gd name="connsiteX8" fmla="*/ 2545459 w 2589909"/>
                <a:gd name="connsiteY8" fmla="*/ 2311400 h 2311400"/>
                <a:gd name="connsiteX9" fmla="*/ 2551809 w 2589909"/>
                <a:gd name="connsiteY9" fmla="*/ 2228850 h 2311400"/>
                <a:gd name="connsiteX10" fmla="*/ 2532759 w 2589909"/>
                <a:gd name="connsiteY10" fmla="*/ 2006600 h 2311400"/>
                <a:gd name="connsiteX11" fmla="*/ 2520059 w 2589909"/>
                <a:gd name="connsiteY11" fmla="*/ 1835150 h 2311400"/>
                <a:gd name="connsiteX12" fmla="*/ 2520059 w 2589909"/>
                <a:gd name="connsiteY12" fmla="*/ 1708150 h 2311400"/>
                <a:gd name="connsiteX13" fmla="*/ 2577209 w 2589909"/>
                <a:gd name="connsiteY13" fmla="*/ 1600200 h 2311400"/>
                <a:gd name="connsiteX14" fmla="*/ 2589909 w 2589909"/>
                <a:gd name="connsiteY14" fmla="*/ 1435100 h 2311400"/>
                <a:gd name="connsiteX15" fmla="*/ 2577209 w 2589909"/>
                <a:gd name="connsiteY15" fmla="*/ 1174750 h 2311400"/>
                <a:gd name="connsiteX16" fmla="*/ 380109 w 2589909"/>
                <a:gd name="connsiteY16" fmla="*/ 0 h 2311400"/>
                <a:gd name="connsiteX0" fmla="*/ 381425 w 2591225"/>
                <a:gd name="connsiteY0" fmla="*/ 0 h 2311400"/>
                <a:gd name="connsiteX1" fmla="*/ 375075 w 2591225"/>
                <a:gd name="connsiteY1" fmla="*/ 120650 h 2311400"/>
                <a:gd name="connsiteX2" fmla="*/ 121261 w 2591225"/>
                <a:gd name="connsiteY2" fmla="*/ 856862 h 2311400"/>
                <a:gd name="connsiteX3" fmla="*/ 41546 w 2591225"/>
                <a:gd name="connsiteY3" fmla="*/ 923731 h 2311400"/>
                <a:gd name="connsiteX4" fmla="*/ 0 w 2591225"/>
                <a:gd name="connsiteY4" fmla="*/ 1029975 h 2311400"/>
                <a:gd name="connsiteX5" fmla="*/ 1316 w 2591225"/>
                <a:gd name="connsiteY5" fmla="*/ 1136396 h 2311400"/>
                <a:gd name="connsiteX6" fmla="*/ 44875 w 2591225"/>
                <a:gd name="connsiteY6" fmla="*/ 1206500 h 2311400"/>
                <a:gd name="connsiteX7" fmla="*/ 89325 w 2591225"/>
                <a:gd name="connsiteY7" fmla="*/ 1289050 h 2311400"/>
                <a:gd name="connsiteX8" fmla="*/ 2546775 w 2591225"/>
                <a:gd name="connsiteY8" fmla="*/ 2311400 h 2311400"/>
                <a:gd name="connsiteX9" fmla="*/ 2553125 w 2591225"/>
                <a:gd name="connsiteY9" fmla="*/ 2228850 h 2311400"/>
                <a:gd name="connsiteX10" fmla="*/ 2534075 w 2591225"/>
                <a:gd name="connsiteY10" fmla="*/ 2006600 h 2311400"/>
                <a:gd name="connsiteX11" fmla="*/ 2521375 w 2591225"/>
                <a:gd name="connsiteY11" fmla="*/ 1835150 h 2311400"/>
                <a:gd name="connsiteX12" fmla="*/ 2521375 w 2591225"/>
                <a:gd name="connsiteY12" fmla="*/ 1708150 h 2311400"/>
                <a:gd name="connsiteX13" fmla="*/ 2578525 w 2591225"/>
                <a:gd name="connsiteY13" fmla="*/ 1600200 h 2311400"/>
                <a:gd name="connsiteX14" fmla="*/ 2591225 w 2591225"/>
                <a:gd name="connsiteY14" fmla="*/ 1435100 h 2311400"/>
                <a:gd name="connsiteX15" fmla="*/ 2578525 w 2591225"/>
                <a:gd name="connsiteY15" fmla="*/ 1174750 h 2311400"/>
                <a:gd name="connsiteX16" fmla="*/ 381425 w 2591225"/>
                <a:gd name="connsiteY16"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91225" h="2311400">
                  <a:moveTo>
                    <a:pt x="381425" y="0"/>
                  </a:moveTo>
                  <a:lnTo>
                    <a:pt x="375075" y="120650"/>
                  </a:lnTo>
                  <a:lnTo>
                    <a:pt x="121261" y="856862"/>
                  </a:lnTo>
                  <a:lnTo>
                    <a:pt x="41546" y="923731"/>
                  </a:lnTo>
                  <a:lnTo>
                    <a:pt x="0" y="1029975"/>
                  </a:lnTo>
                  <a:cubicBezTo>
                    <a:pt x="439" y="1065449"/>
                    <a:pt x="877" y="1100922"/>
                    <a:pt x="1316" y="1136396"/>
                  </a:cubicBezTo>
                  <a:lnTo>
                    <a:pt x="44875" y="1206500"/>
                  </a:lnTo>
                  <a:lnTo>
                    <a:pt x="89325" y="1289050"/>
                  </a:lnTo>
                  <a:lnTo>
                    <a:pt x="2546775" y="2311400"/>
                  </a:lnTo>
                  <a:lnTo>
                    <a:pt x="2553125" y="2228850"/>
                  </a:lnTo>
                  <a:lnTo>
                    <a:pt x="2534075" y="2006600"/>
                  </a:lnTo>
                  <a:lnTo>
                    <a:pt x="2521375" y="1835150"/>
                  </a:lnTo>
                  <a:lnTo>
                    <a:pt x="2521375" y="1708150"/>
                  </a:lnTo>
                  <a:lnTo>
                    <a:pt x="2578525" y="1600200"/>
                  </a:lnTo>
                  <a:lnTo>
                    <a:pt x="2591225" y="1435100"/>
                  </a:lnTo>
                  <a:lnTo>
                    <a:pt x="2578525" y="1174750"/>
                  </a:lnTo>
                  <a:lnTo>
                    <a:pt x="381425"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dirty="0"/>
            </a:p>
          </p:txBody>
        </p:sp>
        <p:sp>
          <p:nvSpPr>
            <p:cNvPr id="16" name="CuadroTexto 15">
              <a:extLst>
                <a:ext uri="{FF2B5EF4-FFF2-40B4-BE49-F238E27FC236}">
                  <a16:creationId xmlns:a16="http://schemas.microsoft.com/office/drawing/2014/main" id="{D1CBD908-8EF0-4FD9-95DC-4CD4765CAA48}"/>
                </a:ext>
              </a:extLst>
            </p:cNvPr>
            <p:cNvSpPr txBox="1"/>
            <p:nvPr/>
          </p:nvSpPr>
          <p:spPr>
            <a:xfrm>
              <a:off x="10737138" y="3165501"/>
              <a:ext cx="1295607" cy="400110"/>
            </a:xfrm>
            <a:prstGeom prst="rect">
              <a:avLst/>
            </a:prstGeom>
            <a:solidFill>
              <a:schemeClr val="accent5">
                <a:lumMod val="60000"/>
                <a:lumOff val="40000"/>
                <a:alpha val="61000"/>
              </a:schemeClr>
            </a:solidFill>
            <a:ln>
              <a:noFill/>
            </a:ln>
          </p:spPr>
          <p:txBody>
            <a:bodyPr wrap="square" rtlCol="0" anchor="ctr" anchorCtr="0">
              <a:spAutoFit/>
            </a:bodyPr>
            <a:lstStyle/>
            <a:p>
              <a:pPr algn="ctr"/>
              <a:r>
                <a:rPr lang="es-PE" sz="1000" b="1" dirty="0">
                  <a:solidFill>
                    <a:schemeClr val="tx2"/>
                  </a:solidFill>
                </a:rPr>
                <a:t>Base Naval </a:t>
              </a:r>
            </a:p>
            <a:p>
              <a:pPr algn="ctr"/>
              <a:r>
                <a:rPr lang="es-PE" sz="1000" b="1" dirty="0">
                  <a:solidFill>
                    <a:schemeClr val="tx2"/>
                  </a:solidFill>
                </a:rPr>
                <a:t>zona Norte </a:t>
              </a:r>
            </a:p>
          </p:txBody>
        </p:sp>
        <p:sp>
          <p:nvSpPr>
            <p:cNvPr id="17" name="CuadroTexto 16">
              <a:extLst>
                <a:ext uri="{FF2B5EF4-FFF2-40B4-BE49-F238E27FC236}">
                  <a16:creationId xmlns:a16="http://schemas.microsoft.com/office/drawing/2014/main" id="{2F7765ED-2082-4553-B486-6B9F4E05D572}"/>
                </a:ext>
              </a:extLst>
            </p:cNvPr>
            <p:cNvSpPr txBox="1"/>
            <p:nvPr/>
          </p:nvSpPr>
          <p:spPr>
            <a:xfrm>
              <a:off x="13072079" y="2231143"/>
              <a:ext cx="1294808" cy="766633"/>
            </a:xfrm>
            <a:prstGeom prst="rect">
              <a:avLst/>
            </a:prstGeom>
            <a:solidFill>
              <a:srgbClr val="F08270">
                <a:alpha val="52000"/>
              </a:srgbClr>
            </a:solidFill>
            <a:ln>
              <a:noFill/>
            </a:ln>
          </p:spPr>
          <p:txBody>
            <a:bodyPr wrap="square" rtlCol="0" anchor="ctr" anchorCtr="0">
              <a:spAutoFit/>
            </a:bodyPr>
            <a:lstStyle/>
            <a:p>
              <a:pPr algn="ctr"/>
              <a:r>
                <a:rPr lang="es-PE" sz="1050" b="1" dirty="0">
                  <a:solidFill>
                    <a:schemeClr val="bg1"/>
                  </a:solidFill>
                </a:rPr>
                <a:t>Aeropuerto</a:t>
              </a:r>
            </a:p>
            <a:p>
              <a:pPr algn="ctr"/>
              <a:r>
                <a:rPr lang="en-US" sz="1050" b="1" dirty="0">
                  <a:solidFill>
                    <a:schemeClr val="bg1"/>
                  </a:solidFill>
                </a:rPr>
                <a:t>Jorge Chavez</a:t>
              </a:r>
              <a:endParaRPr lang="es-PE" sz="1050" b="1" dirty="0">
                <a:solidFill>
                  <a:schemeClr val="bg1"/>
                </a:solidFill>
              </a:endParaRPr>
            </a:p>
          </p:txBody>
        </p:sp>
        <p:sp>
          <p:nvSpPr>
            <p:cNvPr id="19" name="CuadroTexto 18">
              <a:extLst>
                <a:ext uri="{FF2B5EF4-FFF2-40B4-BE49-F238E27FC236}">
                  <a16:creationId xmlns:a16="http://schemas.microsoft.com/office/drawing/2014/main" id="{37D332FD-3722-4E15-99CE-26DC7EB6149D}"/>
                </a:ext>
              </a:extLst>
            </p:cNvPr>
            <p:cNvSpPr txBox="1"/>
            <p:nvPr/>
          </p:nvSpPr>
          <p:spPr>
            <a:xfrm rot="994766">
              <a:off x="13043067" y="4738927"/>
              <a:ext cx="1213056" cy="347540"/>
            </a:xfrm>
            <a:prstGeom prst="rect">
              <a:avLst/>
            </a:prstGeom>
            <a:noFill/>
          </p:spPr>
          <p:txBody>
            <a:bodyPr wrap="none" rtlCol="0">
              <a:spAutoFit/>
            </a:bodyPr>
            <a:lstStyle/>
            <a:p>
              <a:r>
                <a:rPr lang="en-US" sz="1100" dirty="0">
                  <a:solidFill>
                    <a:schemeClr val="bg1"/>
                  </a:solidFill>
                </a:rPr>
                <a:t>Río Rímac</a:t>
              </a:r>
              <a:endParaRPr lang="es-PE" sz="1100" dirty="0">
                <a:solidFill>
                  <a:schemeClr val="bg1"/>
                </a:solidFill>
              </a:endParaRPr>
            </a:p>
          </p:txBody>
        </p:sp>
        <p:sp>
          <p:nvSpPr>
            <p:cNvPr id="20" name="CuadroTexto 19">
              <a:extLst>
                <a:ext uri="{FF2B5EF4-FFF2-40B4-BE49-F238E27FC236}">
                  <a16:creationId xmlns:a16="http://schemas.microsoft.com/office/drawing/2014/main" id="{D74CAFA9-D541-4D00-B82A-B07546F72797}"/>
                </a:ext>
              </a:extLst>
            </p:cNvPr>
            <p:cNvSpPr txBox="1"/>
            <p:nvPr/>
          </p:nvSpPr>
          <p:spPr>
            <a:xfrm rot="5057051">
              <a:off x="12571789" y="3686410"/>
              <a:ext cx="1627392" cy="362407"/>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 N. Gambetta</a:t>
              </a:r>
              <a:endParaRPr lang="en-US" sz="1050" b="1" dirty="0">
                <a:solidFill>
                  <a:schemeClr val="bg1"/>
                </a:solidFill>
              </a:endParaRPr>
            </a:p>
          </p:txBody>
        </p:sp>
        <p:sp>
          <p:nvSpPr>
            <p:cNvPr id="21" name="CuadroTexto 20">
              <a:extLst>
                <a:ext uri="{FF2B5EF4-FFF2-40B4-BE49-F238E27FC236}">
                  <a16:creationId xmlns:a16="http://schemas.microsoft.com/office/drawing/2014/main" id="{8357D77F-EFA1-4524-9110-7C234862DA72}"/>
                </a:ext>
              </a:extLst>
            </p:cNvPr>
            <p:cNvSpPr txBox="1"/>
            <p:nvPr/>
          </p:nvSpPr>
          <p:spPr>
            <a:xfrm rot="20451396">
              <a:off x="12077837" y="6432374"/>
              <a:ext cx="1302284" cy="337319"/>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 Atalaya</a:t>
              </a:r>
              <a:endParaRPr lang="en-US" sz="1050" b="1" dirty="0">
                <a:solidFill>
                  <a:schemeClr val="bg1"/>
                </a:solidFill>
              </a:endParaRPr>
            </a:p>
          </p:txBody>
        </p:sp>
        <p:sp>
          <p:nvSpPr>
            <p:cNvPr id="22" name="CuadroTexto 21">
              <a:extLst>
                <a:ext uri="{FF2B5EF4-FFF2-40B4-BE49-F238E27FC236}">
                  <a16:creationId xmlns:a16="http://schemas.microsoft.com/office/drawing/2014/main" id="{2D44D679-DDC1-4B77-AA13-F853389DDEBF}"/>
                </a:ext>
              </a:extLst>
            </p:cNvPr>
            <p:cNvSpPr txBox="1"/>
            <p:nvPr/>
          </p:nvSpPr>
          <p:spPr>
            <a:xfrm rot="4718626">
              <a:off x="11016195" y="6141131"/>
              <a:ext cx="1488972" cy="362407"/>
            </a:xfrm>
            <a:prstGeom prst="rect">
              <a:avLst/>
            </a:prstGeom>
            <a:noFill/>
          </p:spPr>
          <p:txBody>
            <a:bodyPr wrap="none" rtlCol="0">
              <a:spAutoFit/>
            </a:bodyPr>
            <a:lstStyle/>
            <a:p>
              <a:r>
                <a:rPr lang="en-US" sz="1050" b="1" dirty="0">
                  <a:solidFill>
                    <a:schemeClr val="bg1"/>
                  </a:solidFill>
                </a:rPr>
                <a:t>Av</a:t>
              </a:r>
              <a:r>
                <a:rPr lang="es-PE" sz="1050" b="1" dirty="0">
                  <a:solidFill>
                    <a:schemeClr val="bg1"/>
                  </a:solidFill>
                </a:rPr>
                <a:t>.Calm. Mora</a:t>
              </a:r>
              <a:endParaRPr lang="en-US" sz="1050" b="1" dirty="0">
                <a:solidFill>
                  <a:schemeClr val="bg1"/>
                </a:solidFill>
              </a:endParaRPr>
            </a:p>
          </p:txBody>
        </p:sp>
        <p:sp>
          <p:nvSpPr>
            <p:cNvPr id="23" name="CuadroTexto 22">
              <a:extLst>
                <a:ext uri="{FF2B5EF4-FFF2-40B4-BE49-F238E27FC236}">
                  <a16:creationId xmlns:a16="http://schemas.microsoft.com/office/drawing/2014/main" id="{75369C23-4B23-469C-B15C-2741B923340E}"/>
                </a:ext>
              </a:extLst>
            </p:cNvPr>
            <p:cNvSpPr txBox="1"/>
            <p:nvPr/>
          </p:nvSpPr>
          <p:spPr>
            <a:xfrm rot="18213366">
              <a:off x="10047851" y="7106376"/>
              <a:ext cx="827803" cy="439281"/>
            </a:xfrm>
            <a:prstGeom prst="rect">
              <a:avLst/>
            </a:prstGeom>
            <a:solidFill>
              <a:schemeClr val="accent6">
                <a:lumMod val="40000"/>
                <a:lumOff val="60000"/>
                <a:alpha val="72000"/>
              </a:schemeClr>
            </a:solidFill>
            <a:ln>
              <a:noFill/>
            </a:ln>
          </p:spPr>
          <p:txBody>
            <a:bodyPr wrap="square" rtlCol="0" anchor="ctr" anchorCtr="0">
              <a:spAutoFit/>
            </a:bodyPr>
            <a:lstStyle/>
            <a:p>
              <a:pPr algn="ctr"/>
              <a:r>
                <a:rPr lang="es-ES" sz="700" b="1" dirty="0"/>
                <a:t>APM TERMINALS</a:t>
              </a:r>
              <a:endParaRPr lang="es-PE" sz="700" b="1" dirty="0"/>
            </a:p>
          </p:txBody>
        </p:sp>
        <p:sp>
          <p:nvSpPr>
            <p:cNvPr id="25" name="CuadroTexto 24">
              <a:extLst>
                <a:ext uri="{FF2B5EF4-FFF2-40B4-BE49-F238E27FC236}">
                  <a16:creationId xmlns:a16="http://schemas.microsoft.com/office/drawing/2014/main" id="{DC726EA2-4D4D-4CDE-A7B5-AD22293D7B00}"/>
                </a:ext>
              </a:extLst>
            </p:cNvPr>
            <p:cNvSpPr txBox="1"/>
            <p:nvPr/>
          </p:nvSpPr>
          <p:spPr>
            <a:xfrm>
              <a:off x="7974282" y="7980876"/>
              <a:ext cx="1086557" cy="286210"/>
            </a:xfrm>
            <a:prstGeom prst="rect">
              <a:avLst/>
            </a:prstGeom>
            <a:solidFill>
              <a:srgbClr val="FBB88F">
                <a:alpha val="78000"/>
              </a:srgbClr>
            </a:solidFill>
            <a:ln>
              <a:noFill/>
            </a:ln>
          </p:spPr>
          <p:txBody>
            <a:bodyPr wrap="square" rtlCol="0" anchor="ctr" anchorCtr="0">
              <a:spAutoFit/>
            </a:bodyPr>
            <a:lstStyle/>
            <a:p>
              <a:pPr algn="ctr"/>
              <a:r>
                <a:rPr lang="es-ES" sz="800" b="1" dirty="0">
                  <a:solidFill>
                    <a:schemeClr val="bg1"/>
                  </a:solidFill>
                </a:rPr>
                <a:t>DP WORLD</a:t>
              </a:r>
              <a:endParaRPr lang="es-PE" sz="800" b="1" dirty="0">
                <a:solidFill>
                  <a:schemeClr val="bg1"/>
                </a:solidFill>
              </a:endParaRPr>
            </a:p>
          </p:txBody>
        </p:sp>
        <p:sp>
          <p:nvSpPr>
            <p:cNvPr id="27" name="Forma libre 19">
              <a:extLst>
                <a:ext uri="{FF2B5EF4-FFF2-40B4-BE49-F238E27FC236}">
                  <a16:creationId xmlns:a16="http://schemas.microsoft.com/office/drawing/2014/main" id="{FFF2DDB6-FE8E-40E1-AC5B-954F29FE0D10}"/>
                </a:ext>
              </a:extLst>
            </p:cNvPr>
            <p:cNvSpPr/>
            <p:nvPr/>
          </p:nvSpPr>
          <p:spPr>
            <a:xfrm rot="21257051">
              <a:off x="9549970" y="6008729"/>
              <a:ext cx="2245260" cy="2090810"/>
            </a:xfrm>
            <a:custGeom>
              <a:avLst/>
              <a:gdLst>
                <a:gd name="connsiteX0" fmla="*/ 242684 w 1573114"/>
                <a:gd name="connsiteY0" fmla="*/ 0 h 1594783"/>
                <a:gd name="connsiteX1" fmla="*/ 34669 w 1573114"/>
                <a:gd name="connsiteY1" fmla="*/ 156011 h 1594783"/>
                <a:gd name="connsiteX2" fmla="*/ 338024 w 1573114"/>
                <a:gd name="connsiteY2" fmla="*/ 554707 h 1594783"/>
                <a:gd name="connsiteX3" fmla="*/ 325023 w 1573114"/>
                <a:gd name="connsiteY3" fmla="*/ 628379 h 1594783"/>
                <a:gd name="connsiteX4" fmla="*/ 104007 w 1573114"/>
                <a:gd name="connsiteY4" fmla="*/ 598044 h 1594783"/>
                <a:gd name="connsiteX5" fmla="*/ 104007 w 1573114"/>
                <a:gd name="connsiteY5" fmla="*/ 628379 h 1594783"/>
                <a:gd name="connsiteX6" fmla="*/ 320690 w 1573114"/>
                <a:gd name="connsiteY6" fmla="*/ 667382 h 1594783"/>
                <a:gd name="connsiteX7" fmla="*/ 290354 w 1573114"/>
                <a:gd name="connsiteY7" fmla="*/ 793058 h 1594783"/>
                <a:gd name="connsiteX8" fmla="*/ 195014 w 1573114"/>
                <a:gd name="connsiteY8" fmla="*/ 793058 h 1594783"/>
                <a:gd name="connsiteX9" fmla="*/ 60671 w 1573114"/>
                <a:gd name="connsiteY9" fmla="*/ 758389 h 1594783"/>
                <a:gd name="connsiteX10" fmla="*/ 52003 w 1573114"/>
                <a:gd name="connsiteY10" fmla="*/ 858063 h 1594783"/>
                <a:gd name="connsiteX11" fmla="*/ 281687 w 1573114"/>
                <a:gd name="connsiteY11" fmla="*/ 897065 h 1594783"/>
                <a:gd name="connsiteX12" fmla="*/ 264352 w 1573114"/>
                <a:gd name="connsiteY12" fmla="*/ 1014074 h 1594783"/>
                <a:gd name="connsiteX13" fmla="*/ 30335 w 1573114"/>
                <a:gd name="connsiteY13" fmla="*/ 983738 h 1594783"/>
                <a:gd name="connsiteX14" fmla="*/ 13001 w 1573114"/>
                <a:gd name="connsiteY14" fmla="*/ 1079079 h 1594783"/>
                <a:gd name="connsiteX15" fmla="*/ 234017 w 1573114"/>
                <a:gd name="connsiteY15" fmla="*/ 1113748 h 1594783"/>
                <a:gd name="connsiteX16" fmla="*/ 225349 w 1573114"/>
                <a:gd name="connsiteY16" fmla="*/ 1230756 h 1594783"/>
                <a:gd name="connsiteX17" fmla="*/ 0 w 1573114"/>
                <a:gd name="connsiteY17" fmla="*/ 1204755 h 1594783"/>
                <a:gd name="connsiteX18" fmla="*/ 0 w 1573114"/>
                <a:gd name="connsiteY18" fmla="*/ 1252425 h 1594783"/>
                <a:gd name="connsiteX19" fmla="*/ 225349 w 1573114"/>
                <a:gd name="connsiteY19" fmla="*/ 1287094 h 1594783"/>
                <a:gd name="connsiteX20" fmla="*/ 160345 w 1573114"/>
                <a:gd name="connsiteY20" fmla="*/ 1417103 h 1594783"/>
                <a:gd name="connsiteX21" fmla="*/ 463700 w 1573114"/>
                <a:gd name="connsiteY21" fmla="*/ 1594783 h 1594783"/>
                <a:gd name="connsiteX22" fmla="*/ 927401 w 1573114"/>
                <a:gd name="connsiteY22" fmla="*/ 1057410 h 1594783"/>
                <a:gd name="connsiteX23" fmla="*/ 1096413 w 1573114"/>
                <a:gd name="connsiteY23" fmla="*/ 949069 h 1594783"/>
                <a:gd name="connsiteX24" fmla="*/ 1573114 w 1573114"/>
                <a:gd name="connsiteY24" fmla="*/ 788724 h 1594783"/>
                <a:gd name="connsiteX25" fmla="*/ 1564447 w 1573114"/>
                <a:gd name="connsiteY25" fmla="*/ 684717 h 1594783"/>
                <a:gd name="connsiteX26" fmla="*/ 936068 w 1573114"/>
                <a:gd name="connsiteY26" fmla="*/ 780057 h 1594783"/>
                <a:gd name="connsiteX27" fmla="*/ 849395 w 1573114"/>
                <a:gd name="connsiteY27" fmla="*/ 680383 h 1594783"/>
                <a:gd name="connsiteX28" fmla="*/ 736720 w 1573114"/>
                <a:gd name="connsiteY28" fmla="*/ 650047 h 1594783"/>
                <a:gd name="connsiteX29" fmla="*/ 641380 w 1573114"/>
                <a:gd name="connsiteY29" fmla="*/ 628379 h 1594783"/>
                <a:gd name="connsiteX30" fmla="*/ 242684 w 1573114"/>
                <a:gd name="connsiteY30" fmla="*/ 0 h 1594783"/>
                <a:gd name="connsiteX0" fmla="*/ 208059 w 1573114"/>
                <a:gd name="connsiteY0" fmla="*/ 0 h 1573852"/>
                <a:gd name="connsiteX1" fmla="*/ 34669 w 1573114"/>
                <a:gd name="connsiteY1" fmla="*/ 135080 h 1573852"/>
                <a:gd name="connsiteX2" fmla="*/ 338024 w 1573114"/>
                <a:gd name="connsiteY2" fmla="*/ 533776 h 1573852"/>
                <a:gd name="connsiteX3" fmla="*/ 325023 w 1573114"/>
                <a:gd name="connsiteY3" fmla="*/ 607448 h 1573852"/>
                <a:gd name="connsiteX4" fmla="*/ 104007 w 1573114"/>
                <a:gd name="connsiteY4" fmla="*/ 577113 h 1573852"/>
                <a:gd name="connsiteX5" fmla="*/ 104007 w 1573114"/>
                <a:gd name="connsiteY5" fmla="*/ 607448 h 1573852"/>
                <a:gd name="connsiteX6" fmla="*/ 320690 w 1573114"/>
                <a:gd name="connsiteY6" fmla="*/ 646451 h 1573852"/>
                <a:gd name="connsiteX7" fmla="*/ 290354 w 1573114"/>
                <a:gd name="connsiteY7" fmla="*/ 772127 h 1573852"/>
                <a:gd name="connsiteX8" fmla="*/ 195014 w 1573114"/>
                <a:gd name="connsiteY8" fmla="*/ 772127 h 1573852"/>
                <a:gd name="connsiteX9" fmla="*/ 60671 w 1573114"/>
                <a:gd name="connsiteY9" fmla="*/ 737458 h 1573852"/>
                <a:gd name="connsiteX10" fmla="*/ 52003 w 1573114"/>
                <a:gd name="connsiteY10" fmla="*/ 837132 h 1573852"/>
                <a:gd name="connsiteX11" fmla="*/ 281687 w 1573114"/>
                <a:gd name="connsiteY11" fmla="*/ 876134 h 1573852"/>
                <a:gd name="connsiteX12" fmla="*/ 264352 w 1573114"/>
                <a:gd name="connsiteY12" fmla="*/ 993143 h 1573852"/>
                <a:gd name="connsiteX13" fmla="*/ 30335 w 1573114"/>
                <a:gd name="connsiteY13" fmla="*/ 962807 h 1573852"/>
                <a:gd name="connsiteX14" fmla="*/ 13001 w 1573114"/>
                <a:gd name="connsiteY14" fmla="*/ 1058148 h 1573852"/>
                <a:gd name="connsiteX15" fmla="*/ 234017 w 1573114"/>
                <a:gd name="connsiteY15" fmla="*/ 1092817 h 1573852"/>
                <a:gd name="connsiteX16" fmla="*/ 225349 w 1573114"/>
                <a:gd name="connsiteY16" fmla="*/ 1209825 h 1573852"/>
                <a:gd name="connsiteX17" fmla="*/ 0 w 1573114"/>
                <a:gd name="connsiteY17" fmla="*/ 1183824 h 1573852"/>
                <a:gd name="connsiteX18" fmla="*/ 0 w 1573114"/>
                <a:gd name="connsiteY18" fmla="*/ 1231494 h 1573852"/>
                <a:gd name="connsiteX19" fmla="*/ 225349 w 1573114"/>
                <a:gd name="connsiteY19" fmla="*/ 1266163 h 1573852"/>
                <a:gd name="connsiteX20" fmla="*/ 160345 w 1573114"/>
                <a:gd name="connsiteY20" fmla="*/ 1396172 h 1573852"/>
                <a:gd name="connsiteX21" fmla="*/ 463700 w 1573114"/>
                <a:gd name="connsiteY21" fmla="*/ 1573852 h 1573852"/>
                <a:gd name="connsiteX22" fmla="*/ 927401 w 1573114"/>
                <a:gd name="connsiteY22" fmla="*/ 1036479 h 1573852"/>
                <a:gd name="connsiteX23" fmla="*/ 1096413 w 1573114"/>
                <a:gd name="connsiteY23" fmla="*/ 928138 h 1573852"/>
                <a:gd name="connsiteX24" fmla="*/ 1573114 w 1573114"/>
                <a:gd name="connsiteY24" fmla="*/ 767793 h 1573852"/>
                <a:gd name="connsiteX25" fmla="*/ 1564447 w 1573114"/>
                <a:gd name="connsiteY25" fmla="*/ 663786 h 1573852"/>
                <a:gd name="connsiteX26" fmla="*/ 936068 w 1573114"/>
                <a:gd name="connsiteY26" fmla="*/ 759126 h 1573852"/>
                <a:gd name="connsiteX27" fmla="*/ 849395 w 1573114"/>
                <a:gd name="connsiteY27" fmla="*/ 659452 h 1573852"/>
                <a:gd name="connsiteX28" fmla="*/ 736720 w 1573114"/>
                <a:gd name="connsiteY28" fmla="*/ 629116 h 1573852"/>
                <a:gd name="connsiteX29" fmla="*/ 641380 w 1573114"/>
                <a:gd name="connsiteY29" fmla="*/ 607448 h 1573852"/>
                <a:gd name="connsiteX30" fmla="*/ 208059 w 1573114"/>
                <a:gd name="connsiteY30" fmla="*/ 0 h 157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73114" h="1573852">
                  <a:moveTo>
                    <a:pt x="208059" y="0"/>
                  </a:moveTo>
                  <a:lnTo>
                    <a:pt x="34669" y="135080"/>
                  </a:lnTo>
                  <a:lnTo>
                    <a:pt x="338024" y="533776"/>
                  </a:lnTo>
                  <a:lnTo>
                    <a:pt x="325023" y="607448"/>
                  </a:lnTo>
                  <a:lnTo>
                    <a:pt x="104007" y="577113"/>
                  </a:lnTo>
                  <a:lnTo>
                    <a:pt x="104007" y="607448"/>
                  </a:lnTo>
                  <a:lnTo>
                    <a:pt x="320690" y="646451"/>
                  </a:lnTo>
                  <a:lnTo>
                    <a:pt x="290354" y="772127"/>
                  </a:lnTo>
                  <a:lnTo>
                    <a:pt x="195014" y="772127"/>
                  </a:lnTo>
                  <a:lnTo>
                    <a:pt x="60671" y="737458"/>
                  </a:lnTo>
                  <a:lnTo>
                    <a:pt x="52003" y="837132"/>
                  </a:lnTo>
                  <a:lnTo>
                    <a:pt x="281687" y="876134"/>
                  </a:lnTo>
                  <a:lnTo>
                    <a:pt x="264352" y="993143"/>
                  </a:lnTo>
                  <a:lnTo>
                    <a:pt x="30335" y="962807"/>
                  </a:lnTo>
                  <a:lnTo>
                    <a:pt x="13001" y="1058148"/>
                  </a:lnTo>
                  <a:lnTo>
                    <a:pt x="234017" y="1092817"/>
                  </a:lnTo>
                  <a:lnTo>
                    <a:pt x="225349" y="1209825"/>
                  </a:lnTo>
                  <a:lnTo>
                    <a:pt x="0" y="1183824"/>
                  </a:lnTo>
                  <a:lnTo>
                    <a:pt x="0" y="1231494"/>
                  </a:lnTo>
                  <a:lnTo>
                    <a:pt x="225349" y="1266163"/>
                  </a:lnTo>
                  <a:lnTo>
                    <a:pt x="160345" y="1396172"/>
                  </a:lnTo>
                  <a:lnTo>
                    <a:pt x="463700" y="1573852"/>
                  </a:lnTo>
                  <a:lnTo>
                    <a:pt x="927401" y="1036479"/>
                  </a:lnTo>
                  <a:lnTo>
                    <a:pt x="1096413" y="928138"/>
                  </a:lnTo>
                  <a:lnTo>
                    <a:pt x="1573114" y="767793"/>
                  </a:lnTo>
                  <a:lnTo>
                    <a:pt x="1564447" y="663786"/>
                  </a:lnTo>
                  <a:lnTo>
                    <a:pt x="936068" y="759126"/>
                  </a:lnTo>
                  <a:lnTo>
                    <a:pt x="849395" y="659452"/>
                  </a:lnTo>
                  <a:lnTo>
                    <a:pt x="736720" y="629116"/>
                  </a:lnTo>
                  <a:lnTo>
                    <a:pt x="641380" y="607448"/>
                  </a:lnTo>
                  <a:lnTo>
                    <a:pt x="208059" y="0"/>
                  </a:lnTo>
                  <a:close/>
                </a:path>
              </a:pathLst>
            </a:custGeom>
            <a:solidFill>
              <a:srgbClr val="C5E0B4">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Forma libre 18">
              <a:extLst>
                <a:ext uri="{FF2B5EF4-FFF2-40B4-BE49-F238E27FC236}">
                  <a16:creationId xmlns:a16="http://schemas.microsoft.com/office/drawing/2014/main" id="{D5567F82-CC57-4F22-8959-AD9EE5648DC5}"/>
                </a:ext>
              </a:extLst>
            </p:cNvPr>
            <p:cNvSpPr/>
            <p:nvPr/>
          </p:nvSpPr>
          <p:spPr>
            <a:xfrm rot="21257051">
              <a:off x="9787833" y="6081131"/>
              <a:ext cx="0" cy="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8" name="Forma libre 20">
              <a:extLst>
                <a:ext uri="{FF2B5EF4-FFF2-40B4-BE49-F238E27FC236}">
                  <a16:creationId xmlns:a16="http://schemas.microsoft.com/office/drawing/2014/main" id="{FEF5920C-ECA2-45B7-A1D2-5B9B8DE71227}"/>
                </a:ext>
              </a:extLst>
            </p:cNvPr>
            <p:cNvSpPr/>
            <p:nvPr/>
          </p:nvSpPr>
          <p:spPr>
            <a:xfrm rot="21198789">
              <a:off x="5934582" y="3318590"/>
              <a:ext cx="4344583" cy="1929922"/>
            </a:xfrm>
            <a:custGeom>
              <a:avLst/>
              <a:gdLst>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4368800 w 5528733"/>
                <a:gd name="connsiteY22" fmla="*/ 2286000 h 2590800"/>
                <a:gd name="connsiteX23" fmla="*/ 5469466 w 5528733"/>
                <a:gd name="connsiteY23" fmla="*/ 2167467 h 2590800"/>
                <a:gd name="connsiteX24" fmla="*/ 5393266 w 5528733"/>
                <a:gd name="connsiteY24" fmla="*/ 1727200 h 2590800"/>
                <a:gd name="connsiteX25" fmla="*/ 5528733 w 5528733"/>
                <a:gd name="connsiteY25" fmla="*/ 1278467 h 2590800"/>
                <a:gd name="connsiteX26" fmla="*/ 3877733 w 5528733"/>
                <a:gd name="connsiteY26" fmla="*/ 601134 h 2590800"/>
                <a:gd name="connsiteX27" fmla="*/ 1430866 w 5528733"/>
                <a:gd name="connsiteY27"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5469466 w 5528733"/>
                <a:gd name="connsiteY22" fmla="*/ 2167467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470400 w 5528733"/>
                <a:gd name="connsiteY21" fmla="*/ 2438400 h 2590800"/>
                <a:gd name="connsiteX22" fmla="*/ 5481793 w 5528733"/>
                <a:gd name="connsiteY22" fmla="*/ 2210789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528733"/>
                <a:gd name="connsiteY0" fmla="*/ 0 h 2590800"/>
                <a:gd name="connsiteX1" fmla="*/ 389466 w 5528733"/>
                <a:gd name="connsiteY1" fmla="*/ 1024467 h 2590800"/>
                <a:gd name="connsiteX2" fmla="*/ 431800 w 5528733"/>
                <a:gd name="connsiteY2" fmla="*/ 1066800 h 2590800"/>
                <a:gd name="connsiteX3" fmla="*/ 482600 w 5528733"/>
                <a:gd name="connsiteY3" fmla="*/ 1007534 h 2590800"/>
                <a:gd name="connsiteX4" fmla="*/ 1456266 w 5528733"/>
                <a:gd name="connsiteY4" fmla="*/ 76200 h 2590800"/>
                <a:gd name="connsiteX5" fmla="*/ 3835400 w 5528733"/>
                <a:gd name="connsiteY5" fmla="*/ 694267 h 2590800"/>
                <a:gd name="connsiteX6" fmla="*/ 3708400 w 5528733"/>
                <a:gd name="connsiteY6" fmla="*/ 1193800 h 2590800"/>
                <a:gd name="connsiteX7" fmla="*/ 2336800 w 5528733"/>
                <a:gd name="connsiteY7" fmla="*/ 863600 h 2590800"/>
                <a:gd name="connsiteX8" fmla="*/ 2311400 w 5528733"/>
                <a:gd name="connsiteY8" fmla="*/ 922867 h 2590800"/>
                <a:gd name="connsiteX9" fmla="*/ 3683000 w 5528733"/>
                <a:gd name="connsiteY9" fmla="*/ 1286934 h 2590800"/>
                <a:gd name="connsiteX10" fmla="*/ 3759200 w 5528733"/>
                <a:gd name="connsiteY10" fmla="*/ 1286934 h 2590800"/>
                <a:gd name="connsiteX11" fmla="*/ 3589866 w 5528733"/>
                <a:gd name="connsiteY11" fmla="*/ 1862667 h 2590800"/>
                <a:gd name="connsiteX12" fmla="*/ 2167466 w 5528733"/>
                <a:gd name="connsiteY12" fmla="*/ 1473200 h 2590800"/>
                <a:gd name="connsiteX13" fmla="*/ 2159000 w 5528733"/>
                <a:gd name="connsiteY13" fmla="*/ 1566334 h 2590800"/>
                <a:gd name="connsiteX14" fmla="*/ 3572933 w 5528733"/>
                <a:gd name="connsiteY14" fmla="*/ 1913467 h 2590800"/>
                <a:gd name="connsiteX15" fmla="*/ 3462866 w 5528733"/>
                <a:gd name="connsiteY15" fmla="*/ 2286000 h 2590800"/>
                <a:gd name="connsiteX16" fmla="*/ 1032933 w 5528733"/>
                <a:gd name="connsiteY16" fmla="*/ 1642534 h 2590800"/>
                <a:gd name="connsiteX17" fmla="*/ 999066 w 5528733"/>
                <a:gd name="connsiteY17" fmla="*/ 1744134 h 2590800"/>
                <a:gd name="connsiteX18" fmla="*/ 8466 w 5528733"/>
                <a:gd name="connsiteY18" fmla="*/ 1473200 h 2590800"/>
                <a:gd name="connsiteX19" fmla="*/ 0 w 5528733"/>
                <a:gd name="connsiteY19" fmla="*/ 1557867 h 2590800"/>
                <a:gd name="connsiteX20" fmla="*/ 4055533 w 5528733"/>
                <a:gd name="connsiteY20" fmla="*/ 2590800 h 2590800"/>
                <a:gd name="connsiteX21" fmla="*/ 4534964 w 5528733"/>
                <a:gd name="connsiteY21" fmla="*/ 2416245 h 2590800"/>
                <a:gd name="connsiteX22" fmla="*/ 5481793 w 5528733"/>
                <a:gd name="connsiteY22" fmla="*/ 2210789 h 2590800"/>
                <a:gd name="connsiteX23" fmla="*/ 5393266 w 5528733"/>
                <a:gd name="connsiteY23" fmla="*/ 1727200 h 2590800"/>
                <a:gd name="connsiteX24" fmla="*/ 5528733 w 5528733"/>
                <a:gd name="connsiteY24" fmla="*/ 1278467 h 2590800"/>
                <a:gd name="connsiteX25" fmla="*/ 3877733 w 5528733"/>
                <a:gd name="connsiteY25" fmla="*/ 601134 h 2590800"/>
                <a:gd name="connsiteX26" fmla="*/ 1430866 w 5528733"/>
                <a:gd name="connsiteY26" fmla="*/ 0 h 2590800"/>
                <a:gd name="connsiteX0" fmla="*/ 1430866 w 5606029"/>
                <a:gd name="connsiteY0" fmla="*/ 0 h 2590800"/>
                <a:gd name="connsiteX1" fmla="*/ 389466 w 5606029"/>
                <a:gd name="connsiteY1" fmla="*/ 1024467 h 2590800"/>
                <a:gd name="connsiteX2" fmla="*/ 431800 w 5606029"/>
                <a:gd name="connsiteY2" fmla="*/ 1066800 h 2590800"/>
                <a:gd name="connsiteX3" fmla="*/ 482600 w 5606029"/>
                <a:gd name="connsiteY3" fmla="*/ 1007534 h 2590800"/>
                <a:gd name="connsiteX4" fmla="*/ 1456266 w 5606029"/>
                <a:gd name="connsiteY4" fmla="*/ 76200 h 2590800"/>
                <a:gd name="connsiteX5" fmla="*/ 3835400 w 5606029"/>
                <a:gd name="connsiteY5" fmla="*/ 694267 h 2590800"/>
                <a:gd name="connsiteX6" fmla="*/ 3708400 w 5606029"/>
                <a:gd name="connsiteY6" fmla="*/ 1193800 h 2590800"/>
                <a:gd name="connsiteX7" fmla="*/ 2336800 w 5606029"/>
                <a:gd name="connsiteY7" fmla="*/ 863600 h 2590800"/>
                <a:gd name="connsiteX8" fmla="*/ 2311400 w 5606029"/>
                <a:gd name="connsiteY8" fmla="*/ 922867 h 2590800"/>
                <a:gd name="connsiteX9" fmla="*/ 3683000 w 5606029"/>
                <a:gd name="connsiteY9" fmla="*/ 1286934 h 2590800"/>
                <a:gd name="connsiteX10" fmla="*/ 3759200 w 5606029"/>
                <a:gd name="connsiteY10" fmla="*/ 1286934 h 2590800"/>
                <a:gd name="connsiteX11" fmla="*/ 3589866 w 5606029"/>
                <a:gd name="connsiteY11" fmla="*/ 1862667 h 2590800"/>
                <a:gd name="connsiteX12" fmla="*/ 2167466 w 5606029"/>
                <a:gd name="connsiteY12" fmla="*/ 1473200 h 2590800"/>
                <a:gd name="connsiteX13" fmla="*/ 2159000 w 5606029"/>
                <a:gd name="connsiteY13" fmla="*/ 1566334 h 2590800"/>
                <a:gd name="connsiteX14" fmla="*/ 3572933 w 5606029"/>
                <a:gd name="connsiteY14" fmla="*/ 1913467 h 2590800"/>
                <a:gd name="connsiteX15" fmla="*/ 3462866 w 5606029"/>
                <a:gd name="connsiteY15" fmla="*/ 2286000 h 2590800"/>
                <a:gd name="connsiteX16" fmla="*/ 1032933 w 5606029"/>
                <a:gd name="connsiteY16" fmla="*/ 1642534 h 2590800"/>
                <a:gd name="connsiteX17" fmla="*/ 999066 w 5606029"/>
                <a:gd name="connsiteY17" fmla="*/ 1744134 h 2590800"/>
                <a:gd name="connsiteX18" fmla="*/ 8466 w 5606029"/>
                <a:gd name="connsiteY18" fmla="*/ 1473200 h 2590800"/>
                <a:gd name="connsiteX19" fmla="*/ 0 w 5606029"/>
                <a:gd name="connsiteY19" fmla="*/ 1557867 h 2590800"/>
                <a:gd name="connsiteX20" fmla="*/ 4055533 w 5606029"/>
                <a:gd name="connsiteY20" fmla="*/ 2590800 h 2590800"/>
                <a:gd name="connsiteX21" fmla="*/ 4534964 w 5606029"/>
                <a:gd name="connsiteY21" fmla="*/ 2416245 h 2590800"/>
                <a:gd name="connsiteX22" fmla="*/ 5481793 w 5606029"/>
                <a:gd name="connsiteY22" fmla="*/ 2210789 h 2590800"/>
                <a:gd name="connsiteX23" fmla="*/ 5393266 w 5606029"/>
                <a:gd name="connsiteY23" fmla="*/ 1727200 h 2590800"/>
                <a:gd name="connsiteX24" fmla="*/ 5606030 w 5606029"/>
                <a:gd name="connsiteY24" fmla="*/ 1331261 h 2590800"/>
                <a:gd name="connsiteX25" fmla="*/ 3877733 w 5606029"/>
                <a:gd name="connsiteY25" fmla="*/ 601134 h 2590800"/>
                <a:gd name="connsiteX26" fmla="*/ 1430866 w 5606029"/>
                <a:gd name="connsiteY26" fmla="*/ 0 h 2590800"/>
                <a:gd name="connsiteX0" fmla="*/ 1430866 w 5606031"/>
                <a:gd name="connsiteY0" fmla="*/ 0 h 2590800"/>
                <a:gd name="connsiteX1" fmla="*/ 389466 w 5606031"/>
                <a:gd name="connsiteY1" fmla="*/ 1024467 h 2590800"/>
                <a:gd name="connsiteX2" fmla="*/ 431800 w 5606031"/>
                <a:gd name="connsiteY2" fmla="*/ 1066800 h 2590800"/>
                <a:gd name="connsiteX3" fmla="*/ 482600 w 5606031"/>
                <a:gd name="connsiteY3" fmla="*/ 1007534 h 2590800"/>
                <a:gd name="connsiteX4" fmla="*/ 1456266 w 5606031"/>
                <a:gd name="connsiteY4" fmla="*/ 76200 h 2590800"/>
                <a:gd name="connsiteX5" fmla="*/ 3835400 w 5606031"/>
                <a:gd name="connsiteY5" fmla="*/ 694267 h 2590800"/>
                <a:gd name="connsiteX6" fmla="*/ 3708400 w 5606031"/>
                <a:gd name="connsiteY6" fmla="*/ 1193800 h 2590800"/>
                <a:gd name="connsiteX7" fmla="*/ 2336800 w 5606031"/>
                <a:gd name="connsiteY7" fmla="*/ 863600 h 2590800"/>
                <a:gd name="connsiteX8" fmla="*/ 2311400 w 5606031"/>
                <a:gd name="connsiteY8" fmla="*/ 922867 h 2590800"/>
                <a:gd name="connsiteX9" fmla="*/ 3683000 w 5606031"/>
                <a:gd name="connsiteY9" fmla="*/ 1286934 h 2590800"/>
                <a:gd name="connsiteX10" fmla="*/ 3759200 w 5606031"/>
                <a:gd name="connsiteY10" fmla="*/ 1286934 h 2590800"/>
                <a:gd name="connsiteX11" fmla="*/ 3589866 w 5606031"/>
                <a:gd name="connsiteY11" fmla="*/ 1862667 h 2590800"/>
                <a:gd name="connsiteX12" fmla="*/ 2167466 w 5606031"/>
                <a:gd name="connsiteY12" fmla="*/ 1473200 h 2590800"/>
                <a:gd name="connsiteX13" fmla="*/ 2159000 w 5606031"/>
                <a:gd name="connsiteY13" fmla="*/ 1566334 h 2590800"/>
                <a:gd name="connsiteX14" fmla="*/ 3572933 w 5606031"/>
                <a:gd name="connsiteY14" fmla="*/ 1913467 h 2590800"/>
                <a:gd name="connsiteX15" fmla="*/ 3462866 w 5606031"/>
                <a:gd name="connsiteY15" fmla="*/ 2286000 h 2590800"/>
                <a:gd name="connsiteX16" fmla="*/ 1032933 w 5606031"/>
                <a:gd name="connsiteY16" fmla="*/ 1642534 h 2590800"/>
                <a:gd name="connsiteX17" fmla="*/ 999066 w 5606031"/>
                <a:gd name="connsiteY17" fmla="*/ 1744134 h 2590800"/>
                <a:gd name="connsiteX18" fmla="*/ 8466 w 5606031"/>
                <a:gd name="connsiteY18" fmla="*/ 1473200 h 2590800"/>
                <a:gd name="connsiteX19" fmla="*/ 0 w 5606031"/>
                <a:gd name="connsiteY19" fmla="*/ 1557867 h 2590800"/>
                <a:gd name="connsiteX20" fmla="*/ 4055533 w 5606031"/>
                <a:gd name="connsiteY20" fmla="*/ 2590800 h 2590800"/>
                <a:gd name="connsiteX21" fmla="*/ 4534964 w 5606031"/>
                <a:gd name="connsiteY21" fmla="*/ 2416245 h 2590800"/>
                <a:gd name="connsiteX22" fmla="*/ 5481793 w 5606031"/>
                <a:gd name="connsiteY22" fmla="*/ 2210789 h 2590800"/>
                <a:gd name="connsiteX23" fmla="*/ 5437045 w 5606031"/>
                <a:gd name="connsiteY23" fmla="*/ 1749749 h 2590800"/>
                <a:gd name="connsiteX24" fmla="*/ 5606030 w 5606031"/>
                <a:gd name="connsiteY24" fmla="*/ 1331261 h 2590800"/>
                <a:gd name="connsiteX25" fmla="*/ 3877733 w 5606031"/>
                <a:gd name="connsiteY25" fmla="*/ 601134 h 2590800"/>
                <a:gd name="connsiteX26" fmla="*/ 1430866 w 5606031"/>
                <a:gd name="connsiteY26" fmla="*/ 0 h 2590800"/>
                <a:gd name="connsiteX0" fmla="*/ 1430866 w 5623328"/>
                <a:gd name="connsiteY0" fmla="*/ 0 h 2590800"/>
                <a:gd name="connsiteX1" fmla="*/ 389466 w 5623328"/>
                <a:gd name="connsiteY1" fmla="*/ 1024467 h 2590800"/>
                <a:gd name="connsiteX2" fmla="*/ 431800 w 5623328"/>
                <a:gd name="connsiteY2" fmla="*/ 1066800 h 2590800"/>
                <a:gd name="connsiteX3" fmla="*/ 482600 w 5623328"/>
                <a:gd name="connsiteY3" fmla="*/ 1007534 h 2590800"/>
                <a:gd name="connsiteX4" fmla="*/ 1456266 w 5623328"/>
                <a:gd name="connsiteY4" fmla="*/ 76200 h 2590800"/>
                <a:gd name="connsiteX5" fmla="*/ 3835400 w 5623328"/>
                <a:gd name="connsiteY5" fmla="*/ 694267 h 2590800"/>
                <a:gd name="connsiteX6" fmla="*/ 3708400 w 5623328"/>
                <a:gd name="connsiteY6" fmla="*/ 1193800 h 2590800"/>
                <a:gd name="connsiteX7" fmla="*/ 2336800 w 5623328"/>
                <a:gd name="connsiteY7" fmla="*/ 863600 h 2590800"/>
                <a:gd name="connsiteX8" fmla="*/ 2311400 w 5623328"/>
                <a:gd name="connsiteY8" fmla="*/ 922867 h 2590800"/>
                <a:gd name="connsiteX9" fmla="*/ 3683000 w 5623328"/>
                <a:gd name="connsiteY9" fmla="*/ 1286934 h 2590800"/>
                <a:gd name="connsiteX10" fmla="*/ 3759200 w 5623328"/>
                <a:gd name="connsiteY10" fmla="*/ 1286934 h 2590800"/>
                <a:gd name="connsiteX11" fmla="*/ 3589866 w 5623328"/>
                <a:gd name="connsiteY11" fmla="*/ 1862667 h 2590800"/>
                <a:gd name="connsiteX12" fmla="*/ 2167466 w 5623328"/>
                <a:gd name="connsiteY12" fmla="*/ 1473200 h 2590800"/>
                <a:gd name="connsiteX13" fmla="*/ 2159000 w 5623328"/>
                <a:gd name="connsiteY13" fmla="*/ 1566334 h 2590800"/>
                <a:gd name="connsiteX14" fmla="*/ 3572933 w 5623328"/>
                <a:gd name="connsiteY14" fmla="*/ 1913467 h 2590800"/>
                <a:gd name="connsiteX15" fmla="*/ 3462866 w 5623328"/>
                <a:gd name="connsiteY15" fmla="*/ 2286000 h 2590800"/>
                <a:gd name="connsiteX16" fmla="*/ 1032933 w 5623328"/>
                <a:gd name="connsiteY16" fmla="*/ 1642534 h 2590800"/>
                <a:gd name="connsiteX17" fmla="*/ 999066 w 5623328"/>
                <a:gd name="connsiteY17" fmla="*/ 1744134 h 2590800"/>
                <a:gd name="connsiteX18" fmla="*/ 8466 w 5623328"/>
                <a:gd name="connsiteY18" fmla="*/ 1473200 h 2590800"/>
                <a:gd name="connsiteX19" fmla="*/ 0 w 5623328"/>
                <a:gd name="connsiteY19" fmla="*/ 1557867 h 2590800"/>
                <a:gd name="connsiteX20" fmla="*/ 4055533 w 5623328"/>
                <a:gd name="connsiteY20" fmla="*/ 2590800 h 2590800"/>
                <a:gd name="connsiteX21" fmla="*/ 4534964 w 5623328"/>
                <a:gd name="connsiteY21" fmla="*/ 2416245 h 2590800"/>
                <a:gd name="connsiteX22" fmla="*/ 5481793 w 5623328"/>
                <a:gd name="connsiteY22" fmla="*/ 2210789 h 2590800"/>
                <a:gd name="connsiteX23" fmla="*/ 5437045 w 5623328"/>
                <a:gd name="connsiteY23" fmla="*/ 1749749 h 2590800"/>
                <a:gd name="connsiteX24" fmla="*/ 5623328 w 5623328"/>
                <a:gd name="connsiteY24" fmla="*/ 1342027 h 2590800"/>
                <a:gd name="connsiteX25" fmla="*/ 3877733 w 5623328"/>
                <a:gd name="connsiteY25" fmla="*/ 601134 h 2590800"/>
                <a:gd name="connsiteX26" fmla="*/ 1430866 w 5623328"/>
                <a:gd name="connsiteY26" fmla="*/ 0 h 2590800"/>
                <a:gd name="connsiteX0" fmla="*/ 1504495 w 5696957"/>
                <a:gd name="connsiteY0" fmla="*/ 0 h 2590800"/>
                <a:gd name="connsiteX1" fmla="*/ 463095 w 5696957"/>
                <a:gd name="connsiteY1" fmla="*/ 1024467 h 2590800"/>
                <a:gd name="connsiteX2" fmla="*/ 505429 w 5696957"/>
                <a:gd name="connsiteY2" fmla="*/ 1066800 h 2590800"/>
                <a:gd name="connsiteX3" fmla="*/ 556229 w 5696957"/>
                <a:gd name="connsiteY3" fmla="*/ 1007534 h 2590800"/>
                <a:gd name="connsiteX4" fmla="*/ 1529895 w 5696957"/>
                <a:gd name="connsiteY4" fmla="*/ 76200 h 2590800"/>
                <a:gd name="connsiteX5" fmla="*/ 3909029 w 5696957"/>
                <a:gd name="connsiteY5" fmla="*/ 694267 h 2590800"/>
                <a:gd name="connsiteX6" fmla="*/ 3782029 w 5696957"/>
                <a:gd name="connsiteY6" fmla="*/ 1193800 h 2590800"/>
                <a:gd name="connsiteX7" fmla="*/ 2410429 w 5696957"/>
                <a:gd name="connsiteY7" fmla="*/ 863600 h 2590800"/>
                <a:gd name="connsiteX8" fmla="*/ 2385029 w 5696957"/>
                <a:gd name="connsiteY8" fmla="*/ 922867 h 2590800"/>
                <a:gd name="connsiteX9" fmla="*/ 3756629 w 5696957"/>
                <a:gd name="connsiteY9" fmla="*/ 1286934 h 2590800"/>
                <a:gd name="connsiteX10" fmla="*/ 3832829 w 5696957"/>
                <a:gd name="connsiteY10" fmla="*/ 1286934 h 2590800"/>
                <a:gd name="connsiteX11" fmla="*/ 3663495 w 5696957"/>
                <a:gd name="connsiteY11" fmla="*/ 1862667 h 2590800"/>
                <a:gd name="connsiteX12" fmla="*/ 2241095 w 5696957"/>
                <a:gd name="connsiteY12" fmla="*/ 1473200 h 2590800"/>
                <a:gd name="connsiteX13" fmla="*/ 2232629 w 5696957"/>
                <a:gd name="connsiteY13" fmla="*/ 1566334 h 2590800"/>
                <a:gd name="connsiteX14" fmla="*/ 3646562 w 5696957"/>
                <a:gd name="connsiteY14" fmla="*/ 1913467 h 2590800"/>
                <a:gd name="connsiteX15" fmla="*/ 3536495 w 5696957"/>
                <a:gd name="connsiteY15" fmla="*/ 2286000 h 2590800"/>
                <a:gd name="connsiteX16" fmla="*/ 1106562 w 5696957"/>
                <a:gd name="connsiteY16" fmla="*/ 1642534 h 2590800"/>
                <a:gd name="connsiteX17" fmla="*/ 1072695 w 5696957"/>
                <a:gd name="connsiteY17" fmla="*/ 1744134 h 2590800"/>
                <a:gd name="connsiteX18" fmla="*/ 82095 w 5696957"/>
                <a:gd name="connsiteY18" fmla="*/ 1473200 h 2590800"/>
                <a:gd name="connsiteX19" fmla="*/ 0 w 5696957"/>
                <a:gd name="connsiteY19" fmla="*/ 1596365 h 2590800"/>
                <a:gd name="connsiteX20" fmla="*/ 4129162 w 5696957"/>
                <a:gd name="connsiteY20" fmla="*/ 2590800 h 2590800"/>
                <a:gd name="connsiteX21" fmla="*/ 4608593 w 5696957"/>
                <a:gd name="connsiteY21" fmla="*/ 2416245 h 2590800"/>
                <a:gd name="connsiteX22" fmla="*/ 5555422 w 5696957"/>
                <a:gd name="connsiteY22" fmla="*/ 2210789 h 2590800"/>
                <a:gd name="connsiteX23" fmla="*/ 5510674 w 5696957"/>
                <a:gd name="connsiteY23" fmla="*/ 1749749 h 2590800"/>
                <a:gd name="connsiteX24" fmla="*/ 5696957 w 5696957"/>
                <a:gd name="connsiteY24" fmla="*/ 1342027 h 2590800"/>
                <a:gd name="connsiteX25" fmla="*/ 3951362 w 5696957"/>
                <a:gd name="connsiteY25" fmla="*/ 601134 h 2590800"/>
                <a:gd name="connsiteX26" fmla="*/ 1504495 w 5696957"/>
                <a:gd name="connsiteY26" fmla="*/ 0 h 2590800"/>
                <a:gd name="connsiteX0" fmla="*/ 1504495 w 5696957"/>
                <a:gd name="connsiteY0" fmla="*/ 0 h 2590800"/>
                <a:gd name="connsiteX1" fmla="*/ 463095 w 5696957"/>
                <a:gd name="connsiteY1" fmla="*/ 1024467 h 2590800"/>
                <a:gd name="connsiteX2" fmla="*/ 505429 w 5696957"/>
                <a:gd name="connsiteY2" fmla="*/ 1066800 h 2590800"/>
                <a:gd name="connsiteX3" fmla="*/ 556229 w 5696957"/>
                <a:gd name="connsiteY3" fmla="*/ 1007534 h 2590800"/>
                <a:gd name="connsiteX4" fmla="*/ 1529895 w 5696957"/>
                <a:gd name="connsiteY4" fmla="*/ 76200 h 2590800"/>
                <a:gd name="connsiteX5" fmla="*/ 3909029 w 5696957"/>
                <a:gd name="connsiteY5" fmla="*/ 694267 h 2590800"/>
                <a:gd name="connsiteX6" fmla="*/ 3782029 w 5696957"/>
                <a:gd name="connsiteY6" fmla="*/ 1193800 h 2590800"/>
                <a:gd name="connsiteX7" fmla="*/ 2410429 w 5696957"/>
                <a:gd name="connsiteY7" fmla="*/ 863600 h 2590800"/>
                <a:gd name="connsiteX8" fmla="*/ 2385029 w 5696957"/>
                <a:gd name="connsiteY8" fmla="*/ 922867 h 2590800"/>
                <a:gd name="connsiteX9" fmla="*/ 3756629 w 5696957"/>
                <a:gd name="connsiteY9" fmla="*/ 1286934 h 2590800"/>
                <a:gd name="connsiteX10" fmla="*/ 3832829 w 5696957"/>
                <a:gd name="connsiteY10" fmla="*/ 1286934 h 2590800"/>
                <a:gd name="connsiteX11" fmla="*/ 3663495 w 5696957"/>
                <a:gd name="connsiteY11" fmla="*/ 1862667 h 2590800"/>
                <a:gd name="connsiteX12" fmla="*/ 2241095 w 5696957"/>
                <a:gd name="connsiteY12" fmla="*/ 1473200 h 2590800"/>
                <a:gd name="connsiteX13" fmla="*/ 2232629 w 5696957"/>
                <a:gd name="connsiteY13" fmla="*/ 1566334 h 2590800"/>
                <a:gd name="connsiteX14" fmla="*/ 3646562 w 5696957"/>
                <a:gd name="connsiteY14" fmla="*/ 1913467 h 2590800"/>
                <a:gd name="connsiteX15" fmla="*/ 3536495 w 5696957"/>
                <a:gd name="connsiteY15" fmla="*/ 2286000 h 2590800"/>
                <a:gd name="connsiteX16" fmla="*/ 1106562 w 5696957"/>
                <a:gd name="connsiteY16" fmla="*/ 1642534 h 2590800"/>
                <a:gd name="connsiteX17" fmla="*/ 1072695 w 5696957"/>
                <a:gd name="connsiteY17" fmla="*/ 1744134 h 2590800"/>
                <a:gd name="connsiteX18" fmla="*/ 19310 w 5696957"/>
                <a:gd name="connsiteY18" fmla="*/ 1503566 h 2590800"/>
                <a:gd name="connsiteX19" fmla="*/ 0 w 5696957"/>
                <a:gd name="connsiteY19" fmla="*/ 1596365 h 2590800"/>
                <a:gd name="connsiteX20" fmla="*/ 4129162 w 5696957"/>
                <a:gd name="connsiteY20" fmla="*/ 2590800 h 2590800"/>
                <a:gd name="connsiteX21" fmla="*/ 4608593 w 5696957"/>
                <a:gd name="connsiteY21" fmla="*/ 2416245 h 2590800"/>
                <a:gd name="connsiteX22" fmla="*/ 5555422 w 5696957"/>
                <a:gd name="connsiteY22" fmla="*/ 2210789 h 2590800"/>
                <a:gd name="connsiteX23" fmla="*/ 5510674 w 5696957"/>
                <a:gd name="connsiteY23" fmla="*/ 1749749 h 2590800"/>
                <a:gd name="connsiteX24" fmla="*/ 5696957 w 5696957"/>
                <a:gd name="connsiteY24" fmla="*/ 1342027 h 2590800"/>
                <a:gd name="connsiteX25" fmla="*/ 3951362 w 5696957"/>
                <a:gd name="connsiteY25" fmla="*/ 601134 h 2590800"/>
                <a:gd name="connsiteX26" fmla="*/ 1504495 w 5696957"/>
                <a:gd name="connsiteY26" fmla="*/ 0 h 2590800"/>
                <a:gd name="connsiteX0" fmla="*/ 1504495 w 5696957"/>
                <a:gd name="connsiteY0" fmla="*/ 0 h 2608143"/>
                <a:gd name="connsiteX1" fmla="*/ 463095 w 5696957"/>
                <a:gd name="connsiteY1" fmla="*/ 1024467 h 2608143"/>
                <a:gd name="connsiteX2" fmla="*/ 505429 w 5696957"/>
                <a:gd name="connsiteY2" fmla="*/ 1066800 h 2608143"/>
                <a:gd name="connsiteX3" fmla="*/ 556229 w 5696957"/>
                <a:gd name="connsiteY3" fmla="*/ 1007534 h 2608143"/>
                <a:gd name="connsiteX4" fmla="*/ 1529895 w 5696957"/>
                <a:gd name="connsiteY4" fmla="*/ 76200 h 2608143"/>
                <a:gd name="connsiteX5" fmla="*/ 3909029 w 5696957"/>
                <a:gd name="connsiteY5" fmla="*/ 694267 h 2608143"/>
                <a:gd name="connsiteX6" fmla="*/ 3782029 w 5696957"/>
                <a:gd name="connsiteY6" fmla="*/ 1193800 h 2608143"/>
                <a:gd name="connsiteX7" fmla="*/ 2410429 w 5696957"/>
                <a:gd name="connsiteY7" fmla="*/ 863600 h 2608143"/>
                <a:gd name="connsiteX8" fmla="*/ 2385029 w 5696957"/>
                <a:gd name="connsiteY8" fmla="*/ 922867 h 2608143"/>
                <a:gd name="connsiteX9" fmla="*/ 3756629 w 5696957"/>
                <a:gd name="connsiteY9" fmla="*/ 1286934 h 2608143"/>
                <a:gd name="connsiteX10" fmla="*/ 3832829 w 5696957"/>
                <a:gd name="connsiteY10" fmla="*/ 1286934 h 2608143"/>
                <a:gd name="connsiteX11" fmla="*/ 3663495 w 5696957"/>
                <a:gd name="connsiteY11" fmla="*/ 1862667 h 2608143"/>
                <a:gd name="connsiteX12" fmla="*/ 2241095 w 5696957"/>
                <a:gd name="connsiteY12" fmla="*/ 1473200 h 2608143"/>
                <a:gd name="connsiteX13" fmla="*/ 2232629 w 5696957"/>
                <a:gd name="connsiteY13" fmla="*/ 1566334 h 2608143"/>
                <a:gd name="connsiteX14" fmla="*/ 3646562 w 5696957"/>
                <a:gd name="connsiteY14" fmla="*/ 1913467 h 2608143"/>
                <a:gd name="connsiteX15" fmla="*/ 3536495 w 5696957"/>
                <a:gd name="connsiteY15" fmla="*/ 2286000 h 2608143"/>
                <a:gd name="connsiteX16" fmla="*/ 1106562 w 5696957"/>
                <a:gd name="connsiteY16" fmla="*/ 1642534 h 2608143"/>
                <a:gd name="connsiteX17" fmla="*/ 1072695 w 5696957"/>
                <a:gd name="connsiteY17" fmla="*/ 1744134 h 2608143"/>
                <a:gd name="connsiteX18" fmla="*/ 19310 w 5696957"/>
                <a:gd name="connsiteY18" fmla="*/ 1503566 h 2608143"/>
                <a:gd name="connsiteX19" fmla="*/ 0 w 5696957"/>
                <a:gd name="connsiteY19" fmla="*/ 1596365 h 2608143"/>
                <a:gd name="connsiteX20" fmla="*/ 4117182 w 5696957"/>
                <a:gd name="connsiteY20" fmla="*/ 2608142 h 2608143"/>
                <a:gd name="connsiteX21" fmla="*/ 4608593 w 5696957"/>
                <a:gd name="connsiteY21" fmla="*/ 2416245 h 2608143"/>
                <a:gd name="connsiteX22" fmla="*/ 5555422 w 5696957"/>
                <a:gd name="connsiteY22" fmla="*/ 2210789 h 2608143"/>
                <a:gd name="connsiteX23" fmla="*/ 5510674 w 5696957"/>
                <a:gd name="connsiteY23" fmla="*/ 1749749 h 2608143"/>
                <a:gd name="connsiteX24" fmla="*/ 5696957 w 5696957"/>
                <a:gd name="connsiteY24" fmla="*/ 1342027 h 2608143"/>
                <a:gd name="connsiteX25" fmla="*/ 3951362 w 5696957"/>
                <a:gd name="connsiteY25" fmla="*/ 601134 h 2608143"/>
                <a:gd name="connsiteX26" fmla="*/ 1504495 w 5696957"/>
                <a:gd name="connsiteY26" fmla="*/ 0 h 2608143"/>
                <a:gd name="connsiteX0" fmla="*/ 1504495 w 5696957"/>
                <a:gd name="connsiteY0" fmla="*/ 0 h 2608141"/>
                <a:gd name="connsiteX1" fmla="*/ 463095 w 5696957"/>
                <a:gd name="connsiteY1" fmla="*/ 1024467 h 2608141"/>
                <a:gd name="connsiteX2" fmla="*/ 505429 w 5696957"/>
                <a:gd name="connsiteY2" fmla="*/ 1066800 h 2608141"/>
                <a:gd name="connsiteX3" fmla="*/ 556229 w 5696957"/>
                <a:gd name="connsiteY3" fmla="*/ 1007534 h 2608141"/>
                <a:gd name="connsiteX4" fmla="*/ 1529895 w 5696957"/>
                <a:gd name="connsiteY4" fmla="*/ 76200 h 2608141"/>
                <a:gd name="connsiteX5" fmla="*/ 3909029 w 5696957"/>
                <a:gd name="connsiteY5" fmla="*/ 694267 h 2608141"/>
                <a:gd name="connsiteX6" fmla="*/ 3782029 w 5696957"/>
                <a:gd name="connsiteY6" fmla="*/ 1193800 h 2608141"/>
                <a:gd name="connsiteX7" fmla="*/ 2410429 w 5696957"/>
                <a:gd name="connsiteY7" fmla="*/ 863600 h 2608141"/>
                <a:gd name="connsiteX8" fmla="*/ 2385029 w 5696957"/>
                <a:gd name="connsiteY8" fmla="*/ 922867 h 2608141"/>
                <a:gd name="connsiteX9" fmla="*/ 3756629 w 5696957"/>
                <a:gd name="connsiteY9" fmla="*/ 1286934 h 2608141"/>
                <a:gd name="connsiteX10" fmla="*/ 3832829 w 5696957"/>
                <a:gd name="connsiteY10" fmla="*/ 1286934 h 2608141"/>
                <a:gd name="connsiteX11" fmla="*/ 3663495 w 5696957"/>
                <a:gd name="connsiteY11" fmla="*/ 1862667 h 2608141"/>
                <a:gd name="connsiteX12" fmla="*/ 2241095 w 5696957"/>
                <a:gd name="connsiteY12" fmla="*/ 1473200 h 2608141"/>
                <a:gd name="connsiteX13" fmla="*/ 2232629 w 5696957"/>
                <a:gd name="connsiteY13" fmla="*/ 1566334 h 2608141"/>
                <a:gd name="connsiteX14" fmla="*/ 3646562 w 5696957"/>
                <a:gd name="connsiteY14" fmla="*/ 1913467 h 2608141"/>
                <a:gd name="connsiteX15" fmla="*/ 3536495 w 5696957"/>
                <a:gd name="connsiteY15" fmla="*/ 2286000 h 2608141"/>
                <a:gd name="connsiteX16" fmla="*/ 1106562 w 5696957"/>
                <a:gd name="connsiteY16" fmla="*/ 1642534 h 2608141"/>
                <a:gd name="connsiteX17" fmla="*/ 1072695 w 5696957"/>
                <a:gd name="connsiteY17" fmla="*/ 1744134 h 2608141"/>
                <a:gd name="connsiteX18" fmla="*/ 61545 w 5696957"/>
                <a:gd name="connsiteY18" fmla="*/ 1480251 h 2608141"/>
                <a:gd name="connsiteX19" fmla="*/ 0 w 5696957"/>
                <a:gd name="connsiteY19" fmla="*/ 1596365 h 2608141"/>
                <a:gd name="connsiteX20" fmla="*/ 4117182 w 5696957"/>
                <a:gd name="connsiteY20" fmla="*/ 2608142 h 2608141"/>
                <a:gd name="connsiteX21" fmla="*/ 4608593 w 5696957"/>
                <a:gd name="connsiteY21" fmla="*/ 2416245 h 2608141"/>
                <a:gd name="connsiteX22" fmla="*/ 5555422 w 5696957"/>
                <a:gd name="connsiteY22" fmla="*/ 2210789 h 2608141"/>
                <a:gd name="connsiteX23" fmla="*/ 5510674 w 5696957"/>
                <a:gd name="connsiteY23" fmla="*/ 1749749 h 2608141"/>
                <a:gd name="connsiteX24" fmla="*/ 5696957 w 5696957"/>
                <a:gd name="connsiteY24" fmla="*/ 1342027 h 2608141"/>
                <a:gd name="connsiteX25" fmla="*/ 3951362 w 5696957"/>
                <a:gd name="connsiteY25" fmla="*/ 601134 h 2608141"/>
                <a:gd name="connsiteX26" fmla="*/ 1504495 w 5696957"/>
                <a:gd name="connsiteY26" fmla="*/ 0 h 2608141"/>
                <a:gd name="connsiteX0" fmla="*/ 1506339 w 5698801"/>
                <a:gd name="connsiteY0" fmla="*/ 0 h 2608143"/>
                <a:gd name="connsiteX1" fmla="*/ 464939 w 5698801"/>
                <a:gd name="connsiteY1" fmla="*/ 1024467 h 2608143"/>
                <a:gd name="connsiteX2" fmla="*/ 507273 w 5698801"/>
                <a:gd name="connsiteY2" fmla="*/ 1066800 h 2608143"/>
                <a:gd name="connsiteX3" fmla="*/ 558073 w 5698801"/>
                <a:gd name="connsiteY3" fmla="*/ 1007534 h 2608143"/>
                <a:gd name="connsiteX4" fmla="*/ 1531739 w 5698801"/>
                <a:gd name="connsiteY4" fmla="*/ 76200 h 2608143"/>
                <a:gd name="connsiteX5" fmla="*/ 3910873 w 5698801"/>
                <a:gd name="connsiteY5" fmla="*/ 694267 h 2608143"/>
                <a:gd name="connsiteX6" fmla="*/ 3783873 w 5698801"/>
                <a:gd name="connsiteY6" fmla="*/ 1193800 h 2608143"/>
                <a:gd name="connsiteX7" fmla="*/ 2412273 w 5698801"/>
                <a:gd name="connsiteY7" fmla="*/ 863600 h 2608143"/>
                <a:gd name="connsiteX8" fmla="*/ 2386873 w 5698801"/>
                <a:gd name="connsiteY8" fmla="*/ 922867 h 2608143"/>
                <a:gd name="connsiteX9" fmla="*/ 3758473 w 5698801"/>
                <a:gd name="connsiteY9" fmla="*/ 1286934 h 2608143"/>
                <a:gd name="connsiteX10" fmla="*/ 3834673 w 5698801"/>
                <a:gd name="connsiteY10" fmla="*/ 1286934 h 2608143"/>
                <a:gd name="connsiteX11" fmla="*/ 3665339 w 5698801"/>
                <a:gd name="connsiteY11" fmla="*/ 1862667 h 2608143"/>
                <a:gd name="connsiteX12" fmla="*/ 2242939 w 5698801"/>
                <a:gd name="connsiteY12" fmla="*/ 1473200 h 2608143"/>
                <a:gd name="connsiteX13" fmla="*/ 2234473 w 5698801"/>
                <a:gd name="connsiteY13" fmla="*/ 1566334 h 2608143"/>
                <a:gd name="connsiteX14" fmla="*/ 3648406 w 5698801"/>
                <a:gd name="connsiteY14" fmla="*/ 1913467 h 2608143"/>
                <a:gd name="connsiteX15" fmla="*/ 3538339 w 5698801"/>
                <a:gd name="connsiteY15" fmla="*/ 2286000 h 2608143"/>
                <a:gd name="connsiteX16" fmla="*/ 1108406 w 5698801"/>
                <a:gd name="connsiteY16" fmla="*/ 1642534 h 2608143"/>
                <a:gd name="connsiteX17" fmla="*/ 1074539 w 5698801"/>
                <a:gd name="connsiteY17" fmla="*/ 1744134 h 2608143"/>
                <a:gd name="connsiteX18" fmla="*/ 0 w 5698801"/>
                <a:gd name="connsiteY18" fmla="*/ 1435843 h 2608143"/>
                <a:gd name="connsiteX19" fmla="*/ 1844 w 5698801"/>
                <a:gd name="connsiteY19" fmla="*/ 1596365 h 2608143"/>
                <a:gd name="connsiteX20" fmla="*/ 4119026 w 5698801"/>
                <a:gd name="connsiteY20" fmla="*/ 2608142 h 2608143"/>
                <a:gd name="connsiteX21" fmla="*/ 4610437 w 5698801"/>
                <a:gd name="connsiteY21" fmla="*/ 2416245 h 2608143"/>
                <a:gd name="connsiteX22" fmla="*/ 5557266 w 5698801"/>
                <a:gd name="connsiteY22" fmla="*/ 2210789 h 2608143"/>
                <a:gd name="connsiteX23" fmla="*/ 5512518 w 5698801"/>
                <a:gd name="connsiteY23" fmla="*/ 1749749 h 2608143"/>
                <a:gd name="connsiteX24" fmla="*/ 5698801 w 5698801"/>
                <a:gd name="connsiteY24" fmla="*/ 1342027 h 2608143"/>
                <a:gd name="connsiteX25" fmla="*/ 3953206 w 5698801"/>
                <a:gd name="connsiteY25" fmla="*/ 601134 h 2608143"/>
                <a:gd name="connsiteX26" fmla="*/ 1506339 w 5698801"/>
                <a:gd name="connsiteY26" fmla="*/ 0 h 2608143"/>
                <a:gd name="connsiteX0" fmla="*/ 1571300 w 5763762"/>
                <a:gd name="connsiteY0" fmla="*/ 0 h 2608141"/>
                <a:gd name="connsiteX1" fmla="*/ 529900 w 5763762"/>
                <a:gd name="connsiteY1" fmla="*/ 1024467 h 2608141"/>
                <a:gd name="connsiteX2" fmla="*/ 572234 w 5763762"/>
                <a:gd name="connsiteY2" fmla="*/ 1066800 h 2608141"/>
                <a:gd name="connsiteX3" fmla="*/ 623034 w 5763762"/>
                <a:gd name="connsiteY3" fmla="*/ 1007534 h 2608141"/>
                <a:gd name="connsiteX4" fmla="*/ 1596700 w 5763762"/>
                <a:gd name="connsiteY4" fmla="*/ 76200 h 2608141"/>
                <a:gd name="connsiteX5" fmla="*/ 3975834 w 5763762"/>
                <a:gd name="connsiteY5" fmla="*/ 694267 h 2608141"/>
                <a:gd name="connsiteX6" fmla="*/ 3848834 w 5763762"/>
                <a:gd name="connsiteY6" fmla="*/ 1193800 h 2608141"/>
                <a:gd name="connsiteX7" fmla="*/ 2477234 w 5763762"/>
                <a:gd name="connsiteY7" fmla="*/ 863600 h 2608141"/>
                <a:gd name="connsiteX8" fmla="*/ 2451834 w 5763762"/>
                <a:gd name="connsiteY8" fmla="*/ 922867 h 2608141"/>
                <a:gd name="connsiteX9" fmla="*/ 3823434 w 5763762"/>
                <a:gd name="connsiteY9" fmla="*/ 1286934 h 2608141"/>
                <a:gd name="connsiteX10" fmla="*/ 3899634 w 5763762"/>
                <a:gd name="connsiteY10" fmla="*/ 1286934 h 2608141"/>
                <a:gd name="connsiteX11" fmla="*/ 3730300 w 5763762"/>
                <a:gd name="connsiteY11" fmla="*/ 1862667 h 2608141"/>
                <a:gd name="connsiteX12" fmla="*/ 2307900 w 5763762"/>
                <a:gd name="connsiteY12" fmla="*/ 1473200 h 2608141"/>
                <a:gd name="connsiteX13" fmla="*/ 2299434 w 5763762"/>
                <a:gd name="connsiteY13" fmla="*/ 1566334 h 2608141"/>
                <a:gd name="connsiteX14" fmla="*/ 3713367 w 5763762"/>
                <a:gd name="connsiteY14" fmla="*/ 1913467 h 2608141"/>
                <a:gd name="connsiteX15" fmla="*/ 3603300 w 5763762"/>
                <a:gd name="connsiteY15" fmla="*/ 2286000 h 2608141"/>
                <a:gd name="connsiteX16" fmla="*/ 1173367 w 5763762"/>
                <a:gd name="connsiteY16" fmla="*/ 1642534 h 2608141"/>
                <a:gd name="connsiteX17" fmla="*/ 1139500 w 5763762"/>
                <a:gd name="connsiteY17" fmla="*/ 1744134 h 2608141"/>
                <a:gd name="connsiteX18" fmla="*/ 64961 w 5763762"/>
                <a:gd name="connsiteY18" fmla="*/ 1435843 h 2608141"/>
                <a:gd name="connsiteX19" fmla="*/ 4 w 5763762"/>
                <a:gd name="connsiteY19" fmla="*/ 1579591 h 2608141"/>
                <a:gd name="connsiteX20" fmla="*/ 4183987 w 5763762"/>
                <a:gd name="connsiteY20" fmla="*/ 2608142 h 2608141"/>
                <a:gd name="connsiteX21" fmla="*/ 4675398 w 5763762"/>
                <a:gd name="connsiteY21" fmla="*/ 2416245 h 2608141"/>
                <a:gd name="connsiteX22" fmla="*/ 5622227 w 5763762"/>
                <a:gd name="connsiteY22" fmla="*/ 2210789 h 2608141"/>
                <a:gd name="connsiteX23" fmla="*/ 5577479 w 5763762"/>
                <a:gd name="connsiteY23" fmla="*/ 1749749 h 2608141"/>
                <a:gd name="connsiteX24" fmla="*/ 5763762 w 5763762"/>
                <a:gd name="connsiteY24" fmla="*/ 1342027 h 2608141"/>
                <a:gd name="connsiteX25" fmla="*/ 4018167 w 5763762"/>
                <a:gd name="connsiteY25" fmla="*/ 601134 h 2608141"/>
                <a:gd name="connsiteX26" fmla="*/ 1571300 w 5763762"/>
                <a:gd name="connsiteY26" fmla="*/ 0 h 2608141"/>
                <a:gd name="connsiteX0" fmla="*/ 1571300 w 5763762"/>
                <a:gd name="connsiteY0" fmla="*/ 0 h 2608143"/>
                <a:gd name="connsiteX1" fmla="*/ 529900 w 5763762"/>
                <a:gd name="connsiteY1" fmla="*/ 1024467 h 2608143"/>
                <a:gd name="connsiteX2" fmla="*/ 572234 w 5763762"/>
                <a:gd name="connsiteY2" fmla="*/ 1066800 h 2608143"/>
                <a:gd name="connsiteX3" fmla="*/ 623034 w 5763762"/>
                <a:gd name="connsiteY3" fmla="*/ 1007534 h 2608143"/>
                <a:gd name="connsiteX4" fmla="*/ 1596700 w 5763762"/>
                <a:gd name="connsiteY4" fmla="*/ 76200 h 2608143"/>
                <a:gd name="connsiteX5" fmla="*/ 3975834 w 5763762"/>
                <a:gd name="connsiteY5" fmla="*/ 694267 h 2608143"/>
                <a:gd name="connsiteX6" fmla="*/ 3848834 w 5763762"/>
                <a:gd name="connsiteY6" fmla="*/ 1193800 h 2608143"/>
                <a:gd name="connsiteX7" fmla="*/ 2477234 w 5763762"/>
                <a:gd name="connsiteY7" fmla="*/ 863600 h 2608143"/>
                <a:gd name="connsiteX8" fmla="*/ 2451834 w 5763762"/>
                <a:gd name="connsiteY8" fmla="*/ 922867 h 2608143"/>
                <a:gd name="connsiteX9" fmla="*/ 3823434 w 5763762"/>
                <a:gd name="connsiteY9" fmla="*/ 1286934 h 2608143"/>
                <a:gd name="connsiteX10" fmla="*/ 3899634 w 5763762"/>
                <a:gd name="connsiteY10" fmla="*/ 1286934 h 2608143"/>
                <a:gd name="connsiteX11" fmla="*/ 3730300 w 5763762"/>
                <a:gd name="connsiteY11" fmla="*/ 1862667 h 2608143"/>
                <a:gd name="connsiteX12" fmla="*/ 2307900 w 5763762"/>
                <a:gd name="connsiteY12" fmla="*/ 1473200 h 2608143"/>
                <a:gd name="connsiteX13" fmla="*/ 2299434 w 5763762"/>
                <a:gd name="connsiteY13" fmla="*/ 1566334 h 2608143"/>
                <a:gd name="connsiteX14" fmla="*/ 3713367 w 5763762"/>
                <a:gd name="connsiteY14" fmla="*/ 1913467 h 2608143"/>
                <a:gd name="connsiteX15" fmla="*/ 3603300 w 5763762"/>
                <a:gd name="connsiteY15" fmla="*/ 2286000 h 2608143"/>
                <a:gd name="connsiteX16" fmla="*/ 1173367 w 5763762"/>
                <a:gd name="connsiteY16" fmla="*/ 1642534 h 2608143"/>
                <a:gd name="connsiteX17" fmla="*/ 1141776 w 5763762"/>
                <a:gd name="connsiteY17" fmla="*/ 1725712 h 2608143"/>
                <a:gd name="connsiteX18" fmla="*/ 64961 w 5763762"/>
                <a:gd name="connsiteY18" fmla="*/ 1435843 h 2608143"/>
                <a:gd name="connsiteX19" fmla="*/ 4 w 5763762"/>
                <a:gd name="connsiteY19" fmla="*/ 1579591 h 2608143"/>
                <a:gd name="connsiteX20" fmla="*/ 4183987 w 5763762"/>
                <a:gd name="connsiteY20" fmla="*/ 2608142 h 2608143"/>
                <a:gd name="connsiteX21" fmla="*/ 4675398 w 5763762"/>
                <a:gd name="connsiteY21" fmla="*/ 2416245 h 2608143"/>
                <a:gd name="connsiteX22" fmla="*/ 5622227 w 5763762"/>
                <a:gd name="connsiteY22" fmla="*/ 2210789 h 2608143"/>
                <a:gd name="connsiteX23" fmla="*/ 5577479 w 5763762"/>
                <a:gd name="connsiteY23" fmla="*/ 1749749 h 2608143"/>
                <a:gd name="connsiteX24" fmla="*/ 5763762 w 5763762"/>
                <a:gd name="connsiteY24" fmla="*/ 1342027 h 2608143"/>
                <a:gd name="connsiteX25" fmla="*/ 4018167 w 5763762"/>
                <a:gd name="connsiteY25" fmla="*/ 601134 h 2608143"/>
                <a:gd name="connsiteX26" fmla="*/ 1571300 w 5763762"/>
                <a:gd name="connsiteY26" fmla="*/ 0 h 2608143"/>
                <a:gd name="connsiteX0" fmla="*/ 1541050 w 5733512"/>
                <a:gd name="connsiteY0" fmla="*/ 0 h 2608141"/>
                <a:gd name="connsiteX1" fmla="*/ 499650 w 5733512"/>
                <a:gd name="connsiteY1" fmla="*/ 1024467 h 2608141"/>
                <a:gd name="connsiteX2" fmla="*/ 541984 w 5733512"/>
                <a:gd name="connsiteY2" fmla="*/ 1066800 h 2608141"/>
                <a:gd name="connsiteX3" fmla="*/ 592784 w 5733512"/>
                <a:gd name="connsiteY3" fmla="*/ 1007534 h 2608141"/>
                <a:gd name="connsiteX4" fmla="*/ 1566450 w 5733512"/>
                <a:gd name="connsiteY4" fmla="*/ 76200 h 2608141"/>
                <a:gd name="connsiteX5" fmla="*/ 3945584 w 5733512"/>
                <a:gd name="connsiteY5" fmla="*/ 694267 h 2608141"/>
                <a:gd name="connsiteX6" fmla="*/ 3818584 w 5733512"/>
                <a:gd name="connsiteY6" fmla="*/ 1193800 h 2608141"/>
                <a:gd name="connsiteX7" fmla="*/ 2446984 w 5733512"/>
                <a:gd name="connsiteY7" fmla="*/ 863600 h 2608141"/>
                <a:gd name="connsiteX8" fmla="*/ 2421584 w 5733512"/>
                <a:gd name="connsiteY8" fmla="*/ 922867 h 2608141"/>
                <a:gd name="connsiteX9" fmla="*/ 3793184 w 5733512"/>
                <a:gd name="connsiteY9" fmla="*/ 1286934 h 2608141"/>
                <a:gd name="connsiteX10" fmla="*/ 3869384 w 5733512"/>
                <a:gd name="connsiteY10" fmla="*/ 1286934 h 2608141"/>
                <a:gd name="connsiteX11" fmla="*/ 3700050 w 5733512"/>
                <a:gd name="connsiteY11" fmla="*/ 1862667 h 2608141"/>
                <a:gd name="connsiteX12" fmla="*/ 2277650 w 5733512"/>
                <a:gd name="connsiteY12" fmla="*/ 1473200 h 2608141"/>
                <a:gd name="connsiteX13" fmla="*/ 2269184 w 5733512"/>
                <a:gd name="connsiteY13" fmla="*/ 1566334 h 2608141"/>
                <a:gd name="connsiteX14" fmla="*/ 3683117 w 5733512"/>
                <a:gd name="connsiteY14" fmla="*/ 1913467 h 2608141"/>
                <a:gd name="connsiteX15" fmla="*/ 3573050 w 5733512"/>
                <a:gd name="connsiteY15" fmla="*/ 2286000 h 2608141"/>
                <a:gd name="connsiteX16" fmla="*/ 1143117 w 5733512"/>
                <a:gd name="connsiteY16" fmla="*/ 1642534 h 2608141"/>
                <a:gd name="connsiteX17" fmla="*/ 1111526 w 5733512"/>
                <a:gd name="connsiteY17" fmla="*/ 1725712 h 2608141"/>
                <a:gd name="connsiteX18" fmla="*/ 34711 w 5733512"/>
                <a:gd name="connsiteY18" fmla="*/ 1435843 h 2608141"/>
                <a:gd name="connsiteX19" fmla="*/ 9 w 5733512"/>
                <a:gd name="connsiteY19" fmla="*/ 1573618 h 2608141"/>
                <a:gd name="connsiteX20" fmla="*/ 4153737 w 5733512"/>
                <a:gd name="connsiteY20" fmla="*/ 2608142 h 2608141"/>
                <a:gd name="connsiteX21" fmla="*/ 4645148 w 5733512"/>
                <a:gd name="connsiteY21" fmla="*/ 2416245 h 2608141"/>
                <a:gd name="connsiteX22" fmla="*/ 5591977 w 5733512"/>
                <a:gd name="connsiteY22" fmla="*/ 2210789 h 2608141"/>
                <a:gd name="connsiteX23" fmla="*/ 5547229 w 5733512"/>
                <a:gd name="connsiteY23" fmla="*/ 1749749 h 2608141"/>
                <a:gd name="connsiteX24" fmla="*/ 5733512 w 5733512"/>
                <a:gd name="connsiteY24" fmla="*/ 1342027 h 2608141"/>
                <a:gd name="connsiteX25" fmla="*/ 3987917 w 5733512"/>
                <a:gd name="connsiteY25" fmla="*/ 601134 h 2608141"/>
                <a:gd name="connsiteX26" fmla="*/ 1541050 w 5733512"/>
                <a:gd name="connsiteY26" fmla="*/ 0 h 2608141"/>
                <a:gd name="connsiteX0" fmla="*/ 1541048 w 5757984"/>
                <a:gd name="connsiteY0" fmla="*/ 0 h 2608143"/>
                <a:gd name="connsiteX1" fmla="*/ 499648 w 5757984"/>
                <a:gd name="connsiteY1" fmla="*/ 1024467 h 2608143"/>
                <a:gd name="connsiteX2" fmla="*/ 541982 w 5757984"/>
                <a:gd name="connsiteY2" fmla="*/ 1066800 h 2608143"/>
                <a:gd name="connsiteX3" fmla="*/ 592782 w 5757984"/>
                <a:gd name="connsiteY3" fmla="*/ 1007534 h 2608143"/>
                <a:gd name="connsiteX4" fmla="*/ 1566448 w 5757984"/>
                <a:gd name="connsiteY4" fmla="*/ 76200 h 2608143"/>
                <a:gd name="connsiteX5" fmla="*/ 3945582 w 5757984"/>
                <a:gd name="connsiteY5" fmla="*/ 694267 h 2608143"/>
                <a:gd name="connsiteX6" fmla="*/ 3818582 w 5757984"/>
                <a:gd name="connsiteY6" fmla="*/ 1193800 h 2608143"/>
                <a:gd name="connsiteX7" fmla="*/ 2446982 w 5757984"/>
                <a:gd name="connsiteY7" fmla="*/ 863600 h 2608143"/>
                <a:gd name="connsiteX8" fmla="*/ 2421582 w 5757984"/>
                <a:gd name="connsiteY8" fmla="*/ 922867 h 2608143"/>
                <a:gd name="connsiteX9" fmla="*/ 3793182 w 5757984"/>
                <a:gd name="connsiteY9" fmla="*/ 1286934 h 2608143"/>
                <a:gd name="connsiteX10" fmla="*/ 3869382 w 5757984"/>
                <a:gd name="connsiteY10" fmla="*/ 1286934 h 2608143"/>
                <a:gd name="connsiteX11" fmla="*/ 3700048 w 5757984"/>
                <a:gd name="connsiteY11" fmla="*/ 1862667 h 2608143"/>
                <a:gd name="connsiteX12" fmla="*/ 2277648 w 5757984"/>
                <a:gd name="connsiteY12" fmla="*/ 1473200 h 2608143"/>
                <a:gd name="connsiteX13" fmla="*/ 2269182 w 5757984"/>
                <a:gd name="connsiteY13" fmla="*/ 1566334 h 2608143"/>
                <a:gd name="connsiteX14" fmla="*/ 3683115 w 5757984"/>
                <a:gd name="connsiteY14" fmla="*/ 1913467 h 2608143"/>
                <a:gd name="connsiteX15" fmla="*/ 3573048 w 5757984"/>
                <a:gd name="connsiteY15" fmla="*/ 2286000 h 2608143"/>
                <a:gd name="connsiteX16" fmla="*/ 1143115 w 5757984"/>
                <a:gd name="connsiteY16" fmla="*/ 1642534 h 2608143"/>
                <a:gd name="connsiteX17" fmla="*/ 1111524 w 5757984"/>
                <a:gd name="connsiteY17" fmla="*/ 1725712 h 2608143"/>
                <a:gd name="connsiteX18" fmla="*/ 34709 w 5757984"/>
                <a:gd name="connsiteY18" fmla="*/ 1435843 h 2608143"/>
                <a:gd name="connsiteX19" fmla="*/ 7 w 5757984"/>
                <a:gd name="connsiteY19" fmla="*/ 1573618 h 2608143"/>
                <a:gd name="connsiteX20" fmla="*/ 4153735 w 5757984"/>
                <a:gd name="connsiteY20" fmla="*/ 2608142 h 2608143"/>
                <a:gd name="connsiteX21" fmla="*/ 4645146 w 5757984"/>
                <a:gd name="connsiteY21" fmla="*/ 2416245 h 2608143"/>
                <a:gd name="connsiteX22" fmla="*/ 5591975 w 5757984"/>
                <a:gd name="connsiteY22" fmla="*/ 2210789 h 2608143"/>
                <a:gd name="connsiteX23" fmla="*/ 5547227 w 5757984"/>
                <a:gd name="connsiteY23" fmla="*/ 1749749 h 2608143"/>
                <a:gd name="connsiteX24" fmla="*/ 5757984 w 5757984"/>
                <a:gd name="connsiteY24" fmla="*/ 1286312 h 2608143"/>
                <a:gd name="connsiteX25" fmla="*/ 3987915 w 5757984"/>
                <a:gd name="connsiteY25" fmla="*/ 601134 h 2608143"/>
                <a:gd name="connsiteX26" fmla="*/ 1541048 w 5757984"/>
                <a:gd name="connsiteY26" fmla="*/ 0 h 260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57984" h="2608143">
                  <a:moveTo>
                    <a:pt x="1541048" y="0"/>
                  </a:moveTo>
                  <a:lnTo>
                    <a:pt x="499648" y="1024467"/>
                  </a:lnTo>
                  <a:lnTo>
                    <a:pt x="541982" y="1066800"/>
                  </a:lnTo>
                  <a:lnTo>
                    <a:pt x="592782" y="1007534"/>
                  </a:lnTo>
                  <a:lnTo>
                    <a:pt x="1566448" y="76200"/>
                  </a:lnTo>
                  <a:lnTo>
                    <a:pt x="3945582" y="694267"/>
                  </a:lnTo>
                  <a:lnTo>
                    <a:pt x="3818582" y="1193800"/>
                  </a:lnTo>
                  <a:lnTo>
                    <a:pt x="2446982" y="863600"/>
                  </a:lnTo>
                  <a:lnTo>
                    <a:pt x="2421582" y="922867"/>
                  </a:lnTo>
                  <a:lnTo>
                    <a:pt x="3793182" y="1286934"/>
                  </a:lnTo>
                  <a:lnTo>
                    <a:pt x="3869382" y="1286934"/>
                  </a:lnTo>
                  <a:lnTo>
                    <a:pt x="3700048" y="1862667"/>
                  </a:lnTo>
                  <a:lnTo>
                    <a:pt x="2277648" y="1473200"/>
                  </a:lnTo>
                  <a:lnTo>
                    <a:pt x="2269182" y="1566334"/>
                  </a:lnTo>
                  <a:lnTo>
                    <a:pt x="3683115" y="1913467"/>
                  </a:lnTo>
                  <a:lnTo>
                    <a:pt x="3573048" y="2286000"/>
                  </a:lnTo>
                  <a:lnTo>
                    <a:pt x="1143115" y="1642534"/>
                  </a:lnTo>
                  <a:lnTo>
                    <a:pt x="1111524" y="1725712"/>
                  </a:lnTo>
                  <a:lnTo>
                    <a:pt x="34709" y="1435843"/>
                  </a:lnTo>
                  <a:cubicBezTo>
                    <a:pt x="35324" y="1489350"/>
                    <a:pt x="-608" y="1520111"/>
                    <a:pt x="7" y="1573618"/>
                  </a:cubicBezTo>
                  <a:lnTo>
                    <a:pt x="4153735" y="2608142"/>
                  </a:lnTo>
                  <a:lnTo>
                    <a:pt x="4645146" y="2416245"/>
                  </a:lnTo>
                  <a:lnTo>
                    <a:pt x="5591975" y="2210789"/>
                  </a:lnTo>
                  <a:lnTo>
                    <a:pt x="5547227" y="1749749"/>
                  </a:lnTo>
                  <a:lnTo>
                    <a:pt x="5757984" y="1286312"/>
                  </a:lnTo>
                  <a:lnTo>
                    <a:pt x="3987915" y="601134"/>
                  </a:lnTo>
                  <a:lnTo>
                    <a:pt x="1541048" y="0"/>
                  </a:lnTo>
                  <a:close/>
                </a:path>
              </a:pathLst>
            </a:cu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1" name="Forma libre 23">
              <a:extLst>
                <a:ext uri="{FF2B5EF4-FFF2-40B4-BE49-F238E27FC236}">
                  <a16:creationId xmlns:a16="http://schemas.microsoft.com/office/drawing/2014/main" id="{752CE316-C5A1-458E-BD68-EACB65347751}"/>
                </a:ext>
              </a:extLst>
            </p:cNvPr>
            <p:cNvSpPr/>
            <p:nvPr/>
          </p:nvSpPr>
          <p:spPr>
            <a:xfrm rot="21257051">
              <a:off x="9249820" y="4744918"/>
              <a:ext cx="1046869" cy="552124"/>
            </a:xfrm>
            <a:custGeom>
              <a:avLst/>
              <a:gdLst>
                <a:gd name="connsiteX0" fmla="*/ 694358 w 941294"/>
                <a:gd name="connsiteY0" fmla="*/ 0 h 449865"/>
                <a:gd name="connsiteX1" fmla="*/ 733476 w 941294"/>
                <a:gd name="connsiteY1" fmla="*/ 156475 h 449865"/>
                <a:gd name="connsiteX2" fmla="*/ 831273 w 941294"/>
                <a:gd name="connsiteY2" fmla="*/ 119801 h 449865"/>
                <a:gd name="connsiteX3" fmla="*/ 941294 w 941294"/>
                <a:gd name="connsiteY3" fmla="*/ 332509 h 449865"/>
                <a:gd name="connsiteX4" fmla="*/ 633235 w 941294"/>
                <a:gd name="connsiteY4" fmla="*/ 215153 h 449865"/>
                <a:gd name="connsiteX5" fmla="*/ 92907 w 941294"/>
                <a:gd name="connsiteY5" fmla="*/ 449865 h 449865"/>
                <a:gd name="connsiteX6" fmla="*/ 0 w 941294"/>
                <a:gd name="connsiteY6" fmla="*/ 281166 h 449865"/>
                <a:gd name="connsiteX7" fmla="*/ 36674 w 941294"/>
                <a:gd name="connsiteY7" fmla="*/ 256717 h 449865"/>
                <a:gd name="connsiteX8" fmla="*/ 26894 w 941294"/>
                <a:gd name="connsiteY8" fmla="*/ 220043 h 449865"/>
                <a:gd name="connsiteX9" fmla="*/ 178479 w 941294"/>
                <a:gd name="connsiteY9" fmla="*/ 156475 h 449865"/>
                <a:gd name="connsiteX10" fmla="*/ 124691 w 941294"/>
                <a:gd name="connsiteY10" fmla="*/ 75793 h 449865"/>
                <a:gd name="connsiteX11" fmla="*/ 149140 w 941294"/>
                <a:gd name="connsiteY11" fmla="*/ 75793 h 449865"/>
                <a:gd name="connsiteX12" fmla="*/ 694358 w 941294"/>
                <a:gd name="connsiteY12" fmla="*/ 0 h 449865"/>
                <a:gd name="connsiteX0" fmla="*/ 694358 w 831273"/>
                <a:gd name="connsiteY0" fmla="*/ 0 h 449865"/>
                <a:gd name="connsiteX1" fmla="*/ 733476 w 831273"/>
                <a:gd name="connsiteY1" fmla="*/ 156475 h 449865"/>
                <a:gd name="connsiteX2" fmla="*/ 831273 w 831273"/>
                <a:gd name="connsiteY2" fmla="*/ 119801 h 449865"/>
                <a:gd name="connsiteX3" fmla="*/ 633235 w 831273"/>
                <a:gd name="connsiteY3" fmla="*/ 215153 h 449865"/>
                <a:gd name="connsiteX4" fmla="*/ 92907 w 831273"/>
                <a:gd name="connsiteY4" fmla="*/ 449865 h 449865"/>
                <a:gd name="connsiteX5" fmla="*/ 0 w 831273"/>
                <a:gd name="connsiteY5" fmla="*/ 281166 h 449865"/>
                <a:gd name="connsiteX6" fmla="*/ 36674 w 831273"/>
                <a:gd name="connsiteY6" fmla="*/ 256717 h 449865"/>
                <a:gd name="connsiteX7" fmla="*/ 26894 w 831273"/>
                <a:gd name="connsiteY7" fmla="*/ 220043 h 449865"/>
                <a:gd name="connsiteX8" fmla="*/ 178479 w 831273"/>
                <a:gd name="connsiteY8" fmla="*/ 156475 h 449865"/>
                <a:gd name="connsiteX9" fmla="*/ 124691 w 831273"/>
                <a:gd name="connsiteY9" fmla="*/ 75793 h 449865"/>
                <a:gd name="connsiteX10" fmla="*/ 149140 w 831273"/>
                <a:gd name="connsiteY10" fmla="*/ 75793 h 449865"/>
                <a:gd name="connsiteX11" fmla="*/ 694358 w 831273"/>
                <a:gd name="connsiteY11"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124691 w 733476"/>
                <a:gd name="connsiteY8" fmla="*/ 75793 h 449865"/>
                <a:gd name="connsiteX9" fmla="*/ 149140 w 733476"/>
                <a:gd name="connsiteY9" fmla="*/ 75793 h 449865"/>
                <a:gd name="connsiteX10" fmla="*/ 694358 w 733476"/>
                <a:gd name="connsiteY10"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124691 w 733476"/>
                <a:gd name="connsiteY8" fmla="*/ 75793 h 449865"/>
                <a:gd name="connsiteX9" fmla="*/ 694358 w 733476"/>
                <a:gd name="connsiteY9" fmla="*/ 0 h 449865"/>
                <a:gd name="connsiteX0" fmla="*/ 694358 w 733476"/>
                <a:gd name="connsiteY0" fmla="*/ 0 h 449865"/>
                <a:gd name="connsiteX1" fmla="*/ 733476 w 733476"/>
                <a:gd name="connsiteY1" fmla="*/ 156475 h 449865"/>
                <a:gd name="connsiteX2" fmla="*/ 633235 w 733476"/>
                <a:gd name="connsiteY2" fmla="*/ 215153 h 449865"/>
                <a:gd name="connsiteX3" fmla="*/ 92907 w 733476"/>
                <a:gd name="connsiteY3" fmla="*/ 449865 h 449865"/>
                <a:gd name="connsiteX4" fmla="*/ 0 w 733476"/>
                <a:gd name="connsiteY4" fmla="*/ 281166 h 449865"/>
                <a:gd name="connsiteX5" fmla="*/ 36674 w 733476"/>
                <a:gd name="connsiteY5" fmla="*/ 256717 h 449865"/>
                <a:gd name="connsiteX6" fmla="*/ 26894 w 733476"/>
                <a:gd name="connsiteY6" fmla="*/ 220043 h 449865"/>
                <a:gd name="connsiteX7" fmla="*/ 178479 w 733476"/>
                <a:gd name="connsiteY7" fmla="*/ 156475 h 449865"/>
                <a:gd name="connsiteX8" fmla="*/ 694358 w 733476"/>
                <a:gd name="connsiteY8" fmla="*/ 0 h 449865"/>
                <a:gd name="connsiteX0" fmla="*/ 694358 w 733476"/>
                <a:gd name="connsiteY0" fmla="*/ 0 h 415610"/>
                <a:gd name="connsiteX1" fmla="*/ 733476 w 733476"/>
                <a:gd name="connsiteY1" fmla="*/ 156475 h 415610"/>
                <a:gd name="connsiteX2" fmla="*/ 633235 w 733476"/>
                <a:gd name="connsiteY2" fmla="*/ 215153 h 415610"/>
                <a:gd name="connsiteX3" fmla="*/ 74713 w 733476"/>
                <a:gd name="connsiteY3" fmla="*/ 415610 h 415610"/>
                <a:gd name="connsiteX4" fmla="*/ 0 w 733476"/>
                <a:gd name="connsiteY4" fmla="*/ 281166 h 415610"/>
                <a:gd name="connsiteX5" fmla="*/ 36674 w 733476"/>
                <a:gd name="connsiteY5" fmla="*/ 256717 h 415610"/>
                <a:gd name="connsiteX6" fmla="*/ 26894 w 733476"/>
                <a:gd name="connsiteY6" fmla="*/ 220043 h 415610"/>
                <a:gd name="connsiteX7" fmla="*/ 178479 w 733476"/>
                <a:gd name="connsiteY7" fmla="*/ 156475 h 415610"/>
                <a:gd name="connsiteX8" fmla="*/ 694358 w 733476"/>
                <a:gd name="connsiteY8" fmla="*/ 0 h 41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3476" h="415610">
                  <a:moveTo>
                    <a:pt x="694358" y="0"/>
                  </a:moveTo>
                  <a:lnTo>
                    <a:pt x="733476" y="156475"/>
                  </a:lnTo>
                  <a:lnTo>
                    <a:pt x="633235" y="215153"/>
                  </a:lnTo>
                  <a:lnTo>
                    <a:pt x="74713" y="415610"/>
                  </a:lnTo>
                  <a:lnTo>
                    <a:pt x="0" y="281166"/>
                  </a:lnTo>
                  <a:lnTo>
                    <a:pt x="36674" y="256717"/>
                  </a:lnTo>
                  <a:lnTo>
                    <a:pt x="26894" y="220043"/>
                  </a:lnTo>
                  <a:lnTo>
                    <a:pt x="178479" y="156475"/>
                  </a:lnTo>
                  <a:lnTo>
                    <a:pt x="694358" y="0"/>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2" name="Forma libre 24">
              <a:extLst>
                <a:ext uri="{FF2B5EF4-FFF2-40B4-BE49-F238E27FC236}">
                  <a16:creationId xmlns:a16="http://schemas.microsoft.com/office/drawing/2014/main" id="{4997868E-9CA2-43FB-A529-BA3D52ABC94C}"/>
                </a:ext>
              </a:extLst>
            </p:cNvPr>
            <p:cNvSpPr/>
            <p:nvPr/>
          </p:nvSpPr>
          <p:spPr>
            <a:xfrm rot="21257051">
              <a:off x="11368788" y="4243776"/>
              <a:ext cx="1946253" cy="1419994"/>
            </a:xfrm>
            <a:custGeom>
              <a:avLst/>
              <a:gdLst>
                <a:gd name="connsiteX0" fmla="*/ 0 w 1416844"/>
                <a:gd name="connsiteY0" fmla="*/ 0 h 1102519"/>
                <a:gd name="connsiteX1" fmla="*/ 145256 w 1416844"/>
                <a:gd name="connsiteY1" fmla="*/ 1102519 h 1102519"/>
                <a:gd name="connsiteX2" fmla="*/ 819150 w 1416844"/>
                <a:gd name="connsiteY2" fmla="*/ 992981 h 1102519"/>
                <a:gd name="connsiteX3" fmla="*/ 752475 w 1416844"/>
                <a:gd name="connsiteY3" fmla="*/ 526256 h 1102519"/>
                <a:gd name="connsiteX4" fmla="*/ 897731 w 1416844"/>
                <a:gd name="connsiteY4" fmla="*/ 588169 h 1102519"/>
                <a:gd name="connsiteX5" fmla="*/ 976312 w 1416844"/>
                <a:gd name="connsiteY5" fmla="*/ 385762 h 1102519"/>
                <a:gd name="connsiteX6" fmla="*/ 1416844 w 1416844"/>
                <a:gd name="connsiteY6" fmla="*/ 566737 h 1102519"/>
                <a:gd name="connsiteX7" fmla="*/ 0 w 1416844"/>
                <a:gd name="connsiteY7" fmla="*/ 0 h 1102519"/>
                <a:gd name="connsiteX0" fmla="*/ 0 w 1333519"/>
                <a:gd name="connsiteY0" fmla="*/ 0 h 1071432"/>
                <a:gd name="connsiteX1" fmla="*/ 61931 w 1333519"/>
                <a:gd name="connsiteY1" fmla="*/ 1071432 h 1071432"/>
                <a:gd name="connsiteX2" fmla="*/ 735825 w 1333519"/>
                <a:gd name="connsiteY2" fmla="*/ 961894 h 1071432"/>
                <a:gd name="connsiteX3" fmla="*/ 669150 w 1333519"/>
                <a:gd name="connsiteY3" fmla="*/ 495169 h 1071432"/>
                <a:gd name="connsiteX4" fmla="*/ 814406 w 1333519"/>
                <a:gd name="connsiteY4" fmla="*/ 557082 h 1071432"/>
                <a:gd name="connsiteX5" fmla="*/ 892987 w 1333519"/>
                <a:gd name="connsiteY5" fmla="*/ 354675 h 1071432"/>
                <a:gd name="connsiteX6" fmla="*/ 1333519 w 1333519"/>
                <a:gd name="connsiteY6" fmla="*/ 535650 h 1071432"/>
                <a:gd name="connsiteX7" fmla="*/ 0 w 1333519"/>
                <a:gd name="connsiteY7" fmla="*/ 0 h 107143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4406 w 1333519"/>
                <a:gd name="connsiteY4" fmla="*/ 557082 h 1064682"/>
                <a:gd name="connsiteX5" fmla="*/ 892987 w 1333519"/>
                <a:gd name="connsiteY5" fmla="*/ 354675 h 1064682"/>
                <a:gd name="connsiteX6" fmla="*/ 1333519 w 1333519"/>
                <a:gd name="connsiteY6" fmla="*/ 535650 h 1064682"/>
                <a:gd name="connsiteX7" fmla="*/ 0 w 1333519"/>
                <a:gd name="connsiteY7" fmla="*/ 0 h 106468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9166 w 1333519"/>
                <a:gd name="connsiteY4" fmla="*/ 562901 h 1064682"/>
                <a:gd name="connsiteX5" fmla="*/ 892987 w 1333519"/>
                <a:gd name="connsiteY5" fmla="*/ 354675 h 1064682"/>
                <a:gd name="connsiteX6" fmla="*/ 1333519 w 1333519"/>
                <a:gd name="connsiteY6" fmla="*/ 535650 h 1064682"/>
                <a:gd name="connsiteX7" fmla="*/ 0 w 1333519"/>
                <a:gd name="connsiteY7" fmla="*/ 0 h 1064682"/>
                <a:gd name="connsiteX0" fmla="*/ 0 w 1333519"/>
                <a:gd name="connsiteY0" fmla="*/ 0 h 1064682"/>
                <a:gd name="connsiteX1" fmla="*/ 130846 w 1333519"/>
                <a:gd name="connsiteY1" fmla="*/ 1064682 h 1064682"/>
                <a:gd name="connsiteX2" fmla="*/ 735825 w 1333519"/>
                <a:gd name="connsiteY2" fmla="*/ 961894 h 1064682"/>
                <a:gd name="connsiteX3" fmla="*/ 669150 w 1333519"/>
                <a:gd name="connsiteY3" fmla="*/ 495169 h 1064682"/>
                <a:gd name="connsiteX4" fmla="*/ 819166 w 1333519"/>
                <a:gd name="connsiteY4" fmla="*/ 562901 h 1064682"/>
                <a:gd name="connsiteX5" fmla="*/ 885578 w 1333519"/>
                <a:gd name="connsiteY5" fmla="*/ 375304 h 1064682"/>
                <a:gd name="connsiteX6" fmla="*/ 1333519 w 1333519"/>
                <a:gd name="connsiteY6" fmla="*/ 535650 h 1064682"/>
                <a:gd name="connsiteX7" fmla="*/ 0 w 1333519"/>
                <a:gd name="connsiteY7" fmla="*/ 0 h 1064682"/>
                <a:gd name="connsiteX0" fmla="*/ 0 w 1341299"/>
                <a:gd name="connsiteY0" fmla="*/ 0 h 1064682"/>
                <a:gd name="connsiteX1" fmla="*/ 130846 w 1341299"/>
                <a:gd name="connsiteY1" fmla="*/ 1064682 h 1064682"/>
                <a:gd name="connsiteX2" fmla="*/ 735825 w 1341299"/>
                <a:gd name="connsiteY2" fmla="*/ 961894 h 1064682"/>
                <a:gd name="connsiteX3" fmla="*/ 669150 w 1341299"/>
                <a:gd name="connsiteY3" fmla="*/ 495169 h 1064682"/>
                <a:gd name="connsiteX4" fmla="*/ 819166 w 1341299"/>
                <a:gd name="connsiteY4" fmla="*/ 562901 h 1064682"/>
                <a:gd name="connsiteX5" fmla="*/ 885578 w 1341299"/>
                <a:gd name="connsiteY5" fmla="*/ 375304 h 1064682"/>
                <a:gd name="connsiteX6" fmla="*/ 1333519 w 1341299"/>
                <a:gd name="connsiteY6" fmla="*/ 535650 h 1064682"/>
                <a:gd name="connsiteX7" fmla="*/ 1341299 w 1341299"/>
                <a:gd name="connsiteY7" fmla="*/ 530428 h 1064682"/>
                <a:gd name="connsiteX8" fmla="*/ 0 w 1341299"/>
                <a:gd name="connsiteY8" fmla="*/ 0 h 1064682"/>
                <a:gd name="connsiteX0" fmla="*/ 0 w 1357173"/>
                <a:gd name="connsiteY0" fmla="*/ 0 h 1064682"/>
                <a:gd name="connsiteX1" fmla="*/ 130846 w 1357173"/>
                <a:gd name="connsiteY1" fmla="*/ 1064682 h 1064682"/>
                <a:gd name="connsiteX2" fmla="*/ 735825 w 1357173"/>
                <a:gd name="connsiteY2" fmla="*/ 961894 h 1064682"/>
                <a:gd name="connsiteX3" fmla="*/ 669150 w 1357173"/>
                <a:gd name="connsiteY3" fmla="*/ 495169 h 1064682"/>
                <a:gd name="connsiteX4" fmla="*/ 819166 w 1357173"/>
                <a:gd name="connsiteY4" fmla="*/ 562901 h 1064682"/>
                <a:gd name="connsiteX5" fmla="*/ 885578 w 1357173"/>
                <a:gd name="connsiteY5" fmla="*/ 375304 h 1064682"/>
                <a:gd name="connsiteX6" fmla="*/ 1333519 w 1357173"/>
                <a:gd name="connsiteY6" fmla="*/ 535650 h 1064682"/>
                <a:gd name="connsiteX7" fmla="*/ 1357173 w 1357173"/>
                <a:gd name="connsiteY7" fmla="*/ 478589 h 1064682"/>
                <a:gd name="connsiteX8" fmla="*/ 0 w 1357173"/>
                <a:gd name="connsiteY8" fmla="*/ 0 h 1064682"/>
                <a:gd name="connsiteX0" fmla="*/ 0 w 1357173"/>
                <a:gd name="connsiteY0" fmla="*/ 0 h 1064682"/>
                <a:gd name="connsiteX1" fmla="*/ 130846 w 1357173"/>
                <a:gd name="connsiteY1" fmla="*/ 1064682 h 1064682"/>
                <a:gd name="connsiteX2" fmla="*/ 735825 w 1357173"/>
                <a:gd name="connsiteY2" fmla="*/ 961894 h 1064682"/>
                <a:gd name="connsiteX3" fmla="*/ 669150 w 1357173"/>
                <a:gd name="connsiteY3" fmla="*/ 495169 h 1064682"/>
                <a:gd name="connsiteX4" fmla="*/ 819166 w 1357173"/>
                <a:gd name="connsiteY4" fmla="*/ 562901 h 1064682"/>
                <a:gd name="connsiteX5" fmla="*/ 885578 w 1357173"/>
                <a:gd name="connsiteY5" fmla="*/ 375304 h 1064682"/>
                <a:gd name="connsiteX6" fmla="*/ 1346741 w 1357173"/>
                <a:gd name="connsiteY6" fmla="*/ 563688 h 1064682"/>
                <a:gd name="connsiteX7" fmla="*/ 1357173 w 1357173"/>
                <a:gd name="connsiteY7" fmla="*/ 478589 h 1064682"/>
                <a:gd name="connsiteX8" fmla="*/ 0 w 1357173"/>
                <a:gd name="connsiteY8" fmla="*/ 0 h 1064682"/>
                <a:gd name="connsiteX0" fmla="*/ 0 w 1346741"/>
                <a:gd name="connsiteY0" fmla="*/ 0 h 1064682"/>
                <a:gd name="connsiteX1" fmla="*/ 130846 w 1346741"/>
                <a:gd name="connsiteY1" fmla="*/ 1064682 h 1064682"/>
                <a:gd name="connsiteX2" fmla="*/ 735825 w 1346741"/>
                <a:gd name="connsiteY2" fmla="*/ 961894 h 1064682"/>
                <a:gd name="connsiteX3" fmla="*/ 669150 w 1346741"/>
                <a:gd name="connsiteY3" fmla="*/ 495169 h 1064682"/>
                <a:gd name="connsiteX4" fmla="*/ 819166 w 1346741"/>
                <a:gd name="connsiteY4" fmla="*/ 562901 h 1064682"/>
                <a:gd name="connsiteX5" fmla="*/ 885578 w 1346741"/>
                <a:gd name="connsiteY5" fmla="*/ 375304 h 1064682"/>
                <a:gd name="connsiteX6" fmla="*/ 1346741 w 1346741"/>
                <a:gd name="connsiteY6" fmla="*/ 563688 h 1064682"/>
                <a:gd name="connsiteX7" fmla="*/ 1342888 w 1346741"/>
                <a:gd name="connsiteY7" fmla="*/ 514559 h 1064682"/>
                <a:gd name="connsiteX8" fmla="*/ 0 w 1346741"/>
                <a:gd name="connsiteY8" fmla="*/ 0 h 1064682"/>
                <a:gd name="connsiteX0" fmla="*/ 0 w 1361929"/>
                <a:gd name="connsiteY0" fmla="*/ 0 h 1064682"/>
                <a:gd name="connsiteX1" fmla="*/ 130846 w 1361929"/>
                <a:gd name="connsiteY1" fmla="*/ 1064682 h 1064682"/>
                <a:gd name="connsiteX2" fmla="*/ 735825 w 1361929"/>
                <a:gd name="connsiteY2" fmla="*/ 961894 h 1064682"/>
                <a:gd name="connsiteX3" fmla="*/ 669150 w 1361929"/>
                <a:gd name="connsiteY3" fmla="*/ 495169 h 1064682"/>
                <a:gd name="connsiteX4" fmla="*/ 819166 w 1361929"/>
                <a:gd name="connsiteY4" fmla="*/ 562901 h 1064682"/>
                <a:gd name="connsiteX5" fmla="*/ 885578 w 1361929"/>
                <a:gd name="connsiteY5" fmla="*/ 375304 h 1064682"/>
                <a:gd name="connsiteX6" fmla="*/ 1346741 w 1361929"/>
                <a:gd name="connsiteY6" fmla="*/ 563688 h 1064682"/>
                <a:gd name="connsiteX7" fmla="*/ 1361929 w 1361929"/>
                <a:gd name="connsiteY7" fmla="*/ 537837 h 1064682"/>
                <a:gd name="connsiteX8" fmla="*/ 0 w 1361929"/>
                <a:gd name="connsiteY8" fmla="*/ 0 h 1064682"/>
                <a:gd name="connsiteX0" fmla="*/ 5391 w 1367320"/>
                <a:gd name="connsiteY0" fmla="*/ 4215 h 1068897"/>
                <a:gd name="connsiteX1" fmla="*/ 0 w 1367320"/>
                <a:gd name="connsiteY1" fmla="*/ 0 h 1068897"/>
                <a:gd name="connsiteX2" fmla="*/ 136237 w 1367320"/>
                <a:gd name="connsiteY2" fmla="*/ 1068897 h 1068897"/>
                <a:gd name="connsiteX3" fmla="*/ 741216 w 1367320"/>
                <a:gd name="connsiteY3" fmla="*/ 966109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5391 w 1367320"/>
                <a:gd name="connsiteY9" fmla="*/ 4215 h 1068897"/>
                <a:gd name="connsiteX0" fmla="*/ 360134 w 1367320"/>
                <a:gd name="connsiteY0" fmla="*/ 123264 h 1068897"/>
                <a:gd name="connsiteX1" fmla="*/ 0 w 1367320"/>
                <a:gd name="connsiteY1" fmla="*/ 0 h 1068897"/>
                <a:gd name="connsiteX2" fmla="*/ 136237 w 1367320"/>
                <a:gd name="connsiteY2" fmla="*/ 1068897 h 1068897"/>
                <a:gd name="connsiteX3" fmla="*/ 741216 w 1367320"/>
                <a:gd name="connsiteY3" fmla="*/ 966109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360134 w 1367320"/>
                <a:gd name="connsiteY9" fmla="*/ 123264 h 1068897"/>
                <a:gd name="connsiteX0" fmla="*/ 360134 w 1367320"/>
                <a:gd name="connsiteY0" fmla="*/ 123264 h 1068897"/>
                <a:gd name="connsiteX1" fmla="*/ 0 w 1367320"/>
                <a:gd name="connsiteY1" fmla="*/ 0 h 1068897"/>
                <a:gd name="connsiteX2" fmla="*/ 136237 w 1367320"/>
                <a:gd name="connsiteY2" fmla="*/ 1068897 h 1068897"/>
                <a:gd name="connsiteX3" fmla="*/ 749027 w 1367320"/>
                <a:gd name="connsiteY3" fmla="*/ 980817 h 1068897"/>
                <a:gd name="connsiteX4" fmla="*/ 674541 w 1367320"/>
                <a:gd name="connsiteY4" fmla="*/ 499384 h 1068897"/>
                <a:gd name="connsiteX5" fmla="*/ 824557 w 1367320"/>
                <a:gd name="connsiteY5" fmla="*/ 567116 h 1068897"/>
                <a:gd name="connsiteX6" fmla="*/ 890969 w 1367320"/>
                <a:gd name="connsiteY6" fmla="*/ 379519 h 1068897"/>
                <a:gd name="connsiteX7" fmla="*/ 1352132 w 1367320"/>
                <a:gd name="connsiteY7" fmla="*/ 567903 h 1068897"/>
                <a:gd name="connsiteX8" fmla="*/ 1367320 w 1367320"/>
                <a:gd name="connsiteY8" fmla="*/ 542052 h 1068897"/>
                <a:gd name="connsiteX9" fmla="*/ 360134 w 1367320"/>
                <a:gd name="connsiteY9" fmla="*/ 123264 h 1068897"/>
                <a:gd name="connsiteX0" fmla="*/ 360134 w 1367775"/>
                <a:gd name="connsiteY0" fmla="*/ 123264 h 1068897"/>
                <a:gd name="connsiteX1" fmla="*/ 0 w 1367775"/>
                <a:gd name="connsiteY1" fmla="*/ 0 h 1068897"/>
                <a:gd name="connsiteX2" fmla="*/ 136237 w 1367775"/>
                <a:gd name="connsiteY2" fmla="*/ 1068897 h 1068897"/>
                <a:gd name="connsiteX3" fmla="*/ 749027 w 1367775"/>
                <a:gd name="connsiteY3" fmla="*/ 980817 h 1068897"/>
                <a:gd name="connsiteX4" fmla="*/ 674541 w 1367775"/>
                <a:gd name="connsiteY4" fmla="*/ 499384 h 1068897"/>
                <a:gd name="connsiteX5" fmla="*/ 824557 w 1367775"/>
                <a:gd name="connsiteY5" fmla="*/ 567116 h 1068897"/>
                <a:gd name="connsiteX6" fmla="*/ 890969 w 1367775"/>
                <a:gd name="connsiteY6" fmla="*/ 379519 h 1068897"/>
                <a:gd name="connsiteX7" fmla="*/ 1352132 w 1367775"/>
                <a:gd name="connsiteY7" fmla="*/ 567903 h 1068897"/>
                <a:gd name="connsiteX8" fmla="*/ 1367775 w 1367775"/>
                <a:gd name="connsiteY8" fmla="*/ 583869 h 1068897"/>
                <a:gd name="connsiteX9" fmla="*/ 360134 w 1367775"/>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969 w 1467037"/>
                <a:gd name="connsiteY6" fmla="*/ 379519 h 1068897"/>
                <a:gd name="connsiteX7" fmla="*/ 1352132 w 1467037"/>
                <a:gd name="connsiteY7" fmla="*/ 567903 h 1068897"/>
                <a:gd name="connsiteX8" fmla="*/ 1467037 w 1467037"/>
                <a:gd name="connsiteY8" fmla="*/ 519545 h 1068897"/>
                <a:gd name="connsiteX9" fmla="*/ 360134 w 1467037"/>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969 w 1467037"/>
                <a:gd name="connsiteY6" fmla="*/ 379519 h 1068897"/>
                <a:gd name="connsiteX7" fmla="*/ 1363618 w 1467037"/>
                <a:gd name="connsiteY7" fmla="*/ 592259 h 1068897"/>
                <a:gd name="connsiteX8" fmla="*/ 1467037 w 1467037"/>
                <a:gd name="connsiteY8" fmla="*/ 519545 h 1068897"/>
                <a:gd name="connsiteX9" fmla="*/ 360134 w 1467037"/>
                <a:gd name="connsiteY9" fmla="*/ 123264 h 1068897"/>
                <a:gd name="connsiteX0" fmla="*/ 360134 w 1467037"/>
                <a:gd name="connsiteY0" fmla="*/ 123264 h 1068897"/>
                <a:gd name="connsiteX1" fmla="*/ 0 w 1467037"/>
                <a:gd name="connsiteY1" fmla="*/ 0 h 1068897"/>
                <a:gd name="connsiteX2" fmla="*/ 136237 w 1467037"/>
                <a:gd name="connsiteY2" fmla="*/ 1068897 h 1068897"/>
                <a:gd name="connsiteX3" fmla="*/ 749027 w 1467037"/>
                <a:gd name="connsiteY3" fmla="*/ 980817 h 1068897"/>
                <a:gd name="connsiteX4" fmla="*/ 674541 w 1467037"/>
                <a:gd name="connsiteY4" fmla="*/ 499384 h 1068897"/>
                <a:gd name="connsiteX5" fmla="*/ 824557 w 1467037"/>
                <a:gd name="connsiteY5" fmla="*/ 567116 h 1068897"/>
                <a:gd name="connsiteX6" fmla="*/ 890509 w 1467037"/>
                <a:gd name="connsiteY6" fmla="*/ 384114 h 1068897"/>
                <a:gd name="connsiteX7" fmla="*/ 1363618 w 1467037"/>
                <a:gd name="connsiteY7" fmla="*/ 592259 h 1068897"/>
                <a:gd name="connsiteX8" fmla="*/ 1467037 w 1467037"/>
                <a:gd name="connsiteY8" fmla="*/ 519545 h 1068897"/>
                <a:gd name="connsiteX9" fmla="*/ 360134 w 1467037"/>
                <a:gd name="connsiteY9" fmla="*/ 123264 h 1068897"/>
                <a:gd name="connsiteX0" fmla="*/ 360134 w 1363618"/>
                <a:gd name="connsiteY0" fmla="*/ 123264 h 1068897"/>
                <a:gd name="connsiteX1" fmla="*/ 0 w 1363618"/>
                <a:gd name="connsiteY1" fmla="*/ 0 h 1068897"/>
                <a:gd name="connsiteX2" fmla="*/ 136237 w 1363618"/>
                <a:gd name="connsiteY2" fmla="*/ 1068897 h 1068897"/>
                <a:gd name="connsiteX3" fmla="*/ 749027 w 1363618"/>
                <a:gd name="connsiteY3" fmla="*/ 980817 h 1068897"/>
                <a:gd name="connsiteX4" fmla="*/ 674541 w 1363618"/>
                <a:gd name="connsiteY4" fmla="*/ 499384 h 1068897"/>
                <a:gd name="connsiteX5" fmla="*/ 824557 w 1363618"/>
                <a:gd name="connsiteY5" fmla="*/ 567116 h 1068897"/>
                <a:gd name="connsiteX6" fmla="*/ 890509 w 1363618"/>
                <a:gd name="connsiteY6" fmla="*/ 384114 h 1068897"/>
                <a:gd name="connsiteX7" fmla="*/ 1363618 w 1363618"/>
                <a:gd name="connsiteY7" fmla="*/ 592259 h 1068897"/>
                <a:gd name="connsiteX8" fmla="*/ 1355368 w 1363618"/>
                <a:gd name="connsiteY8" fmla="*/ 568704 h 1068897"/>
                <a:gd name="connsiteX9" fmla="*/ 360134 w 1363618"/>
                <a:gd name="connsiteY9" fmla="*/ 123264 h 106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3618" h="1068897">
                  <a:moveTo>
                    <a:pt x="360134" y="123264"/>
                  </a:moveTo>
                  <a:lnTo>
                    <a:pt x="0" y="0"/>
                  </a:lnTo>
                  <a:lnTo>
                    <a:pt x="136237" y="1068897"/>
                  </a:lnTo>
                  <a:lnTo>
                    <a:pt x="749027" y="980817"/>
                  </a:lnTo>
                  <a:lnTo>
                    <a:pt x="674541" y="499384"/>
                  </a:lnTo>
                  <a:lnTo>
                    <a:pt x="824557" y="567116"/>
                  </a:lnTo>
                  <a:lnTo>
                    <a:pt x="890509" y="384114"/>
                  </a:lnTo>
                  <a:lnTo>
                    <a:pt x="1363618" y="592259"/>
                  </a:lnTo>
                  <a:lnTo>
                    <a:pt x="1355368" y="568704"/>
                  </a:lnTo>
                  <a:lnTo>
                    <a:pt x="360134" y="123264"/>
                  </a:lnTo>
                  <a:close/>
                </a:path>
              </a:pathLst>
            </a:custGeom>
            <a:solidFill>
              <a:srgbClr val="C0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Forma libre 25">
              <a:extLst>
                <a:ext uri="{FF2B5EF4-FFF2-40B4-BE49-F238E27FC236}">
                  <a16:creationId xmlns:a16="http://schemas.microsoft.com/office/drawing/2014/main" id="{20CFAD82-D68F-4879-B944-77824E368EDA}"/>
                </a:ext>
              </a:extLst>
            </p:cNvPr>
            <p:cNvSpPr/>
            <p:nvPr/>
          </p:nvSpPr>
          <p:spPr>
            <a:xfrm rot="21257051">
              <a:off x="10065743" y="4643155"/>
              <a:ext cx="1407057" cy="1677810"/>
            </a:xfrm>
            <a:custGeom>
              <a:avLst/>
              <a:gdLst>
                <a:gd name="connsiteX0" fmla="*/ 892968 w 985837"/>
                <a:gd name="connsiteY0" fmla="*/ 0 h 1076325"/>
                <a:gd name="connsiteX1" fmla="*/ 635793 w 985837"/>
                <a:gd name="connsiteY1" fmla="*/ 52388 h 1076325"/>
                <a:gd name="connsiteX2" fmla="*/ 402431 w 985837"/>
                <a:gd name="connsiteY2" fmla="*/ 164306 h 1076325"/>
                <a:gd name="connsiteX3" fmla="*/ 385762 w 985837"/>
                <a:gd name="connsiteY3" fmla="*/ 292894 h 1076325"/>
                <a:gd name="connsiteX4" fmla="*/ 0 w 985837"/>
                <a:gd name="connsiteY4" fmla="*/ 457200 h 1076325"/>
                <a:gd name="connsiteX5" fmla="*/ 35718 w 985837"/>
                <a:gd name="connsiteY5" fmla="*/ 481013 h 1076325"/>
                <a:gd name="connsiteX6" fmla="*/ 59531 w 985837"/>
                <a:gd name="connsiteY6" fmla="*/ 471488 h 1076325"/>
                <a:gd name="connsiteX7" fmla="*/ 66675 w 985837"/>
                <a:gd name="connsiteY7" fmla="*/ 466725 h 1076325"/>
                <a:gd name="connsiteX8" fmla="*/ 76200 w 985837"/>
                <a:gd name="connsiteY8" fmla="*/ 461963 h 1076325"/>
                <a:gd name="connsiteX9" fmla="*/ 392906 w 985837"/>
                <a:gd name="connsiteY9" fmla="*/ 326231 h 1076325"/>
                <a:gd name="connsiteX10" fmla="*/ 409575 w 985837"/>
                <a:gd name="connsiteY10" fmla="*/ 390525 h 1076325"/>
                <a:gd name="connsiteX11" fmla="*/ 145256 w 985837"/>
                <a:gd name="connsiteY11" fmla="*/ 497681 h 1076325"/>
                <a:gd name="connsiteX12" fmla="*/ 164306 w 985837"/>
                <a:gd name="connsiteY12" fmla="*/ 523875 h 1076325"/>
                <a:gd name="connsiteX13" fmla="*/ 421481 w 985837"/>
                <a:gd name="connsiteY13" fmla="*/ 426244 h 1076325"/>
                <a:gd name="connsiteX14" fmla="*/ 428625 w 985837"/>
                <a:gd name="connsiteY14" fmla="*/ 459581 h 1076325"/>
                <a:gd name="connsiteX15" fmla="*/ 404812 w 985837"/>
                <a:gd name="connsiteY15" fmla="*/ 476250 h 1076325"/>
                <a:gd name="connsiteX16" fmla="*/ 411956 w 985837"/>
                <a:gd name="connsiteY16" fmla="*/ 564356 h 1076325"/>
                <a:gd name="connsiteX17" fmla="*/ 404812 w 985837"/>
                <a:gd name="connsiteY17" fmla="*/ 623888 h 1076325"/>
                <a:gd name="connsiteX18" fmla="*/ 102393 w 985837"/>
                <a:gd name="connsiteY18" fmla="*/ 769144 h 1076325"/>
                <a:gd name="connsiteX19" fmla="*/ 121443 w 985837"/>
                <a:gd name="connsiteY19" fmla="*/ 785813 h 1076325"/>
                <a:gd name="connsiteX20" fmla="*/ 314325 w 985837"/>
                <a:gd name="connsiteY20" fmla="*/ 702469 h 1076325"/>
                <a:gd name="connsiteX21" fmla="*/ 342900 w 985837"/>
                <a:gd name="connsiteY21" fmla="*/ 792956 h 1076325"/>
                <a:gd name="connsiteX22" fmla="*/ 209550 w 985837"/>
                <a:gd name="connsiteY22" fmla="*/ 850106 h 1076325"/>
                <a:gd name="connsiteX23" fmla="*/ 235743 w 985837"/>
                <a:gd name="connsiteY23" fmla="*/ 895350 h 1076325"/>
                <a:gd name="connsiteX24" fmla="*/ 378618 w 985837"/>
                <a:gd name="connsiteY24" fmla="*/ 840581 h 1076325"/>
                <a:gd name="connsiteX25" fmla="*/ 390525 w 985837"/>
                <a:gd name="connsiteY25" fmla="*/ 878681 h 1076325"/>
                <a:gd name="connsiteX26" fmla="*/ 369093 w 985837"/>
                <a:gd name="connsiteY26" fmla="*/ 904875 h 1076325"/>
                <a:gd name="connsiteX27" fmla="*/ 311943 w 985837"/>
                <a:gd name="connsiteY27" fmla="*/ 919163 h 1076325"/>
                <a:gd name="connsiteX28" fmla="*/ 278606 w 985837"/>
                <a:gd name="connsiteY28" fmla="*/ 1000125 h 1076325"/>
                <a:gd name="connsiteX29" fmla="*/ 302418 w 985837"/>
                <a:gd name="connsiteY29" fmla="*/ 1038225 h 1076325"/>
                <a:gd name="connsiteX30" fmla="*/ 314325 w 985837"/>
                <a:gd name="connsiteY30" fmla="*/ 1076325 h 1076325"/>
                <a:gd name="connsiteX31" fmla="*/ 361950 w 985837"/>
                <a:gd name="connsiteY31" fmla="*/ 1076325 h 1076325"/>
                <a:gd name="connsiteX32" fmla="*/ 511968 w 985837"/>
                <a:gd name="connsiteY32" fmla="*/ 1064419 h 1076325"/>
                <a:gd name="connsiteX33" fmla="*/ 511968 w 985837"/>
                <a:gd name="connsiteY33" fmla="*/ 1033463 h 1076325"/>
                <a:gd name="connsiteX34" fmla="*/ 626268 w 985837"/>
                <a:gd name="connsiteY34" fmla="*/ 1019175 h 1076325"/>
                <a:gd name="connsiteX35" fmla="*/ 602456 w 985837"/>
                <a:gd name="connsiteY35" fmla="*/ 752475 h 1076325"/>
                <a:gd name="connsiteX36" fmla="*/ 985837 w 985837"/>
                <a:gd name="connsiteY36" fmla="*/ 692944 h 1076325"/>
                <a:gd name="connsiteX37" fmla="*/ 892968 w 985837"/>
                <a:gd name="connsiteY37" fmla="*/ 0 h 1076325"/>
                <a:gd name="connsiteX0" fmla="*/ 862654 w 985837"/>
                <a:gd name="connsiteY0" fmla="*/ 0 h 1244303"/>
                <a:gd name="connsiteX1" fmla="*/ 635793 w 985837"/>
                <a:gd name="connsiteY1" fmla="*/ 220366 h 1244303"/>
                <a:gd name="connsiteX2" fmla="*/ 402431 w 985837"/>
                <a:gd name="connsiteY2" fmla="*/ 332284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402431 w 985837"/>
                <a:gd name="connsiteY2" fmla="*/ 332284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0 w 985837"/>
                <a:gd name="connsiteY4" fmla="*/ 625178 h 1244303"/>
                <a:gd name="connsiteX5" fmla="*/ 35718 w 985837"/>
                <a:gd name="connsiteY5" fmla="*/ 648991 h 1244303"/>
                <a:gd name="connsiteX6" fmla="*/ 59531 w 985837"/>
                <a:gd name="connsiteY6" fmla="*/ 639466 h 1244303"/>
                <a:gd name="connsiteX7" fmla="*/ 66675 w 985837"/>
                <a:gd name="connsiteY7" fmla="*/ 634703 h 1244303"/>
                <a:gd name="connsiteX8" fmla="*/ 76200 w 985837"/>
                <a:gd name="connsiteY8" fmla="*/ 629941 h 1244303"/>
                <a:gd name="connsiteX9" fmla="*/ 392906 w 985837"/>
                <a:gd name="connsiteY9" fmla="*/ 494209 h 1244303"/>
                <a:gd name="connsiteX10" fmla="*/ 409575 w 985837"/>
                <a:gd name="connsiteY10" fmla="*/ 558503 h 1244303"/>
                <a:gd name="connsiteX11" fmla="*/ 145256 w 985837"/>
                <a:gd name="connsiteY11" fmla="*/ 665659 h 1244303"/>
                <a:gd name="connsiteX12" fmla="*/ 164306 w 985837"/>
                <a:gd name="connsiteY12" fmla="*/ 691853 h 1244303"/>
                <a:gd name="connsiteX13" fmla="*/ 421481 w 985837"/>
                <a:gd name="connsiteY13" fmla="*/ 594222 h 1244303"/>
                <a:gd name="connsiteX14" fmla="*/ 428625 w 985837"/>
                <a:gd name="connsiteY14" fmla="*/ 627559 h 1244303"/>
                <a:gd name="connsiteX15" fmla="*/ 404812 w 985837"/>
                <a:gd name="connsiteY15" fmla="*/ 644228 h 1244303"/>
                <a:gd name="connsiteX16" fmla="*/ 411956 w 985837"/>
                <a:gd name="connsiteY16" fmla="*/ 732334 h 1244303"/>
                <a:gd name="connsiteX17" fmla="*/ 404812 w 985837"/>
                <a:gd name="connsiteY17" fmla="*/ 791866 h 1244303"/>
                <a:gd name="connsiteX18" fmla="*/ 102393 w 985837"/>
                <a:gd name="connsiteY18" fmla="*/ 937122 h 1244303"/>
                <a:gd name="connsiteX19" fmla="*/ 121443 w 985837"/>
                <a:gd name="connsiteY19" fmla="*/ 953791 h 1244303"/>
                <a:gd name="connsiteX20" fmla="*/ 314325 w 985837"/>
                <a:gd name="connsiteY20" fmla="*/ 870447 h 1244303"/>
                <a:gd name="connsiteX21" fmla="*/ 342900 w 985837"/>
                <a:gd name="connsiteY21" fmla="*/ 960934 h 1244303"/>
                <a:gd name="connsiteX22" fmla="*/ 209550 w 985837"/>
                <a:gd name="connsiteY22" fmla="*/ 1018084 h 1244303"/>
                <a:gd name="connsiteX23" fmla="*/ 235743 w 985837"/>
                <a:gd name="connsiteY23" fmla="*/ 1063328 h 1244303"/>
                <a:gd name="connsiteX24" fmla="*/ 378618 w 985837"/>
                <a:gd name="connsiteY24" fmla="*/ 1008559 h 1244303"/>
                <a:gd name="connsiteX25" fmla="*/ 390525 w 985837"/>
                <a:gd name="connsiteY25" fmla="*/ 1046659 h 1244303"/>
                <a:gd name="connsiteX26" fmla="*/ 369093 w 985837"/>
                <a:gd name="connsiteY26" fmla="*/ 1072853 h 1244303"/>
                <a:gd name="connsiteX27" fmla="*/ 311943 w 985837"/>
                <a:gd name="connsiteY27" fmla="*/ 1087141 h 1244303"/>
                <a:gd name="connsiteX28" fmla="*/ 278606 w 985837"/>
                <a:gd name="connsiteY28" fmla="*/ 1168103 h 1244303"/>
                <a:gd name="connsiteX29" fmla="*/ 302418 w 985837"/>
                <a:gd name="connsiteY29" fmla="*/ 1206203 h 1244303"/>
                <a:gd name="connsiteX30" fmla="*/ 314325 w 985837"/>
                <a:gd name="connsiteY30" fmla="*/ 1244303 h 1244303"/>
                <a:gd name="connsiteX31" fmla="*/ 361950 w 985837"/>
                <a:gd name="connsiteY31" fmla="*/ 1244303 h 1244303"/>
                <a:gd name="connsiteX32" fmla="*/ 511968 w 985837"/>
                <a:gd name="connsiteY32" fmla="*/ 1232397 h 1244303"/>
                <a:gd name="connsiteX33" fmla="*/ 511968 w 985837"/>
                <a:gd name="connsiteY33" fmla="*/ 1201441 h 1244303"/>
                <a:gd name="connsiteX34" fmla="*/ 626268 w 985837"/>
                <a:gd name="connsiteY34" fmla="*/ 1187153 h 1244303"/>
                <a:gd name="connsiteX35" fmla="*/ 602456 w 985837"/>
                <a:gd name="connsiteY35" fmla="*/ 920453 h 1244303"/>
                <a:gd name="connsiteX36" fmla="*/ 985837 w 985837"/>
                <a:gd name="connsiteY36" fmla="*/ 860922 h 1244303"/>
                <a:gd name="connsiteX37" fmla="*/ 862654 w 985837"/>
                <a:gd name="connsiteY37"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318071 w 985837"/>
                <a:gd name="connsiteY4" fmla="*/ 237072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385762 w 985837"/>
                <a:gd name="connsiteY3" fmla="*/ 460872 h 1244303"/>
                <a:gd name="connsiteX4" fmla="*/ 202799 w 985837"/>
                <a:gd name="connsiteY4" fmla="*/ 494156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202799 w 985837"/>
                <a:gd name="connsiteY4" fmla="*/ 494156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0 w 985837"/>
                <a:gd name="connsiteY5" fmla="*/ 625178 h 1244303"/>
                <a:gd name="connsiteX6" fmla="*/ 35718 w 985837"/>
                <a:gd name="connsiteY6" fmla="*/ 648991 h 1244303"/>
                <a:gd name="connsiteX7" fmla="*/ 59531 w 985837"/>
                <a:gd name="connsiteY7" fmla="*/ 639466 h 1244303"/>
                <a:gd name="connsiteX8" fmla="*/ 66675 w 985837"/>
                <a:gd name="connsiteY8" fmla="*/ 634703 h 1244303"/>
                <a:gd name="connsiteX9" fmla="*/ 76200 w 985837"/>
                <a:gd name="connsiteY9" fmla="*/ 629941 h 1244303"/>
                <a:gd name="connsiteX10" fmla="*/ 392906 w 985837"/>
                <a:gd name="connsiteY10" fmla="*/ 494209 h 1244303"/>
                <a:gd name="connsiteX11" fmla="*/ 409575 w 985837"/>
                <a:gd name="connsiteY11" fmla="*/ 558503 h 1244303"/>
                <a:gd name="connsiteX12" fmla="*/ 145256 w 985837"/>
                <a:gd name="connsiteY12" fmla="*/ 665659 h 1244303"/>
                <a:gd name="connsiteX13" fmla="*/ 164306 w 985837"/>
                <a:gd name="connsiteY13" fmla="*/ 691853 h 1244303"/>
                <a:gd name="connsiteX14" fmla="*/ 421481 w 985837"/>
                <a:gd name="connsiteY14" fmla="*/ 594222 h 1244303"/>
                <a:gd name="connsiteX15" fmla="*/ 428625 w 985837"/>
                <a:gd name="connsiteY15" fmla="*/ 627559 h 1244303"/>
                <a:gd name="connsiteX16" fmla="*/ 404812 w 985837"/>
                <a:gd name="connsiteY16" fmla="*/ 644228 h 1244303"/>
                <a:gd name="connsiteX17" fmla="*/ 411956 w 985837"/>
                <a:gd name="connsiteY17" fmla="*/ 732334 h 1244303"/>
                <a:gd name="connsiteX18" fmla="*/ 404812 w 985837"/>
                <a:gd name="connsiteY18" fmla="*/ 791866 h 1244303"/>
                <a:gd name="connsiteX19" fmla="*/ 102393 w 985837"/>
                <a:gd name="connsiteY19" fmla="*/ 937122 h 1244303"/>
                <a:gd name="connsiteX20" fmla="*/ 121443 w 985837"/>
                <a:gd name="connsiteY20" fmla="*/ 953791 h 1244303"/>
                <a:gd name="connsiteX21" fmla="*/ 314325 w 985837"/>
                <a:gd name="connsiteY21" fmla="*/ 870447 h 1244303"/>
                <a:gd name="connsiteX22" fmla="*/ 342900 w 985837"/>
                <a:gd name="connsiteY22" fmla="*/ 960934 h 1244303"/>
                <a:gd name="connsiteX23" fmla="*/ 209550 w 985837"/>
                <a:gd name="connsiteY23" fmla="*/ 1018084 h 1244303"/>
                <a:gd name="connsiteX24" fmla="*/ 235743 w 985837"/>
                <a:gd name="connsiteY24" fmla="*/ 1063328 h 1244303"/>
                <a:gd name="connsiteX25" fmla="*/ 378618 w 985837"/>
                <a:gd name="connsiteY25" fmla="*/ 1008559 h 1244303"/>
                <a:gd name="connsiteX26" fmla="*/ 390525 w 985837"/>
                <a:gd name="connsiteY26" fmla="*/ 1046659 h 1244303"/>
                <a:gd name="connsiteX27" fmla="*/ 369093 w 985837"/>
                <a:gd name="connsiteY27" fmla="*/ 1072853 h 1244303"/>
                <a:gd name="connsiteX28" fmla="*/ 311943 w 985837"/>
                <a:gd name="connsiteY28" fmla="*/ 1087141 h 1244303"/>
                <a:gd name="connsiteX29" fmla="*/ 278606 w 985837"/>
                <a:gd name="connsiteY29" fmla="*/ 1168103 h 1244303"/>
                <a:gd name="connsiteX30" fmla="*/ 302418 w 985837"/>
                <a:gd name="connsiteY30" fmla="*/ 1206203 h 1244303"/>
                <a:gd name="connsiteX31" fmla="*/ 314325 w 985837"/>
                <a:gd name="connsiteY31" fmla="*/ 1244303 h 1244303"/>
                <a:gd name="connsiteX32" fmla="*/ 361950 w 985837"/>
                <a:gd name="connsiteY32" fmla="*/ 1244303 h 1244303"/>
                <a:gd name="connsiteX33" fmla="*/ 511968 w 985837"/>
                <a:gd name="connsiteY33" fmla="*/ 1232397 h 1244303"/>
                <a:gd name="connsiteX34" fmla="*/ 511968 w 985837"/>
                <a:gd name="connsiteY34" fmla="*/ 1201441 h 1244303"/>
                <a:gd name="connsiteX35" fmla="*/ 626268 w 985837"/>
                <a:gd name="connsiteY35" fmla="*/ 1187153 h 1244303"/>
                <a:gd name="connsiteX36" fmla="*/ 602456 w 985837"/>
                <a:gd name="connsiteY36" fmla="*/ 920453 h 1244303"/>
                <a:gd name="connsiteX37" fmla="*/ 985837 w 985837"/>
                <a:gd name="connsiteY37" fmla="*/ 860922 h 1244303"/>
                <a:gd name="connsiteX38" fmla="*/ 862654 w 985837"/>
                <a:gd name="connsiteY38"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33929 w 985837"/>
                <a:gd name="connsiteY5" fmla="*/ 314061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68912 w 985837"/>
                <a:gd name="connsiteY5" fmla="*/ 435379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90933 w 985837"/>
                <a:gd name="connsiteY2" fmla="*/ 127905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516360 w 985837"/>
                <a:gd name="connsiteY1" fmla="*/ 48181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626944 w 985837"/>
                <a:gd name="connsiteY1" fmla="*/ 26261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2654 w 985837"/>
                <a:gd name="connsiteY0" fmla="*/ 0 h 1244303"/>
                <a:gd name="connsiteX1" fmla="*/ 618545 w 985837"/>
                <a:gd name="connsiteY1" fmla="*/ 15995 h 1244303"/>
                <a:gd name="connsiteX2" fmla="*/ 243806 w 985837"/>
                <a:gd name="connsiteY2" fmla="*/ 127900 h 1244303"/>
                <a:gd name="connsiteX3" fmla="*/ 103960 w 985837"/>
                <a:gd name="connsiteY3" fmla="*/ 215883 h 1244303"/>
                <a:gd name="connsiteX4" fmla="*/ 329730 w 985837"/>
                <a:gd name="connsiteY4" fmla="*/ 308929 h 1244303"/>
                <a:gd name="connsiteX5" fmla="*/ 370308 w 985837"/>
                <a:gd name="connsiteY5" fmla="*/ 468506 h 1244303"/>
                <a:gd name="connsiteX6" fmla="*/ 0 w 985837"/>
                <a:gd name="connsiteY6" fmla="*/ 625178 h 1244303"/>
                <a:gd name="connsiteX7" fmla="*/ 35718 w 985837"/>
                <a:gd name="connsiteY7" fmla="*/ 648991 h 1244303"/>
                <a:gd name="connsiteX8" fmla="*/ 59531 w 985837"/>
                <a:gd name="connsiteY8" fmla="*/ 639466 h 1244303"/>
                <a:gd name="connsiteX9" fmla="*/ 66675 w 985837"/>
                <a:gd name="connsiteY9" fmla="*/ 634703 h 1244303"/>
                <a:gd name="connsiteX10" fmla="*/ 76200 w 985837"/>
                <a:gd name="connsiteY10" fmla="*/ 629941 h 1244303"/>
                <a:gd name="connsiteX11" fmla="*/ 392906 w 985837"/>
                <a:gd name="connsiteY11" fmla="*/ 494209 h 1244303"/>
                <a:gd name="connsiteX12" fmla="*/ 409575 w 985837"/>
                <a:gd name="connsiteY12" fmla="*/ 558503 h 1244303"/>
                <a:gd name="connsiteX13" fmla="*/ 145256 w 985837"/>
                <a:gd name="connsiteY13" fmla="*/ 665659 h 1244303"/>
                <a:gd name="connsiteX14" fmla="*/ 164306 w 985837"/>
                <a:gd name="connsiteY14" fmla="*/ 691853 h 1244303"/>
                <a:gd name="connsiteX15" fmla="*/ 421481 w 985837"/>
                <a:gd name="connsiteY15" fmla="*/ 594222 h 1244303"/>
                <a:gd name="connsiteX16" fmla="*/ 428625 w 985837"/>
                <a:gd name="connsiteY16" fmla="*/ 627559 h 1244303"/>
                <a:gd name="connsiteX17" fmla="*/ 404812 w 985837"/>
                <a:gd name="connsiteY17" fmla="*/ 644228 h 1244303"/>
                <a:gd name="connsiteX18" fmla="*/ 411956 w 985837"/>
                <a:gd name="connsiteY18" fmla="*/ 732334 h 1244303"/>
                <a:gd name="connsiteX19" fmla="*/ 404812 w 985837"/>
                <a:gd name="connsiteY19" fmla="*/ 791866 h 1244303"/>
                <a:gd name="connsiteX20" fmla="*/ 102393 w 985837"/>
                <a:gd name="connsiteY20" fmla="*/ 937122 h 1244303"/>
                <a:gd name="connsiteX21" fmla="*/ 121443 w 985837"/>
                <a:gd name="connsiteY21" fmla="*/ 953791 h 1244303"/>
                <a:gd name="connsiteX22" fmla="*/ 314325 w 985837"/>
                <a:gd name="connsiteY22" fmla="*/ 870447 h 1244303"/>
                <a:gd name="connsiteX23" fmla="*/ 342900 w 985837"/>
                <a:gd name="connsiteY23" fmla="*/ 960934 h 1244303"/>
                <a:gd name="connsiteX24" fmla="*/ 209550 w 985837"/>
                <a:gd name="connsiteY24" fmla="*/ 1018084 h 1244303"/>
                <a:gd name="connsiteX25" fmla="*/ 235743 w 985837"/>
                <a:gd name="connsiteY25" fmla="*/ 1063328 h 1244303"/>
                <a:gd name="connsiteX26" fmla="*/ 378618 w 985837"/>
                <a:gd name="connsiteY26" fmla="*/ 1008559 h 1244303"/>
                <a:gd name="connsiteX27" fmla="*/ 390525 w 985837"/>
                <a:gd name="connsiteY27" fmla="*/ 1046659 h 1244303"/>
                <a:gd name="connsiteX28" fmla="*/ 369093 w 985837"/>
                <a:gd name="connsiteY28" fmla="*/ 1072853 h 1244303"/>
                <a:gd name="connsiteX29" fmla="*/ 311943 w 985837"/>
                <a:gd name="connsiteY29" fmla="*/ 1087141 h 1244303"/>
                <a:gd name="connsiteX30" fmla="*/ 278606 w 985837"/>
                <a:gd name="connsiteY30" fmla="*/ 1168103 h 1244303"/>
                <a:gd name="connsiteX31" fmla="*/ 302418 w 985837"/>
                <a:gd name="connsiteY31" fmla="*/ 1206203 h 1244303"/>
                <a:gd name="connsiteX32" fmla="*/ 314325 w 985837"/>
                <a:gd name="connsiteY32" fmla="*/ 1244303 h 1244303"/>
                <a:gd name="connsiteX33" fmla="*/ 361950 w 985837"/>
                <a:gd name="connsiteY33" fmla="*/ 1244303 h 1244303"/>
                <a:gd name="connsiteX34" fmla="*/ 511968 w 985837"/>
                <a:gd name="connsiteY34" fmla="*/ 1232397 h 1244303"/>
                <a:gd name="connsiteX35" fmla="*/ 511968 w 985837"/>
                <a:gd name="connsiteY35" fmla="*/ 1201441 h 1244303"/>
                <a:gd name="connsiteX36" fmla="*/ 626268 w 985837"/>
                <a:gd name="connsiteY36" fmla="*/ 1187153 h 1244303"/>
                <a:gd name="connsiteX37" fmla="*/ 602456 w 985837"/>
                <a:gd name="connsiteY37" fmla="*/ 920453 h 1244303"/>
                <a:gd name="connsiteX38" fmla="*/ 985837 w 985837"/>
                <a:gd name="connsiteY38" fmla="*/ 860922 h 1244303"/>
                <a:gd name="connsiteX39" fmla="*/ 862654 w 985837"/>
                <a:gd name="connsiteY39" fmla="*/ 0 h 1244303"/>
                <a:gd name="connsiteX0" fmla="*/ 864522 w 985837"/>
                <a:gd name="connsiteY0" fmla="*/ 0 h 1262967"/>
                <a:gd name="connsiteX1" fmla="*/ 618545 w 985837"/>
                <a:gd name="connsiteY1" fmla="*/ 34659 h 1262967"/>
                <a:gd name="connsiteX2" fmla="*/ 243806 w 985837"/>
                <a:gd name="connsiteY2" fmla="*/ 146564 h 1262967"/>
                <a:gd name="connsiteX3" fmla="*/ 103960 w 985837"/>
                <a:gd name="connsiteY3" fmla="*/ 234547 h 1262967"/>
                <a:gd name="connsiteX4" fmla="*/ 329730 w 985837"/>
                <a:gd name="connsiteY4" fmla="*/ 327593 h 1262967"/>
                <a:gd name="connsiteX5" fmla="*/ 370308 w 985837"/>
                <a:gd name="connsiteY5" fmla="*/ 487170 h 1262967"/>
                <a:gd name="connsiteX6" fmla="*/ 0 w 985837"/>
                <a:gd name="connsiteY6" fmla="*/ 643842 h 1262967"/>
                <a:gd name="connsiteX7" fmla="*/ 35718 w 985837"/>
                <a:gd name="connsiteY7" fmla="*/ 667655 h 1262967"/>
                <a:gd name="connsiteX8" fmla="*/ 59531 w 985837"/>
                <a:gd name="connsiteY8" fmla="*/ 658130 h 1262967"/>
                <a:gd name="connsiteX9" fmla="*/ 66675 w 985837"/>
                <a:gd name="connsiteY9" fmla="*/ 653367 h 1262967"/>
                <a:gd name="connsiteX10" fmla="*/ 76200 w 985837"/>
                <a:gd name="connsiteY10" fmla="*/ 648605 h 1262967"/>
                <a:gd name="connsiteX11" fmla="*/ 392906 w 985837"/>
                <a:gd name="connsiteY11" fmla="*/ 512873 h 1262967"/>
                <a:gd name="connsiteX12" fmla="*/ 409575 w 985837"/>
                <a:gd name="connsiteY12" fmla="*/ 577167 h 1262967"/>
                <a:gd name="connsiteX13" fmla="*/ 145256 w 985837"/>
                <a:gd name="connsiteY13" fmla="*/ 684323 h 1262967"/>
                <a:gd name="connsiteX14" fmla="*/ 164306 w 985837"/>
                <a:gd name="connsiteY14" fmla="*/ 710517 h 1262967"/>
                <a:gd name="connsiteX15" fmla="*/ 421481 w 985837"/>
                <a:gd name="connsiteY15" fmla="*/ 612886 h 1262967"/>
                <a:gd name="connsiteX16" fmla="*/ 428625 w 985837"/>
                <a:gd name="connsiteY16" fmla="*/ 646223 h 1262967"/>
                <a:gd name="connsiteX17" fmla="*/ 404812 w 985837"/>
                <a:gd name="connsiteY17" fmla="*/ 662892 h 1262967"/>
                <a:gd name="connsiteX18" fmla="*/ 411956 w 985837"/>
                <a:gd name="connsiteY18" fmla="*/ 750998 h 1262967"/>
                <a:gd name="connsiteX19" fmla="*/ 404812 w 985837"/>
                <a:gd name="connsiteY19" fmla="*/ 810530 h 1262967"/>
                <a:gd name="connsiteX20" fmla="*/ 102393 w 985837"/>
                <a:gd name="connsiteY20" fmla="*/ 955786 h 1262967"/>
                <a:gd name="connsiteX21" fmla="*/ 121443 w 985837"/>
                <a:gd name="connsiteY21" fmla="*/ 972455 h 1262967"/>
                <a:gd name="connsiteX22" fmla="*/ 314325 w 985837"/>
                <a:gd name="connsiteY22" fmla="*/ 889111 h 1262967"/>
                <a:gd name="connsiteX23" fmla="*/ 342900 w 985837"/>
                <a:gd name="connsiteY23" fmla="*/ 979598 h 1262967"/>
                <a:gd name="connsiteX24" fmla="*/ 209550 w 985837"/>
                <a:gd name="connsiteY24" fmla="*/ 1036748 h 1262967"/>
                <a:gd name="connsiteX25" fmla="*/ 235743 w 985837"/>
                <a:gd name="connsiteY25" fmla="*/ 1081992 h 1262967"/>
                <a:gd name="connsiteX26" fmla="*/ 378618 w 985837"/>
                <a:gd name="connsiteY26" fmla="*/ 1027223 h 1262967"/>
                <a:gd name="connsiteX27" fmla="*/ 390525 w 985837"/>
                <a:gd name="connsiteY27" fmla="*/ 1065323 h 1262967"/>
                <a:gd name="connsiteX28" fmla="*/ 369093 w 985837"/>
                <a:gd name="connsiteY28" fmla="*/ 1091517 h 1262967"/>
                <a:gd name="connsiteX29" fmla="*/ 311943 w 985837"/>
                <a:gd name="connsiteY29" fmla="*/ 1105805 h 1262967"/>
                <a:gd name="connsiteX30" fmla="*/ 278606 w 985837"/>
                <a:gd name="connsiteY30" fmla="*/ 1186767 h 1262967"/>
                <a:gd name="connsiteX31" fmla="*/ 302418 w 985837"/>
                <a:gd name="connsiteY31" fmla="*/ 1224867 h 1262967"/>
                <a:gd name="connsiteX32" fmla="*/ 314325 w 985837"/>
                <a:gd name="connsiteY32" fmla="*/ 1262967 h 1262967"/>
                <a:gd name="connsiteX33" fmla="*/ 361950 w 985837"/>
                <a:gd name="connsiteY33" fmla="*/ 1262967 h 1262967"/>
                <a:gd name="connsiteX34" fmla="*/ 511968 w 985837"/>
                <a:gd name="connsiteY34" fmla="*/ 1251061 h 1262967"/>
                <a:gd name="connsiteX35" fmla="*/ 511968 w 985837"/>
                <a:gd name="connsiteY35" fmla="*/ 1220105 h 1262967"/>
                <a:gd name="connsiteX36" fmla="*/ 626268 w 985837"/>
                <a:gd name="connsiteY36" fmla="*/ 1205817 h 1262967"/>
                <a:gd name="connsiteX37" fmla="*/ 602456 w 985837"/>
                <a:gd name="connsiteY37" fmla="*/ 939117 h 1262967"/>
                <a:gd name="connsiteX38" fmla="*/ 985837 w 985837"/>
                <a:gd name="connsiteY38" fmla="*/ 879586 h 1262967"/>
                <a:gd name="connsiteX39" fmla="*/ 864522 w 985837"/>
                <a:gd name="connsiteY39" fmla="*/ 0 h 1262967"/>
                <a:gd name="connsiteX0" fmla="*/ 864522 w 985837"/>
                <a:gd name="connsiteY0" fmla="*/ 0 h 1262967"/>
                <a:gd name="connsiteX1" fmla="*/ 618545 w 985837"/>
                <a:gd name="connsiteY1" fmla="*/ 34659 h 1262967"/>
                <a:gd name="connsiteX2" fmla="*/ 243806 w 985837"/>
                <a:gd name="connsiteY2" fmla="*/ 146564 h 1262967"/>
                <a:gd name="connsiteX3" fmla="*/ 67966 w 985837"/>
                <a:gd name="connsiteY3" fmla="*/ 241043 h 1262967"/>
                <a:gd name="connsiteX4" fmla="*/ 329730 w 985837"/>
                <a:gd name="connsiteY4" fmla="*/ 327593 h 1262967"/>
                <a:gd name="connsiteX5" fmla="*/ 370308 w 985837"/>
                <a:gd name="connsiteY5" fmla="*/ 487170 h 1262967"/>
                <a:gd name="connsiteX6" fmla="*/ 0 w 985837"/>
                <a:gd name="connsiteY6" fmla="*/ 643842 h 1262967"/>
                <a:gd name="connsiteX7" fmla="*/ 35718 w 985837"/>
                <a:gd name="connsiteY7" fmla="*/ 667655 h 1262967"/>
                <a:gd name="connsiteX8" fmla="*/ 59531 w 985837"/>
                <a:gd name="connsiteY8" fmla="*/ 658130 h 1262967"/>
                <a:gd name="connsiteX9" fmla="*/ 66675 w 985837"/>
                <a:gd name="connsiteY9" fmla="*/ 653367 h 1262967"/>
                <a:gd name="connsiteX10" fmla="*/ 76200 w 985837"/>
                <a:gd name="connsiteY10" fmla="*/ 648605 h 1262967"/>
                <a:gd name="connsiteX11" fmla="*/ 392906 w 985837"/>
                <a:gd name="connsiteY11" fmla="*/ 512873 h 1262967"/>
                <a:gd name="connsiteX12" fmla="*/ 409575 w 985837"/>
                <a:gd name="connsiteY12" fmla="*/ 577167 h 1262967"/>
                <a:gd name="connsiteX13" fmla="*/ 145256 w 985837"/>
                <a:gd name="connsiteY13" fmla="*/ 684323 h 1262967"/>
                <a:gd name="connsiteX14" fmla="*/ 164306 w 985837"/>
                <a:gd name="connsiteY14" fmla="*/ 710517 h 1262967"/>
                <a:gd name="connsiteX15" fmla="*/ 421481 w 985837"/>
                <a:gd name="connsiteY15" fmla="*/ 612886 h 1262967"/>
                <a:gd name="connsiteX16" fmla="*/ 428625 w 985837"/>
                <a:gd name="connsiteY16" fmla="*/ 646223 h 1262967"/>
                <a:gd name="connsiteX17" fmla="*/ 404812 w 985837"/>
                <a:gd name="connsiteY17" fmla="*/ 662892 h 1262967"/>
                <a:gd name="connsiteX18" fmla="*/ 411956 w 985837"/>
                <a:gd name="connsiteY18" fmla="*/ 750998 h 1262967"/>
                <a:gd name="connsiteX19" fmla="*/ 404812 w 985837"/>
                <a:gd name="connsiteY19" fmla="*/ 810530 h 1262967"/>
                <a:gd name="connsiteX20" fmla="*/ 102393 w 985837"/>
                <a:gd name="connsiteY20" fmla="*/ 955786 h 1262967"/>
                <a:gd name="connsiteX21" fmla="*/ 121443 w 985837"/>
                <a:gd name="connsiteY21" fmla="*/ 972455 h 1262967"/>
                <a:gd name="connsiteX22" fmla="*/ 314325 w 985837"/>
                <a:gd name="connsiteY22" fmla="*/ 889111 h 1262967"/>
                <a:gd name="connsiteX23" fmla="*/ 342900 w 985837"/>
                <a:gd name="connsiteY23" fmla="*/ 979598 h 1262967"/>
                <a:gd name="connsiteX24" fmla="*/ 209550 w 985837"/>
                <a:gd name="connsiteY24" fmla="*/ 1036748 h 1262967"/>
                <a:gd name="connsiteX25" fmla="*/ 235743 w 985837"/>
                <a:gd name="connsiteY25" fmla="*/ 1081992 h 1262967"/>
                <a:gd name="connsiteX26" fmla="*/ 378618 w 985837"/>
                <a:gd name="connsiteY26" fmla="*/ 1027223 h 1262967"/>
                <a:gd name="connsiteX27" fmla="*/ 390525 w 985837"/>
                <a:gd name="connsiteY27" fmla="*/ 1065323 h 1262967"/>
                <a:gd name="connsiteX28" fmla="*/ 369093 w 985837"/>
                <a:gd name="connsiteY28" fmla="*/ 1091517 h 1262967"/>
                <a:gd name="connsiteX29" fmla="*/ 311943 w 985837"/>
                <a:gd name="connsiteY29" fmla="*/ 1105805 h 1262967"/>
                <a:gd name="connsiteX30" fmla="*/ 278606 w 985837"/>
                <a:gd name="connsiteY30" fmla="*/ 1186767 h 1262967"/>
                <a:gd name="connsiteX31" fmla="*/ 302418 w 985837"/>
                <a:gd name="connsiteY31" fmla="*/ 1224867 h 1262967"/>
                <a:gd name="connsiteX32" fmla="*/ 314325 w 985837"/>
                <a:gd name="connsiteY32" fmla="*/ 1262967 h 1262967"/>
                <a:gd name="connsiteX33" fmla="*/ 361950 w 985837"/>
                <a:gd name="connsiteY33" fmla="*/ 1262967 h 1262967"/>
                <a:gd name="connsiteX34" fmla="*/ 511968 w 985837"/>
                <a:gd name="connsiteY34" fmla="*/ 1251061 h 1262967"/>
                <a:gd name="connsiteX35" fmla="*/ 511968 w 985837"/>
                <a:gd name="connsiteY35" fmla="*/ 1220105 h 1262967"/>
                <a:gd name="connsiteX36" fmla="*/ 626268 w 985837"/>
                <a:gd name="connsiteY36" fmla="*/ 1205817 h 1262967"/>
                <a:gd name="connsiteX37" fmla="*/ 602456 w 985837"/>
                <a:gd name="connsiteY37" fmla="*/ 939117 h 1262967"/>
                <a:gd name="connsiteX38" fmla="*/ 985837 w 985837"/>
                <a:gd name="connsiteY38" fmla="*/ 879586 h 1262967"/>
                <a:gd name="connsiteX39" fmla="*/ 864522 w 985837"/>
                <a:gd name="connsiteY39" fmla="*/ 0 h 126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85837" h="1262967">
                  <a:moveTo>
                    <a:pt x="864522" y="0"/>
                  </a:moveTo>
                  <a:lnTo>
                    <a:pt x="618545" y="34659"/>
                  </a:lnTo>
                  <a:lnTo>
                    <a:pt x="243806" y="146564"/>
                  </a:lnTo>
                  <a:lnTo>
                    <a:pt x="67966" y="241043"/>
                  </a:lnTo>
                  <a:lnTo>
                    <a:pt x="329730" y="327593"/>
                  </a:lnTo>
                  <a:lnTo>
                    <a:pt x="370308" y="487170"/>
                  </a:lnTo>
                  <a:lnTo>
                    <a:pt x="0" y="643842"/>
                  </a:lnTo>
                  <a:lnTo>
                    <a:pt x="35718" y="667655"/>
                  </a:lnTo>
                  <a:cubicBezTo>
                    <a:pt x="43656" y="664480"/>
                    <a:pt x="51769" y="661713"/>
                    <a:pt x="59531" y="658130"/>
                  </a:cubicBezTo>
                  <a:cubicBezTo>
                    <a:pt x="62130" y="656931"/>
                    <a:pt x="64190" y="654787"/>
                    <a:pt x="66675" y="653367"/>
                  </a:cubicBezTo>
                  <a:cubicBezTo>
                    <a:pt x="69757" y="651606"/>
                    <a:pt x="76200" y="648605"/>
                    <a:pt x="76200" y="648605"/>
                  </a:cubicBezTo>
                  <a:lnTo>
                    <a:pt x="392906" y="512873"/>
                  </a:lnTo>
                  <a:lnTo>
                    <a:pt x="409575" y="577167"/>
                  </a:lnTo>
                  <a:lnTo>
                    <a:pt x="145256" y="684323"/>
                  </a:lnTo>
                  <a:lnTo>
                    <a:pt x="164306" y="710517"/>
                  </a:lnTo>
                  <a:lnTo>
                    <a:pt x="421481" y="612886"/>
                  </a:lnTo>
                  <a:lnTo>
                    <a:pt x="428625" y="646223"/>
                  </a:lnTo>
                  <a:lnTo>
                    <a:pt x="404812" y="662892"/>
                  </a:lnTo>
                  <a:lnTo>
                    <a:pt x="411956" y="750998"/>
                  </a:lnTo>
                  <a:lnTo>
                    <a:pt x="404812" y="810530"/>
                  </a:lnTo>
                  <a:lnTo>
                    <a:pt x="102393" y="955786"/>
                  </a:lnTo>
                  <a:lnTo>
                    <a:pt x="121443" y="972455"/>
                  </a:lnTo>
                  <a:lnTo>
                    <a:pt x="314325" y="889111"/>
                  </a:lnTo>
                  <a:lnTo>
                    <a:pt x="342900" y="979598"/>
                  </a:lnTo>
                  <a:lnTo>
                    <a:pt x="209550" y="1036748"/>
                  </a:lnTo>
                  <a:lnTo>
                    <a:pt x="235743" y="1081992"/>
                  </a:lnTo>
                  <a:lnTo>
                    <a:pt x="378618" y="1027223"/>
                  </a:lnTo>
                  <a:lnTo>
                    <a:pt x="390525" y="1065323"/>
                  </a:lnTo>
                  <a:lnTo>
                    <a:pt x="369093" y="1091517"/>
                  </a:lnTo>
                  <a:lnTo>
                    <a:pt x="311943" y="1105805"/>
                  </a:lnTo>
                  <a:lnTo>
                    <a:pt x="278606" y="1186767"/>
                  </a:lnTo>
                  <a:lnTo>
                    <a:pt x="302418" y="1224867"/>
                  </a:lnTo>
                  <a:lnTo>
                    <a:pt x="314325" y="1262967"/>
                  </a:lnTo>
                  <a:lnTo>
                    <a:pt x="361950" y="1262967"/>
                  </a:lnTo>
                  <a:lnTo>
                    <a:pt x="511968" y="1251061"/>
                  </a:lnTo>
                  <a:lnTo>
                    <a:pt x="511968" y="1220105"/>
                  </a:lnTo>
                  <a:lnTo>
                    <a:pt x="626268" y="1205817"/>
                  </a:lnTo>
                  <a:lnTo>
                    <a:pt x="602456" y="939117"/>
                  </a:lnTo>
                  <a:lnTo>
                    <a:pt x="985837" y="879586"/>
                  </a:lnTo>
                  <a:lnTo>
                    <a:pt x="864522" y="0"/>
                  </a:lnTo>
                  <a:close/>
                </a:path>
              </a:pathLst>
            </a:cu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PE" sz="800" b="1" dirty="0">
                <a:solidFill>
                  <a:schemeClr val="tx1"/>
                </a:solidFill>
              </a:endParaRPr>
            </a:p>
          </p:txBody>
        </p:sp>
        <p:sp>
          <p:nvSpPr>
            <p:cNvPr id="34" name="CuadroTexto 33">
              <a:extLst>
                <a:ext uri="{FF2B5EF4-FFF2-40B4-BE49-F238E27FC236}">
                  <a16:creationId xmlns:a16="http://schemas.microsoft.com/office/drawing/2014/main" id="{2B07B080-3B86-49D5-9A0A-D1000A6B334A}"/>
                </a:ext>
              </a:extLst>
            </p:cNvPr>
            <p:cNvSpPr txBox="1"/>
            <p:nvPr/>
          </p:nvSpPr>
          <p:spPr>
            <a:xfrm>
              <a:off x="11477955" y="4796009"/>
              <a:ext cx="923740" cy="338554"/>
            </a:xfrm>
            <a:prstGeom prst="rect">
              <a:avLst/>
            </a:prstGeom>
            <a:noFill/>
            <a:ln>
              <a:noFill/>
            </a:ln>
          </p:spPr>
          <p:txBody>
            <a:bodyPr wrap="square" rtlCol="0">
              <a:spAutoFit/>
            </a:bodyPr>
            <a:lstStyle>
              <a:defPPr>
                <a:defRPr lang="es-PE"/>
              </a:defPPr>
              <a:lvl1pPr>
                <a:defRPr sz="2000" b="1">
                  <a:solidFill>
                    <a:srgbClr val="FF0000"/>
                  </a:solidFill>
                </a:defRPr>
              </a:lvl1pPr>
            </a:lstStyle>
            <a:p>
              <a:r>
                <a:rPr lang="en-US" sz="800" dirty="0">
                  <a:solidFill>
                    <a:schemeClr val="tx2"/>
                  </a:solidFill>
                </a:rPr>
                <a:t>ANTEPUERTO</a:t>
              </a:r>
              <a:br>
                <a:rPr lang="en-US" sz="800" dirty="0">
                  <a:solidFill>
                    <a:schemeClr val="tx2"/>
                  </a:solidFill>
                </a:rPr>
              </a:br>
              <a:r>
                <a:rPr lang="en-US" sz="800" dirty="0">
                  <a:solidFill>
                    <a:schemeClr val="tx2"/>
                  </a:solidFill>
                </a:rPr>
                <a:t>ha: 35.26</a:t>
              </a:r>
            </a:p>
          </p:txBody>
        </p:sp>
        <p:sp>
          <p:nvSpPr>
            <p:cNvPr id="35" name="Rectángulo 34">
              <a:extLst>
                <a:ext uri="{FF2B5EF4-FFF2-40B4-BE49-F238E27FC236}">
                  <a16:creationId xmlns:a16="http://schemas.microsoft.com/office/drawing/2014/main" id="{1B97E7F3-AD40-420D-A44B-44C89FBFD658}"/>
                </a:ext>
              </a:extLst>
            </p:cNvPr>
            <p:cNvSpPr/>
            <p:nvPr/>
          </p:nvSpPr>
          <p:spPr>
            <a:xfrm>
              <a:off x="10598219" y="5036675"/>
              <a:ext cx="796601" cy="338554"/>
            </a:xfrm>
            <a:prstGeom prst="rect">
              <a:avLst/>
            </a:prstGeom>
          </p:spPr>
          <p:txBody>
            <a:bodyPr wrap="square">
              <a:spAutoFit/>
            </a:bodyPr>
            <a:lstStyle/>
            <a:p>
              <a:pPr algn="ctr"/>
              <a:r>
                <a:rPr lang="es-ES" sz="800" b="1" dirty="0"/>
                <a:t>ARSENAL NAVAL</a:t>
              </a:r>
              <a:endParaRPr lang="es-PE" sz="800" b="1" dirty="0"/>
            </a:p>
          </p:txBody>
        </p:sp>
        <p:sp>
          <p:nvSpPr>
            <p:cNvPr id="37" name="Forma libre 29">
              <a:extLst>
                <a:ext uri="{FF2B5EF4-FFF2-40B4-BE49-F238E27FC236}">
                  <a16:creationId xmlns:a16="http://schemas.microsoft.com/office/drawing/2014/main" id="{F124693A-ACA5-4328-A2E6-A4505FD962F2}"/>
                </a:ext>
              </a:extLst>
            </p:cNvPr>
            <p:cNvSpPr/>
            <p:nvPr/>
          </p:nvSpPr>
          <p:spPr>
            <a:xfrm rot="21257051">
              <a:off x="4445434" y="4249990"/>
              <a:ext cx="4898808" cy="2071926"/>
            </a:xfrm>
            <a:custGeom>
              <a:avLst/>
              <a:gdLst>
                <a:gd name="connsiteX0" fmla="*/ 2743200 w 3476625"/>
                <a:gd name="connsiteY0" fmla="*/ 1466850 h 1466850"/>
                <a:gd name="connsiteX1" fmla="*/ 2795588 w 3476625"/>
                <a:gd name="connsiteY1" fmla="*/ 1238250 h 1466850"/>
                <a:gd name="connsiteX2" fmla="*/ 2976563 w 3476625"/>
                <a:gd name="connsiteY2" fmla="*/ 1309688 h 1466850"/>
                <a:gd name="connsiteX3" fmla="*/ 3181350 w 3476625"/>
                <a:gd name="connsiteY3" fmla="*/ 1028700 h 1466850"/>
                <a:gd name="connsiteX4" fmla="*/ 3476625 w 3476625"/>
                <a:gd name="connsiteY4" fmla="*/ 871538 h 1466850"/>
                <a:gd name="connsiteX5" fmla="*/ 3409950 w 3476625"/>
                <a:gd name="connsiteY5" fmla="*/ 733425 h 1466850"/>
                <a:gd name="connsiteX6" fmla="*/ 3224213 w 3476625"/>
                <a:gd name="connsiteY6" fmla="*/ 790575 h 1466850"/>
                <a:gd name="connsiteX7" fmla="*/ 166688 w 3476625"/>
                <a:gd name="connsiteY7" fmla="*/ 0 h 1466850"/>
                <a:gd name="connsiteX8" fmla="*/ 0 w 3476625"/>
                <a:gd name="connsiteY8" fmla="*/ 738188 h 1466850"/>
                <a:gd name="connsiteX9" fmla="*/ 2743200 w 3476625"/>
                <a:gd name="connsiteY9" fmla="*/ 1466850 h 146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76625" h="1466850">
                  <a:moveTo>
                    <a:pt x="2743200" y="1466850"/>
                  </a:moveTo>
                  <a:lnTo>
                    <a:pt x="2795588" y="1238250"/>
                  </a:lnTo>
                  <a:lnTo>
                    <a:pt x="2976563" y="1309688"/>
                  </a:lnTo>
                  <a:lnTo>
                    <a:pt x="3181350" y="1028700"/>
                  </a:lnTo>
                  <a:lnTo>
                    <a:pt x="3476625" y="871538"/>
                  </a:lnTo>
                  <a:lnTo>
                    <a:pt x="3409950" y="733425"/>
                  </a:lnTo>
                  <a:lnTo>
                    <a:pt x="3224213" y="790575"/>
                  </a:lnTo>
                  <a:lnTo>
                    <a:pt x="166688" y="0"/>
                  </a:lnTo>
                  <a:lnTo>
                    <a:pt x="0" y="738188"/>
                  </a:lnTo>
                  <a:lnTo>
                    <a:pt x="2743200" y="1466850"/>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ln>
                  <a:solidFill>
                    <a:srgbClr val="0000FF"/>
                  </a:solidFill>
                </a:ln>
                <a:solidFill>
                  <a:srgbClr val="0000FF"/>
                </a:solidFill>
              </a:endParaRPr>
            </a:p>
          </p:txBody>
        </p:sp>
        <p:sp>
          <p:nvSpPr>
            <p:cNvPr id="40" name="Forma libre 32">
              <a:extLst>
                <a:ext uri="{FF2B5EF4-FFF2-40B4-BE49-F238E27FC236}">
                  <a16:creationId xmlns:a16="http://schemas.microsoft.com/office/drawing/2014/main" id="{12D758DB-A91A-4B38-93C1-0FAC36ADC59D}"/>
                </a:ext>
              </a:extLst>
            </p:cNvPr>
            <p:cNvSpPr/>
            <p:nvPr/>
          </p:nvSpPr>
          <p:spPr>
            <a:xfrm rot="21257051">
              <a:off x="7468838" y="7236527"/>
              <a:ext cx="723260" cy="695776"/>
            </a:xfrm>
            <a:custGeom>
              <a:avLst/>
              <a:gdLst>
                <a:gd name="connsiteX0" fmla="*/ 290512 w 561975"/>
                <a:gd name="connsiteY0" fmla="*/ 576262 h 576262"/>
                <a:gd name="connsiteX1" fmla="*/ 290512 w 561975"/>
                <a:gd name="connsiteY1" fmla="*/ 576262 h 576262"/>
                <a:gd name="connsiteX2" fmla="*/ 561975 w 561975"/>
                <a:gd name="connsiteY2" fmla="*/ 319087 h 576262"/>
                <a:gd name="connsiteX3" fmla="*/ 266700 w 561975"/>
                <a:gd name="connsiteY3" fmla="*/ 0 h 576262"/>
                <a:gd name="connsiteX4" fmla="*/ 0 w 561975"/>
                <a:gd name="connsiteY4" fmla="*/ 276225 h 576262"/>
                <a:gd name="connsiteX5" fmla="*/ 290512 w 561975"/>
                <a:gd name="connsiteY5" fmla="*/ 576262 h 576262"/>
                <a:gd name="connsiteX0" fmla="*/ 298782 w 570245"/>
                <a:gd name="connsiteY0" fmla="*/ 576262 h 576262"/>
                <a:gd name="connsiteX1" fmla="*/ 298782 w 570245"/>
                <a:gd name="connsiteY1" fmla="*/ 576262 h 576262"/>
                <a:gd name="connsiteX2" fmla="*/ 570245 w 570245"/>
                <a:gd name="connsiteY2" fmla="*/ 319087 h 576262"/>
                <a:gd name="connsiteX3" fmla="*/ 274970 w 570245"/>
                <a:gd name="connsiteY3" fmla="*/ 0 h 576262"/>
                <a:gd name="connsiteX4" fmla="*/ 0 w 570245"/>
                <a:gd name="connsiteY4" fmla="*/ 260655 h 576262"/>
                <a:gd name="connsiteX5" fmla="*/ 298782 w 570245"/>
                <a:gd name="connsiteY5" fmla="*/ 576262 h 576262"/>
                <a:gd name="connsiteX0" fmla="*/ 283698 w 570245"/>
                <a:gd name="connsiteY0" fmla="*/ 579666 h 579666"/>
                <a:gd name="connsiteX1" fmla="*/ 298782 w 570245"/>
                <a:gd name="connsiteY1" fmla="*/ 576262 h 579666"/>
                <a:gd name="connsiteX2" fmla="*/ 570245 w 570245"/>
                <a:gd name="connsiteY2" fmla="*/ 319087 h 579666"/>
                <a:gd name="connsiteX3" fmla="*/ 274970 w 570245"/>
                <a:gd name="connsiteY3" fmla="*/ 0 h 579666"/>
                <a:gd name="connsiteX4" fmla="*/ 0 w 570245"/>
                <a:gd name="connsiteY4" fmla="*/ 260655 h 579666"/>
                <a:gd name="connsiteX5" fmla="*/ 283698 w 570245"/>
                <a:gd name="connsiteY5" fmla="*/ 579666 h 579666"/>
                <a:gd name="connsiteX0" fmla="*/ 283698 w 570245"/>
                <a:gd name="connsiteY0" fmla="*/ 565924 h 565924"/>
                <a:gd name="connsiteX1" fmla="*/ 298782 w 570245"/>
                <a:gd name="connsiteY1" fmla="*/ 562520 h 565924"/>
                <a:gd name="connsiteX2" fmla="*/ 570245 w 570245"/>
                <a:gd name="connsiteY2" fmla="*/ 305345 h 565924"/>
                <a:gd name="connsiteX3" fmla="*/ 268808 w 570245"/>
                <a:gd name="connsiteY3" fmla="*/ 0 h 565924"/>
                <a:gd name="connsiteX4" fmla="*/ 0 w 570245"/>
                <a:gd name="connsiteY4" fmla="*/ 246913 h 565924"/>
                <a:gd name="connsiteX5" fmla="*/ 283698 w 570245"/>
                <a:gd name="connsiteY5" fmla="*/ 565924 h 565924"/>
                <a:gd name="connsiteX0" fmla="*/ 283698 w 506743"/>
                <a:gd name="connsiteY0" fmla="*/ 565924 h 565924"/>
                <a:gd name="connsiteX1" fmla="*/ 298782 w 506743"/>
                <a:gd name="connsiteY1" fmla="*/ 562520 h 565924"/>
                <a:gd name="connsiteX2" fmla="*/ 506743 w 506743"/>
                <a:gd name="connsiteY2" fmla="*/ 318134 h 565924"/>
                <a:gd name="connsiteX3" fmla="*/ 268808 w 506743"/>
                <a:gd name="connsiteY3" fmla="*/ 0 h 565924"/>
                <a:gd name="connsiteX4" fmla="*/ 0 w 506743"/>
                <a:gd name="connsiteY4" fmla="*/ 246913 h 565924"/>
                <a:gd name="connsiteX5" fmla="*/ 283698 w 506743"/>
                <a:gd name="connsiteY5" fmla="*/ 565924 h 565924"/>
                <a:gd name="connsiteX0" fmla="*/ 244843 w 506743"/>
                <a:gd name="connsiteY0" fmla="*/ 523744 h 562520"/>
                <a:gd name="connsiteX1" fmla="*/ 298782 w 506743"/>
                <a:gd name="connsiteY1" fmla="*/ 562520 h 562520"/>
                <a:gd name="connsiteX2" fmla="*/ 506743 w 506743"/>
                <a:gd name="connsiteY2" fmla="*/ 318134 h 562520"/>
                <a:gd name="connsiteX3" fmla="*/ 268808 w 506743"/>
                <a:gd name="connsiteY3" fmla="*/ 0 h 562520"/>
                <a:gd name="connsiteX4" fmla="*/ 0 w 506743"/>
                <a:gd name="connsiteY4" fmla="*/ 246913 h 562520"/>
                <a:gd name="connsiteX5" fmla="*/ 244843 w 506743"/>
                <a:gd name="connsiteY5" fmla="*/ 523744 h 562520"/>
                <a:gd name="connsiteX0" fmla="*/ 244843 w 506743"/>
                <a:gd name="connsiteY0" fmla="*/ 523744 h 523744"/>
                <a:gd name="connsiteX1" fmla="*/ 370351 w 506743"/>
                <a:gd name="connsiteY1" fmla="*/ 421309 h 523744"/>
                <a:gd name="connsiteX2" fmla="*/ 506743 w 506743"/>
                <a:gd name="connsiteY2" fmla="*/ 318134 h 523744"/>
                <a:gd name="connsiteX3" fmla="*/ 268808 w 506743"/>
                <a:gd name="connsiteY3" fmla="*/ 0 h 523744"/>
                <a:gd name="connsiteX4" fmla="*/ 0 w 506743"/>
                <a:gd name="connsiteY4" fmla="*/ 246913 h 523744"/>
                <a:gd name="connsiteX5" fmla="*/ 244843 w 506743"/>
                <a:gd name="connsiteY5" fmla="*/ 523744 h 523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6743" h="523744">
                  <a:moveTo>
                    <a:pt x="244843" y="523744"/>
                  </a:moveTo>
                  <a:lnTo>
                    <a:pt x="370351" y="421309"/>
                  </a:lnTo>
                  <a:lnTo>
                    <a:pt x="506743" y="318134"/>
                  </a:lnTo>
                  <a:lnTo>
                    <a:pt x="268808" y="0"/>
                  </a:lnTo>
                  <a:lnTo>
                    <a:pt x="0" y="246913"/>
                  </a:lnTo>
                  <a:lnTo>
                    <a:pt x="244843" y="523744"/>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n>
                  <a:solidFill>
                    <a:srgbClr val="0000FF"/>
                  </a:solidFill>
                </a:ln>
                <a:solidFill>
                  <a:srgbClr val="0000FF"/>
                </a:solidFill>
              </a:endParaRPr>
            </a:p>
          </p:txBody>
        </p:sp>
        <p:sp>
          <p:nvSpPr>
            <p:cNvPr id="41" name="CuadroTexto 40">
              <a:extLst>
                <a:ext uri="{FF2B5EF4-FFF2-40B4-BE49-F238E27FC236}">
                  <a16:creationId xmlns:a16="http://schemas.microsoft.com/office/drawing/2014/main" id="{7DDA9C79-00A5-49DE-8119-540FC8C0BC05}"/>
                </a:ext>
              </a:extLst>
            </p:cNvPr>
            <p:cNvSpPr txBox="1"/>
            <p:nvPr/>
          </p:nvSpPr>
          <p:spPr>
            <a:xfrm>
              <a:off x="6046227" y="4891493"/>
              <a:ext cx="1844998" cy="646331"/>
            </a:xfrm>
            <a:prstGeom prst="rect">
              <a:avLst/>
            </a:prstGeom>
            <a:noFill/>
          </p:spPr>
          <p:txBody>
            <a:bodyPr wrap="square" rtlCol="0">
              <a:spAutoFit/>
            </a:bodyPr>
            <a:lstStyle/>
            <a:p>
              <a:pPr algn="ctr"/>
              <a:r>
                <a:rPr lang="es-ES" sz="1200" b="1" u="sng" dirty="0">
                  <a:solidFill>
                    <a:srgbClr val="FFFFFF"/>
                  </a:solidFill>
                </a:rPr>
                <a:t>FASE 4</a:t>
              </a:r>
            </a:p>
            <a:p>
              <a:pPr algn="ctr"/>
              <a:r>
                <a:rPr lang="es-ES" sz="800" dirty="0">
                  <a:solidFill>
                    <a:srgbClr val="FFFFFF"/>
                  </a:solidFill>
                </a:rPr>
                <a:t>CONSTRUCCIÓN ALINEACIONES DEL DIQUE DE DEFENSA EXTERIOR</a:t>
              </a:r>
            </a:p>
          </p:txBody>
        </p:sp>
        <p:sp>
          <p:nvSpPr>
            <p:cNvPr id="44" name="Forma libre 36">
              <a:extLst>
                <a:ext uri="{FF2B5EF4-FFF2-40B4-BE49-F238E27FC236}">
                  <a16:creationId xmlns:a16="http://schemas.microsoft.com/office/drawing/2014/main" id="{1B373B19-E0A6-4DDA-8EBF-D5811AB53EFD}"/>
                </a:ext>
              </a:extLst>
            </p:cNvPr>
            <p:cNvSpPr/>
            <p:nvPr/>
          </p:nvSpPr>
          <p:spPr>
            <a:xfrm rot="21257051">
              <a:off x="9265687" y="6318061"/>
              <a:ext cx="752243" cy="1493130"/>
            </a:xfrm>
            <a:custGeom>
              <a:avLst/>
              <a:gdLst>
                <a:gd name="connsiteX0" fmla="*/ 209550 w 527050"/>
                <a:gd name="connsiteY0" fmla="*/ 0 h 1123950"/>
                <a:gd name="connsiteX1" fmla="*/ 0 w 527050"/>
                <a:gd name="connsiteY1" fmla="*/ 190500 h 1123950"/>
                <a:gd name="connsiteX2" fmla="*/ 241300 w 527050"/>
                <a:gd name="connsiteY2" fmla="*/ 438150 h 1123950"/>
                <a:gd name="connsiteX3" fmla="*/ 171450 w 527050"/>
                <a:gd name="connsiteY3" fmla="*/ 1079500 h 1123950"/>
                <a:gd name="connsiteX4" fmla="*/ 406400 w 527050"/>
                <a:gd name="connsiteY4" fmla="*/ 1123950 h 1123950"/>
                <a:gd name="connsiteX5" fmla="*/ 527050 w 527050"/>
                <a:gd name="connsiteY5" fmla="*/ 393700 h 1123950"/>
                <a:gd name="connsiteX6" fmla="*/ 209550 w 527050"/>
                <a:gd name="connsiteY6" fmla="*/ 0 h 112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050" h="1123950">
                  <a:moveTo>
                    <a:pt x="209550" y="0"/>
                  </a:moveTo>
                  <a:lnTo>
                    <a:pt x="0" y="190500"/>
                  </a:lnTo>
                  <a:lnTo>
                    <a:pt x="241300" y="438150"/>
                  </a:lnTo>
                  <a:lnTo>
                    <a:pt x="171450" y="1079500"/>
                  </a:lnTo>
                  <a:lnTo>
                    <a:pt x="406400" y="1123950"/>
                  </a:lnTo>
                  <a:lnTo>
                    <a:pt x="527050" y="393700"/>
                  </a:lnTo>
                  <a:lnTo>
                    <a:pt x="209550" y="0"/>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ln>
                  <a:solidFill>
                    <a:srgbClr val="0000FF"/>
                  </a:solidFill>
                </a:ln>
                <a:solidFill>
                  <a:srgbClr val="0000FF"/>
                </a:solidFill>
              </a:endParaRPr>
            </a:p>
          </p:txBody>
        </p:sp>
        <p:sp>
          <p:nvSpPr>
            <p:cNvPr id="45" name="CuadroTexto 44">
              <a:extLst>
                <a:ext uri="{FF2B5EF4-FFF2-40B4-BE49-F238E27FC236}">
                  <a16:creationId xmlns:a16="http://schemas.microsoft.com/office/drawing/2014/main" id="{441749CF-C055-42DC-93DF-6DB1D134B296}"/>
                </a:ext>
              </a:extLst>
            </p:cNvPr>
            <p:cNvSpPr txBox="1"/>
            <p:nvPr/>
          </p:nvSpPr>
          <p:spPr>
            <a:xfrm>
              <a:off x="7162435" y="7421124"/>
              <a:ext cx="1314033" cy="246221"/>
            </a:xfrm>
            <a:prstGeom prst="rect">
              <a:avLst/>
            </a:prstGeom>
            <a:noFill/>
          </p:spPr>
          <p:txBody>
            <a:bodyPr wrap="square" rtlCol="0">
              <a:spAutoFit/>
            </a:bodyPr>
            <a:lstStyle/>
            <a:p>
              <a:pPr algn="ctr"/>
              <a:r>
                <a:rPr lang="es-ES" sz="1000" b="1" u="sng" dirty="0">
                  <a:solidFill>
                    <a:schemeClr val="tx2"/>
                  </a:solidFill>
                </a:rPr>
                <a:t>FASE 1</a:t>
              </a:r>
            </a:p>
          </p:txBody>
        </p:sp>
        <p:sp>
          <p:nvSpPr>
            <p:cNvPr id="46" name="CuadroTexto 45">
              <a:extLst>
                <a:ext uri="{FF2B5EF4-FFF2-40B4-BE49-F238E27FC236}">
                  <a16:creationId xmlns:a16="http://schemas.microsoft.com/office/drawing/2014/main" id="{BBB762F9-6374-4848-B1AD-9742A5385DBD}"/>
                </a:ext>
              </a:extLst>
            </p:cNvPr>
            <p:cNvSpPr txBox="1"/>
            <p:nvPr/>
          </p:nvSpPr>
          <p:spPr>
            <a:xfrm>
              <a:off x="9220281" y="6631043"/>
              <a:ext cx="1086172" cy="246221"/>
            </a:xfrm>
            <a:prstGeom prst="rect">
              <a:avLst/>
            </a:prstGeom>
            <a:noFill/>
          </p:spPr>
          <p:txBody>
            <a:bodyPr wrap="square" rtlCol="0">
              <a:spAutoFit/>
            </a:bodyPr>
            <a:lstStyle/>
            <a:p>
              <a:pPr algn="ctr"/>
              <a:r>
                <a:rPr lang="es-ES" sz="1000" b="1" u="sng" dirty="0">
                  <a:solidFill>
                    <a:schemeClr val="tx2"/>
                  </a:solidFill>
                </a:rPr>
                <a:t>FASE 1</a:t>
              </a:r>
            </a:p>
          </p:txBody>
        </p:sp>
        <p:sp>
          <p:nvSpPr>
            <p:cNvPr id="47" name="Forma libre 39">
              <a:extLst>
                <a:ext uri="{FF2B5EF4-FFF2-40B4-BE49-F238E27FC236}">
                  <a16:creationId xmlns:a16="http://schemas.microsoft.com/office/drawing/2014/main" id="{3064551A-9856-48E8-955F-BC72C6DF5371}"/>
                </a:ext>
              </a:extLst>
            </p:cNvPr>
            <p:cNvSpPr/>
            <p:nvPr/>
          </p:nvSpPr>
          <p:spPr>
            <a:xfrm rot="21257051">
              <a:off x="8115779" y="5195512"/>
              <a:ext cx="1277907" cy="961677"/>
            </a:xfrm>
            <a:custGeom>
              <a:avLst/>
              <a:gdLst>
                <a:gd name="connsiteX0" fmla="*/ 825500 w 895350"/>
                <a:gd name="connsiteY0" fmla="*/ 0 h 723900"/>
                <a:gd name="connsiteX1" fmla="*/ 635000 w 895350"/>
                <a:gd name="connsiteY1" fmla="*/ 69850 h 723900"/>
                <a:gd name="connsiteX2" fmla="*/ 0 w 895350"/>
                <a:gd name="connsiteY2" fmla="*/ 679450 h 723900"/>
                <a:gd name="connsiteX3" fmla="*/ 171450 w 895350"/>
                <a:gd name="connsiteY3" fmla="*/ 723900 h 723900"/>
                <a:gd name="connsiteX4" fmla="*/ 222250 w 895350"/>
                <a:gd name="connsiteY4" fmla="*/ 514350 h 723900"/>
                <a:gd name="connsiteX5" fmla="*/ 400050 w 895350"/>
                <a:gd name="connsiteY5" fmla="*/ 571500 h 723900"/>
                <a:gd name="connsiteX6" fmla="*/ 596900 w 895350"/>
                <a:gd name="connsiteY6" fmla="*/ 298450 h 723900"/>
                <a:gd name="connsiteX7" fmla="*/ 895350 w 895350"/>
                <a:gd name="connsiteY7" fmla="*/ 139700 h 723900"/>
                <a:gd name="connsiteX8" fmla="*/ 825500 w 895350"/>
                <a:gd name="connsiteY8"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5350" h="723900">
                  <a:moveTo>
                    <a:pt x="825500" y="0"/>
                  </a:moveTo>
                  <a:lnTo>
                    <a:pt x="635000" y="69850"/>
                  </a:lnTo>
                  <a:lnTo>
                    <a:pt x="0" y="679450"/>
                  </a:lnTo>
                  <a:lnTo>
                    <a:pt x="171450" y="723900"/>
                  </a:lnTo>
                  <a:lnTo>
                    <a:pt x="222250" y="514350"/>
                  </a:lnTo>
                  <a:lnTo>
                    <a:pt x="400050" y="571500"/>
                  </a:lnTo>
                  <a:lnTo>
                    <a:pt x="596900" y="298450"/>
                  </a:lnTo>
                  <a:lnTo>
                    <a:pt x="895350" y="139700"/>
                  </a:lnTo>
                  <a:lnTo>
                    <a:pt x="825500" y="0"/>
                  </a:lnTo>
                  <a:close/>
                </a:path>
              </a:pathLst>
            </a:custGeom>
            <a:solidFill>
              <a:schemeClr val="accent1">
                <a:lumMod val="9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CuadroTexto 47">
              <a:extLst>
                <a:ext uri="{FF2B5EF4-FFF2-40B4-BE49-F238E27FC236}">
                  <a16:creationId xmlns:a16="http://schemas.microsoft.com/office/drawing/2014/main" id="{CC9E02FC-FB64-462E-9A98-698F6DBB9079}"/>
                </a:ext>
              </a:extLst>
            </p:cNvPr>
            <p:cNvSpPr txBox="1"/>
            <p:nvPr/>
          </p:nvSpPr>
          <p:spPr>
            <a:xfrm rot="18714480">
              <a:off x="8244853" y="5447822"/>
              <a:ext cx="1135973" cy="369332"/>
            </a:xfrm>
            <a:prstGeom prst="rect">
              <a:avLst/>
            </a:pr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
              </a:defPPr>
              <a:lvl1pPr algn="ctr">
                <a:defRPr>
                  <a:ln>
                    <a:solidFill>
                      <a:srgbClr val="0000FF"/>
                    </a:solidFill>
                  </a:ln>
                  <a:solidFill>
                    <a:srgbClr val="0000FF"/>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s-ES" sz="1000" dirty="0">
                  <a:ln w="0"/>
                  <a:solidFill>
                    <a:schemeClr val="tx2"/>
                  </a:solidFill>
                  <a:effectLst>
                    <a:outerShdw blurRad="38100" dist="19050" dir="2700000" algn="tl" rotWithShape="0">
                      <a:schemeClr val="dk1">
                        <a:alpha val="40000"/>
                      </a:schemeClr>
                    </a:outerShdw>
                  </a:effectLst>
                </a:rPr>
                <a:t>FASE 2</a:t>
              </a:r>
            </a:p>
          </p:txBody>
        </p:sp>
        <p:sp>
          <p:nvSpPr>
            <p:cNvPr id="49" name="CuadroTexto 48">
              <a:extLst>
                <a:ext uri="{FF2B5EF4-FFF2-40B4-BE49-F238E27FC236}">
                  <a16:creationId xmlns:a16="http://schemas.microsoft.com/office/drawing/2014/main" id="{C5D9090F-3DF6-4787-9FA9-D6655CD7CED9}"/>
                </a:ext>
              </a:extLst>
            </p:cNvPr>
            <p:cNvSpPr txBox="1"/>
            <p:nvPr/>
          </p:nvSpPr>
          <p:spPr>
            <a:xfrm rot="20131542">
              <a:off x="9237823" y="4904236"/>
              <a:ext cx="852125" cy="253916"/>
            </a:xfrm>
            <a:prstGeom prst="rect">
              <a:avLst/>
            </a:prstGeom>
            <a:noFill/>
            <a:ln>
              <a:noFill/>
            </a:ln>
          </p:spPr>
          <p:txBody>
            <a:bodyPr wrap="square" rtlCol="0">
              <a:spAutoFit/>
            </a:bodyPr>
            <a:lstStyle/>
            <a:p>
              <a:pPr algn="ctr"/>
              <a:r>
                <a:rPr lang="es-ES" sz="1000" b="1" u="sng" dirty="0">
                  <a:solidFill>
                    <a:schemeClr val="tx2"/>
                  </a:solidFill>
                </a:rPr>
                <a:t>FASE 3</a:t>
              </a:r>
            </a:p>
          </p:txBody>
        </p:sp>
        <p:sp>
          <p:nvSpPr>
            <p:cNvPr id="50" name="CuadroTexto 49">
              <a:extLst>
                <a:ext uri="{FF2B5EF4-FFF2-40B4-BE49-F238E27FC236}">
                  <a16:creationId xmlns:a16="http://schemas.microsoft.com/office/drawing/2014/main" id="{91CD9B31-1276-42B3-9BFF-358680062276}"/>
                </a:ext>
              </a:extLst>
            </p:cNvPr>
            <p:cNvSpPr txBox="1"/>
            <p:nvPr/>
          </p:nvSpPr>
          <p:spPr>
            <a:xfrm>
              <a:off x="8810983" y="4134921"/>
              <a:ext cx="1259648" cy="400110"/>
            </a:xfrm>
            <a:prstGeom prst="rect">
              <a:avLst/>
            </a:prstGeom>
            <a:solidFill>
              <a:schemeClr val="accent5">
                <a:lumMod val="60000"/>
                <a:lumOff val="40000"/>
                <a:alpha val="61000"/>
              </a:schemeClr>
            </a:solidFill>
            <a:ln>
              <a:noFill/>
            </a:ln>
          </p:spPr>
          <p:txBody>
            <a:bodyPr wrap="square" rtlCol="0" anchor="ctr" anchorCtr="0">
              <a:spAutoFit/>
            </a:bodyPr>
            <a:lstStyle/>
            <a:p>
              <a:pPr algn="ctr"/>
              <a:r>
                <a:rPr lang="es-PE" sz="1000" b="1" dirty="0">
                  <a:solidFill>
                    <a:schemeClr val="tx2"/>
                  </a:solidFill>
                </a:rPr>
                <a:t>Base Naval zona  Sur </a:t>
              </a:r>
            </a:p>
          </p:txBody>
        </p:sp>
        <p:sp>
          <p:nvSpPr>
            <p:cNvPr id="51" name="CuadroTexto 50">
              <a:extLst>
                <a:ext uri="{FF2B5EF4-FFF2-40B4-BE49-F238E27FC236}">
                  <a16:creationId xmlns:a16="http://schemas.microsoft.com/office/drawing/2014/main" id="{4579A6E2-ADB1-42AC-828A-CBDA8CA5E334}"/>
                </a:ext>
              </a:extLst>
            </p:cNvPr>
            <p:cNvSpPr txBox="1"/>
            <p:nvPr/>
          </p:nvSpPr>
          <p:spPr>
            <a:xfrm>
              <a:off x="13117938" y="5365153"/>
              <a:ext cx="1082188" cy="286210"/>
            </a:xfrm>
            <a:prstGeom prst="rect">
              <a:avLst/>
            </a:prstGeom>
            <a:noFill/>
          </p:spPr>
          <p:txBody>
            <a:bodyPr wrap="square" rtlCol="0">
              <a:spAutoFit/>
            </a:bodyPr>
            <a:lstStyle/>
            <a:p>
              <a:r>
                <a:rPr lang="es-PE" sz="800" b="1" dirty="0">
                  <a:solidFill>
                    <a:schemeClr val="bg1"/>
                  </a:solidFill>
                </a:rPr>
                <a:t>VIADUCTO</a:t>
              </a:r>
            </a:p>
          </p:txBody>
        </p:sp>
        <p:cxnSp>
          <p:nvCxnSpPr>
            <p:cNvPr id="52" name="Conector recto de flecha 51">
              <a:extLst>
                <a:ext uri="{FF2B5EF4-FFF2-40B4-BE49-F238E27FC236}">
                  <a16:creationId xmlns:a16="http://schemas.microsoft.com/office/drawing/2014/main" id="{6051341B-5A08-4253-8C37-128E16AD8803}"/>
                </a:ext>
              </a:extLst>
            </p:cNvPr>
            <p:cNvCxnSpPr/>
            <p:nvPr/>
          </p:nvCxnSpPr>
          <p:spPr>
            <a:xfrm rot="21257051" flipH="1" flipV="1">
              <a:off x="13108676" y="4928524"/>
              <a:ext cx="416682" cy="458474"/>
            </a:xfrm>
            <a:prstGeom prst="straightConnector1">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ángulo 52">
              <a:extLst>
                <a:ext uri="{FF2B5EF4-FFF2-40B4-BE49-F238E27FC236}">
                  <a16:creationId xmlns:a16="http://schemas.microsoft.com/office/drawing/2014/main" id="{27C90B31-9FA5-4F5E-B4EB-6358AA943063}"/>
                </a:ext>
              </a:extLst>
            </p:cNvPr>
            <p:cNvSpPr/>
            <p:nvPr/>
          </p:nvSpPr>
          <p:spPr>
            <a:xfrm rot="1016993">
              <a:off x="11158133" y="4115422"/>
              <a:ext cx="65253" cy="189518"/>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Rectángulo 53">
              <a:extLst>
                <a:ext uri="{FF2B5EF4-FFF2-40B4-BE49-F238E27FC236}">
                  <a16:creationId xmlns:a16="http://schemas.microsoft.com/office/drawing/2014/main" id="{BB655518-C0C8-4460-BCC6-772997ED4DCB}"/>
                </a:ext>
              </a:extLst>
            </p:cNvPr>
            <p:cNvSpPr/>
            <p:nvPr/>
          </p:nvSpPr>
          <p:spPr>
            <a:xfrm rot="1016993">
              <a:off x="10105107" y="3835736"/>
              <a:ext cx="65253" cy="189518"/>
            </a:xfrm>
            <a:prstGeom prst="rect">
              <a:avLst/>
            </a:prstGeom>
            <a:solidFill>
              <a:srgbClr val="1B1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5" name="Forma libre 5">
              <a:extLst>
                <a:ext uri="{FF2B5EF4-FFF2-40B4-BE49-F238E27FC236}">
                  <a16:creationId xmlns:a16="http://schemas.microsoft.com/office/drawing/2014/main" id="{2BE123C8-B797-421F-87FC-6E220663BCFB}"/>
                </a:ext>
              </a:extLst>
            </p:cNvPr>
            <p:cNvSpPr/>
            <p:nvPr/>
          </p:nvSpPr>
          <p:spPr>
            <a:xfrm rot="21257051">
              <a:off x="7848323" y="3230153"/>
              <a:ext cx="0" cy="0"/>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63" name="CuadroTexto 62">
            <a:extLst>
              <a:ext uri="{FF2B5EF4-FFF2-40B4-BE49-F238E27FC236}">
                <a16:creationId xmlns:a16="http://schemas.microsoft.com/office/drawing/2014/main" id="{62AD7075-278B-0C4E-B088-7CF416CC6815}"/>
              </a:ext>
            </a:extLst>
          </p:cNvPr>
          <p:cNvSpPr txBox="1"/>
          <p:nvPr/>
        </p:nvSpPr>
        <p:spPr>
          <a:xfrm>
            <a:off x="7949720" y="2711925"/>
            <a:ext cx="627095" cy="446276"/>
          </a:xfrm>
          <a:prstGeom prst="rect">
            <a:avLst/>
          </a:prstGeom>
          <a:noFill/>
          <a:ln>
            <a:noFill/>
          </a:ln>
        </p:spPr>
        <p:txBody>
          <a:bodyPr wrap="none" rtlCol="0">
            <a:spAutoFit/>
          </a:bodyPr>
          <a:lstStyle>
            <a:defPPr>
              <a:defRPr lang="es-PE"/>
            </a:defPPr>
            <a:lvl1pPr>
              <a:defRPr sz="2000" b="1">
                <a:solidFill>
                  <a:srgbClr val="FF0000"/>
                </a:solidFill>
              </a:defRPr>
            </a:lvl1pPr>
          </a:lstStyle>
          <a:p>
            <a:r>
              <a:rPr lang="en-US" sz="800" dirty="0">
                <a:solidFill>
                  <a:schemeClr val="tx2"/>
                </a:solidFill>
              </a:rPr>
              <a:t>PUERTO</a:t>
            </a:r>
            <a:br>
              <a:rPr lang="en-US" sz="800" dirty="0">
                <a:solidFill>
                  <a:schemeClr val="tx2"/>
                </a:solidFill>
              </a:rPr>
            </a:br>
            <a:r>
              <a:rPr lang="en-US" sz="800" dirty="0">
                <a:solidFill>
                  <a:schemeClr val="tx2"/>
                </a:solidFill>
              </a:rPr>
              <a:t>ha: 25.00</a:t>
            </a:r>
            <a:br>
              <a:rPr lang="en-US" sz="700" dirty="0">
                <a:solidFill>
                  <a:schemeClr val="bg1"/>
                </a:solidFill>
              </a:rPr>
            </a:br>
            <a:endParaRPr lang="en-US" sz="700" dirty="0">
              <a:solidFill>
                <a:schemeClr val="bg1"/>
              </a:solidFill>
            </a:endParaRPr>
          </a:p>
        </p:txBody>
      </p:sp>
    </p:spTree>
    <p:extLst>
      <p:ext uri="{BB962C8B-B14F-4D97-AF65-F5344CB8AC3E}">
        <p14:creationId xmlns:p14="http://schemas.microsoft.com/office/powerpoint/2010/main" val="365985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7B79A6-17F2-7DEE-1AA3-AE6866063BC9}"/>
              </a:ext>
            </a:extLst>
          </p:cNvPr>
          <p:cNvSpPr>
            <a:spLocks noGrp="1"/>
          </p:cNvSpPr>
          <p:nvPr>
            <p:ph type="title"/>
          </p:nvPr>
        </p:nvSpPr>
        <p:spPr/>
        <p:txBody>
          <a:bodyPr/>
          <a:lstStyle/>
          <a:p>
            <a:r>
              <a:rPr lang="es" dirty="0"/>
              <a:t>Introducción de la MARINA Del Perú</a:t>
            </a:r>
            <a:br>
              <a:rPr lang="es" dirty="0"/>
            </a:br>
            <a:r>
              <a:rPr lang="es-ES" sz="1800" dirty="0"/>
              <a:t>PLAN MAESTRO DE LA BASE NAVAL DEL CALLAO</a:t>
            </a:r>
            <a:endParaRPr lang="es" dirty="0"/>
          </a:p>
        </p:txBody>
      </p:sp>
      <p:pic>
        <p:nvPicPr>
          <p:cNvPr id="5" name="Picture 4">
            <a:extLst>
              <a:ext uri="{FF2B5EF4-FFF2-40B4-BE49-F238E27FC236}">
                <a16:creationId xmlns:a16="http://schemas.microsoft.com/office/drawing/2014/main" id="{D0A86B1A-DD4B-BCB7-3726-6480AF5CE858}"/>
              </a:ext>
            </a:extLst>
          </p:cNvPr>
          <p:cNvPicPr>
            <a:picLocks noChangeAspect="1"/>
          </p:cNvPicPr>
          <p:nvPr/>
        </p:nvPicPr>
        <p:blipFill>
          <a:blip r:embed="rId2"/>
          <a:stretch>
            <a:fillRect/>
          </a:stretch>
        </p:blipFill>
        <p:spPr>
          <a:xfrm>
            <a:off x="558239" y="1126309"/>
            <a:ext cx="10900593" cy="5602710"/>
          </a:xfrm>
          <a:prstGeom prst="rect">
            <a:avLst/>
          </a:prstGeom>
        </p:spPr>
      </p:pic>
    </p:spTree>
    <p:extLst>
      <p:ext uri="{BB962C8B-B14F-4D97-AF65-F5344CB8AC3E}">
        <p14:creationId xmlns:p14="http://schemas.microsoft.com/office/powerpoint/2010/main" val="1938241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469222-B38A-A618-1BE3-85DB08192EF3}"/>
              </a:ext>
            </a:extLst>
          </p:cNvPr>
          <p:cNvSpPr>
            <a:spLocks noGrp="1"/>
          </p:cNvSpPr>
          <p:nvPr>
            <p:ph type="title"/>
          </p:nvPr>
        </p:nvSpPr>
        <p:spPr/>
        <p:txBody>
          <a:bodyPr/>
          <a:lstStyle/>
          <a:p>
            <a:r>
              <a:rPr lang="en-US" dirty="0"/>
              <a:t>USACE Introduction</a:t>
            </a:r>
          </a:p>
        </p:txBody>
      </p:sp>
      <p:pic>
        <p:nvPicPr>
          <p:cNvPr id="5" name="Picture 4">
            <a:extLst>
              <a:ext uri="{FF2B5EF4-FFF2-40B4-BE49-F238E27FC236}">
                <a16:creationId xmlns:a16="http://schemas.microsoft.com/office/drawing/2014/main" id="{B6D52D53-0FD3-29C0-A14D-0AA695A5B9DB}"/>
              </a:ext>
            </a:extLst>
          </p:cNvPr>
          <p:cNvPicPr>
            <a:picLocks noChangeAspect="1"/>
          </p:cNvPicPr>
          <p:nvPr/>
        </p:nvPicPr>
        <p:blipFill>
          <a:blip r:embed="rId2"/>
          <a:stretch>
            <a:fillRect/>
          </a:stretch>
        </p:blipFill>
        <p:spPr>
          <a:xfrm>
            <a:off x="614090" y="1131361"/>
            <a:ext cx="10963820" cy="5207522"/>
          </a:xfrm>
          <a:prstGeom prst="rect">
            <a:avLst/>
          </a:prstGeom>
        </p:spPr>
      </p:pic>
    </p:spTree>
    <p:extLst>
      <p:ext uri="{BB962C8B-B14F-4D97-AF65-F5344CB8AC3E}">
        <p14:creationId xmlns:p14="http://schemas.microsoft.com/office/powerpoint/2010/main" val="763406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n-US" dirty="0"/>
              <a:t>General information</a:t>
            </a:r>
          </a:p>
        </p:txBody>
      </p:sp>
    </p:spTree>
    <p:extLst>
      <p:ext uri="{BB962C8B-B14F-4D97-AF65-F5344CB8AC3E}">
        <p14:creationId xmlns:p14="http://schemas.microsoft.com/office/powerpoint/2010/main" val="290653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To View and Compete</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314706" cy="5632311"/>
          </a:xfrm>
          <a:prstGeom prst="rect">
            <a:avLst/>
          </a:prstGeom>
          <a:noFill/>
        </p:spPr>
        <p:txBody>
          <a:bodyPr wrap="square" rtlCol="0">
            <a:spAutoFit/>
          </a:bodyPr>
          <a:lstStyle/>
          <a:p>
            <a:pPr marL="285750" indent="-285750">
              <a:buFont typeface="Arial" panose="020B0604020202020204" pitchFamily="34" charset="0"/>
              <a:buChar char="•"/>
            </a:pPr>
            <a:r>
              <a:rPr lang="en-US" dirty="0"/>
              <a:t>The entity planning to propose (not a parent or subsidiary) must be registered in the following systems to download the solicitation and submit a proposal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Solicitations will ONLY by announced on </a:t>
            </a:r>
            <a:r>
              <a:rPr lang="en-US" dirty="0">
                <a:hlinkClick r:id="rId2"/>
              </a:rPr>
              <a:t>https://SAM.gov</a:t>
            </a:r>
            <a:r>
              <a:rPr lang="en-US" dirty="0"/>
              <a:t> and can ONLY be downloaded from and proposals submitted through </a:t>
            </a:r>
            <a:r>
              <a:rPr lang="en-US" dirty="0">
                <a:hlinkClick r:id="rId3"/>
              </a:rPr>
              <a:t>https://piee.eb.mil</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Steps to Register – must be done in this order</a:t>
            </a:r>
          </a:p>
          <a:p>
            <a:pPr marL="800100" lvl="1" indent="-342900">
              <a:buFont typeface="+mj-lt"/>
              <a:buAutoNum type="arabicPeriod"/>
            </a:pPr>
            <a:r>
              <a:rPr lang="en-US" dirty="0"/>
              <a:t>Get an NCAGE Code assigned </a:t>
            </a:r>
          </a:p>
          <a:p>
            <a:pPr lvl="1"/>
            <a:r>
              <a:rPr lang="en-US" dirty="0"/>
              <a:t>	</a:t>
            </a:r>
            <a:r>
              <a:rPr lang="en-US" dirty="0">
                <a:hlinkClick r:id="rId4"/>
              </a:rPr>
              <a:t>https://eportal.nspa.nato.int/Codification/CageTool/request-new-cage</a:t>
            </a:r>
            <a:endParaRPr lang="en-US" dirty="0"/>
          </a:p>
          <a:p>
            <a:pPr lvl="1"/>
            <a:r>
              <a:rPr lang="en-US" dirty="0"/>
              <a:t>	It takes up to 14 calendar days to obtain an NCAGE code.</a:t>
            </a:r>
          </a:p>
          <a:p>
            <a:pPr marL="800100" lvl="1" indent="-342900">
              <a:buFont typeface="+mj-lt"/>
              <a:buAutoNum type="arabicPeriod"/>
            </a:pPr>
            <a:endParaRPr lang="en-US" dirty="0"/>
          </a:p>
          <a:p>
            <a:pPr marL="800100" lvl="1" indent="-342900">
              <a:buFont typeface="+mj-lt"/>
              <a:buAutoNum type="arabicPeriod" startAt="2"/>
            </a:pPr>
            <a:r>
              <a:rPr lang="en-US" dirty="0"/>
              <a:t>Create a SAM account and get your Unique Entity Identifier (UEI) Number (formerly known as DUNS) at </a:t>
            </a:r>
            <a:r>
              <a:rPr lang="en-US" dirty="0">
                <a:hlinkClick r:id="rId2"/>
              </a:rPr>
              <a:t>https://SAM.gov</a:t>
            </a:r>
            <a:r>
              <a:rPr lang="en-US" dirty="0"/>
              <a:t>.  Allow up to 15 business days after submission before your registration is active in SAM. </a:t>
            </a:r>
          </a:p>
          <a:p>
            <a:pPr marL="800100" lvl="1" indent="-342900">
              <a:buFont typeface="+mj-lt"/>
              <a:buAutoNum type="arabicPeriod" startAt="2"/>
            </a:pPr>
            <a:endParaRPr lang="en-US" dirty="0"/>
          </a:p>
          <a:p>
            <a:pPr lvl="1"/>
            <a:r>
              <a:rPr lang="en-US" dirty="0"/>
              <a:t>	For International Registrants, refer to the Quick Start Guide at 					</a:t>
            </a:r>
            <a:r>
              <a:rPr lang="en-US" dirty="0">
                <a:hlinkClick r:id="rId5"/>
              </a:rPr>
              <a:t>https://www.fsd.gov/sys_attachment.do?sys_id=c3fbd4771be83898d3ab404fe54bcb19</a:t>
            </a:r>
            <a:r>
              <a:rPr lang="en-US" dirty="0"/>
              <a:t> </a:t>
            </a:r>
          </a:p>
          <a:p>
            <a:pPr marL="800100" lvl="1" indent="-342900">
              <a:buFont typeface="+mj-lt"/>
              <a:buAutoNum type="arabicPeriod"/>
            </a:pPr>
            <a:endParaRPr lang="en-US" dirty="0"/>
          </a:p>
          <a:p>
            <a:pPr marL="800100" lvl="1" indent="-342900">
              <a:buFont typeface="+mj-lt"/>
              <a:buAutoNum type="arabicPeriod" startAt="3"/>
            </a:pPr>
            <a:r>
              <a:rPr lang="en-US" dirty="0"/>
              <a:t>Obtain PIEE access - </a:t>
            </a:r>
            <a:r>
              <a:rPr lang="en-US" dirty="0">
                <a:hlinkClick r:id="rId6"/>
              </a:rPr>
              <a:t>https://piee.eb.mil/xhtml/unauth/help/helpvendors.xhtml</a:t>
            </a:r>
            <a:r>
              <a:rPr lang="en-US" dirty="0"/>
              <a:t> </a:t>
            </a:r>
          </a:p>
          <a:p>
            <a:pPr marL="800100" lvl="1" indent="-342900">
              <a:buFont typeface="+mj-lt"/>
              <a:buAutoNum type="arabicPeriod" startAt="3"/>
            </a:pPr>
            <a:endParaRPr lang="en-US" dirty="0"/>
          </a:p>
        </p:txBody>
      </p:sp>
    </p:spTree>
    <p:extLst>
      <p:ext uri="{BB962C8B-B14F-4D97-AF65-F5344CB8AC3E}">
        <p14:creationId xmlns:p14="http://schemas.microsoft.com/office/powerpoint/2010/main" val="3126958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General Information</a:t>
            </a:r>
          </a:p>
        </p:txBody>
      </p:sp>
      <p:sp>
        <p:nvSpPr>
          <p:cNvPr id="7" name="TextBox 6">
            <a:extLst>
              <a:ext uri="{FF2B5EF4-FFF2-40B4-BE49-F238E27FC236}">
                <a16:creationId xmlns:a16="http://schemas.microsoft.com/office/drawing/2014/main" id="{0F3381CF-0196-99D4-5826-3D2373CD4D56}"/>
              </a:ext>
            </a:extLst>
          </p:cNvPr>
          <p:cNvSpPr txBox="1"/>
          <p:nvPr/>
        </p:nvSpPr>
        <p:spPr>
          <a:xfrm>
            <a:off x="132080" y="1096708"/>
            <a:ext cx="12059920" cy="5293757"/>
          </a:xfrm>
          <a:prstGeom prst="rect">
            <a:avLst/>
          </a:prstGeom>
          <a:noFill/>
        </p:spPr>
        <p:txBody>
          <a:bodyPr wrap="square" rtlCol="0">
            <a:spAutoFit/>
          </a:bodyPr>
          <a:lstStyle/>
          <a:p>
            <a:pPr marL="285750" indent="-285750">
              <a:buFont typeface="Arial" panose="020B0604020202020204" pitchFamily="34" charset="0"/>
              <a:buChar char="•"/>
            </a:pPr>
            <a:r>
              <a:rPr lang="en-US" dirty="0"/>
              <a:t>Who Can Submit?</a:t>
            </a:r>
          </a:p>
          <a:p>
            <a:pPr marL="742950" lvl="1" indent="-285750">
              <a:buFont typeface="Arial" panose="020B0604020202020204" pitchFamily="34" charset="0"/>
              <a:buChar char="•"/>
            </a:pPr>
            <a:r>
              <a:rPr lang="en-US" sz="1600" dirty="0"/>
              <a:t>Any responsible, interested, prime construction contractor </a:t>
            </a:r>
            <a:r>
              <a:rPr lang="en-US" sz="1600" b="0" i="0" dirty="0">
                <a:solidFill>
                  <a:srgbClr val="111111"/>
                </a:solidFill>
                <a:effectLst/>
                <a:latin typeface="Roboto" panose="02000000000000000000" pitchFamily="2" charset="0"/>
              </a:rPr>
              <a:t>domiciled in Peru (not the parent company or another branch)</a:t>
            </a:r>
            <a:endParaRPr lang="en-US" sz="1600" dirty="0"/>
          </a:p>
          <a:p>
            <a:pPr marL="742950" lvl="1" indent="-285750">
              <a:buFont typeface="Arial" panose="020B0604020202020204" pitchFamily="34" charset="0"/>
              <a:buChar char="•"/>
            </a:pPr>
            <a:r>
              <a:rPr lang="en-US" sz="1600" dirty="0"/>
              <a:t>Companies will be required to have or establish a business presence in Peru in accordance with Peruvian law</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Who Is Not Eligible to Submit?</a:t>
            </a:r>
          </a:p>
          <a:p>
            <a:pPr marL="742950" lvl="1" indent="-285750">
              <a:buFont typeface="Arial" panose="020B0604020202020204" pitchFamily="34" charset="0"/>
              <a:buChar char="•"/>
            </a:pPr>
            <a:r>
              <a:rPr lang="en-US" sz="1600" dirty="0"/>
              <a:t>Any design firm that participated in preparation of the solicitation in any way</a:t>
            </a:r>
          </a:p>
          <a:p>
            <a:pPr marL="742950" lvl="1" indent="-285750">
              <a:buFont typeface="Arial" panose="020B0604020202020204" pitchFamily="34" charset="0"/>
              <a:buChar char="•"/>
            </a:pPr>
            <a:r>
              <a:rPr lang="en-US" sz="1600" dirty="0"/>
              <a:t>Any firm suspended or debarred in accordance with the US Federal Acquisition Regulation (FAR) or Peruvian law</a:t>
            </a:r>
          </a:p>
          <a:p>
            <a:pPr marL="742950" lvl="1" indent="-285750">
              <a:buFont typeface="Arial" panose="020B0604020202020204" pitchFamily="34" charset="0"/>
              <a:buChar char="•"/>
            </a:pPr>
            <a:r>
              <a:rPr lang="en-US" sz="1800" dirty="0">
                <a:effectLst/>
                <a:latin typeface="Aptos" panose="020B0004020202020204" pitchFamily="34" charset="0"/>
                <a:ea typeface="Aptos" panose="020B0004020202020204" pitchFamily="34" charset="0"/>
                <a:cs typeface="Aptos" panose="020B0004020202020204" pitchFamily="34" charset="0"/>
              </a:rPr>
              <a:t>Some restrictions on participation and access to information related to National Security and Defense will be considered</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 Can I Ask Questions?</a:t>
            </a:r>
          </a:p>
          <a:p>
            <a:pPr marL="742950" lvl="1" indent="-285750">
              <a:buFont typeface="Arial" panose="020B0604020202020204" pitchFamily="34" charset="0"/>
              <a:buChar char="•"/>
            </a:pPr>
            <a:r>
              <a:rPr lang="en-US" sz="1600" dirty="0"/>
              <a:t>Once the solicitation is posted, all Requests for Information (RFIs) or questions and clarifications must be submitted by the deadline in the solicitation through the Bidder Inquiry Portal in </a:t>
            </a:r>
            <a:r>
              <a:rPr lang="en-US" sz="1600" dirty="0" err="1"/>
              <a:t>ProjNet</a:t>
            </a:r>
            <a:r>
              <a:rPr lang="en-US" sz="1600" dirty="0"/>
              <a:t> at:</a:t>
            </a:r>
          </a:p>
          <a:p>
            <a:pPr lvl="1"/>
            <a:r>
              <a:rPr lang="en-US" sz="1600" dirty="0"/>
              <a:t>	</a:t>
            </a:r>
            <a:r>
              <a:rPr lang="en-US" sz="1600" dirty="0">
                <a:hlinkClick r:id="rId2"/>
              </a:rPr>
              <a:t>https://www.ProjNet.org/</a:t>
            </a:r>
            <a:r>
              <a:rPr lang="en-US" sz="1600" dirty="0"/>
              <a:t> </a:t>
            </a:r>
          </a:p>
          <a:p>
            <a:pPr marL="742950" lvl="1" indent="-285750">
              <a:buFont typeface="Arial" panose="020B0604020202020204" pitchFamily="34" charset="0"/>
              <a:buChar char="•"/>
            </a:pPr>
            <a:r>
              <a:rPr lang="en-US" sz="1600" dirty="0"/>
              <a:t>The Bidder Inquiry Key needed to submit questions will be provided in the solicitation</a:t>
            </a:r>
          </a:p>
          <a:p>
            <a:pPr marL="742950" lvl="1" indent="-285750">
              <a:buFont typeface="Arial" panose="020B0604020202020204" pitchFamily="34" charset="0"/>
              <a:buChar char="•"/>
            </a:pPr>
            <a:r>
              <a:rPr lang="en-US" sz="1600" dirty="0"/>
              <a:t>RFI information is found in solicitation Section 01 00 01</a:t>
            </a:r>
            <a:endParaRPr lang="en-US" dirty="0"/>
          </a:p>
          <a:p>
            <a:endParaRPr lang="en-US" dirty="0"/>
          </a:p>
          <a:p>
            <a:pPr marL="285750" indent="-285750">
              <a:buFont typeface="Arial" panose="020B0604020202020204" pitchFamily="34" charset="0"/>
              <a:buChar char="•"/>
            </a:pPr>
            <a:r>
              <a:rPr lang="en-US" dirty="0"/>
              <a:t>How Will Changes to the Solicitation Requirements be Announced?</a:t>
            </a:r>
          </a:p>
          <a:p>
            <a:pPr marL="742950" lvl="1" indent="-285750">
              <a:buFont typeface="Arial" panose="020B0604020202020204" pitchFamily="34" charset="0"/>
              <a:buChar char="•"/>
            </a:pPr>
            <a:r>
              <a:rPr lang="en-US" sz="1600" dirty="0"/>
              <a:t>Amendment notices will be published on </a:t>
            </a:r>
            <a:r>
              <a:rPr lang="en-US" sz="1600" dirty="0">
                <a:hlinkClick r:id="rId3"/>
              </a:rPr>
              <a:t>www.SAM.gov</a:t>
            </a:r>
            <a:endParaRPr lang="en-US" sz="1600" dirty="0"/>
          </a:p>
          <a:p>
            <a:pPr marL="742950" lvl="1" indent="-285750">
              <a:buFont typeface="Arial" panose="020B0604020202020204" pitchFamily="34" charset="0"/>
              <a:buChar char="•"/>
            </a:pPr>
            <a:r>
              <a:rPr lang="en-US" sz="1600" dirty="0"/>
              <a:t>The notice will direct offerors to </a:t>
            </a:r>
            <a:r>
              <a:rPr lang="en-US" sz="1600" dirty="0">
                <a:hlinkClick r:id="rId4"/>
              </a:rPr>
              <a:t>https://piee.eb.mil</a:t>
            </a:r>
            <a:r>
              <a:rPr lang="en-US" sz="1600" dirty="0"/>
              <a:t> where the amendments will be posted</a:t>
            </a:r>
          </a:p>
        </p:txBody>
      </p:sp>
    </p:spTree>
    <p:extLst>
      <p:ext uri="{BB962C8B-B14F-4D97-AF65-F5344CB8AC3E}">
        <p14:creationId xmlns:p14="http://schemas.microsoft.com/office/powerpoint/2010/main" val="329934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Bonding / insurance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143663"/>
            <a:ext cx="11497586" cy="5632311"/>
          </a:xfrm>
          <a:prstGeom prst="rect">
            <a:avLst/>
          </a:prstGeom>
          <a:noFill/>
        </p:spPr>
        <p:txBody>
          <a:bodyPr wrap="square" rtlCol="0">
            <a:spAutoFit/>
          </a:bodyPr>
          <a:lstStyle/>
          <a:p>
            <a:r>
              <a:rPr lang="en-US" dirty="0"/>
              <a:t>All bonding requirements are described in the Federal Acquisition Regulation, available on the internet:</a:t>
            </a:r>
          </a:p>
          <a:p>
            <a:r>
              <a:rPr lang="en-US" dirty="0">
                <a:hlinkClick r:id="rId2"/>
              </a:rPr>
              <a:t>https://www.acquisition.gov/far/52.228-15</a:t>
            </a:r>
            <a:endParaRPr lang="en-US" dirty="0"/>
          </a:p>
          <a:p>
            <a:endParaRPr lang="en-US" dirty="0"/>
          </a:p>
          <a:p>
            <a:r>
              <a:rPr lang="en-US" dirty="0"/>
              <a:t>Bond alternatives will be listed in section 01 00 01 of the solicitation</a:t>
            </a:r>
          </a:p>
          <a:p>
            <a:endParaRPr lang="en-US" dirty="0"/>
          </a:p>
          <a:p>
            <a:pPr marL="285750" indent="-285750">
              <a:buFont typeface="Arial" panose="020B0604020202020204" pitchFamily="34" charset="0"/>
              <a:buChar char="•"/>
            </a:pPr>
            <a:r>
              <a:rPr lang="en-US" dirty="0"/>
              <a:t>Bid Guarantee: </a:t>
            </a:r>
          </a:p>
          <a:p>
            <a:pPr marL="742950" lvl="1" indent="-285750">
              <a:buFont typeface="Arial" panose="020B0604020202020204" pitchFamily="34" charset="0"/>
              <a:buChar char="•"/>
            </a:pPr>
            <a:r>
              <a:rPr lang="en-US" dirty="0"/>
              <a:t>FAR 52.228-1</a:t>
            </a:r>
          </a:p>
          <a:p>
            <a:pPr marL="742950" lvl="1" indent="-285750">
              <a:buFont typeface="Arial" panose="020B0604020202020204" pitchFamily="34" charset="0"/>
              <a:buChar char="•"/>
            </a:pPr>
            <a:r>
              <a:rPr lang="en-US" dirty="0"/>
              <a:t>Usually NOT required</a:t>
            </a:r>
            <a:endParaRPr lang="en-US" dirty="0">
              <a:highlight>
                <a:srgbClr val="FFFF00"/>
              </a:highlight>
            </a:endParaRP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Performance Bond:</a:t>
            </a:r>
          </a:p>
          <a:p>
            <a:pPr marL="742950" lvl="1" indent="-285750">
              <a:buFont typeface="Arial" panose="020B0604020202020204" pitchFamily="34" charset="0"/>
              <a:buChar char="•"/>
            </a:pPr>
            <a:r>
              <a:rPr lang="en-US" dirty="0"/>
              <a:t>FAR 52.228-15</a:t>
            </a:r>
          </a:p>
          <a:p>
            <a:pPr marL="742950" lvl="1" indent="-285750">
              <a:buFont typeface="Arial" panose="020B0604020202020204" pitchFamily="34" charset="0"/>
              <a:buChar char="•"/>
            </a:pPr>
            <a:r>
              <a:rPr lang="en-US" dirty="0"/>
              <a:t>10% of awarded amount or approved bond alternative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Payment Bond:</a:t>
            </a:r>
          </a:p>
          <a:p>
            <a:pPr marL="742950" lvl="1" indent="-285750">
              <a:buFont typeface="Arial" panose="020B0604020202020204" pitchFamily="34" charset="0"/>
              <a:buChar char="•"/>
            </a:pPr>
            <a:r>
              <a:rPr lang="en-US" dirty="0"/>
              <a:t>FAR 52.228-15</a:t>
            </a:r>
          </a:p>
          <a:p>
            <a:pPr marL="742950" lvl="1" indent="-285750">
              <a:buFont typeface="Arial" panose="020B0604020202020204" pitchFamily="34" charset="0"/>
              <a:buChar char="•"/>
            </a:pPr>
            <a:r>
              <a:rPr lang="en-US" dirty="0"/>
              <a:t>NOT required</a:t>
            </a:r>
          </a:p>
          <a:p>
            <a:pPr lvl="1"/>
            <a:endParaRPr lang="en-US" dirty="0"/>
          </a:p>
          <a:p>
            <a:pPr marL="285750" indent="-285750">
              <a:buFont typeface="Arial" panose="020B0604020202020204" pitchFamily="34" charset="0"/>
              <a:buChar char="•"/>
            </a:pPr>
            <a:r>
              <a:rPr lang="en-US" dirty="0"/>
              <a:t>Defense Base Act (DBA) Insurance - </a:t>
            </a:r>
            <a:r>
              <a:rPr lang="en-US" dirty="0">
                <a:hlinkClick r:id="rId3"/>
              </a:rPr>
              <a:t>https://www.dol.gov/agencies/owcp/dlhwc/lsdba</a:t>
            </a:r>
            <a:r>
              <a:rPr lang="en-US" dirty="0"/>
              <a:t> </a:t>
            </a:r>
          </a:p>
          <a:p>
            <a:pPr marL="742950" lvl="1" indent="-285750">
              <a:buFont typeface="Arial" panose="020B0604020202020204" pitchFamily="34" charset="0"/>
              <a:buChar char="•"/>
            </a:pPr>
            <a:r>
              <a:rPr lang="en-US" dirty="0"/>
              <a:t>Required for this procurement</a:t>
            </a:r>
          </a:p>
          <a:p>
            <a:pPr marL="742950" lvl="1" indent="-285750">
              <a:buFont typeface="Arial" panose="020B0604020202020204" pitchFamily="34" charset="0"/>
              <a:buChar char="•"/>
            </a:pPr>
            <a:r>
              <a:rPr lang="en-US" dirty="0"/>
              <a:t>Peruvian requirements must also be met - SCTR and  trained personnel per SSOMA</a:t>
            </a:r>
          </a:p>
        </p:txBody>
      </p:sp>
    </p:spTree>
    <p:extLst>
      <p:ext uri="{BB962C8B-B14F-4D97-AF65-F5344CB8AC3E}">
        <p14:creationId xmlns:p14="http://schemas.microsoft.com/office/powerpoint/2010/main" val="1862327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Miscellaneous item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Safety &amp; Health Requirements must comply with USACE safety manual - EM 385-1-1: </a:t>
            </a:r>
            <a:r>
              <a:rPr lang="en-US" dirty="0">
                <a:hlinkClick r:id="rId2"/>
              </a:rPr>
              <a:t>http://www.publications.usace.army.mil/Portals/76/Publications/EngineerManuals/EM_385-1-1.pdf</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Proposals to be in English &amp; in US Dollars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construction data to be in metric units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Work to comply with applicable host nation laws and standards, to include either payment of or completion of process for exemption or reimbursement of host nation taxes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Check all amendments (SF 30) for any new information and acknowledge all amendments</a:t>
            </a:r>
          </a:p>
        </p:txBody>
      </p:sp>
    </p:spTree>
    <p:extLst>
      <p:ext uri="{BB962C8B-B14F-4D97-AF65-F5344CB8AC3E}">
        <p14:creationId xmlns:p14="http://schemas.microsoft.com/office/powerpoint/2010/main" val="467262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Tax on Certain Foreign Procurements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302150" y="1096708"/>
            <a:ext cx="3562183" cy="5632311"/>
          </a:xfrm>
          <a:prstGeom prst="rect">
            <a:avLst/>
          </a:prstGeom>
          <a:noFill/>
        </p:spPr>
        <p:txBody>
          <a:bodyPr wrap="square" rtlCol="0">
            <a:spAutoFit/>
          </a:bodyPr>
          <a:lstStyle/>
          <a:p>
            <a:pPr marL="285750" indent="-285750">
              <a:buFont typeface="Arial" panose="020B0604020202020204" pitchFamily="34" charset="0"/>
              <a:buChar char="•"/>
            </a:pPr>
            <a:r>
              <a:rPr lang="en-US" dirty="0"/>
              <a:t>Provision 52.229-11 – Section 00 45 00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Are you not a US citizen?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Clause 52.229-12 – Section 00 70 00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Exemptions: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Part II – Based on International Tax Agreement (Appendix A and B)</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Part III – Based on International Bilateral/Trade Agreement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Part III – Imports from US or Exempted Countries</a:t>
            </a:r>
          </a:p>
        </p:txBody>
      </p:sp>
      <p:pic>
        <p:nvPicPr>
          <p:cNvPr id="2" name="Picture 1">
            <a:extLst>
              <a:ext uri="{FF2B5EF4-FFF2-40B4-BE49-F238E27FC236}">
                <a16:creationId xmlns:a16="http://schemas.microsoft.com/office/drawing/2014/main" id="{084F34D5-F5FF-E8FC-EF57-127DB42A6362}"/>
              </a:ext>
            </a:extLst>
          </p:cNvPr>
          <p:cNvPicPr>
            <a:picLocks noChangeAspect="1"/>
          </p:cNvPicPr>
          <p:nvPr/>
        </p:nvPicPr>
        <p:blipFill>
          <a:blip r:embed="rId2"/>
          <a:stretch>
            <a:fillRect/>
          </a:stretch>
        </p:blipFill>
        <p:spPr>
          <a:xfrm>
            <a:off x="3729166" y="1096708"/>
            <a:ext cx="4381056" cy="5292550"/>
          </a:xfrm>
          <a:prstGeom prst="rect">
            <a:avLst/>
          </a:prstGeom>
        </p:spPr>
      </p:pic>
      <p:pic>
        <p:nvPicPr>
          <p:cNvPr id="3" name="Picture 2">
            <a:extLst>
              <a:ext uri="{FF2B5EF4-FFF2-40B4-BE49-F238E27FC236}">
                <a16:creationId xmlns:a16="http://schemas.microsoft.com/office/drawing/2014/main" id="{D3EE94B6-BB0C-0A8C-5CDE-E5825864CD9E}"/>
              </a:ext>
            </a:extLst>
          </p:cNvPr>
          <p:cNvPicPr>
            <a:picLocks noChangeAspect="1"/>
          </p:cNvPicPr>
          <p:nvPr/>
        </p:nvPicPr>
        <p:blipFill>
          <a:blip r:embed="rId3"/>
          <a:stretch>
            <a:fillRect/>
          </a:stretch>
        </p:blipFill>
        <p:spPr>
          <a:xfrm>
            <a:off x="8026557" y="1096708"/>
            <a:ext cx="4115079" cy="5292550"/>
          </a:xfrm>
          <a:prstGeom prst="rect">
            <a:avLst/>
          </a:prstGeom>
        </p:spPr>
      </p:pic>
    </p:spTree>
    <p:extLst>
      <p:ext uri="{BB962C8B-B14F-4D97-AF65-F5344CB8AC3E}">
        <p14:creationId xmlns:p14="http://schemas.microsoft.com/office/powerpoint/2010/main" val="1474747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n-US" dirty="0"/>
              <a:t>FUTURE Requirements – BUILDINGS &amp; Infrastructure</a:t>
            </a:r>
          </a:p>
        </p:txBody>
      </p:sp>
    </p:spTree>
    <p:extLst>
      <p:ext uri="{BB962C8B-B14F-4D97-AF65-F5344CB8AC3E}">
        <p14:creationId xmlns:p14="http://schemas.microsoft.com/office/powerpoint/2010/main" val="3130747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8E68ADB-C18F-4097-818F-48A14CA635DB}"/>
              </a:ext>
            </a:extLst>
          </p:cNvPr>
          <p:cNvPicPr>
            <a:picLocks noChangeAspect="1"/>
          </p:cNvPicPr>
          <p:nvPr/>
        </p:nvPicPr>
        <p:blipFill rotWithShape="1">
          <a:blip r:embed="rId2"/>
          <a:srcRect l="3052" b="4738"/>
          <a:stretch/>
        </p:blipFill>
        <p:spPr>
          <a:xfrm>
            <a:off x="2430161" y="289066"/>
            <a:ext cx="6860605" cy="3751245"/>
          </a:xfrm>
          <a:prstGeom prst="rect">
            <a:avLst/>
          </a:prstGeom>
        </p:spPr>
      </p:pic>
      <p:pic>
        <p:nvPicPr>
          <p:cNvPr id="7" name="Imagen 6">
            <a:extLst>
              <a:ext uri="{FF2B5EF4-FFF2-40B4-BE49-F238E27FC236}">
                <a16:creationId xmlns:a16="http://schemas.microsoft.com/office/drawing/2014/main" id="{46D803C4-2EBA-40CF-ADF4-4DD4A64F84D5}"/>
              </a:ext>
            </a:extLst>
          </p:cNvPr>
          <p:cNvPicPr>
            <a:picLocks noChangeAspect="1"/>
          </p:cNvPicPr>
          <p:nvPr/>
        </p:nvPicPr>
        <p:blipFill>
          <a:blip r:embed="rId3"/>
          <a:stretch>
            <a:fillRect/>
          </a:stretch>
        </p:blipFill>
        <p:spPr>
          <a:xfrm>
            <a:off x="195900" y="3422030"/>
            <a:ext cx="2975667" cy="3315393"/>
          </a:xfrm>
          <a:prstGeom prst="rect">
            <a:avLst/>
          </a:prstGeom>
          <a:ln>
            <a:noFill/>
          </a:ln>
          <a:effectLst>
            <a:outerShdw blurRad="292100" dist="139700" dir="2700000" algn="tl" rotWithShape="0">
              <a:srgbClr val="333333">
                <a:alpha val="65000"/>
              </a:srgbClr>
            </a:outerShdw>
          </a:effectLst>
        </p:spPr>
      </p:pic>
      <p:sp>
        <p:nvSpPr>
          <p:cNvPr id="8" name="Elipse 7">
            <a:extLst>
              <a:ext uri="{FF2B5EF4-FFF2-40B4-BE49-F238E27FC236}">
                <a16:creationId xmlns:a16="http://schemas.microsoft.com/office/drawing/2014/main" id="{DE976C09-E5B6-4D6F-9BF6-32AA3DCCB991}"/>
              </a:ext>
            </a:extLst>
          </p:cNvPr>
          <p:cNvSpPr/>
          <p:nvPr/>
        </p:nvSpPr>
        <p:spPr>
          <a:xfrm>
            <a:off x="5058032" y="2125363"/>
            <a:ext cx="1169773" cy="1145228"/>
          </a:xfrm>
          <a:prstGeom prst="ellipse">
            <a:avLst/>
          </a:prstGeom>
          <a:solidFill>
            <a:srgbClr val="104862">
              <a:alpha val="21961"/>
            </a:srgb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Elipse 8">
            <a:extLst>
              <a:ext uri="{FF2B5EF4-FFF2-40B4-BE49-F238E27FC236}">
                <a16:creationId xmlns:a16="http://schemas.microsoft.com/office/drawing/2014/main" id="{691AE45B-C436-4F0A-85B2-380A02FB00BF}"/>
              </a:ext>
            </a:extLst>
          </p:cNvPr>
          <p:cNvSpPr/>
          <p:nvPr/>
        </p:nvSpPr>
        <p:spPr>
          <a:xfrm>
            <a:off x="8041935" y="2125363"/>
            <a:ext cx="593125" cy="584886"/>
          </a:xfrm>
          <a:prstGeom prst="ellipse">
            <a:avLst/>
          </a:prstGeom>
          <a:solidFill>
            <a:srgbClr val="104862">
              <a:alpha val="18824"/>
            </a:srgb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Elipse 9">
            <a:extLst>
              <a:ext uri="{FF2B5EF4-FFF2-40B4-BE49-F238E27FC236}">
                <a16:creationId xmlns:a16="http://schemas.microsoft.com/office/drawing/2014/main" id="{9A1D539E-8D0B-49B2-8C30-E1E4AADE2604}"/>
              </a:ext>
            </a:extLst>
          </p:cNvPr>
          <p:cNvSpPr/>
          <p:nvPr/>
        </p:nvSpPr>
        <p:spPr>
          <a:xfrm>
            <a:off x="6598508" y="1878227"/>
            <a:ext cx="304800" cy="313038"/>
          </a:xfrm>
          <a:prstGeom prst="ellipse">
            <a:avLst/>
          </a:prstGeom>
          <a:solidFill>
            <a:srgbClr val="104862">
              <a:alpha val="16863"/>
            </a:srgb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2" name="Conector recto de flecha 11">
            <a:extLst>
              <a:ext uri="{FF2B5EF4-FFF2-40B4-BE49-F238E27FC236}">
                <a16:creationId xmlns:a16="http://schemas.microsoft.com/office/drawing/2014/main" id="{DBEF7D54-2422-4796-937F-E917711F9FC3}"/>
              </a:ext>
            </a:extLst>
          </p:cNvPr>
          <p:cNvCxnSpPr>
            <a:cxnSpLocks/>
          </p:cNvCxnSpPr>
          <p:nvPr/>
        </p:nvCxnSpPr>
        <p:spPr>
          <a:xfrm flipH="1">
            <a:off x="2901234" y="3102876"/>
            <a:ext cx="2345254" cy="1116591"/>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4" name="Imagen 13">
            <a:extLst>
              <a:ext uri="{FF2B5EF4-FFF2-40B4-BE49-F238E27FC236}">
                <a16:creationId xmlns:a16="http://schemas.microsoft.com/office/drawing/2014/main" id="{BC03956B-1BB5-4AE9-93B6-6231C98BB72A}"/>
              </a:ext>
            </a:extLst>
          </p:cNvPr>
          <p:cNvPicPr>
            <a:picLocks noChangeAspect="1"/>
          </p:cNvPicPr>
          <p:nvPr/>
        </p:nvPicPr>
        <p:blipFill>
          <a:blip r:embed="rId4"/>
          <a:stretch>
            <a:fillRect/>
          </a:stretch>
        </p:blipFill>
        <p:spPr>
          <a:xfrm>
            <a:off x="7284308" y="4040311"/>
            <a:ext cx="4587638" cy="2636748"/>
          </a:xfrm>
          <a:prstGeom prst="rect">
            <a:avLst/>
          </a:prstGeom>
          <a:ln>
            <a:noFill/>
          </a:ln>
          <a:effectLst>
            <a:outerShdw blurRad="292100" dist="139700" dir="2700000" algn="tl" rotWithShape="0">
              <a:srgbClr val="333333">
                <a:alpha val="65000"/>
              </a:srgbClr>
            </a:outerShdw>
          </a:effectLst>
        </p:spPr>
      </p:pic>
      <p:cxnSp>
        <p:nvCxnSpPr>
          <p:cNvPr id="17" name="Conector recto de flecha 16">
            <a:extLst>
              <a:ext uri="{FF2B5EF4-FFF2-40B4-BE49-F238E27FC236}">
                <a16:creationId xmlns:a16="http://schemas.microsoft.com/office/drawing/2014/main" id="{38B237A3-834F-4181-9572-E6025B373B53}"/>
              </a:ext>
            </a:extLst>
          </p:cNvPr>
          <p:cNvCxnSpPr>
            <a:cxnSpLocks/>
            <a:stCxn id="9" idx="5"/>
          </p:cNvCxnSpPr>
          <p:nvPr/>
        </p:nvCxnSpPr>
        <p:spPr>
          <a:xfrm>
            <a:off x="8548199" y="2624594"/>
            <a:ext cx="2078104" cy="1594873"/>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8ABF2E56-E2A1-4703-94F9-5BFE927BC361}"/>
              </a:ext>
            </a:extLst>
          </p:cNvPr>
          <p:cNvCxnSpPr>
            <a:cxnSpLocks/>
            <a:stCxn id="10" idx="4"/>
          </p:cNvCxnSpPr>
          <p:nvPr/>
        </p:nvCxnSpPr>
        <p:spPr>
          <a:xfrm>
            <a:off x="6750908" y="2191265"/>
            <a:ext cx="1066800" cy="2636108"/>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CuadroTexto 1">
            <a:extLst>
              <a:ext uri="{FF2B5EF4-FFF2-40B4-BE49-F238E27FC236}">
                <a16:creationId xmlns:a16="http://schemas.microsoft.com/office/drawing/2014/main" id="{AB72EAEC-D543-46E0-BA64-04B071702834}"/>
              </a:ext>
            </a:extLst>
          </p:cNvPr>
          <p:cNvSpPr txBox="1"/>
          <p:nvPr/>
        </p:nvSpPr>
        <p:spPr>
          <a:xfrm>
            <a:off x="3459419" y="102129"/>
            <a:ext cx="5536772" cy="369332"/>
          </a:xfrm>
          <a:prstGeom prst="rect">
            <a:avLst/>
          </a:prstGeom>
          <a:solidFill>
            <a:srgbClr val="FFFFFF"/>
          </a:solidFill>
        </p:spPr>
        <p:txBody>
          <a:bodyPr wrap="none" rtlCol="0">
            <a:spAutoFit/>
          </a:bodyPr>
          <a:lstStyle/>
          <a:p>
            <a:r>
              <a:rPr lang="es-ES" dirty="0"/>
              <a:t>DISEÑO Y CONSTRUCCION DE EDIFICACIONES </a:t>
            </a:r>
            <a:endParaRPr lang="es-PE" dirty="0"/>
          </a:p>
        </p:txBody>
      </p:sp>
    </p:spTree>
    <p:extLst>
      <p:ext uri="{BB962C8B-B14F-4D97-AF65-F5344CB8AC3E}">
        <p14:creationId xmlns:p14="http://schemas.microsoft.com/office/powerpoint/2010/main" val="2271867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Planning and Design</a:t>
            </a:r>
            <a:br>
              <a:rPr lang="en-US" dirty="0"/>
            </a:br>
            <a:r>
              <a:rPr lang="en-US" dirty="0"/>
              <a:t>Shoreside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444663" y="1225689"/>
            <a:ext cx="11394219" cy="5509200"/>
          </a:xfrm>
          <a:prstGeom prst="rect">
            <a:avLst/>
          </a:prstGeom>
          <a:noFill/>
        </p:spPr>
        <p:txBody>
          <a:bodyPr wrap="square" rtlCol="0">
            <a:spAutoFit/>
          </a:bodyPr>
          <a:lstStyle/>
          <a:p>
            <a:pPr marL="285750" indent="-285750">
              <a:buFont typeface="Arial" panose="020B0604020202020204" pitchFamily="34" charset="0"/>
              <a:buChar char="•"/>
            </a:pPr>
            <a:r>
              <a:rPr lang="en-US" dirty="0"/>
              <a:t>Architect-Engineer contract suite for studies and design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Multiple Award Task Order Contract (MATOC) – Indefinite Delivery, Indefinite Quantity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Covers assessment, planning, and design of facilities (administrative buildings, barracks, dining facilities), roads, utilities, and other infrastructure at the Port of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Contract capacity (to be determined) will be shared among the pool over five years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Will be advertised per U.S. Federal Acquisition Regulation requirements following the “Selection of Architect and Engineers” process – pre-proposal conference will be held prior to issuance of solicitation</a:t>
            </a:r>
          </a:p>
          <a:p>
            <a:pPr marL="742950" lvl="1" indent="-285750">
              <a:buFont typeface="Arial" panose="020B0604020202020204" pitchFamily="34" charset="0"/>
              <a:buChar char="•"/>
            </a:pPr>
            <a:r>
              <a:rPr lang="en-US" sz="1400" dirty="0"/>
              <a:t>FAR Part 36.6 - </a:t>
            </a:r>
            <a:r>
              <a:rPr lang="en-US" sz="1400" dirty="0">
                <a:hlinkClick r:id="rId2"/>
              </a:rPr>
              <a:t>https://www.acquisition.gov/far/subpart-36.6</a:t>
            </a:r>
            <a:r>
              <a:rPr lang="en-US" sz="1400" dirty="0"/>
              <a:t> </a:t>
            </a:r>
          </a:p>
          <a:p>
            <a:pPr marL="742950" lvl="1" indent="-285750">
              <a:buFont typeface="Arial" panose="020B0604020202020204" pitchFamily="34" charset="0"/>
              <a:buChar char="•"/>
            </a:pPr>
            <a:r>
              <a:rPr lang="en-US" sz="1400" dirty="0"/>
              <a:t>EP 715-1-7 - </a:t>
            </a:r>
            <a:r>
              <a:rPr lang="en-US" sz="1400" dirty="0">
                <a:hlinkClick r:id="rId3"/>
              </a:rPr>
              <a:t>https://www.publications.usace.army.mil/Portals/76/Publications/EngineerPamphlets/EP_715-1-7.pdf</a:t>
            </a:r>
            <a:r>
              <a:rPr lang="en-US" sz="1400" dirty="0"/>
              <a:t> </a:t>
            </a:r>
          </a:p>
          <a:p>
            <a:endParaRPr lang="en-US" dirty="0"/>
          </a:p>
          <a:p>
            <a:pPr marL="285750" indent="-285750">
              <a:buFont typeface="Arial" panose="020B0604020202020204" pitchFamily="34" charset="0"/>
              <a:buChar char="•"/>
            </a:pPr>
            <a:r>
              <a:rPr lang="en-US" dirty="0"/>
              <a:t>Anticipate that competition may be restricted to Peruvian firms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Firms involved in the development of solicitation documents (such as Request for Proposal packages) will not be eligible to participate in the competition for construction activities resulting from their work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NAICS 541330 – Engineering Services: https://www.naics.com/search/</a:t>
            </a:r>
          </a:p>
        </p:txBody>
      </p:sp>
    </p:spTree>
    <p:extLst>
      <p:ext uri="{BB962C8B-B14F-4D97-AF65-F5344CB8AC3E}">
        <p14:creationId xmlns:p14="http://schemas.microsoft.com/office/powerpoint/2010/main" val="530153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Construction - Shoreside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444663" y="1225689"/>
            <a:ext cx="11394219" cy="4801314"/>
          </a:xfrm>
          <a:prstGeom prst="rect">
            <a:avLst/>
          </a:prstGeom>
          <a:noFill/>
        </p:spPr>
        <p:txBody>
          <a:bodyPr wrap="square" rtlCol="0">
            <a:spAutoFit/>
          </a:bodyPr>
          <a:lstStyle/>
          <a:p>
            <a:pPr marL="285750" indent="-285750">
              <a:buFont typeface="Arial" panose="020B0604020202020204" pitchFamily="34" charset="0"/>
              <a:buChar char="•"/>
            </a:pPr>
            <a:r>
              <a:rPr lang="en-US" dirty="0"/>
              <a:t>Multiple Award Task Order Contract (MATOC) – Indefinite Delivery, Indefinite Quantity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Covers construction of facilities (administrative buildings, barracks, dining facilities), roads, utilities, and other infrastructure at the Port of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Contract capacity (to be determined) will be shared among the pool over five years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Design-Build Capabilities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Will be advertised as a two phase process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Unrestricted “Best Value” Procurement</a:t>
            </a:r>
          </a:p>
          <a:p>
            <a:pPr marL="742950" lvl="1" indent="-285750">
              <a:buFont typeface="Arial" panose="020B0604020202020204" pitchFamily="34" charset="0"/>
              <a:buChar char="•"/>
            </a:pPr>
            <a:r>
              <a:rPr lang="en-US" dirty="0"/>
              <a:t>Both price and non-price factors will be considered</a:t>
            </a:r>
          </a:p>
          <a:p>
            <a:pPr marL="742950" lvl="1" indent="-285750">
              <a:buFont typeface="Arial" panose="020B0604020202020204" pitchFamily="34" charset="0"/>
              <a:buChar char="•"/>
            </a:pPr>
            <a:r>
              <a:rPr lang="en-US" dirty="0"/>
              <a:t>Proposal representing the overall best value will be selected</a:t>
            </a:r>
          </a:p>
          <a:p>
            <a:pPr marL="742950" lvl="1" indent="-285750">
              <a:buFont typeface="Arial" panose="020B0604020202020204" pitchFamily="34" charset="0"/>
              <a:buChar char="•"/>
            </a:pPr>
            <a:r>
              <a:rPr lang="en-US" dirty="0"/>
              <a:t>The lowest price proposal will not necessarily be selected</a:t>
            </a:r>
          </a:p>
          <a:p>
            <a:endParaRPr lang="en-US" dirty="0"/>
          </a:p>
          <a:p>
            <a:pPr marL="285750" indent="-285750">
              <a:buFont typeface="Arial" panose="020B0604020202020204" pitchFamily="34" charset="0"/>
              <a:buChar char="•"/>
            </a:pPr>
            <a:r>
              <a:rPr lang="en-US" dirty="0"/>
              <a:t>NAICS 236220 – Commercial and Institutional Building Construction:  </a:t>
            </a:r>
            <a:r>
              <a:rPr lang="en-US" dirty="0">
                <a:hlinkClick r:id="rId2"/>
              </a:rPr>
              <a:t>https://www.naics.com/search/</a:t>
            </a:r>
            <a:r>
              <a:rPr lang="en-US" dirty="0"/>
              <a:t> </a:t>
            </a:r>
          </a:p>
        </p:txBody>
      </p:sp>
    </p:spTree>
    <p:extLst>
      <p:ext uri="{BB962C8B-B14F-4D97-AF65-F5344CB8AC3E}">
        <p14:creationId xmlns:p14="http://schemas.microsoft.com/office/powerpoint/2010/main" val="444607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262979"/>
          </a:xfrm>
          <a:prstGeom prst="rect">
            <a:avLst/>
          </a:prstGeom>
          <a:noFill/>
        </p:spPr>
        <p:txBody>
          <a:bodyPr wrap="square" rtlCol="0">
            <a:spAutoFit/>
          </a:bodyPr>
          <a:lstStyle/>
          <a:p>
            <a:pPr algn="ctr"/>
            <a:r>
              <a:rPr lang="en-US" sz="6600" dirty="0"/>
              <a:t>QUESTIONS?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dirty="0">
                <a:solidFill>
                  <a:srgbClr val="FF0000"/>
                </a:solidFill>
              </a:rPr>
              <a:t>Answers provided during the Industry Day are not official.  </a:t>
            </a:r>
          </a:p>
          <a:p>
            <a:endParaRPr lang="en-US" dirty="0">
              <a:solidFill>
                <a:srgbClr val="FF0000"/>
              </a:solidFill>
            </a:endParaRPr>
          </a:p>
          <a:p>
            <a:r>
              <a:rPr lang="en-US" dirty="0">
                <a:solidFill>
                  <a:srgbClr val="FF0000"/>
                </a:solidFill>
              </a:rPr>
              <a:t>Once a solicitation has been issued, official answers will only be provided to questions submitted through the RFI process described in the solicitation.  Prior to issuance of a solicitation, you may contact the Contracting Officer:  Jillian </a:t>
            </a:r>
            <a:r>
              <a:rPr lang="en-US" dirty="0" err="1">
                <a:solidFill>
                  <a:srgbClr val="FF0000"/>
                </a:solidFill>
              </a:rPr>
              <a:t>Saffle</a:t>
            </a:r>
            <a:r>
              <a:rPr lang="en-US" dirty="0">
                <a:solidFill>
                  <a:srgbClr val="FF0000"/>
                </a:solidFill>
              </a:rPr>
              <a:t>, </a:t>
            </a:r>
            <a:r>
              <a:rPr lang="en-US" dirty="0">
                <a:solidFill>
                  <a:srgbClr val="FF0000"/>
                </a:solidFill>
                <a:hlinkClick r:id="rId2"/>
              </a:rPr>
              <a:t>jillian.e.saffle@usace.army.mil</a:t>
            </a:r>
            <a:r>
              <a:rPr lang="en-US" dirty="0">
                <a:solidFill>
                  <a:srgbClr val="FF0000"/>
                </a:solidFill>
              </a:rPr>
              <a:t>.</a:t>
            </a:r>
          </a:p>
        </p:txBody>
      </p:sp>
    </p:spTree>
    <p:extLst>
      <p:ext uri="{BB962C8B-B14F-4D97-AF65-F5344CB8AC3E}">
        <p14:creationId xmlns:p14="http://schemas.microsoft.com/office/powerpoint/2010/main" val="120862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n-US" dirty="0"/>
              <a:t>Current Requirements – HARBOR PROJECT</a:t>
            </a:r>
            <a:endParaRPr lang="en-US" b="0" dirty="0"/>
          </a:p>
        </p:txBody>
      </p:sp>
    </p:spTree>
    <p:extLst>
      <p:ext uri="{BB962C8B-B14F-4D97-AF65-F5344CB8AC3E}">
        <p14:creationId xmlns:p14="http://schemas.microsoft.com/office/powerpoint/2010/main" val="662500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59895AB-C8E4-43D0-B7A2-7AFAEC84E978}"/>
              </a:ext>
            </a:extLst>
          </p:cNvPr>
          <p:cNvPicPr>
            <a:picLocks noChangeAspect="1"/>
          </p:cNvPicPr>
          <p:nvPr/>
        </p:nvPicPr>
        <p:blipFill>
          <a:blip r:embed="rId2"/>
          <a:stretch>
            <a:fillRect/>
          </a:stretch>
        </p:blipFill>
        <p:spPr>
          <a:xfrm>
            <a:off x="2008727" y="1393902"/>
            <a:ext cx="8361507" cy="5464098"/>
          </a:xfrm>
          <a:prstGeom prst="rect">
            <a:avLst/>
          </a:prstGeom>
        </p:spPr>
      </p:pic>
      <p:sp>
        <p:nvSpPr>
          <p:cNvPr id="3" name="Title 3">
            <a:extLst>
              <a:ext uri="{FF2B5EF4-FFF2-40B4-BE49-F238E27FC236}">
                <a16:creationId xmlns:a16="http://schemas.microsoft.com/office/drawing/2014/main" id="{D1B6ACC3-751E-4FD8-8CB7-BDE7647C054B}"/>
              </a:ext>
            </a:extLst>
          </p:cNvPr>
          <p:cNvSpPr txBox="1">
            <a:spLocks/>
          </p:cNvSpPr>
          <p:nvPr/>
        </p:nvSpPr>
        <p:spPr>
          <a:xfrm>
            <a:off x="996073" y="179320"/>
            <a:ext cx="10386814"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PRIMERA LICITACION:</a:t>
            </a:r>
            <a:br>
              <a:rPr lang="es-PE" sz="2400" dirty="0"/>
            </a:br>
            <a:r>
              <a:rPr lang="es" sz="2400" dirty="0"/>
              <a:t>Construcción de revestimiento y rampas para embarcaciones</a:t>
            </a:r>
          </a:p>
        </p:txBody>
      </p:sp>
    </p:spTree>
    <p:extLst>
      <p:ext uri="{BB962C8B-B14F-4D97-AF65-F5344CB8AC3E}">
        <p14:creationId xmlns:p14="http://schemas.microsoft.com/office/powerpoint/2010/main" val="1135062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Revetment and Boat Ramp Construction</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8" y="1296063"/>
            <a:ext cx="11410122" cy="5078313"/>
          </a:xfrm>
          <a:prstGeom prst="rect">
            <a:avLst/>
          </a:prstGeom>
          <a:noFill/>
        </p:spPr>
        <p:txBody>
          <a:bodyPr wrap="square" rtlCol="0">
            <a:spAutoFit/>
          </a:bodyPr>
          <a:lstStyle/>
          <a:p>
            <a:pPr marL="285750" indent="-285750">
              <a:buFont typeface="Arial" panose="020B0604020202020204" pitchFamily="34" charset="0"/>
              <a:buChar char="•"/>
            </a:pPr>
            <a:r>
              <a:rPr lang="en-US" dirty="0"/>
              <a:t>Solicitation Number: W9127825RA023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Construction of new Revetment/Shore Stabilization and Boat Ramp at the planned Peruvian Navy harbor location immediately north of the commercial port and south of the Rimac River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Design-Bid-Build procurement (full design provided)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Unrestricted, Stand-alone, “Best Value” Procurement</a:t>
            </a:r>
          </a:p>
          <a:p>
            <a:pPr marL="742950" lvl="1" indent="-285750">
              <a:buFont typeface="Arial" panose="020B0604020202020204" pitchFamily="34" charset="0"/>
              <a:buChar char="•"/>
            </a:pPr>
            <a:r>
              <a:rPr lang="en-US" dirty="0"/>
              <a:t>Both price and non-price factors will be considered</a:t>
            </a:r>
          </a:p>
          <a:p>
            <a:pPr marL="742950" lvl="1" indent="-285750">
              <a:buFont typeface="Arial" panose="020B0604020202020204" pitchFamily="34" charset="0"/>
              <a:buChar char="•"/>
            </a:pPr>
            <a:r>
              <a:rPr lang="en-US" dirty="0"/>
              <a:t>Proposal representing the overall best value will be selected</a:t>
            </a:r>
          </a:p>
          <a:p>
            <a:pPr marL="742950" lvl="1" indent="-285750">
              <a:buFont typeface="Arial" panose="020B0604020202020204" pitchFamily="34" charset="0"/>
              <a:buChar char="•"/>
            </a:pPr>
            <a:r>
              <a:rPr lang="en-US" dirty="0"/>
              <a:t>The lowest price proposal will not necessarily be selected</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Single, Firm Fixed-Price Contract Award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Anticipate issuance of solicitation in September 2025</a:t>
            </a:r>
          </a:p>
          <a:p>
            <a:endParaRPr lang="en-US" dirty="0"/>
          </a:p>
          <a:p>
            <a:pPr marL="285750" indent="-285750">
              <a:buFont typeface="Arial" panose="020B0604020202020204" pitchFamily="34" charset="0"/>
              <a:buChar char="•"/>
            </a:pPr>
            <a:r>
              <a:rPr lang="en-US" dirty="0"/>
              <a:t>NAICS 237990 – Marine Construction</a:t>
            </a:r>
            <a:r>
              <a:rPr lang="en-US" b="1" dirty="0"/>
              <a:t>:</a:t>
            </a:r>
            <a:r>
              <a:rPr lang="en-US" dirty="0"/>
              <a:t> https://www.naics.com/search/</a:t>
            </a:r>
          </a:p>
          <a:p>
            <a:pPr marL="285750" indent="-285750">
              <a:buFont typeface="Arial" panose="020B0604020202020204" pitchFamily="34" charset="0"/>
              <a:buChar char="•"/>
            </a:pPr>
            <a:endParaRPr lang="en-US" dirty="0"/>
          </a:p>
        </p:txBody>
      </p:sp>
      <p:pic>
        <p:nvPicPr>
          <p:cNvPr id="3" name="Picture 2" descr="A picture containing diagram&#10;&#10;AI-generated content may be incorrect.">
            <a:extLst>
              <a:ext uri="{FF2B5EF4-FFF2-40B4-BE49-F238E27FC236}">
                <a16:creationId xmlns:a16="http://schemas.microsoft.com/office/drawing/2014/main" id="{905C8E96-3812-5D46-AE01-9DC7FAC37069}"/>
              </a:ext>
            </a:extLst>
          </p:cNvPr>
          <p:cNvPicPr>
            <a:picLocks noChangeAspect="1"/>
          </p:cNvPicPr>
          <p:nvPr/>
        </p:nvPicPr>
        <p:blipFill>
          <a:blip r:embed="rId2"/>
          <a:srcRect l="6636" t="7849" r="937" b="20665"/>
          <a:stretch/>
        </p:blipFill>
        <p:spPr>
          <a:xfrm>
            <a:off x="7633251" y="3004450"/>
            <a:ext cx="4067904" cy="1787056"/>
          </a:xfrm>
          <a:prstGeom prst="rect">
            <a:avLst/>
          </a:prstGeom>
        </p:spPr>
      </p:pic>
    </p:spTree>
    <p:extLst>
      <p:ext uri="{BB962C8B-B14F-4D97-AF65-F5344CB8AC3E}">
        <p14:creationId xmlns:p14="http://schemas.microsoft.com/office/powerpoint/2010/main" val="3599749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Single Phase (or Step) Stand-alone Solicitation Process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577092"/>
            <a:ext cx="11497586" cy="3970318"/>
          </a:xfrm>
          <a:prstGeom prst="rect">
            <a:avLst/>
          </a:prstGeom>
          <a:noFill/>
        </p:spPr>
        <p:txBody>
          <a:bodyPr wrap="square" rtlCol="0">
            <a:spAutoFit/>
          </a:bodyPr>
          <a:lstStyle/>
          <a:p>
            <a:pPr marL="285750" indent="-285750">
              <a:buFont typeface="Arial" panose="020B0604020202020204" pitchFamily="34" charset="0"/>
              <a:buChar char="•"/>
            </a:pPr>
            <a:r>
              <a:rPr lang="es" dirty="0"/>
              <a:t>Any company which meets the requirements of the solicitation (see general information slide above) is eligible to submit a proposal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technical board will evaluate “non-price” proposals, and a separate team will determine if the proposal is complete and if the proposed pricing is fair and reasonable.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Selecting Official will conduct a price/technical trade-off, and will select the one company which will receive the contract for the specific construction requirement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evaluations and decisions will be reviewed by independent reviewers and/or committees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USACE intends to award without discussions, but may open discussions with any or all offerors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Proposals with a deficiency will not be considered for award</a:t>
            </a:r>
          </a:p>
        </p:txBody>
      </p:sp>
    </p:spTree>
    <p:extLst>
      <p:ext uri="{BB962C8B-B14F-4D97-AF65-F5344CB8AC3E}">
        <p14:creationId xmlns:p14="http://schemas.microsoft.com/office/powerpoint/2010/main" val="1086801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9B1A3C7-9A2C-437D-997A-33E5D1495007}"/>
              </a:ext>
            </a:extLst>
          </p:cNvPr>
          <p:cNvPicPr>
            <a:picLocks noChangeAspect="1"/>
          </p:cNvPicPr>
          <p:nvPr/>
        </p:nvPicPr>
        <p:blipFill>
          <a:blip r:embed="rId2"/>
          <a:stretch>
            <a:fillRect/>
          </a:stretch>
        </p:blipFill>
        <p:spPr>
          <a:xfrm>
            <a:off x="2281033" y="978426"/>
            <a:ext cx="8085521" cy="5700254"/>
          </a:xfrm>
          <a:prstGeom prst="rect">
            <a:avLst/>
          </a:prstGeom>
        </p:spPr>
      </p:pic>
      <p:sp>
        <p:nvSpPr>
          <p:cNvPr id="3" name="Title 3">
            <a:extLst>
              <a:ext uri="{FF2B5EF4-FFF2-40B4-BE49-F238E27FC236}">
                <a16:creationId xmlns:a16="http://schemas.microsoft.com/office/drawing/2014/main" id="{8E4217EB-455F-4754-8A70-95E27E907F6D}"/>
              </a:ext>
            </a:extLst>
          </p:cNvPr>
          <p:cNvSpPr txBox="1">
            <a:spLocks/>
          </p:cNvSpPr>
          <p:nvPr/>
        </p:nvSpPr>
        <p:spPr>
          <a:xfrm>
            <a:off x="996073" y="179320"/>
            <a:ext cx="10386814"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SEGUNDA LICITACION (PROYECTO SEMILLA-MATOC):</a:t>
            </a:r>
            <a:br>
              <a:rPr lang="es-PE" sz="2400" dirty="0"/>
            </a:br>
            <a:r>
              <a:rPr lang="es-PE" sz="2400" dirty="0"/>
              <a:t>DISEÑO Y CONSTRUCCION DE ROMPEOLAS</a:t>
            </a:r>
            <a:endParaRPr lang="es" sz="2400" dirty="0"/>
          </a:p>
        </p:txBody>
      </p:sp>
    </p:spTree>
    <p:extLst>
      <p:ext uri="{BB962C8B-B14F-4D97-AF65-F5344CB8AC3E}">
        <p14:creationId xmlns:p14="http://schemas.microsoft.com/office/powerpoint/2010/main" val="1407586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DDF3D51-A553-4212-B959-F6BEBD52021E}"/>
              </a:ext>
            </a:extLst>
          </p:cNvPr>
          <p:cNvPicPr>
            <a:picLocks noChangeAspect="1"/>
          </p:cNvPicPr>
          <p:nvPr/>
        </p:nvPicPr>
        <p:blipFill rotWithShape="1">
          <a:blip r:embed="rId2"/>
          <a:srcRect b="2100"/>
          <a:stretch/>
        </p:blipFill>
        <p:spPr>
          <a:xfrm>
            <a:off x="1415600" y="541001"/>
            <a:ext cx="9532486" cy="5495391"/>
          </a:xfrm>
          <a:prstGeom prst="rect">
            <a:avLst/>
          </a:prstGeom>
        </p:spPr>
      </p:pic>
      <p:sp>
        <p:nvSpPr>
          <p:cNvPr id="3" name="Title 3">
            <a:extLst>
              <a:ext uri="{FF2B5EF4-FFF2-40B4-BE49-F238E27FC236}">
                <a16:creationId xmlns:a16="http://schemas.microsoft.com/office/drawing/2014/main" id="{74F841C0-76A7-4124-B1E4-37A59DC95791}"/>
              </a:ext>
            </a:extLst>
          </p:cNvPr>
          <p:cNvSpPr txBox="1">
            <a:spLocks/>
          </p:cNvSpPr>
          <p:nvPr/>
        </p:nvSpPr>
        <p:spPr>
          <a:xfrm>
            <a:off x="787179" y="541001"/>
            <a:ext cx="10588071"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TERCERA LICITACION (MATOC):</a:t>
            </a:r>
            <a:br>
              <a:rPr lang="es-PE" sz="2400" dirty="0"/>
            </a:br>
            <a:r>
              <a:rPr lang="es-PE" sz="2400" dirty="0"/>
              <a:t> DRAGADO, DISEÑO Y CONSTRUCCION DE MUELLE SUR Y MUELLE I</a:t>
            </a:r>
            <a:endParaRPr lang="es" sz="2400" dirty="0"/>
          </a:p>
        </p:txBody>
      </p:sp>
    </p:spTree>
    <p:extLst>
      <p:ext uri="{BB962C8B-B14F-4D97-AF65-F5344CB8AC3E}">
        <p14:creationId xmlns:p14="http://schemas.microsoft.com/office/powerpoint/2010/main" val="1686832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8925183-648A-4CA6-B4CE-94D8F2C4E487}"/>
              </a:ext>
            </a:extLst>
          </p:cNvPr>
          <p:cNvPicPr>
            <a:picLocks noChangeAspect="1"/>
          </p:cNvPicPr>
          <p:nvPr/>
        </p:nvPicPr>
        <p:blipFill>
          <a:blip r:embed="rId2"/>
          <a:stretch>
            <a:fillRect/>
          </a:stretch>
        </p:blipFill>
        <p:spPr>
          <a:xfrm>
            <a:off x="1954196" y="701293"/>
            <a:ext cx="7980636" cy="6078598"/>
          </a:xfrm>
          <a:prstGeom prst="rect">
            <a:avLst/>
          </a:prstGeom>
        </p:spPr>
      </p:pic>
      <p:sp>
        <p:nvSpPr>
          <p:cNvPr id="3" name="Title 3">
            <a:extLst>
              <a:ext uri="{FF2B5EF4-FFF2-40B4-BE49-F238E27FC236}">
                <a16:creationId xmlns:a16="http://schemas.microsoft.com/office/drawing/2014/main" id="{EF9CA1F1-6DA0-4088-83E4-F659BB9658F6}"/>
              </a:ext>
            </a:extLst>
          </p:cNvPr>
          <p:cNvSpPr txBox="1">
            <a:spLocks/>
          </p:cNvSpPr>
          <p:nvPr/>
        </p:nvSpPr>
        <p:spPr>
          <a:xfrm>
            <a:off x="787179" y="541001"/>
            <a:ext cx="10588071" cy="832920"/>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s-PE" sz="2400" dirty="0"/>
              <a:t>CUARTA LICITACION (MATOC):</a:t>
            </a:r>
            <a:br>
              <a:rPr lang="es-PE" sz="2400" dirty="0"/>
            </a:br>
            <a:r>
              <a:rPr lang="es-PE" sz="2400" dirty="0"/>
              <a:t>DISEÑO Y CONSTRUCCION DE MUELLE NORTE Y MUELLE II</a:t>
            </a:r>
            <a:endParaRPr lang="es" sz="2400" dirty="0"/>
          </a:p>
        </p:txBody>
      </p:sp>
    </p:spTree>
    <p:extLst>
      <p:ext uri="{BB962C8B-B14F-4D97-AF65-F5344CB8AC3E}">
        <p14:creationId xmlns:p14="http://schemas.microsoft.com/office/powerpoint/2010/main" val="3839219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Construction - Harbor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8" y="1296063"/>
            <a:ext cx="9185400" cy="5078313"/>
          </a:xfrm>
          <a:prstGeom prst="rect">
            <a:avLst/>
          </a:prstGeom>
          <a:noFill/>
        </p:spPr>
        <p:txBody>
          <a:bodyPr wrap="none" rtlCol="0">
            <a:spAutoFit/>
          </a:bodyPr>
          <a:lstStyle/>
          <a:p>
            <a:pPr marL="285750" indent="-285750">
              <a:buFont typeface="Arial" panose="020B0604020202020204" pitchFamily="34" charset="0"/>
              <a:buChar char="•"/>
            </a:pPr>
            <a:r>
              <a:rPr lang="en-US" dirty="0"/>
              <a:t>Multiple Award Task Order Contract (MATOC) – Indefinite Delivery, Indefinite Quantity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Covers construction of harbor infrastructure at the Port of Callao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$950,000,000 USD in total shared capacity over five years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Design-Build Capabilities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Unrestricted “Best Value” Procurement</a:t>
            </a:r>
          </a:p>
          <a:p>
            <a:pPr marL="742950" lvl="1" indent="-285750">
              <a:buFont typeface="Arial" panose="020B0604020202020204" pitchFamily="34" charset="0"/>
              <a:buChar char="•"/>
            </a:pPr>
            <a:r>
              <a:rPr lang="en-US" dirty="0"/>
              <a:t>Both price and non-price factors will be considered</a:t>
            </a:r>
          </a:p>
          <a:p>
            <a:pPr marL="742950" lvl="1" indent="-285750">
              <a:buFont typeface="Arial" panose="020B0604020202020204" pitchFamily="34" charset="0"/>
              <a:buChar char="•"/>
            </a:pPr>
            <a:r>
              <a:rPr lang="en-US" dirty="0"/>
              <a:t>Proposal representing the overall best value will be selected</a:t>
            </a:r>
          </a:p>
          <a:p>
            <a:pPr marL="742950" lvl="1" indent="-285750">
              <a:buFont typeface="Arial" panose="020B0604020202020204" pitchFamily="34" charset="0"/>
              <a:buChar char="•"/>
            </a:pPr>
            <a:r>
              <a:rPr lang="en-US" dirty="0"/>
              <a:t>The lowest price proposal will not necessarily be selected</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Will be advertised as a two-phase process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Anticipate issuance of the Phase 1 solicitation in December 2025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NAICS 237990 – Marine Construction: https://www.naics.com/search/</a:t>
            </a:r>
          </a:p>
        </p:txBody>
      </p:sp>
      <p:pic>
        <p:nvPicPr>
          <p:cNvPr id="6" name="Picture 5" descr="A picture containing diagram&#10;&#10;AI-generated content may be incorrect.">
            <a:extLst>
              <a:ext uri="{FF2B5EF4-FFF2-40B4-BE49-F238E27FC236}">
                <a16:creationId xmlns:a16="http://schemas.microsoft.com/office/drawing/2014/main" id="{4283F933-24C8-9F15-D3BB-7718A11E63E3}"/>
              </a:ext>
            </a:extLst>
          </p:cNvPr>
          <p:cNvPicPr>
            <a:picLocks noChangeAspect="1"/>
          </p:cNvPicPr>
          <p:nvPr/>
        </p:nvPicPr>
        <p:blipFill>
          <a:blip r:embed="rId2"/>
          <a:srcRect l="33075" t="17947"/>
          <a:stretch/>
        </p:blipFill>
        <p:spPr>
          <a:xfrm>
            <a:off x="8110330" y="1828801"/>
            <a:ext cx="3766392" cy="2735100"/>
          </a:xfrm>
          <a:prstGeom prst="rect">
            <a:avLst/>
          </a:prstGeom>
        </p:spPr>
      </p:pic>
    </p:spTree>
    <p:extLst>
      <p:ext uri="{BB962C8B-B14F-4D97-AF65-F5344CB8AC3E}">
        <p14:creationId xmlns:p14="http://schemas.microsoft.com/office/powerpoint/2010/main" val="589349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n-US" dirty="0"/>
              <a:t>Solicitation Requirements for construction and repair MATOC – Harbor Construction</a:t>
            </a:r>
          </a:p>
        </p:txBody>
      </p:sp>
    </p:spTree>
    <p:extLst>
      <p:ext uri="{BB962C8B-B14F-4D97-AF65-F5344CB8AC3E}">
        <p14:creationId xmlns:p14="http://schemas.microsoft.com/office/powerpoint/2010/main" val="1383676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Two Phase (or Step) MATOC Process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103558"/>
            <a:ext cx="11497586" cy="5632311"/>
          </a:xfrm>
          <a:prstGeom prst="rect">
            <a:avLst/>
          </a:prstGeom>
          <a:noFill/>
        </p:spPr>
        <p:txBody>
          <a:bodyPr wrap="square" rtlCol="0">
            <a:spAutoFit/>
          </a:bodyPr>
          <a:lstStyle/>
          <a:p>
            <a:pPr marL="285750" indent="-285750">
              <a:buFont typeface="Arial" panose="020B0604020202020204" pitchFamily="34" charset="0"/>
              <a:buChar char="•"/>
            </a:pPr>
            <a:r>
              <a:rPr lang="es" dirty="0"/>
              <a:t>Any company which meets the requirements of the solicitation (see general information slide above) is eligible to submit a proposal in Phase 1</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technical board will evaluate Phase One proposals, and the Selecting Official will determine which companies are invited to participate in the Phase Two competition (anticipate the goal will be to invite 5 companies for Phase Two)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companies will be advised if they will or will not be included in Phase Two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Separate technical and pricing boards will evaluate Phase Two proposals, and the Selecting Official will select the companies which will receive contracts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evaluations and decisions will be reviewed by independent reviewers and/or committees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USACE intends to award without discussions, but may open discussions with any or all offerors during Phase One and/or Phase Two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Proposals with a deficiency will not be considered for award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Today’s presentation will be based on a Two Phase process</a:t>
            </a:r>
          </a:p>
        </p:txBody>
      </p:sp>
    </p:spTree>
    <p:extLst>
      <p:ext uri="{BB962C8B-B14F-4D97-AF65-F5344CB8AC3E}">
        <p14:creationId xmlns:p14="http://schemas.microsoft.com/office/powerpoint/2010/main" val="2340250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MATOC Process for individual requirements</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1408358"/>
            <a:ext cx="11497586" cy="4801314"/>
          </a:xfrm>
          <a:prstGeom prst="rect">
            <a:avLst/>
          </a:prstGeom>
          <a:noFill/>
        </p:spPr>
        <p:txBody>
          <a:bodyPr wrap="square" rtlCol="0">
            <a:spAutoFit/>
          </a:bodyPr>
          <a:lstStyle/>
          <a:p>
            <a:pPr marL="285750" indent="-285750">
              <a:buFont typeface="Arial" panose="020B0604020202020204" pitchFamily="34" charset="0"/>
              <a:buChar char="•"/>
            </a:pPr>
            <a:r>
              <a:rPr lang="en-US" dirty="0"/>
              <a:t>The selection process for the MATOC will result in both award of “basic contracts” to a pool of contractors, and award of the seed project to one member of that pool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Contractors receiving a “basic contract” award will be eligible to compete against other contractors in the pool for award of future projects (awarded as task orders) under the terms of the signed basic contract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companies holding a basic contract will be allowed to compete for these future requirements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Being awarded a basic contract does not guarantee the award of future work – it only enables participation in the competition for future work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task order Request for Proposal will provide instructions on what items are required for the competition, but they will generally include price and a technical/management discussion specific to that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USACE does not pay in advance, so the winning contractor for each project must be prepared to start actions and mobilize prior to their first payment – payments will only be made for work completed and verified by the USACE Contracting Officer’s Representative</a:t>
            </a:r>
          </a:p>
        </p:txBody>
      </p:sp>
    </p:spTree>
    <p:extLst>
      <p:ext uri="{BB962C8B-B14F-4D97-AF65-F5344CB8AC3E}">
        <p14:creationId xmlns:p14="http://schemas.microsoft.com/office/powerpoint/2010/main" val="114677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Section 00 11 00: phase (or step) one</a:t>
            </a:r>
          </a:p>
        </p:txBody>
      </p:sp>
      <p:sp>
        <p:nvSpPr>
          <p:cNvPr id="7" name="TextBox 6">
            <a:extLst>
              <a:ext uri="{FF2B5EF4-FFF2-40B4-BE49-F238E27FC236}">
                <a16:creationId xmlns:a16="http://schemas.microsoft.com/office/drawing/2014/main" id="{0F3381CF-0196-99D4-5826-3D2373CD4D56}"/>
              </a:ext>
            </a:extLst>
          </p:cNvPr>
          <p:cNvSpPr txBox="1"/>
          <p:nvPr/>
        </p:nvSpPr>
        <p:spPr>
          <a:xfrm>
            <a:off x="242294" y="944308"/>
            <a:ext cx="11949706" cy="590931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Factor 1 - Past Performance of Prime in Peru</a:t>
            </a:r>
          </a:p>
          <a:p>
            <a:pPr marL="285750" indent="-285750">
              <a:buFont typeface="Arial" panose="020B0604020202020204" pitchFamily="34" charset="0"/>
              <a:buChar char="•"/>
            </a:pPr>
            <a:r>
              <a:rPr lang="en-US" dirty="0">
                <a:solidFill>
                  <a:srgbClr val="FF0000"/>
                </a:solidFill>
              </a:rPr>
              <a:t>Factor 2 - Past Performance of Prime with Harbor Related Construction</a:t>
            </a:r>
          </a:p>
          <a:p>
            <a:pPr marL="285750" indent="-285750">
              <a:buFont typeface="Arial" panose="020B0604020202020204" pitchFamily="34" charset="0"/>
              <a:buChar char="•"/>
            </a:pPr>
            <a:r>
              <a:rPr lang="en-US" dirty="0">
                <a:solidFill>
                  <a:srgbClr val="FF0000"/>
                </a:solidFill>
              </a:rPr>
              <a:t>Factor 3 – Past Performance of the Lead Design Firm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order of importance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separate response is required for each factor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Two components for each factor:</a:t>
            </a:r>
          </a:p>
          <a:p>
            <a:pPr marL="742950" lvl="1" indent="-285750">
              <a:buFont typeface="Arial" panose="020B0604020202020204" pitchFamily="34" charset="0"/>
              <a:buChar char="•"/>
            </a:pPr>
            <a:r>
              <a:rPr lang="en-US" dirty="0"/>
              <a:t>Relevant Company Effort:</a:t>
            </a:r>
          </a:p>
          <a:p>
            <a:pPr marL="1200150" lvl="2" indent="-285750">
              <a:buFont typeface="Arial" panose="020B0604020202020204" pitchFamily="34" charset="0"/>
              <a:buChar char="•"/>
            </a:pPr>
            <a:r>
              <a:rPr lang="en-US" dirty="0"/>
              <a:t>Recent (as defined in solicitation)</a:t>
            </a:r>
          </a:p>
          <a:p>
            <a:pPr marL="1200150" lvl="2" indent="-285750">
              <a:buFont typeface="Arial" panose="020B0604020202020204" pitchFamily="34" charset="0"/>
              <a:buChar char="•"/>
            </a:pPr>
            <a:r>
              <a:rPr lang="en-US" dirty="0"/>
              <a:t>Relevant (as defined in solicitation)</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Quality of Past Performance</a:t>
            </a:r>
          </a:p>
          <a:p>
            <a:pPr marL="1200150" lvl="2" indent="-285750">
              <a:buFont typeface="Arial" panose="020B0604020202020204" pitchFamily="34" charset="0"/>
              <a:buChar char="•"/>
            </a:pPr>
            <a:r>
              <a:rPr lang="en-US" dirty="0"/>
              <a:t>Federal Gov’t Projects: CPARS (Interim or Final) when available; otherwise, use provided Past Performance Questionnaire (PPQ) format</a:t>
            </a:r>
          </a:p>
          <a:p>
            <a:pPr marL="1200150" lvl="2" indent="-285750">
              <a:buFont typeface="Arial" panose="020B0604020202020204" pitchFamily="34" charset="0"/>
              <a:buChar char="•"/>
            </a:pPr>
            <a:r>
              <a:rPr lang="en-US" dirty="0"/>
              <a:t>Other Projects:  only PPQs (Attachment in solicitation section)</a:t>
            </a:r>
          </a:p>
          <a:p>
            <a:pPr marL="285750" indent="-285750">
              <a:buFont typeface="Arial" panose="020B0604020202020204" pitchFamily="34" charset="0"/>
              <a:buChar char="•"/>
            </a:pPr>
            <a:endParaRPr lang="en-US" dirty="0"/>
          </a:p>
          <a:p>
            <a:pPr marL="1200150" lvl="2" indent="-285750">
              <a:buFont typeface="Arial" panose="020B0604020202020204" pitchFamily="34" charset="0"/>
              <a:buChar char="•"/>
            </a:pPr>
            <a:r>
              <a:rPr lang="en-US" dirty="0"/>
              <a:t>Maximum of 5 examples per factor (Attachment in solicitation section)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Past Performance of Offeror = Offeror’s name in SF1442 (form in solicitation) except as described in solicitation</a:t>
            </a:r>
          </a:p>
        </p:txBody>
      </p:sp>
    </p:spTree>
    <p:extLst>
      <p:ext uri="{BB962C8B-B14F-4D97-AF65-F5344CB8AC3E}">
        <p14:creationId xmlns:p14="http://schemas.microsoft.com/office/powerpoint/2010/main" val="3094503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Section 00 11 00: phase (or step) one</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452431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Factor 1 - Past Performance of Prime in Peru</a:t>
            </a:r>
          </a:p>
          <a:p>
            <a:pPr marL="285750" indent="-285750">
              <a:buFont typeface="Arial" panose="020B0604020202020204" pitchFamily="34" charset="0"/>
              <a:buChar char="•"/>
            </a:pPr>
            <a:r>
              <a:rPr lang="en-US" dirty="0">
                <a:solidFill>
                  <a:srgbClr val="FF0000"/>
                </a:solidFill>
              </a:rPr>
              <a:t>Factor 2 - Past Performance of Prime with Harbor Related Construction</a:t>
            </a:r>
          </a:p>
          <a:p>
            <a:pPr marL="285750" indent="-285750">
              <a:buFont typeface="Arial" panose="020B0604020202020204" pitchFamily="34" charset="0"/>
              <a:buChar char="•"/>
            </a:pPr>
            <a:r>
              <a:rPr lang="en-US" dirty="0">
                <a:solidFill>
                  <a:srgbClr val="FF0000"/>
                </a:solidFill>
              </a:rPr>
              <a:t>Factor 3 – Past Performance of the Lead Design Firm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Evaluation for each factor:</a:t>
            </a:r>
          </a:p>
          <a:p>
            <a:pPr marL="742950" lvl="1" indent="-285750">
              <a:buFont typeface="Arial" panose="020B0604020202020204" pitchFamily="34" charset="0"/>
              <a:buChar char="•"/>
            </a:pPr>
            <a:r>
              <a:rPr lang="en-US" dirty="0"/>
              <a:t>Step 1 - Determine if projects submitted are recent and relevant</a:t>
            </a:r>
          </a:p>
          <a:p>
            <a:pPr marL="742950" lvl="1" indent="-285750">
              <a:buFont typeface="Arial" panose="020B0604020202020204" pitchFamily="34" charset="0"/>
              <a:buChar char="•"/>
            </a:pPr>
            <a:r>
              <a:rPr lang="en-US" dirty="0"/>
              <a:t>Step 2 - Assign ratings to each project based on level of relevancy </a:t>
            </a:r>
          </a:p>
          <a:p>
            <a:pPr marL="742950" lvl="1" indent="-285750">
              <a:buFont typeface="Arial" panose="020B0604020202020204" pitchFamily="34" charset="0"/>
              <a:buChar char="•"/>
            </a:pPr>
            <a:r>
              <a:rPr lang="en-US" dirty="0"/>
              <a:t>Step 3 - Assess how well the Prime or Lead Design Firm performed on these projects</a:t>
            </a:r>
          </a:p>
          <a:p>
            <a:pPr marL="742950" lvl="1" indent="-285750">
              <a:buFont typeface="Arial" panose="020B0604020202020204" pitchFamily="34" charset="0"/>
              <a:buChar char="•"/>
            </a:pPr>
            <a:r>
              <a:rPr lang="en-US" dirty="0"/>
              <a:t>Step 4 - Determine overall Performance Confidence Assessment Rating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Performance Confidence Assessment Rating reflects the degree of probability the Offeror or Lead Design Firm will be able to meet the solicitation’s requirements.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Offerors’ proposals with little or no relevant past performance will be rated neutral confidence.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044238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Section 00 11 00: phase (or step) one</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480131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Factor 4 – Overall Management Approach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4</a:t>
            </a:r>
            <a:r>
              <a:rPr lang="en-US" baseline="30000" dirty="0"/>
              <a:t>th</a:t>
            </a:r>
            <a:r>
              <a:rPr lang="en-US" dirty="0"/>
              <a:t> in Relative Importance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Narrative to include information regarding:</a:t>
            </a:r>
          </a:p>
          <a:p>
            <a:pPr marL="742950" lvl="1" indent="-285750">
              <a:buFont typeface="Arial" panose="020B0604020202020204" pitchFamily="34" charset="0"/>
              <a:buChar char="•"/>
            </a:pPr>
            <a:r>
              <a:rPr lang="en-US" dirty="0"/>
              <a:t>Home office organizational structure</a:t>
            </a:r>
          </a:p>
          <a:p>
            <a:pPr marL="742950" lvl="1" indent="-285750">
              <a:buFont typeface="Arial" panose="020B0604020202020204" pitchFamily="34" charset="0"/>
              <a:buChar char="•"/>
            </a:pPr>
            <a:r>
              <a:rPr lang="en-US" dirty="0"/>
              <a:t>Type of work the Offeror intends to self-perform</a:t>
            </a:r>
          </a:p>
          <a:p>
            <a:pPr marL="742950" lvl="1" indent="-285750">
              <a:buFont typeface="Arial" panose="020B0604020202020204" pitchFamily="34" charset="0"/>
              <a:buChar char="•"/>
            </a:pPr>
            <a:r>
              <a:rPr lang="en-US" dirty="0"/>
              <a:t>Offeror’s business method for selecting and managing subcontractors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Evaluation:</a:t>
            </a:r>
          </a:p>
          <a:p>
            <a:pPr marL="742950" lvl="1" indent="-285750">
              <a:buFont typeface="Arial" panose="020B0604020202020204" pitchFamily="34" charset="0"/>
              <a:buChar char="•"/>
            </a:pPr>
            <a:r>
              <a:rPr lang="en-US" dirty="0"/>
              <a:t>Step 1 – Evaluate each aspect of the narrative to assess offeror’s understanding of the requirements</a:t>
            </a:r>
          </a:p>
          <a:p>
            <a:pPr marL="742950" lvl="1" indent="-285750">
              <a:buFont typeface="Arial" panose="020B0604020202020204" pitchFamily="34" charset="0"/>
              <a:buChar char="•"/>
            </a:pPr>
            <a:r>
              <a:rPr lang="en-US" dirty="0"/>
              <a:t>Step 2 - Determine strengths, weaknesses, and deficiencies</a:t>
            </a:r>
          </a:p>
          <a:p>
            <a:pPr marL="742950" lvl="1" indent="-285750">
              <a:buFont typeface="Arial" panose="020B0604020202020204" pitchFamily="34" charset="0"/>
              <a:buChar char="•"/>
            </a:pPr>
            <a:r>
              <a:rPr lang="en-US" dirty="0"/>
              <a:t>Step 3 – Assign an overall combined Technical/Risk Rating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Technical/Risk Rating reflects the degree to which the proposed approach meets or does not meet the minimum technical requirements.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0564330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Section 00 12 00: phase (or step) TWO</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909310"/>
          </a:xfrm>
          <a:prstGeom prst="rect">
            <a:avLst/>
          </a:prstGeom>
          <a:noFill/>
        </p:spPr>
        <p:txBody>
          <a:bodyPr wrap="square" rtlCol="0">
            <a:spAutoFit/>
          </a:bodyPr>
          <a:lstStyle/>
          <a:p>
            <a:pPr marL="285750" indent="-285750">
              <a:buFont typeface="Arial" panose="020B0604020202020204" pitchFamily="34" charset="0"/>
              <a:buChar char="•"/>
            </a:pPr>
            <a:r>
              <a:rPr lang="en-US" dirty="0"/>
              <a:t>Evaluation Process</a:t>
            </a:r>
          </a:p>
          <a:p>
            <a:pPr marL="742950" lvl="1" indent="-285750">
              <a:buFont typeface="Arial" panose="020B0604020202020204" pitchFamily="34" charset="0"/>
              <a:buChar char="•"/>
            </a:pPr>
            <a:r>
              <a:rPr lang="en-US" dirty="0"/>
              <a:t>Components:</a:t>
            </a:r>
          </a:p>
          <a:p>
            <a:pPr marL="1200150" lvl="2" indent="-285750">
              <a:buFont typeface="Arial" panose="020B0604020202020204" pitchFamily="34" charset="0"/>
              <a:buChar char="•"/>
            </a:pPr>
            <a:r>
              <a:rPr lang="en-US" dirty="0"/>
              <a:t>Proposal Compliance Review</a:t>
            </a:r>
          </a:p>
          <a:p>
            <a:pPr marL="1200150" lvl="2" indent="-285750">
              <a:buFont typeface="Arial" panose="020B0604020202020204" pitchFamily="34" charset="0"/>
              <a:buChar char="•"/>
            </a:pPr>
            <a:r>
              <a:rPr lang="en-US" dirty="0"/>
              <a:t>Phase Two Non-Price Factor Evaluation</a:t>
            </a:r>
          </a:p>
          <a:p>
            <a:pPr marL="1200150" lvl="2" indent="-285750">
              <a:buFont typeface="Arial" panose="020B0604020202020204" pitchFamily="34" charset="0"/>
              <a:buChar char="•"/>
            </a:pPr>
            <a:r>
              <a:rPr lang="en-US" dirty="0"/>
              <a:t>Price Analysis</a:t>
            </a:r>
          </a:p>
          <a:p>
            <a:pPr marL="1657350" lvl="3" indent="-285750">
              <a:buFont typeface="Arial" panose="020B0604020202020204" pitchFamily="34" charset="0"/>
              <a:buChar char="•"/>
            </a:pPr>
            <a:r>
              <a:rPr lang="en-US" dirty="0"/>
              <a:t>fair, reasonable, unbalancing of bids</a:t>
            </a:r>
          </a:p>
          <a:p>
            <a:pPr marL="1200150" lvl="2" indent="-285750">
              <a:buFont typeface="Arial" panose="020B0604020202020204" pitchFamily="34" charset="0"/>
              <a:buChar char="•"/>
            </a:pPr>
            <a:r>
              <a:rPr lang="en-US" dirty="0"/>
              <a:t>Non-Price/Price Trade-off Analysis</a:t>
            </a:r>
          </a:p>
          <a:p>
            <a:pPr marL="1657350" lvl="3" indent="-285750">
              <a:buFont typeface="Arial" panose="020B0604020202020204" pitchFamily="34" charset="0"/>
              <a:buChar char="•"/>
            </a:pPr>
            <a:r>
              <a:rPr lang="en-US" dirty="0"/>
              <a:t>based on relative advantages and disadvantages of proposals and prices</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Non-price factors are evaluated independently from price by a technical team</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Price is not rated but will be analyzed for fairness and reasonableness, and for appearance of unbalanced pricing by a separate team</a:t>
            </a:r>
          </a:p>
          <a:p>
            <a:pPr marL="1200150" lvl="2" indent="-285750">
              <a:buFont typeface="Arial" panose="020B0604020202020204" pitchFamily="34" charset="0"/>
              <a:buChar char="•"/>
            </a:pPr>
            <a:r>
              <a:rPr lang="en-US" dirty="0"/>
              <a:t>2 separate bid schedules will be required</a:t>
            </a:r>
          </a:p>
          <a:p>
            <a:pPr marL="1657350" lvl="3" indent="-285750">
              <a:buFont typeface="Arial" panose="020B0604020202020204" pitchFamily="34" charset="0"/>
              <a:buChar char="•"/>
            </a:pPr>
            <a:r>
              <a:rPr lang="en-US" dirty="0"/>
              <a:t>Contract rates (labor rates, mark-ups)</a:t>
            </a:r>
          </a:p>
          <a:p>
            <a:pPr marL="1657350" lvl="3" indent="-285750">
              <a:buFont typeface="Arial" panose="020B0604020202020204" pitchFamily="34" charset="0"/>
              <a:buChar char="•"/>
            </a:pPr>
            <a:r>
              <a:rPr lang="en-US" dirty="0"/>
              <a:t>Seed Project proposed pricing</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Award to be made to the proposal that offers the best value to the Government (combined factor ratings &amp;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81982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Section 00 12 00: phase (or step) TWO</a:t>
            </a:r>
          </a:p>
        </p:txBody>
      </p:sp>
      <p:sp>
        <p:nvSpPr>
          <p:cNvPr id="7" name="TextBox 6">
            <a:extLst>
              <a:ext uri="{FF2B5EF4-FFF2-40B4-BE49-F238E27FC236}">
                <a16:creationId xmlns:a16="http://schemas.microsoft.com/office/drawing/2014/main" id="{0F3381CF-0196-99D4-5826-3D2373CD4D56}"/>
              </a:ext>
            </a:extLst>
          </p:cNvPr>
          <p:cNvSpPr txBox="1"/>
          <p:nvPr/>
        </p:nvSpPr>
        <p:spPr>
          <a:xfrm>
            <a:off x="392980" y="961901"/>
            <a:ext cx="11497586" cy="609397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Factor 5 – Overall Technical Approach</a:t>
            </a:r>
          </a:p>
          <a:p>
            <a:pPr marL="742950" lvl="1" indent="-285750">
              <a:buFont typeface="Arial" panose="020B0604020202020204" pitchFamily="34" charset="0"/>
              <a:buChar char="•"/>
            </a:pPr>
            <a:r>
              <a:rPr lang="en-US" dirty="0"/>
              <a:t>1st in Relative Importance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Narrative to explain the Offeror’s capabilities to execute the project</a:t>
            </a:r>
          </a:p>
          <a:p>
            <a:pPr marL="1200150" lvl="2" indent="-285750">
              <a:buFont typeface="Arial" panose="020B0604020202020204" pitchFamily="34" charset="0"/>
              <a:buChar char="•"/>
            </a:pPr>
            <a:r>
              <a:rPr lang="en-US" sz="1600" dirty="0"/>
              <a:t>Project Approach</a:t>
            </a:r>
          </a:p>
          <a:p>
            <a:pPr marL="1200150" lvl="2" indent="-285750">
              <a:buFont typeface="Arial" panose="020B0604020202020204" pitchFamily="34" charset="0"/>
              <a:buChar char="•"/>
            </a:pPr>
            <a:r>
              <a:rPr lang="en-US" sz="1600" dirty="0"/>
              <a:t>Preliminary Schedule</a:t>
            </a:r>
          </a:p>
          <a:p>
            <a:pPr marL="1200150" lvl="2" indent="-285750">
              <a:buFont typeface="Arial" panose="020B0604020202020204" pitchFamily="34" charset="0"/>
              <a:buChar char="•"/>
            </a:pPr>
            <a:r>
              <a:rPr lang="en-US" sz="1600" dirty="0"/>
              <a:t>Project Self-Performance</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n-US" dirty="0">
                <a:solidFill>
                  <a:srgbClr val="FF0000"/>
                </a:solidFill>
              </a:rPr>
              <a:t>Factor 6 – Key Management Personnel Experience &amp; Qualifications</a:t>
            </a:r>
          </a:p>
          <a:p>
            <a:pPr marL="742950" lvl="1" indent="-285750">
              <a:buFont typeface="Arial" panose="020B0604020202020204" pitchFamily="34" charset="0"/>
              <a:buChar char="•"/>
            </a:pPr>
            <a:r>
              <a:rPr lang="en-US" dirty="0"/>
              <a:t>2nd in Relative Importance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Provide key construction and design personnel resumes with emphasis on projects in which the personnel have performed duties for their assigned role on this contract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Evaluation per factor:</a:t>
            </a:r>
          </a:p>
          <a:p>
            <a:pPr marL="742950" lvl="1" indent="-285750">
              <a:buFont typeface="Arial" panose="020B0604020202020204" pitchFamily="34" charset="0"/>
              <a:buChar char="•"/>
            </a:pPr>
            <a:r>
              <a:rPr lang="en-US" dirty="0"/>
              <a:t>Step 1 – Determine if proposal meets the solicitation requirements</a:t>
            </a:r>
          </a:p>
          <a:p>
            <a:pPr marL="742950" lvl="1" indent="-285750">
              <a:buFont typeface="Arial" panose="020B0604020202020204" pitchFamily="34" charset="0"/>
              <a:buChar char="•"/>
            </a:pPr>
            <a:r>
              <a:rPr lang="en-US" dirty="0"/>
              <a:t>Step 2 – Determine strengths, weaknesses and deficiencies</a:t>
            </a:r>
          </a:p>
          <a:p>
            <a:pPr marL="742950" lvl="1" indent="-285750">
              <a:buFont typeface="Arial" panose="020B0604020202020204" pitchFamily="34" charset="0"/>
              <a:buChar char="•"/>
            </a:pPr>
            <a:r>
              <a:rPr lang="en-US" dirty="0"/>
              <a:t>Step 3 – Assign an overall combined Technical/Risk Rating for each factor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Technical/Risk Ratings reflect the degree to which the offeror demonstrates the necessary capabilities and approach to effectively perform the project.</a:t>
            </a:r>
          </a:p>
          <a:p>
            <a:pPr lvl="1"/>
            <a:endParaRPr lang="en-US" dirty="0"/>
          </a:p>
        </p:txBody>
      </p:sp>
    </p:spTree>
    <p:extLst>
      <p:ext uri="{BB962C8B-B14F-4D97-AF65-F5344CB8AC3E}">
        <p14:creationId xmlns:p14="http://schemas.microsoft.com/office/powerpoint/2010/main" val="1398019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474-07F8-BAAD-7FDF-ADEC68940F73}"/>
              </a:ext>
            </a:extLst>
          </p:cNvPr>
          <p:cNvSpPr>
            <a:spLocks noGrp="1"/>
          </p:cNvSpPr>
          <p:nvPr>
            <p:ph type="title"/>
          </p:nvPr>
        </p:nvSpPr>
        <p:spPr/>
        <p:txBody>
          <a:bodyPr/>
          <a:lstStyle/>
          <a:p>
            <a:r>
              <a:rPr lang="en-US" dirty="0"/>
              <a:t>Industry Discussion and feedback</a:t>
            </a:r>
          </a:p>
        </p:txBody>
      </p:sp>
    </p:spTree>
    <p:extLst>
      <p:ext uri="{BB962C8B-B14F-4D97-AF65-F5344CB8AC3E}">
        <p14:creationId xmlns:p14="http://schemas.microsoft.com/office/powerpoint/2010/main" val="2546884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Discussion Topics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3139321"/>
          </a:xfrm>
          <a:prstGeom prst="rect">
            <a:avLst/>
          </a:prstGeom>
          <a:noFill/>
        </p:spPr>
        <p:txBody>
          <a:bodyPr wrap="square" rtlCol="0">
            <a:spAutoFit/>
          </a:bodyPr>
          <a:lstStyle/>
          <a:p>
            <a:pPr marL="285750" indent="-285750">
              <a:buFont typeface="Arial" panose="020B0604020202020204" pitchFamily="34" charset="0"/>
              <a:buChar char="•"/>
            </a:pPr>
            <a:r>
              <a:rPr lang="en-US" sz="2000" dirty="0"/>
              <a:t>Any potential concerns with including multiple types of projects under a single “task order” contract (dredging, breakwaters, piers, </a:t>
            </a:r>
            <a:r>
              <a:rPr lang="en-US" sz="2000" dirty="0" err="1"/>
              <a:t>etc</a:t>
            </a:r>
            <a:r>
              <a:rPr lang="en-US" sz="2000" dirty="0"/>
              <a:t>)</a:t>
            </a:r>
          </a:p>
          <a:p>
            <a:pPr marL="742950" lvl="1" indent="-285750">
              <a:buFont typeface="Arial" panose="020B0604020202020204" pitchFamily="34" charset="0"/>
              <a:buChar char="•"/>
            </a:pPr>
            <a:r>
              <a:rPr lang="en-US" sz="2000" dirty="0"/>
              <a:t>Capabilities</a:t>
            </a:r>
          </a:p>
          <a:p>
            <a:pPr marL="742950" lvl="1" indent="-285750">
              <a:buFont typeface="Arial" panose="020B0604020202020204" pitchFamily="34" charset="0"/>
              <a:buChar char="•"/>
            </a:pPr>
            <a:r>
              <a:rPr lang="en-US" sz="2000" dirty="0"/>
              <a:t>Need for teaming with other contractors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Experience or concerns with installation of wick drains and geotextiles if they were to be used in a project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Critical risk items for performance of harbor construction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3247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5F6237-9279-9F79-280C-27D9390E5F41}"/>
              </a:ext>
            </a:extLst>
          </p:cNvPr>
          <p:cNvSpPr>
            <a:spLocks noGrp="1"/>
          </p:cNvSpPr>
          <p:nvPr>
            <p:ph type="title"/>
          </p:nvPr>
        </p:nvSpPr>
        <p:spPr/>
        <p:txBody>
          <a:bodyPr/>
          <a:lstStyle/>
          <a:p>
            <a:r>
              <a:rPr lang="en-US" dirty="0"/>
              <a:t>Final Reminders</a:t>
            </a:r>
          </a:p>
        </p:txBody>
      </p:sp>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3323987"/>
          </a:xfrm>
          <a:prstGeom prst="rect">
            <a:avLst/>
          </a:prstGeom>
          <a:noFill/>
        </p:spPr>
        <p:txBody>
          <a:bodyPr wrap="square" rtlCol="0">
            <a:spAutoFit/>
          </a:bodyPr>
          <a:lstStyle/>
          <a:p>
            <a:pPr algn="ctr"/>
            <a:r>
              <a:rPr lang="en-US" sz="2400" dirty="0">
                <a:solidFill>
                  <a:srgbClr val="FF0000"/>
                </a:solidFill>
              </a:rPr>
              <a:t>Each solicitation discussed today will be posted individually.  Ensure your company is registered in all required systems as soon as possible.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Solicitations will be posted via the Procurement Integrated Enterprise Environment (PIEE) website</a:t>
            </a:r>
          </a:p>
          <a:p>
            <a:pPr marL="742950" lvl="1" indent="-285750">
              <a:buFont typeface="Arial" panose="020B0604020202020204" pitchFamily="34" charset="0"/>
              <a:buChar char="•"/>
            </a:pPr>
            <a:r>
              <a:rPr lang="en-US" dirty="0"/>
              <a:t>(</a:t>
            </a:r>
            <a:r>
              <a:rPr lang="en-US" dirty="0">
                <a:hlinkClick r:id="rId2"/>
              </a:rPr>
              <a:t>https://piee.eb.mil/xhtml/unauth/home/login.xhtml</a:t>
            </a:r>
            <a:r>
              <a:rPr lang="en-US" dirty="0"/>
              <a:t> -OR- </a:t>
            </a:r>
            <a:r>
              <a:rPr lang="en-US" dirty="0">
                <a:hlinkClick r:id="rId3"/>
              </a:rPr>
              <a:t>https://piee.eb.mil</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Instructions for offerors can be found in Section 00 11 00. </a:t>
            </a:r>
          </a:p>
          <a:p>
            <a:endParaRPr lang="en-US" dirty="0"/>
          </a:p>
          <a:p>
            <a:pPr marL="285750" indent="-285750">
              <a:buFont typeface="Arial" panose="020B0604020202020204" pitchFamily="34" charset="0"/>
              <a:buChar char="•"/>
            </a:pPr>
            <a:r>
              <a:rPr lang="en-US" dirty="0"/>
              <a:t>Submit Questions via Bidder Inquiry Portal in </a:t>
            </a:r>
            <a:r>
              <a:rPr lang="en-US" dirty="0" err="1"/>
              <a:t>ProjNet</a:t>
            </a:r>
            <a:r>
              <a:rPr lang="en-US" dirty="0"/>
              <a:t> at </a:t>
            </a:r>
            <a:r>
              <a:rPr lang="en-US" dirty="0">
                <a:hlinkClick r:id="rId4"/>
              </a:rPr>
              <a:t>https://www.ProjNet.org/</a:t>
            </a:r>
            <a:r>
              <a:rPr lang="en-US" dirty="0"/>
              <a:t>.  The “Bidder Key” required for submitting questions will be provided in the solicitation posting information.</a:t>
            </a:r>
          </a:p>
        </p:txBody>
      </p:sp>
    </p:spTree>
    <p:extLst>
      <p:ext uri="{BB962C8B-B14F-4D97-AF65-F5344CB8AC3E}">
        <p14:creationId xmlns:p14="http://schemas.microsoft.com/office/powerpoint/2010/main" val="1206691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3381CF-0196-99D4-5826-3D2373CD4D56}"/>
              </a:ext>
            </a:extLst>
          </p:cNvPr>
          <p:cNvSpPr txBox="1"/>
          <p:nvPr/>
        </p:nvSpPr>
        <p:spPr>
          <a:xfrm>
            <a:off x="413469" y="1296063"/>
            <a:ext cx="11497586" cy="5262979"/>
          </a:xfrm>
          <a:prstGeom prst="rect">
            <a:avLst/>
          </a:prstGeom>
          <a:noFill/>
        </p:spPr>
        <p:txBody>
          <a:bodyPr wrap="square" rtlCol="0">
            <a:spAutoFit/>
          </a:bodyPr>
          <a:lstStyle/>
          <a:p>
            <a:pPr algn="ctr"/>
            <a:r>
              <a:rPr lang="en-US" sz="6600" dirty="0"/>
              <a:t>QUESTIONS?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dirty="0">
                <a:solidFill>
                  <a:srgbClr val="FF0000"/>
                </a:solidFill>
              </a:rPr>
              <a:t>Answers provided during the Industry Day are not official.  </a:t>
            </a:r>
          </a:p>
          <a:p>
            <a:endParaRPr lang="en-US" dirty="0">
              <a:solidFill>
                <a:srgbClr val="FF0000"/>
              </a:solidFill>
            </a:endParaRPr>
          </a:p>
          <a:p>
            <a:r>
              <a:rPr lang="en-US" dirty="0">
                <a:solidFill>
                  <a:srgbClr val="FF0000"/>
                </a:solidFill>
              </a:rPr>
              <a:t>Once a solicitation has been issued, official answers will only be provided to questions submitted through the RFI process described in the solicitation.  Prior to issuance of a solicitation, you may contact the Contracting Officer:  Jillian </a:t>
            </a:r>
            <a:r>
              <a:rPr lang="en-US" dirty="0" err="1">
                <a:solidFill>
                  <a:srgbClr val="FF0000"/>
                </a:solidFill>
              </a:rPr>
              <a:t>Saffle</a:t>
            </a:r>
            <a:r>
              <a:rPr lang="en-US" dirty="0">
                <a:solidFill>
                  <a:srgbClr val="FF0000"/>
                </a:solidFill>
              </a:rPr>
              <a:t>, </a:t>
            </a:r>
            <a:r>
              <a:rPr lang="en-US" dirty="0">
                <a:solidFill>
                  <a:srgbClr val="FF0000"/>
                </a:solidFill>
                <a:hlinkClick r:id="rId2"/>
              </a:rPr>
              <a:t>jillian.e.saffle@usace.army.mil</a:t>
            </a:r>
            <a:r>
              <a:rPr lang="en-US" dirty="0">
                <a:solidFill>
                  <a:srgbClr val="FF0000"/>
                </a:solidFill>
              </a:rPr>
              <a:t>.</a:t>
            </a:r>
          </a:p>
        </p:txBody>
      </p:sp>
    </p:spTree>
    <p:extLst>
      <p:ext uri="{BB962C8B-B14F-4D97-AF65-F5344CB8AC3E}">
        <p14:creationId xmlns:p14="http://schemas.microsoft.com/office/powerpoint/2010/main" val="328353419"/>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83950328151094CA33F706D9AF20350" ma:contentTypeVersion="10" ma:contentTypeDescription="Create a new document." ma:contentTypeScope="" ma:versionID="34e41766aa5bf44cd419c2019a3acc0e">
  <xsd:schema xmlns:xsd="http://www.w3.org/2001/XMLSchema" xmlns:xs="http://www.w3.org/2001/XMLSchema" xmlns:p="http://schemas.microsoft.com/office/2006/metadata/properties" xmlns:ns1="http://schemas.microsoft.com/sharepoint/v3" xmlns:ns2="400d35d6-e1e4-4654-bdec-e4eff2b41bb7" xmlns:ns3="5b0e1fef-badf-40a7-8a01-28683385f1f2" targetNamespace="http://schemas.microsoft.com/office/2006/metadata/properties" ma:root="true" ma:fieldsID="0d7be03084341d07d137195da0e77767" ns1:_="" ns2:_="" ns3:_="">
    <xsd:import namespace="http://schemas.microsoft.com/sharepoint/v3"/>
    <xsd:import namespace="400d35d6-e1e4-4654-bdec-e4eff2b41bb7"/>
    <xsd:import namespace="5b0e1fef-badf-40a7-8a01-28683385f1f2"/>
    <xsd:element name="properties">
      <xsd:complexType>
        <xsd:sequence>
          <xsd:element name="documentManagement">
            <xsd:complexType>
              <xsd:all>
                <xsd:element ref="ns1:PublishingStartDate" minOccurs="0"/>
                <xsd:element ref="ns1:PublishingExpirationDate" minOccurs="0"/>
                <xsd:element ref="ns2:SharedWithUsers"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00d35d6-e1e4-4654-bdec-e4eff2b41bb7"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b0e1fef-badf-40a7-8a01-28683385f1f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90E533-F279-482B-B1DE-D3A9C667D1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00d35d6-e1e4-4654-bdec-e4eff2b41bb7"/>
    <ds:schemaRef ds:uri="5b0e1fef-badf-40a7-8a01-28683385f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8C2CD5-50C2-4A7C-996A-3D6312B83669}">
  <ds:schemaRefs>
    <ds:schemaRef ds:uri="http://schemas.microsoft.com/office/infopath/2007/PartnerControls"/>
    <ds:schemaRef ds:uri="http://purl.org/dc/terms/"/>
    <ds:schemaRef ds:uri="http://schemas.microsoft.com/sharepoint/v3"/>
    <ds:schemaRef ds:uri="http://schemas.openxmlformats.org/package/2006/metadata/core-properties"/>
    <ds:schemaRef ds:uri="http://schemas.microsoft.com/office/2006/documentManagement/types"/>
    <ds:schemaRef ds:uri="http://schemas.microsoft.com/office/2006/metadata/properties"/>
    <ds:schemaRef ds:uri="5b0e1fef-badf-40a7-8a01-28683385f1f2"/>
    <ds:schemaRef ds:uri="400d35d6-e1e4-4654-bdec-e4eff2b41bb7"/>
    <ds:schemaRef ds:uri="http://www.w3.org/XML/1998/namespace"/>
    <ds:schemaRef ds:uri="http://purl.org/dc/dcmitype/"/>
    <ds:schemaRef ds:uri="http://purl.org/dc/elements/1.1/"/>
  </ds:schemaRefs>
</ds:datastoreItem>
</file>

<file path=customXml/itemProps3.xml><?xml version="1.0" encoding="utf-8"?>
<ds:datastoreItem xmlns:ds="http://schemas.openxmlformats.org/officeDocument/2006/customXml" ds:itemID="{57CAE72E-856B-4DF4-A9F6-93C41667E9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29548</TotalTime>
  <Words>3114</Words>
  <Application>Microsoft Office PowerPoint</Application>
  <PresentationFormat>Widescreen</PresentationFormat>
  <Paragraphs>383</Paragraphs>
  <Slides>37</Slides>
  <Notes>0</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37</vt:i4>
      </vt:variant>
    </vt:vector>
  </HeadingPairs>
  <TitlesOfParts>
    <vt:vector size="50" baseType="lpstr">
      <vt:lpstr>Aptos</vt:lpstr>
      <vt:lpstr>Arial</vt:lpstr>
      <vt:lpstr>Calibri</vt:lpstr>
      <vt:lpstr>Helvetica</vt:lpstr>
      <vt:lpstr>Roboto</vt:lpstr>
      <vt:lpstr>Thaoma</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US Army Corps of Engineers’ construction opportunities in support of the Peruvian Navy at the Port of Callao</vt:lpstr>
      <vt:lpstr>Purpose of this Presentation</vt:lpstr>
      <vt:lpstr>Callao Port Terminal Master Plan</vt:lpstr>
      <vt:lpstr>PowerPoint Presentation</vt:lpstr>
      <vt:lpstr>Introducción de la MARINA Del Perú PLAN MAESTRO DE LA BASE NAVAL DEL CALLAO</vt:lpstr>
      <vt:lpstr>USACE Introduction</vt:lpstr>
      <vt:lpstr>General information</vt:lpstr>
      <vt:lpstr>To View and Compete</vt:lpstr>
      <vt:lpstr>General Information</vt:lpstr>
      <vt:lpstr>Bonding / insurance Requirements</vt:lpstr>
      <vt:lpstr>Miscellaneous item Requirements</vt:lpstr>
      <vt:lpstr>Tax on Certain Foreign Procurements</vt:lpstr>
      <vt:lpstr>FUTURE Requirements – BUILDINGS &amp; Infrastructure</vt:lpstr>
      <vt:lpstr>PowerPoint Presentation</vt:lpstr>
      <vt:lpstr>Planning and Design Shoreside Requirements</vt:lpstr>
      <vt:lpstr>Construction - Shoreside Requirements</vt:lpstr>
      <vt:lpstr>PowerPoint Presentation</vt:lpstr>
      <vt:lpstr>Current Requirements – HARBOR PROJECT</vt:lpstr>
      <vt:lpstr>PowerPoint Presentation</vt:lpstr>
      <vt:lpstr>Revetment and Boat Ramp Construction</vt:lpstr>
      <vt:lpstr>Single Phase (or Step) Stand-alone Solicitation Process</vt:lpstr>
      <vt:lpstr>PowerPoint Presentation</vt:lpstr>
      <vt:lpstr>PowerPoint Presentation</vt:lpstr>
      <vt:lpstr>PowerPoint Presentation</vt:lpstr>
      <vt:lpstr>Construction - Harbor Requirements</vt:lpstr>
      <vt:lpstr>Solicitation Requirements for construction and repair MATOC – Harbor Construction</vt:lpstr>
      <vt:lpstr>Two Phase (or Step) MATOC Process</vt:lpstr>
      <vt:lpstr>MATOC Process for individual requirements</vt:lpstr>
      <vt:lpstr>Section 00 11 00: phase (or step) one</vt:lpstr>
      <vt:lpstr>Section 00 11 00: phase (or step) one</vt:lpstr>
      <vt:lpstr>Section 00 11 00: phase (or step) one</vt:lpstr>
      <vt:lpstr>Section 00 12 00: phase (or step) TWO</vt:lpstr>
      <vt:lpstr>Section 00 12 00: phase (or step) TWO</vt:lpstr>
      <vt:lpstr>Industry Discussion and feedback</vt:lpstr>
      <vt:lpstr>Discussion Topics</vt:lpstr>
      <vt:lpstr>Final Reminders</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Julie Walton</cp:lastModifiedBy>
  <cp:revision>433</cp:revision>
  <dcterms:created xsi:type="dcterms:W3CDTF">2017-02-20T05:10:01Z</dcterms:created>
  <dcterms:modified xsi:type="dcterms:W3CDTF">2025-05-07T20:47:39Z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0x010100083950328151094CA33F706D9AF20350</vt:lpwstr>
  </property>
</Properties>
</file>