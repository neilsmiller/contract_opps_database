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4.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5.xml" ContentType="application/vnd.openxmlformats-officedocument.theme+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6.xml" ContentType="application/vnd.openxmlformats-officedocument.theme+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6" r:id="rId4"/>
    <p:sldMasterId id="2147484142" r:id="rId5"/>
    <p:sldMasterId id="2147484051" r:id="rId6"/>
    <p:sldMasterId id="2147484081" r:id="rId7"/>
    <p:sldMasterId id="2147484110" r:id="rId8"/>
    <p:sldMasterId id="2147484170" r:id="rId9"/>
    <p:sldMasterId id="2147483723" r:id="rId10"/>
  </p:sldMasterIdLst>
  <p:notesMasterIdLst>
    <p:notesMasterId r:id="rId31"/>
  </p:notesMasterIdLst>
  <p:handoutMasterIdLst>
    <p:handoutMasterId r:id="rId32"/>
  </p:handoutMasterIdLst>
  <p:sldIdLst>
    <p:sldId id="922" r:id="rId11"/>
    <p:sldId id="287" r:id="rId12"/>
    <p:sldId id="288" r:id="rId13"/>
    <p:sldId id="306" r:id="rId14"/>
    <p:sldId id="290" r:id="rId15"/>
    <p:sldId id="291" r:id="rId16"/>
    <p:sldId id="947" r:id="rId17"/>
    <p:sldId id="948" r:id="rId18"/>
    <p:sldId id="292" r:id="rId19"/>
    <p:sldId id="293" r:id="rId20"/>
    <p:sldId id="294" r:id="rId21"/>
    <p:sldId id="295" r:id="rId22"/>
    <p:sldId id="949" r:id="rId23"/>
    <p:sldId id="936" r:id="rId24"/>
    <p:sldId id="565" r:id="rId25"/>
    <p:sldId id="950" r:id="rId26"/>
    <p:sldId id="566" r:id="rId27"/>
    <p:sldId id="550" r:id="rId28"/>
    <p:sldId id="304" r:id="rId29"/>
    <p:sldId id="30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8B7E41-3D16-7842-7D1D-FC153C6317B6}" name="Slade, Keeley R CIV (USA)" initials="KS" userId="S::Keeley.R.Slade@usace.army.mil::064550cb-c846-4015-80e6-188a9524df04" providerId="AD"/>
  <p188:author id="{04770F71-B750-BB45-4048-39C1A278A7D9}" name="Cain, Jason L CIV USARMY CELRL (USA)" initials="CJLCUC(" userId="S::Jason.L.Cain@usace.army.mil::6966a32d-8fbf-4099-a094-71db26cd465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E4E4"/>
    <a:srgbClr val="4D4D4D"/>
    <a:srgbClr val="DEDEDE"/>
    <a:srgbClr val="A29A92"/>
    <a:srgbClr val="00863D"/>
    <a:srgbClr val="00B050"/>
    <a:srgbClr val="C8C8C8"/>
    <a:srgbClr val="FF6600"/>
    <a:srgbClr val="D9D9D9"/>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1" autoAdjust="0"/>
    <p:restoredTop sz="95052" autoAdjust="0"/>
  </p:normalViewPr>
  <p:slideViewPr>
    <p:cSldViewPr snapToGrid="0">
      <p:cViewPr varScale="1">
        <p:scale>
          <a:sx n="74" d="100"/>
          <a:sy n="74" d="100"/>
        </p:scale>
        <p:origin x="84" y="624"/>
      </p:cViewPr>
      <p:guideLst/>
    </p:cSldViewPr>
  </p:slideViewPr>
  <p:notesTextViewPr>
    <p:cViewPr>
      <p:scale>
        <a:sx n="1" d="1"/>
        <a:sy n="1" d="1"/>
      </p:scale>
      <p:origin x="0" y="0"/>
    </p:cViewPr>
  </p:notesTextViewPr>
  <p:notesViewPr>
    <p:cSldViewPr snapToGrid="0" showGuides="1">
      <p:cViewPr varScale="1">
        <p:scale>
          <a:sx n="98" d="100"/>
          <a:sy n="98" d="100"/>
        </p:scale>
        <p:origin x="3516"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handoutMaster" Target="handoutMasters/handoutMaster1.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theme" Target="theme/theme1.xml"/><Relationship Id="rId8" Type="http://schemas.openxmlformats.org/officeDocument/2006/relationships/slideMaster" Target="slideMasters/slideMaster5.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CF3383-DF08-4C90-8557-22EF3027DD43}" type="datetimeFigureOut">
              <a:rPr lang="en-US" smtClean="0"/>
              <a:t>4/22/2025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79305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D16557-6E8E-4D95-8DF3-2DE1590C714A}" type="datetimeFigureOut">
              <a:rPr lang="en-US" smtClean="0"/>
              <a:t>4/22/2025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A86D8-1D95-4DFF-A26B-8F86AC3AC58E}" type="slidenum">
              <a:rPr lang="en-US" smtClean="0"/>
              <a:t>‹#›</a:t>
            </a:fld>
            <a:endParaRPr lang="en-US"/>
          </a:p>
        </p:txBody>
      </p:sp>
    </p:spTree>
    <p:extLst>
      <p:ext uri="{BB962C8B-B14F-4D97-AF65-F5344CB8AC3E}">
        <p14:creationId xmlns:p14="http://schemas.microsoft.com/office/powerpoint/2010/main" val="1538130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1</a:t>
            </a:fld>
            <a:endParaRPr lang="en-US"/>
          </a:p>
        </p:txBody>
      </p:sp>
    </p:spTree>
    <p:extLst>
      <p:ext uri="{BB962C8B-B14F-4D97-AF65-F5344CB8AC3E}">
        <p14:creationId xmlns:p14="http://schemas.microsoft.com/office/powerpoint/2010/main" val="2348904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2</a:t>
            </a:fld>
            <a:endParaRPr lang="en-US"/>
          </a:p>
        </p:txBody>
      </p:sp>
    </p:spTree>
    <p:extLst>
      <p:ext uri="{BB962C8B-B14F-4D97-AF65-F5344CB8AC3E}">
        <p14:creationId xmlns:p14="http://schemas.microsoft.com/office/powerpoint/2010/main" val="1299983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3</a:t>
            </a:fld>
            <a:endParaRPr lang="en-US"/>
          </a:p>
        </p:txBody>
      </p:sp>
    </p:spTree>
    <p:extLst>
      <p:ext uri="{BB962C8B-B14F-4D97-AF65-F5344CB8AC3E}">
        <p14:creationId xmlns:p14="http://schemas.microsoft.com/office/powerpoint/2010/main" val="42526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5</a:t>
            </a:fld>
            <a:endParaRPr lang="en-US"/>
          </a:p>
        </p:txBody>
      </p:sp>
    </p:spTree>
    <p:extLst>
      <p:ext uri="{BB962C8B-B14F-4D97-AF65-F5344CB8AC3E}">
        <p14:creationId xmlns:p14="http://schemas.microsoft.com/office/powerpoint/2010/main" val="1046083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6</a:t>
            </a:fld>
            <a:endParaRPr lang="en-US"/>
          </a:p>
        </p:txBody>
      </p:sp>
    </p:spTree>
    <p:extLst>
      <p:ext uri="{BB962C8B-B14F-4D97-AF65-F5344CB8AC3E}">
        <p14:creationId xmlns:p14="http://schemas.microsoft.com/office/powerpoint/2010/main" val="3301319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7</a:t>
            </a:fld>
            <a:endParaRPr lang="en-US"/>
          </a:p>
        </p:txBody>
      </p:sp>
    </p:spTree>
    <p:extLst>
      <p:ext uri="{BB962C8B-B14F-4D97-AF65-F5344CB8AC3E}">
        <p14:creationId xmlns:p14="http://schemas.microsoft.com/office/powerpoint/2010/main" val="27994836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8</a:t>
            </a:fld>
            <a:endParaRPr lang="en-US"/>
          </a:p>
        </p:txBody>
      </p:sp>
    </p:spTree>
    <p:extLst>
      <p:ext uri="{BB962C8B-B14F-4D97-AF65-F5344CB8AC3E}">
        <p14:creationId xmlns:p14="http://schemas.microsoft.com/office/powerpoint/2010/main" val="13993167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9</a:t>
            </a:fld>
            <a:endParaRPr lang="en-US"/>
          </a:p>
        </p:txBody>
      </p:sp>
    </p:spTree>
    <p:extLst>
      <p:ext uri="{BB962C8B-B14F-4D97-AF65-F5344CB8AC3E}">
        <p14:creationId xmlns:p14="http://schemas.microsoft.com/office/powerpoint/2010/main" val="1153361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10</a:t>
            </a:fld>
            <a:endParaRPr lang="en-US"/>
          </a:p>
        </p:txBody>
      </p:sp>
    </p:spTree>
    <p:extLst>
      <p:ext uri="{BB962C8B-B14F-4D97-AF65-F5344CB8AC3E}">
        <p14:creationId xmlns:p14="http://schemas.microsoft.com/office/powerpoint/2010/main" val="1214725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11</a:t>
            </a:fld>
            <a:endParaRPr lang="en-US"/>
          </a:p>
        </p:txBody>
      </p:sp>
    </p:spTree>
    <p:extLst>
      <p:ext uri="{BB962C8B-B14F-4D97-AF65-F5344CB8AC3E}">
        <p14:creationId xmlns:p14="http://schemas.microsoft.com/office/powerpoint/2010/main" val="2921836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20</a:t>
            </a:fld>
            <a:endParaRPr lang="en-US"/>
          </a:p>
        </p:txBody>
      </p:sp>
    </p:spTree>
    <p:extLst>
      <p:ext uri="{BB962C8B-B14F-4D97-AF65-F5344CB8AC3E}">
        <p14:creationId xmlns:p14="http://schemas.microsoft.com/office/powerpoint/2010/main" val="1969089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9711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562901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4279953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392458453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7572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6741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7468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3750384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191691140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501760378"/>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80287266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73658870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55241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84334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5126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1993319496"/>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783085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92656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5294033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852394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3780271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65720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27407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4431359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999428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422949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973824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70837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5520966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072625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2103966943"/>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7178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6264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65561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6498186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97790407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69322727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51635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81979367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3843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6461439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761594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556249665"/>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7373409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24976461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20197952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7722061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6972804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107278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187335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599311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839277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5781678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4803060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956591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AEDBE4B2-ED26-DF20-EB88-9102132A1C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49469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74074E2E-ED81-F3EC-B678-0FDCBC6420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31797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
        <p:nvSpPr>
          <p:cNvPr id="5" name="Title 4">
            <a:extLst>
              <a:ext uri="{FF2B5EF4-FFF2-40B4-BE49-F238E27FC236}">
                <a16:creationId xmlns:a16="http://schemas.microsoft.com/office/drawing/2014/main" id="{AB808ED8-8426-A0C0-9763-B7D4C153D1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40544361"/>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62C6ABDE-E95A-0F3C-098E-3AB6CD8A71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78199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DFDE0C51-EABF-8EEF-D372-6195FADF38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7024721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1FA45842-A577-D012-E0A0-40AA7BE0D2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88892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B93C48AD-9F55-0046-00A1-CC510D30C60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42748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
        <p:nvSpPr>
          <p:cNvPr id="5" name="Title 4">
            <a:extLst>
              <a:ext uri="{FF2B5EF4-FFF2-40B4-BE49-F238E27FC236}">
                <a16:creationId xmlns:a16="http://schemas.microsoft.com/office/drawing/2014/main" id="{44FB5578-DA9B-BD0B-5613-AEFB9E68B6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9802577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
        <p:nvSpPr>
          <p:cNvPr id="7" name="Title 6">
            <a:extLst>
              <a:ext uri="{FF2B5EF4-FFF2-40B4-BE49-F238E27FC236}">
                <a16:creationId xmlns:a16="http://schemas.microsoft.com/office/drawing/2014/main" id="{929DC40A-BB92-C526-3CD0-189C3429C4D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3898774"/>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481C1557-2F36-FF70-9AEB-DF21DD5067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1852820"/>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F2E409FF-5585-8E4A-14AA-59DBC4EAF9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688008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B02F4169-3E26-AB53-54FC-47BE477B90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6277569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11051466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DACA2C3D-12FE-63E8-E6E7-2094824214F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914652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290452761"/>
      </p:ext>
    </p:extLst>
  </p:cSld>
  <p:clrMapOvr>
    <a:masterClrMapping/>
  </p:clrMapOvr>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4719099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7981640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420945057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388322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57199595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15168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97445919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5186247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7105447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799151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974162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Short Title and Content - 3 Colum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942976"/>
            <a:ext cx="11176000" cy="5000624"/>
          </a:xfrm>
          <a:prstGeom prst="rect">
            <a:avLst/>
          </a:prstGeom>
          <a:noFill/>
          <a:ln w="9525">
            <a:noFill/>
            <a:miter lim="800000"/>
            <a:headEnd/>
            <a:tailEnd/>
          </a:ln>
        </p:spPr>
        <p:txBody>
          <a:bodyPr numCol="3"/>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tint val="75000"/>
                  </a:srgbClr>
                </a:solidFill>
                <a:effectLst/>
                <a:uLnTx/>
                <a:uFillTx/>
                <a:latin typeface="Arial"/>
                <a:ea typeface="+mn-ea"/>
                <a:cs typeface="+mn-cs"/>
              </a:rPr>
              <a:t>File Name</a:t>
            </a:r>
          </a:p>
        </p:txBody>
      </p:sp>
      <p:sp>
        <p:nvSpPr>
          <p:cNvPr id="5" name="Slide Number Placeholder 5"/>
          <p:cNvSpPr>
            <a:spLocks noGrp="1"/>
          </p:cNvSpPr>
          <p:nvPr>
            <p:ph type="sldNum"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A257827-C34C-4251-B995-96C9C233CCC8}" type="slidenum">
              <a:rPr kumimoji="0" lang="en-US" sz="1800" b="0" i="0" u="none" strike="noStrike" kern="1200" cap="none" spc="0" normalizeH="0" baseline="0" noProof="0">
                <a:ln>
                  <a:noFill/>
                </a:ln>
                <a:solidFill>
                  <a:srgbClr val="221F2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221F20"/>
              </a:solidFill>
              <a:effectLst/>
              <a:uLnTx/>
              <a:uFillTx/>
              <a:latin typeface="Arial"/>
              <a:ea typeface="+mn-ea"/>
              <a:cs typeface="+mn-cs"/>
            </a:endParaRPr>
          </a:p>
        </p:txBody>
      </p:sp>
    </p:spTree>
    <p:extLst>
      <p:ext uri="{BB962C8B-B14F-4D97-AF65-F5344CB8AC3E}">
        <p14:creationId xmlns:p14="http://schemas.microsoft.com/office/powerpoint/2010/main" val="35760128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3B3BB445-F4B7-CADC-0D0E-2F77E6D29A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6034605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3F0C188E-247B-9C3F-A9A1-C83CFE759A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3782153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7202369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dirty="0"/>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683895260"/>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343208891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0D83DA01-DEF9-54DE-5B29-4ACD3FE63AA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248608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7C0718C4-6A68-5C9A-D51B-6E4A148DA30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768353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D7BCB16E-0E8E-5157-7B5A-C68F6A9B78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103598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886297771"/>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78765859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94306714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31934036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C36767D0-41E3-FB81-AF9C-B23748A500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6662924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90209499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906D055C-0506-0861-DE5F-4C6932D6751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324322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
        <p:nvSpPr>
          <p:cNvPr id="3" name="TextBox 2">
            <a:extLst>
              <a:ext uri="{FF2B5EF4-FFF2-40B4-BE49-F238E27FC236}">
                <a16:creationId xmlns:a16="http://schemas.microsoft.com/office/drawing/2014/main" id="{C369F6EA-5BBB-736F-8B43-C8414A1A7110}"/>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A49041E3-ECCE-7D4E-3D0F-271435F717AB}"/>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118713353"/>
      </p:ext>
    </p:extLst>
  </p:cSld>
  <p:clrMapOvr>
    <a:masterClrMapping/>
  </p:clrMapOvr>
  <p:hf hdr="0" dt="0"/>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bg2">
                    <a:lumMod val="50000"/>
                  </a:schemeClr>
                </a:solidFill>
              </a:rPr>
              <a:pPr algn="r">
                <a:spcBef>
                  <a:spcPct val="50000"/>
                </a:spcBef>
                <a:defRPr/>
              </a:pPr>
              <a:t>‹#›</a:t>
            </a:fld>
            <a:endParaRPr lang="en-US" sz="1100" b="0" baseline="0" dirty="0">
              <a:solidFill>
                <a:schemeClr val="bg2">
                  <a:lumMod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
        <p:nvSpPr>
          <p:cNvPr id="3" name="TextBox 2">
            <a:extLst>
              <a:ext uri="{FF2B5EF4-FFF2-40B4-BE49-F238E27FC236}">
                <a16:creationId xmlns:a16="http://schemas.microsoft.com/office/drawing/2014/main" id="{D9F0C27E-08F8-B2DC-3FBC-DBF8758A6EB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1BF6447-1438-9DC9-A4D0-DA7BD956CC6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80601818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
        <p:nvSpPr>
          <p:cNvPr id="3" name="TextBox 2">
            <a:extLst>
              <a:ext uri="{FF2B5EF4-FFF2-40B4-BE49-F238E27FC236}">
                <a16:creationId xmlns:a16="http://schemas.microsoft.com/office/drawing/2014/main" id="{36CCC378-15A8-6972-3896-FF69DB1A86EF}"/>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B4753ADC-3CDC-8585-1B64-FC71910FE39F}"/>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26643433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
        <p:nvSpPr>
          <p:cNvPr id="3" name="TextBox 2">
            <a:extLst>
              <a:ext uri="{FF2B5EF4-FFF2-40B4-BE49-F238E27FC236}">
                <a16:creationId xmlns:a16="http://schemas.microsoft.com/office/drawing/2014/main" id="{2BA9C1D8-06A5-3CF2-8FFF-D157FCBDA838}"/>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27DC6927-6328-54A3-652D-C2A424EB7FFA}"/>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3852469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4" name="TextBox 3">
            <a:extLst>
              <a:ext uri="{FF2B5EF4-FFF2-40B4-BE49-F238E27FC236}">
                <a16:creationId xmlns:a16="http://schemas.microsoft.com/office/drawing/2014/main" id="{630BD048-B218-74A4-3C87-05F3F4A8C07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3DB49293-9868-09DD-39EF-161AEFC6379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18358085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2" name="TextBox 1">
            <a:extLst>
              <a:ext uri="{FF2B5EF4-FFF2-40B4-BE49-F238E27FC236}">
                <a16:creationId xmlns:a16="http://schemas.microsoft.com/office/drawing/2014/main" id="{C4E397FB-1BD3-B604-0055-B801B36980F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F89B0BD2-2241-1984-EDA5-DF47FC1C5535}"/>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89772597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TextBox 6">
            <a:extLst>
              <a:ext uri="{FF2B5EF4-FFF2-40B4-BE49-F238E27FC236}">
                <a16:creationId xmlns:a16="http://schemas.microsoft.com/office/drawing/2014/main" id="{6B1A8707-5D07-168E-A660-71E24684D34A}"/>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226D763A-45F5-16E1-3837-E3A03BFB0CE1}"/>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414510271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69DD5BFE-D25D-8741-ADAE-C79A9ECF903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2118CA89-9EB2-83A5-C690-ED0F196E89C9}"/>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 Placeholder 3">
            <a:extLst>
              <a:ext uri="{FF2B5EF4-FFF2-40B4-BE49-F238E27FC236}">
                <a16:creationId xmlns:a16="http://schemas.microsoft.com/office/drawing/2014/main" id="{DF92E724-FB8E-DBF9-9C01-321A41DCF83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5087945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D65A919C-BB57-C85E-D512-91C2F36D8E3C}"/>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9F43E06D-00DD-5633-AC95-2BB934291B1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178FC1A7-865F-04A4-DEDA-753B0AAD0B77}"/>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44205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6601B32B-620F-5F12-C780-5B24254CA8D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4C974F1-8C7E-A3AA-CFB8-4D1931322188}"/>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4F1F7A21-0DBA-C465-E0AA-72DD009C817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104130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DC078E2E-5692-69A7-3932-C9B95BFB1455}"/>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Box 6">
            <a:extLst>
              <a:ext uri="{FF2B5EF4-FFF2-40B4-BE49-F238E27FC236}">
                <a16:creationId xmlns:a16="http://schemas.microsoft.com/office/drawing/2014/main" id="{34ACF833-FF07-52A0-1A00-9B26C0517ACC}"/>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 Placeholder 3">
            <a:extLst>
              <a:ext uri="{FF2B5EF4-FFF2-40B4-BE49-F238E27FC236}">
                <a16:creationId xmlns:a16="http://schemas.microsoft.com/office/drawing/2014/main" id="{150C02F4-0DF1-F443-5C88-4EA1D8A61E60}"/>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570294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5" name="TextBox 4">
            <a:extLst>
              <a:ext uri="{FF2B5EF4-FFF2-40B4-BE49-F238E27FC236}">
                <a16:creationId xmlns:a16="http://schemas.microsoft.com/office/drawing/2014/main" id="{F607A8A6-FDF1-80E7-F46D-BC408816EE42}"/>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E4982A8D-99E5-0832-4DAF-99DAD01113E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9" name="Text Placeholder 3">
            <a:extLst>
              <a:ext uri="{FF2B5EF4-FFF2-40B4-BE49-F238E27FC236}">
                <a16:creationId xmlns:a16="http://schemas.microsoft.com/office/drawing/2014/main" id="{F679BBB8-117C-A6C5-51B9-0962CFEA68C3}"/>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36804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093E-F997-9C1A-6F41-94195AEDC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6622E9-B548-9861-17FE-B80B6A60E3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52F3AF-A319-231F-545F-18799EF83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B70C4-3999-81B3-9B74-C670362B9650}"/>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5EF19D12-2F54-317E-96F3-9AAA761DFA0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0402505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3675707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36817793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150843740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439278527"/>
      </p:ext>
    </p:extLst>
  </p:cSld>
  <p:clrMapOvr>
    <a:masterClrMapping/>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299873838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Tree>
    <p:extLst>
      <p:ext uri="{BB962C8B-B14F-4D97-AF65-F5344CB8AC3E}">
        <p14:creationId xmlns:p14="http://schemas.microsoft.com/office/powerpoint/2010/main" val="52411938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33171661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62468487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02421255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1978226686"/>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04953975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387711022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31499288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58753715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164315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097512708"/>
      </p:ext>
    </p:extLst>
  </p:cSld>
  <p:clrMapOvr>
    <a:masterClrMapping/>
  </p:clrMapOvr>
  <p:hf hdr="0" dt="0"/>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67920520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365763881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352995160"/>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590112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17509264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0425440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0026797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5316082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57210536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12185524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4531100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28701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76890965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347316825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433027956"/>
      </p:ext>
    </p:extLst>
  </p:cSld>
  <p:clrMapOvr>
    <a:masterClrMapping/>
  </p:clrMapOvr>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401107571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Tree>
    <p:extLst>
      <p:ext uri="{BB962C8B-B14F-4D97-AF65-F5344CB8AC3E}">
        <p14:creationId xmlns:p14="http://schemas.microsoft.com/office/powerpoint/2010/main" val="3840043144"/>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97479366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8507183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643622679"/>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113828859"/>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347343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77931852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080901948"/>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4069610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0394575"/>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88037867"/>
      </p:ext>
    </p:extLst>
  </p:cSld>
  <p:clrMapOvr>
    <a:masterClrMapping/>
  </p:clrMapOvr>
  <p:hf hdr="0" dt="0"/>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59704092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11761343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31414139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0692560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450727101"/>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11203052"/>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6776657"/>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815689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8298502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9640608"/>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0128976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hart Color Layout">
    <p:spTree>
      <p:nvGrpSpPr>
        <p:cNvPr id="1" name=""/>
        <p:cNvGrpSpPr/>
        <p:nvPr/>
      </p:nvGrpSpPr>
      <p:grpSpPr>
        <a:xfrm>
          <a:off x="0" y="0"/>
          <a:ext cx="0" cy="0"/>
          <a:chOff x="0" y="0"/>
          <a:chExt cx="0" cy="0"/>
        </a:xfrm>
      </p:grpSpPr>
      <p:sp>
        <p:nvSpPr>
          <p:cNvPr id="10" name="Chart Placeholder 9"/>
          <p:cNvSpPr>
            <a:spLocks noGrp="1"/>
          </p:cNvSpPr>
          <p:nvPr>
            <p:ph type="chart" sz="quarter" idx="12"/>
          </p:nvPr>
        </p:nvSpPr>
        <p:spPr>
          <a:xfrm>
            <a:off x="266700" y="1028700"/>
            <a:ext cx="11658599" cy="5600700"/>
          </a:xfrm>
        </p:spPr>
        <p:txBody>
          <a:bodyPr/>
          <a:lstStyle/>
          <a:p>
            <a:endParaRPr lang="en-US" dirty="0"/>
          </a:p>
        </p:txBody>
      </p:sp>
      <p:sp>
        <p:nvSpPr>
          <p:cNvPr id="3" name="Date Placeholder 2">
            <a:extLst>
              <a:ext uri="{FF2B5EF4-FFF2-40B4-BE49-F238E27FC236}">
                <a16:creationId xmlns:a16="http://schemas.microsoft.com/office/drawing/2014/main" id="{A3619AFA-4A38-490D-A5F0-BADCBB95D733}"/>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64AB4267-87B5-4161-84B6-F192661295C3}"/>
              </a:ext>
            </a:extLst>
          </p:cNvPr>
          <p:cNvSpPr>
            <a:spLocks noGrp="1"/>
          </p:cNvSpPr>
          <p:nvPr>
            <p:ph type="ftr" sz="quarter" idx="14"/>
          </p:nvPr>
        </p:nvSpPr>
        <p:spPr/>
        <p:txBody>
          <a:bodyPr/>
          <a:lstStyle/>
          <a:p>
            <a:endParaRPr lang="en-US" dirty="0"/>
          </a:p>
        </p:txBody>
      </p:sp>
      <p:sp>
        <p:nvSpPr>
          <p:cNvPr id="6" name="Title 5">
            <a:extLst>
              <a:ext uri="{FF2B5EF4-FFF2-40B4-BE49-F238E27FC236}">
                <a16:creationId xmlns:a16="http://schemas.microsoft.com/office/drawing/2014/main" id="{1FDFC77C-D990-FC23-7F32-24231C7AF06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4115466"/>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Reference ONLY">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510689-FF1B-863B-E08A-0D6B1DD615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4316" y="10952"/>
            <a:ext cx="10286134" cy="6847048"/>
          </a:xfrm>
          <a:prstGeom prst="rect">
            <a:avLst/>
          </a:prstGeom>
        </p:spPr>
      </p:pic>
    </p:spTree>
    <p:extLst>
      <p:ext uri="{BB962C8B-B14F-4D97-AF65-F5344CB8AC3E}">
        <p14:creationId xmlns:p14="http://schemas.microsoft.com/office/powerpoint/2010/main" val="3981107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image" Target="../media/image1.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theme" Target="../theme/theme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29" Type="http://schemas.openxmlformats.org/officeDocument/2006/relationships/theme" Target="../theme/theme3.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32" Type="http://schemas.openxmlformats.org/officeDocument/2006/relationships/image" Target="../media/image5.png"/><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slideLayout" Target="../slideLayouts/slideLayout82.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image" Target="../media/image2.png"/><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slideLayout" Target="../slideLayouts/slideLayout95.xml"/><Relationship Id="rId18" Type="http://schemas.openxmlformats.org/officeDocument/2006/relationships/slideLayout" Target="../slideLayouts/slideLayout100.xml"/><Relationship Id="rId26" Type="http://schemas.openxmlformats.org/officeDocument/2006/relationships/slideLayout" Target="../slideLayouts/slideLayout108.xml"/><Relationship Id="rId3" Type="http://schemas.openxmlformats.org/officeDocument/2006/relationships/slideLayout" Target="../slideLayouts/slideLayout85.xml"/><Relationship Id="rId21" Type="http://schemas.openxmlformats.org/officeDocument/2006/relationships/slideLayout" Target="../slideLayouts/slideLayout103.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17" Type="http://schemas.openxmlformats.org/officeDocument/2006/relationships/slideLayout" Target="../slideLayouts/slideLayout99.xml"/><Relationship Id="rId25" Type="http://schemas.openxmlformats.org/officeDocument/2006/relationships/slideLayout" Target="../slideLayouts/slideLayout107.xml"/><Relationship Id="rId2" Type="http://schemas.openxmlformats.org/officeDocument/2006/relationships/slideLayout" Target="../slideLayouts/slideLayout84.xml"/><Relationship Id="rId16" Type="http://schemas.openxmlformats.org/officeDocument/2006/relationships/slideLayout" Target="../slideLayouts/slideLayout98.xml"/><Relationship Id="rId20" Type="http://schemas.openxmlformats.org/officeDocument/2006/relationships/slideLayout" Target="../slideLayouts/slideLayout102.xml"/><Relationship Id="rId29" Type="http://schemas.openxmlformats.org/officeDocument/2006/relationships/theme" Target="../theme/theme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24" Type="http://schemas.openxmlformats.org/officeDocument/2006/relationships/slideLayout" Target="../slideLayouts/slideLayout106.xml"/><Relationship Id="rId5" Type="http://schemas.openxmlformats.org/officeDocument/2006/relationships/slideLayout" Target="../slideLayouts/slideLayout87.xml"/><Relationship Id="rId15" Type="http://schemas.openxmlformats.org/officeDocument/2006/relationships/slideLayout" Target="../slideLayouts/slideLayout97.xml"/><Relationship Id="rId23" Type="http://schemas.openxmlformats.org/officeDocument/2006/relationships/slideLayout" Target="../slideLayouts/slideLayout105.xml"/><Relationship Id="rId28" Type="http://schemas.openxmlformats.org/officeDocument/2006/relationships/slideLayout" Target="../slideLayouts/slideLayout110.xml"/><Relationship Id="rId10" Type="http://schemas.openxmlformats.org/officeDocument/2006/relationships/slideLayout" Target="../slideLayouts/slideLayout92.xml"/><Relationship Id="rId19" Type="http://schemas.openxmlformats.org/officeDocument/2006/relationships/slideLayout" Target="../slideLayouts/slideLayout101.xml"/><Relationship Id="rId31" Type="http://schemas.openxmlformats.org/officeDocument/2006/relationships/image" Target="../media/image5.png"/><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 Id="rId22" Type="http://schemas.openxmlformats.org/officeDocument/2006/relationships/slideLayout" Target="../slideLayouts/slideLayout104.xml"/><Relationship Id="rId27" Type="http://schemas.openxmlformats.org/officeDocument/2006/relationships/slideLayout" Target="../slideLayouts/slideLayout109.xml"/><Relationship Id="rId30"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slideLayout" Target="../slideLayouts/slideLayout123.xml"/><Relationship Id="rId18" Type="http://schemas.openxmlformats.org/officeDocument/2006/relationships/slideLayout" Target="../slideLayouts/slideLayout128.xml"/><Relationship Id="rId26" Type="http://schemas.openxmlformats.org/officeDocument/2006/relationships/slideLayout" Target="../slideLayouts/slideLayout136.xml"/><Relationship Id="rId3" Type="http://schemas.openxmlformats.org/officeDocument/2006/relationships/slideLayout" Target="../slideLayouts/slideLayout113.xml"/><Relationship Id="rId21" Type="http://schemas.openxmlformats.org/officeDocument/2006/relationships/slideLayout" Target="../slideLayouts/slideLayout131.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17" Type="http://schemas.openxmlformats.org/officeDocument/2006/relationships/slideLayout" Target="../slideLayouts/slideLayout127.xml"/><Relationship Id="rId25" Type="http://schemas.openxmlformats.org/officeDocument/2006/relationships/slideLayout" Target="../slideLayouts/slideLayout135.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0" Type="http://schemas.openxmlformats.org/officeDocument/2006/relationships/slideLayout" Target="../slideLayouts/slideLayout130.xml"/><Relationship Id="rId29" Type="http://schemas.openxmlformats.org/officeDocument/2006/relationships/image" Target="../media/image1.png"/><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24" Type="http://schemas.openxmlformats.org/officeDocument/2006/relationships/slideLayout" Target="../slideLayouts/slideLayout134.xml"/><Relationship Id="rId5" Type="http://schemas.openxmlformats.org/officeDocument/2006/relationships/slideLayout" Target="../slideLayouts/slideLayout115.xml"/><Relationship Id="rId15" Type="http://schemas.openxmlformats.org/officeDocument/2006/relationships/slideLayout" Target="../slideLayouts/slideLayout125.xml"/><Relationship Id="rId23" Type="http://schemas.openxmlformats.org/officeDocument/2006/relationships/slideLayout" Target="../slideLayouts/slideLayout133.xml"/><Relationship Id="rId28" Type="http://schemas.openxmlformats.org/officeDocument/2006/relationships/theme" Target="../theme/theme5.xml"/><Relationship Id="rId10" Type="http://schemas.openxmlformats.org/officeDocument/2006/relationships/slideLayout" Target="../slideLayouts/slideLayout120.xml"/><Relationship Id="rId19" Type="http://schemas.openxmlformats.org/officeDocument/2006/relationships/slideLayout" Target="../slideLayouts/slideLayout129.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 Id="rId22" Type="http://schemas.openxmlformats.org/officeDocument/2006/relationships/slideLayout" Target="../slideLayouts/slideLayout132.xml"/><Relationship Id="rId27" Type="http://schemas.openxmlformats.org/officeDocument/2006/relationships/slideLayout" Target="../slideLayouts/slideLayout137.xml"/><Relationship Id="rId30"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5.xml"/><Relationship Id="rId13" Type="http://schemas.openxmlformats.org/officeDocument/2006/relationships/slideLayout" Target="../slideLayouts/slideLayout150.xml"/><Relationship Id="rId18" Type="http://schemas.openxmlformats.org/officeDocument/2006/relationships/slideLayout" Target="../slideLayouts/slideLayout155.xml"/><Relationship Id="rId26" Type="http://schemas.openxmlformats.org/officeDocument/2006/relationships/slideLayout" Target="../slideLayouts/slideLayout163.xml"/><Relationship Id="rId3" Type="http://schemas.openxmlformats.org/officeDocument/2006/relationships/slideLayout" Target="../slideLayouts/slideLayout140.xml"/><Relationship Id="rId21" Type="http://schemas.openxmlformats.org/officeDocument/2006/relationships/slideLayout" Target="../slideLayouts/slideLayout158.xml"/><Relationship Id="rId7" Type="http://schemas.openxmlformats.org/officeDocument/2006/relationships/slideLayout" Target="../slideLayouts/slideLayout144.xml"/><Relationship Id="rId12" Type="http://schemas.openxmlformats.org/officeDocument/2006/relationships/slideLayout" Target="../slideLayouts/slideLayout149.xml"/><Relationship Id="rId17" Type="http://schemas.openxmlformats.org/officeDocument/2006/relationships/slideLayout" Target="../slideLayouts/slideLayout154.xml"/><Relationship Id="rId25" Type="http://schemas.openxmlformats.org/officeDocument/2006/relationships/slideLayout" Target="../slideLayouts/slideLayout162.xml"/><Relationship Id="rId2" Type="http://schemas.openxmlformats.org/officeDocument/2006/relationships/slideLayout" Target="../slideLayouts/slideLayout139.xml"/><Relationship Id="rId16" Type="http://schemas.openxmlformats.org/officeDocument/2006/relationships/slideLayout" Target="../slideLayouts/slideLayout153.xml"/><Relationship Id="rId20" Type="http://schemas.openxmlformats.org/officeDocument/2006/relationships/slideLayout" Target="../slideLayouts/slideLayout157.xml"/><Relationship Id="rId29" Type="http://schemas.openxmlformats.org/officeDocument/2006/relationships/image" Target="../media/image1.png"/><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slideLayout" Target="../slideLayouts/slideLayout148.xml"/><Relationship Id="rId24" Type="http://schemas.openxmlformats.org/officeDocument/2006/relationships/slideLayout" Target="../slideLayouts/slideLayout161.xml"/><Relationship Id="rId5" Type="http://schemas.openxmlformats.org/officeDocument/2006/relationships/slideLayout" Target="../slideLayouts/slideLayout142.xml"/><Relationship Id="rId15" Type="http://schemas.openxmlformats.org/officeDocument/2006/relationships/slideLayout" Target="../slideLayouts/slideLayout152.xml"/><Relationship Id="rId23" Type="http://schemas.openxmlformats.org/officeDocument/2006/relationships/slideLayout" Target="../slideLayouts/slideLayout160.xml"/><Relationship Id="rId28" Type="http://schemas.openxmlformats.org/officeDocument/2006/relationships/theme" Target="../theme/theme6.xml"/><Relationship Id="rId10" Type="http://schemas.openxmlformats.org/officeDocument/2006/relationships/slideLayout" Target="../slideLayouts/slideLayout147.xml"/><Relationship Id="rId19" Type="http://schemas.openxmlformats.org/officeDocument/2006/relationships/slideLayout" Target="../slideLayouts/slideLayout156.xml"/><Relationship Id="rId4" Type="http://schemas.openxmlformats.org/officeDocument/2006/relationships/slideLayout" Target="../slideLayouts/slideLayout141.xml"/><Relationship Id="rId9" Type="http://schemas.openxmlformats.org/officeDocument/2006/relationships/slideLayout" Target="../slideLayouts/slideLayout146.xml"/><Relationship Id="rId14" Type="http://schemas.openxmlformats.org/officeDocument/2006/relationships/slideLayout" Target="../slideLayouts/slideLayout151.xml"/><Relationship Id="rId22" Type="http://schemas.openxmlformats.org/officeDocument/2006/relationships/slideLayout" Target="../slideLayouts/slideLayout159.xml"/><Relationship Id="rId27" Type="http://schemas.openxmlformats.org/officeDocument/2006/relationships/slideLayout" Target="../slideLayouts/slideLayout164.xml"/><Relationship Id="rId30"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66.xml"/><Relationship Id="rId1" Type="http://schemas.openxmlformats.org/officeDocument/2006/relationships/slideLayout" Target="../slideLayouts/slideLayout165.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cstate="email">
            <a:extLst>
              <a:ext uri="{28A0092B-C50C-407E-A947-70E740481C1C}">
                <a14:useLocalDpi xmlns:a14="http://schemas.microsoft.com/office/drawing/2010/main"/>
              </a:ext>
            </a:extLst>
          </a:blip>
          <a:stretch>
            <a:fillRect/>
          </a:stretch>
        </p:blipFill>
        <p:spPr>
          <a:xfrm>
            <a:off x="266700" y="319470"/>
            <a:ext cx="681666" cy="451942"/>
          </a:xfrm>
          <a:prstGeom prst="rect">
            <a:avLst/>
          </a:prstGeom>
        </p:spPr>
      </p:pic>
    </p:spTree>
    <p:extLst>
      <p:ext uri="{BB962C8B-B14F-4D97-AF65-F5344CB8AC3E}">
        <p14:creationId xmlns:p14="http://schemas.microsoft.com/office/powerpoint/2010/main" val="2346450069"/>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2" r:id="rId5"/>
    <p:sldLayoutId id="2147483973" r:id="rId6"/>
    <p:sldLayoutId id="2147483974" r:id="rId7"/>
    <p:sldLayoutId id="2147483975" r:id="rId8"/>
    <p:sldLayoutId id="2147483976" r:id="rId9"/>
    <p:sldLayoutId id="2147483977" r:id="rId10"/>
    <p:sldLayoutId id="2147483978" r:id="rId11"/>
    <p:sldLayoutId id="2147483979" r:id="rId12"/>
    <p:sldLayoutId id="2147483980" r:id="rId13"/>
    <p:sldLayoutId id="2147483981" r:id="rId14"/>
    <p:sldLayoutId id="2147483982" r:id="rId15"/>
    <p:sldLayoutId id="2147483983" r:id="rId16"/>
    <p:sldLayoutId id="2147483984" r:id="rId17"/>
    <p:sldLayoutId id="2147483985" r:id="rId18"/>
    <p:sldLayoutId id="2147484079" r:id="rId19"/>
    <p:sldLayoutId id="2147483987" r:id="rId20"/>
    <p:sldLayoutId id="2147483988" r:id="rId21"/>
    <p:sldLayoutId id="2147483989" r:id="rId22"/>
    <p:sldLayoutId id="2147483990" r:id="rId23"/>
    <p:sldLayoutId id="2147483991" r:id="rId24"/>
    <p:sldLayoutId id="2147483992" r:id="rId25"/>
    <p:sldLayoutId id="2147483993" r:id="rId26"/>
    <p:sldLayoutId id="214748410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cstate="email">
            <a:extLst>
              <a:ext uri="{28A0092B-C50C-407E-A947-70E740481C1C}">
                <a14:useLocalDpi xmlns:a14="http://schemas.microsoft.com/office/drawing/2010/main"/>
              </a:ext>
            </a:extLst>
          </a:blip>
          <a:stretch>
            <a:fillRect/>
          </a:stretch>
        </p:blipFill>
        <p:spPr>
          <a:xfrm>
            <a:off x="266700" y="319470"/>
            <a:ext cx="681666" cy="451942"/>
          </a:xfrm>
          <a:prstGeom prst="rect">
            <a:avLst/>
          </a:prstGeom>
        </p:spPr>
      </p:pic>
      <p:sp>
        <p:nvSpPr>
          <p:cNvPr id="2" name="TextBox 1">
            <a:extLst>
              <a:ext uri="{FF2B5EF4-FFF2-40B4-BE49-F238E27FC236}">
                <a16:creationId xmlns:a16="http://schemas.microsoft.com/office/drawing/2014/main" id="{13C93DB8-8109-4839-4533-D52647F330B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3" name="TextBox 2">
            <a:extLst>
              <a:ext uri="{FF2B5EF4-FFF2-40B4-BE49-F238E27FC236}">
                <a16:creationId xmlns:a16="http://schemas.microsoft.com/office/drawing/2014/main" id="{D4AA7094-B510-FCCE-91B2-CBD23BFDE2C0}"/>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095872165"/>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 id="2147484154" r:id="rId12"/>
    <p:sldLayoutId id="2147484155" r:id="rId13"/>
    <p:sldLayoutId id="2147484156" r:id="rId14"/>
    <p:sldLayoutId id="2147484157" r:id="rId15"/>
    <p:sldLayoutId id="2147484158" r:id="rId16"/>
    <p:sldLayoutId id="2147484159" r:id="rId17"/>
    <p:sldLayoutId id="2147484160" r:id="rId18"/>
    <p:sldLayoutId id="2147484161" r:id="rId19"/>
    <p:sldLayoutId id="2147484162" r:id="rId20"/>
    <p:sldLayoutId id="2147484163" r:id="rId21"/>
    <p:sldLayoutId id="2147484164" r:id="rId22"/>
    <p:sldLayoutId id="2147484165" r:id="rId23"/>
    <p:sldLayoutId id="2147484166" r:id="rId24"/>
    <p:sldLayoutId id="2147484167" r:id="rId25"/>
    <p:sldLayoutId id="2147484168" r:id="rId26"/>
    <p:sldLayoutId id="214748416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30"/>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1" cstate="email">
            <a:extLst>
              <a:ext uri="{28A0092B-C50C-407E-A947-70E740481C1C}">
                <a14:useLocalDpi xmlns:a14="http://schemas.microsoft.com/office/drawing/2010/main"/>
              </a:ext>
            </a:extLst>
          </a:blip>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2" cstate="email">
            <a:extLst>
              <a:ext uri="{28A0092B-C50C-407E-A947-70E740481C1C}">
                <a14:useLocalDpi xmlns:a14="http://schemas.microsoft.com/office/drawing/2010/main"/>
              </a:ext>
            </a:extLst>
          </a:blip>
          <a:stretch>
            <a:fillRect/>
          </a:stretch>
        </p:blipFill>
        <p:spPr>
          <a:xfrm>
            <a:off x="266700" y="113697"/>
            <a:ext cx="644814" cy="811816"/>
          </a:xfrm>
          <a:prstGeom prst="rect">
            <a:avLst/>
          </a:prstGeom>
        </p:spPr>
      </p:pic>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40725888"/>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 id="2147484061" r:id="rId10"/>
    <p:sldLayoutId id="2147484062" r:id="rId11"/>
    <p:sldLayoutId id="2147484063" r:id="rId12"/>
    <p:sldLayoutId id="2147484064" r:id="rId13"/>
    <p:sldLayoutId id="2147484065" r:id="rId14"/>
    <p:sldLayoutId id="2147484066" r:id="rId15"/>
    <p:sldLayoutId id="2147484067" r:id="rId16"/>
    <p:sldLayoutId id="2147484068" r:id="rId17"/>
    <p:sldLayoutId id="2147484069" r:id="rId18"/>
    <p:sldLayoutId id="2147484070" r:id="rId19"/>
    <p:sldLayoutId id="2147484071" r:id="rId20"/>
    <p:sldLayoutId id="2147484072" r:id="rId21"/>
    <p:sldLayoutId id="2147484073" r:id="rId22"/>
    <p:sldLayoutId id="2147484074" r:id="rId23"/>
    <p:sldLayoutId id="2147484075" r:id="rId24"/>
    <p:sldLayoutId id="2147484076" r:id="rId25"/>
    <p:sldLayoutId id="2147484077" r:id="rId26"/>
    <p:sldLayoutId id="2147484078" r:id="rId27"/>
    <p:sldLayoutId id="2147484198" r:id="rId28"/>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9A6F4-437A-F5BC-A382-7E14CD1E36B7}"/>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901DB1F4-AA0B-D214-2C9A-AE809FF1F69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cstate="email">
            <a:extLst>
              <a:ext uri="{28A0092B-C50C-407E-A947-70E740481C1C}">
                <a14:useLocalDpi xmlns:a14="http://schemas.microsoft.com/office/drawing/2010/main"/>
              </a:ext>
            </a:extLst>
          </a:blip>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cstate="email">
            <a:extLst>
              <a:ext uri="{28A0092B-C50C-407E-A947-70E740481C1C}">
                <a14:useLocalDpi xmlns:a14="http://schemas.microsoft.com/office/drawing/2010/main"/>
              </a:ext>
            </a:extLst>
          </a:blip>
          <a:stretch>
            <a:fillRect/>
          </a:stretch>
        </p:blipFill>
        <p:spPr>
          <a:xfrm>
            <a:off x="266700" y="113697"/>
            <a:ext cx="644814" cy="811816"/>
          </a:xfrm>
          <a:prstGeom prst="rect">
            <a:avLst/>
          </a:prstGeom>
        </p:spPr>
      </p:pic>
      <p:sp>
        <p:nvSpPr>
          <p:cNvPr id="8" name="Rectangle 7">
            <a:extLst>
              <a:ext uri="{FF2B5EF4-FFF2-40B4-BE49-F238E27FC236}">
                <a16:creationId xmlns:a16="http://schemas.microsoft.com/office/drawing/2014/main" id="{7AD4339D-DBCA-B475-10A1-FBC7E6A007BD}"/>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968281"/>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 id="2147484093" r:id="rId12"/>
    <p:sldLayoutId id="2147484094" r:id="rId13"/>
    <p:sldLayoutId id="2147484095" r:id="rId14"/>
    <p:sldLayoutId id="2147484096" r:id="rId15"/>
    <p:sldLayoutId id="2147484097" r:id="rId16"/>
    <p:sldLayoutId id="2147484098" r:id="rId17"/>
    <p:sldLayoutId id="2147484099" r:id="rId18"/>
    <p:sldLayoutId id="2147484139" r:id="rId19"/>
    <p:sldLayoutId id="2147484101" r:id="rId20"/>
    <p:sldLayoutId id="2147484102" r:id="rId21"/>
    <p:sldLayoutId id="2147484103" r:id="rId22"/>
    <p:sldLayoutId id="2147484104" r:id="rId23"/>
    <p:sldLayoutId id="2147484105" r:id="rId24"/>
    <p:sldLayoutId id="2147484106" r:id="rId25"/>
    <p:sldLayoutId id="2147484107" r:id="rId26"/>
    <p:sldLayoutId id="2147484108" r:id="rId27"/>
    <p:sldLayoutId id="2147484141" r:id="rId28"/>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0" cstate="email">
            <a:extLst>
              <a:ext uri="{28A0092B-C50C-407E-A947-70E740481C1C}">
                <a14:useLocalDpi xmlns:a14="http://schemas.microsoft.com/office/drawing/2010/main"/>
              </a:ext>
            </a:extLst>
          </a:blip>
          <a:srcRect/>
          <a:stretch/>
        </p:blipFill>
        <p:spPr>
          <a:xfrm>
            <a:off x="190500" y="86740"/>
            <a:ext cx="1970289" cy="874270"/>
          </a:xfrm>
          <a:prstGeom prst="rect">
            <a:avLst/>
          </a:prstGeom>
        </p:spPr>
      </p:pic>
    </p:spTree>
    <p:extLst>
      <p:ext uri="{BB962C8B-B14F-4D97-AF65-F5344CB8AC3E}">
        <p14:creationId xmlns:p14="http://schemas.microsoft.com/office/powerpoint/2010/main" val="2884319183"/>
      </p:ext>
    </p:extLst>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 id="2147484128" r:id="rId18"/>
    <p:sldLayoutId id="2147484140" r:id="rId19"/>
    <p:sldLayoutId id="2147484130" r:id="rId20"/>
    <p:sldLayoutId id="2147484131" r:id="rId21"/>
    <p:sldLayoutId id="2147484132" r:id="rId22"/>
    <p:sldLayoutId id="2147484133" r:id="rId23"/>
    <p:sldLayoutId id="2147484134" r:id="rId24"/>
    <p:sldLayoutId id="2147484135" r:id="rId25"/>
    <p:sldLayoutId id="2147484136" r:id="rId26"/>
    <p:sldLayoutId id="214748413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0" cstate="email">
            <a:extLst>
              <a:ext uri="{28A0092B-C50C-407E-A947-70E740481C1C}">
                <a14:useLocalDpi xmlns:a14="http://schemas.microsoft.com/office/drawing/2010/main"/>
              </a:ext>
            </a:extLst>
          </a:blip>
          <a:srcRect/>
          <a:stretch/>
        </p:blipFill>
        <p:spPr>
          <a:xfrm>
            <a:off x="190500" y="86740"/>
            <a:ext cx="1970289" cy="874270"/>
          </a:xfrm>
          <a:prstGeom prst="rect">
            <a:avLst/>
          </a:prstGeom>
        </p:spPr>
      </p:pic>
      <p:sp>
        <p:nvSpPr>
          <p:cNvPr id="2" name="TextBox 1">
            <a:extLst>
              <a:ext uri="{FF2B5EF4-FFF2-40B4-BE49-F238E27FC236}">
                <a16:creationId xmlns:a16="http://schemas.microsoft.com/office/drawing/2014/main" id="{0319D296-3ADD-602F-6280-AF09F0C8541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3CB3D4C0-148A-1C15-E80F-A173E101EED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756410140"/>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 id="2147484188" r:id="rId18"/>
    <p:sldLayoutId id="2147484189" r:id="rId19"/>
    <p:sldLayoutId id="2147484190" r:id="rId20"/>
    <p:sldLayoutId id="2147484191" r:id="rId21"/>
    <p:sldLayoutId id="2147484192" r:id="rId22"/>
    <p:sldLayoutId id="2147484193" r:id="rId23"/>
    <p:sldLayoutId id="2147484194" r:id="rId24"/>
    <p:sldLayoutId id="2147484195" r:id="rId25"/>
    <p:sldLayoutId id="2147484196" r:id="rId26"/>
    <p:sldLayoutId id="214748419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3"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4" name="Picture 6"/>
          <p:cNvPicPr>
            <a:picLocks noChangeAspect="1"/>
          </p:cNvPicPr>
          <p:nvPr userDrawn="1"/>
        </p:nvPicPr>
        <p:blipFill>
          <a:blip r:embed="rId4"/>
          <a:srcRect/>
          <a:stretch>
            <a:fillRect/>
          </a:stretch>
        </p:blipFill>
        <p:spPr bwMode="auto">
          <a:xfrm>
            <a:off x="6079067" y="3416309"/>
            <a:ext cx="25400" cy="3175"/>
          </a:xfrm>
          <a:prstGeom prst="rect">
            <a:avLst/>
          </a:prstGeom>
          <a:noFill/>
          <a:ln w="9525">
            <a:noFill/>
            <a:miter lim="800000"/>
            <a:headEnd/>
            <a:tailEnd/>
          </a:ln>
        </p:spPr>
      </p:pic>
      <p:sp>
        <p:nvSpPr>
          <p:cNvPr id="11" name="Text Box 14">
            <a:extLst>
              <a:ext uri="{FF2B5EF4-FFF2-40B4-BE49-F238E27FC236}">
                <a16:creationId xmlns:a16="http://schemas.microsoft.com/office/drawing/2014/main" id="{06488F25-D32D-48D0-BB8A-6B1499EB02EC}"/>
              </a:ext>
            </a:extLst>
          </p:cNvPr>
          <p:cNvSpPr txBox="1">
            <a:spLocks noChangeArrowheads="1"/>
          </p:cNvSpPr>
          <p:nvPr userDrawn="1"/>
        </p:nvSpPr>
        <p:spPr bwMode="auto">
          <a:xfrm>
            <a:off x="11218426" y="662710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
        <p:nvSpPr>
          <p:cNvPr id="17" name="Date Placeholder 4">
            <a:extLst>
              <a:ext uri="{FF2B5EF4-FFF2-40B4-BE49-F238E27FC236}">
                <a16:creationId xmlns:a16="http://schemas.microsoft.com/office/drawing/2014/main" id="{876090B8-EB33-44F6-B805-AE75858FA42D}"/>
              </a:ext>
            </a:extLst>
          </p:cNvPr>
          <p:cNvSpPr>
            <a:spLocks noGrp="1"/>
          </p:cNvSpPr>
          <p:nvPr>
            <p:ph type="dt" sz="half" idx="2"/>
          </p:nvPr>
        </p:nvSpPr>
        <p:spPr>
          <a:xfrm>
            <a:off x="8842515" y="6653150"/>
            <a:ext cx="2761673" cy="137160"/>
          </a:xfrm>
          <a:prstGeom prst="rect">
            <a:avLst/>
          </a:prstGeom>
        </p:spPr>
        <p:txBody>
          <a:bodyPr anchor="ctr"/>
          <a:lstStyle>
            <a:lvl1pPr algn="r">
              <a:defRPr sz="900">
                <a:solidFill>
                  <a:schemeClr val="bg2">
                    <a:lumMod val="75000"/>
                  </a:schemeClr>
                </a:solidFill>
              </a:defRPr>
            </a:lvl1pPr>
          </a:lstStyle>
          <a:p>
            <a:endParaRPr lang="en-US" dirty="0"/>
          </a:p>
        </p:txBody>
      </p:sp>
      <p:sp>
        <p:nvSpPr>
          <p:cNvPr id="18" name="Footer Placeholder 3">
            <a:extLst>
              <a:ext uri="{FF2B5EF4-FFF2-40B4-BE49-F238E27FC236}">
                <a16:creationId xmlns:a16="http://schemas.microsoft.com/office/drawing/2014/main" id="{2F8A329A-59C1-4D23-B5E6-03FA1C182A0A}"/>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bg2">
                    <a:lumMod val="75000"/>
                  </a:schemeClr>
                </a:solidFill>
              </a:defRPr>
            </a:lvl1pPr>
          </a:lstStyle>
          <a:p>
            <a:endParaRPr lang="en-US" dirty="0"/>
          </a:p>
        </p:txBody>
      </p:sp>
      <p:sp>
        <p:nvSpPr>
          <p:cNvPr id="2" name="Title Placeholder 1">
            <a:extLst>
              <a:ext uri="{FF2B5EF4-FFF2-40B4-BE49-F238E27FC236}">
                <a16:creationId xmlns:a16="http://schemas.microsoft.com/office/drawing/2014/main" id="{CA18FFB5-1B4A-8A37-78CC-AC1A7AE08575}"/>
              </a:ext>
            </a:extLst>
          </p:cNvPr>
          <p:cNvSpPr>
            <a:spLocks noGrp="1"/>
          </p:cNvSpPr>
          <p:nvPr>
            <p:ph type="title"/>
          </p:nvPr>
        </p:nvSpPr>
        <p:spPr bwMode="auto">
          <a:xfrm>
            <a:off x="266699" y="128981"/>
            <a:ext cx="11658599" cy="8329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Tree>
    <p:extLst>
      <p:ext uri="{BB962C8B-B14F-4D97-AF65-F5344CB8AC3E}">
        <p14:creationId xmlns:p14="http://schemas.microsoft.com/office/powerpoint/2010/main" val="199137462"/>
      </p:ext>
    </p:extLst>
  </p:cSld>
  <p:clrMap bg1="lt1" tx1="dk1" bg2="lt2" tx2="dk2" accent1="accent1" accent2="accent2" accent3="accent3" accent4="accent4" accent5="accent5" accent6="accent6" hlink="hlink" folHlink="folHlink"/>
  <p:sldLayoutIdLst>
    <p:sldLayoutId id="2147483724" r:id="rId1"/>
    <p:sldLayoutId id="2147483725" r:id="rId2"/>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169"/>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30188" indent="-230188" algn="l" rtl="0" eaLnBrk="1" fontAlgn="base" hangingPunct="1">
        <a:spcBef>
          <a:spcPts val="169"/>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1775"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4213" indent="-222250"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30188"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583" userDrawn="1">
          <p15:clr>
            <a:srgbClr val="F26B43"/>
          </p15:clr>
        </p15:guide>
        <p15:guide id="1" pos="7512" userDrawn="1">
          <p15:clr>
            <a:srgbClr val="5ACBF0"/>
          </p15:clr>
        </p15:guide>
        <p15:guide id="2" pos="12971">
          <p15:clr>
            <a:srgbClr val="5ACBF0"/>
          </p15:clr>
        </p15:guide>
        <p15:guide id="3" pos="168" userDrawn="1">
          <p15:clr>
            <a:srgbClr val="5ACBF0"/>
          </p15:clr>
        </p15:guide>
        <p15:guide id="5" orient="horz" pos="637" userDrawn="1">
          <p15:clr>
            <a:srgbClr val="F26B43"/>
          </p15:clr>
        </p15:guide>
        <p15:guide id="6" orient="horz" pos="417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xml.rels><?xml version="1.0" encoding="UTF-8" standalone="yes"?>
<Relationships xmlns="http://schemas.openxmlformats.org/package/2006/relationships"><Relationship Id="rId3" Type="http://schemas.openxmlformats.org/officeDocument/2006/relationships/hyperlink" Target="http://www.sam.gov/" TargetMode="External"/><Relationship Id="rId2" Type="http://schemas.openxmlformats.org/officeDocument/2006/relationships/notesSlide" Target="../notesSlides/notesSlide4.xml"/><Relationship Id="rId1" Type="http://schemas.openxmlformats.org/officeDocument/2006/relationships/slideLayout" Target="../slideLayouts/slideLayout55.xml"/></Relationships>
</file>

<file path=ppt/slides/_rels/slide6.xml.rels><?xml version="1.0" encoding="UTF-8" standalone="yes"?>
<Relationships xmlns="http://schemas.openxmlformats.org/package/2006/relationships"><Relationship Id="rId3" Type="http://schemas.openxmlformats.org/officeDocument/2006/relationships/hyperlink" Target="http://www.sam.gov/" TargetMode="External"/><Relationship Id="rId2" Type="http://schemas.openxmlformats.org/officeDocument/2006/relationships/notesSlide" Target="../notesSlides/notesSlide5.xml"/><Relationship Id="rId1" Type="http://schemas.openxmlformats.org/officeDocument/2006/relationships/slideLayout" Target="../slideLayouts/slideLayout5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5.xml"/></Relationships>
</file>

<file path=ppt/slides/_rels/slide11.xml.rels><?xml version="1.0" encoding="UTF-8" standalone="yes"?>
<Relationships xmlns="http://schemas.openxmlformats.org/package/2006/relationships"><Relationship Id="rId3" Type="http://schemas.openxmlformats.org/officeDocument/2006/relationships/hyperlink" Target="http://www.projnet.org/ProjNet" TargetMode="External"/><Relationship Id="rId2" Type="http://schemas.openxmlformats.org/officeDocument/2006/relationships/notesSlide" Target="../notesSlides/notesSlide10.xml"/><Relationship Id="rId1" Type="http://schemas.openxmlformats.org/officeDocument/2006/relationships/slideLayout" Target="../slideLayouts/slideLayout5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59.xml"/><Relationship Id="rId4" Type="http://schemas.openxmlformats.org/officeDocument/2006/relationships/hyperlink" Target="mailto:SBO-LRL@usace.army.mi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3" Type="http://schemas.openxmlformats.org/officeDocument/2006/relationships/hyperlink" Target="https://dsbs.sba.gov/search/dsp_dsbs.cfm" TargetMode="External"/><Relationship Id="rId7" Type="http://schemas.openxmlformats.org/officeDocument/2006/relationships/hyperlink" Target="https://www.apexaccelerators.us/#/" TargetMode="External"/><Relationship Id="rId2" Type="http://schemas.openxmlformats.org/officeDocument/2006/relationships/hyperlink" Target="https://www.sam.gov/" TargetMode="External"/><Relationship Id="rId1" Type="http://schemas.openxmlformats.org/officeDocument/2006/relationships/slideLayout" Target="../slideLayouts/slideLayout82.xml"/><Relationship Id="rId6" Type="http://schemas.openxmlformats.org/officeDocument/2006/relationships/hyperlink" Target="https://www.usaspending.gov/" TargetMode="External"/><Relationship Id="rId5" Type="http://schemas.openxmlformats.org/officeDocument/2006/relationships/hyperlink" Target="https://www.fpds.gov/ezsearch/" TargetMode="External"/><Relationship Id="rId4" Type="http://schemas.openxmlformats.org/officeDocument/2006/relationships/hyperlink" Target="https://subnet.sba.gov/client/dsp_Landing.cfm"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lrd.usace.army.mil/Opportunity-Forecast/" TargetMode="External"/><Relationship Id="rId1" Type="http://schemas.openxmlformats.org/officeDocument/2006/relationships/slideLayout" Target="../slideLayouts/slideLayout67.xml"/></Relationships>
</file>

<file path=ppt/slides/_rels/slide18.xml.rels><?xml version="1.0" encoding="UTF-8" standalone="yes"?>
<Relationships xmlns="http://schemas.openxmlformats.org/package/2006/relationships"><Relationship Id="rId2" Type="http://schemas.openxmlformats.org/officeDocument/2006/relationships/hyperlink" Target="http://www.fbo.gov/" TargetMode="External"/><Relationship Id="rId1" Type="http://schemas.openxmlformats.org/officeDocument/2006/relationships/slideLayout" Target="../slideLayouts/slideLayout6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DCD1B8-0FB9-6DE1-D901-F8B0186B1E44}"/>
              </a:ext>
            </a:extLst>
          </p:cNvPr>
          <p:cNvSpPr>
            <a:spLocks noGrp="1"/>
          </p:cNvSpPr>
          <p:nvPr>
            <p:ph type="title"/>
          </p:nvPr>
        </p:nvSpPr>
        <p:spPr>
          <a:xfrm>
            <a:off x="266700" y="260931"/>
            <a:ext cx="11570044" cy="1671543"/>
          </a:xfrm>
        </p:spPr>
        <p:txBody>
          <a:bodyPr/>
          <a:lstStyle/>
          <a:p>
            <a:pPr algn="ctr"/>
            <a:r>
              <a:rPr lang="en-US" dirty="0"/>
              <a:t>Industry day</a:t>
            </a:r>
            <a:br>
              <a:rPr lang="en-US" dirty="0"/>
            </a:br>
            <a:r>
              <a:rPr lang="en-US" sz="1800" dirty="0">
                <a:effectLst/>
                <a:latin typeface="Times New Roman" panose="02020603050405020304" pitchFamily="18" charset="0"/>
                <a:ea typeface="Aptos" panose="020B0004020202020204" pitchFamily="34" charset="0"/>
              </a:rPr>
              <a:t>the Unaccompanied Enlisted Personnel Housing (UEPH) Barracks</a:t>
            </a:r>
            <a:br>
              <a:rPr lang="en-US" sz="2000" dirty="0"/>
            </a:br>
            <a:r>
              <a:rPr lang="en-US" sz="2000" dirty="0"/>
              <a:t>Fort Campbell, KY</a:t>
            </a:r>
            <a:br>
              <a:rPr lang="en-US" sz="2000" dirty="0"/>
            </a:br>
            <a:endParaRPr lang="en-US" sz="2000" dirty="0"/>
          </a:p>
        </p:txBody>
      </p:sp>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701" y="2058988"/>
            <a:ext cx="4872566" cy="3524948"/>
          </a:xfrm>
        </p:spPr>
        <p:txBody>
          <a:bodyPr/>
          <a:lstStyle/>
          <a:p>
            <a:r>
              <a:rPr lang="en-US" u="sng" dirty="0">
                <a:latin typeface="Calibri" panose="020F0502020204030204" pitchFamily="34" charset="0"/>
                <a:cs typeface="Calibri" panose="020F0502020204030204" pitchFamily="34" charset="0"/>
              </a:rPr>
              <a:t>Presenters: </a:t>
            </a:r>
          </a:p>
          <a:p>
            <a:r>
              <a:rPr lang="en-US" dirty="0">
                <a:latin typeface="Calibri" panose="020F0502020204030204" pitchFamily="34" charset="0"/>
                <a:cs typeface="Calibri" panose="020F0502020204030204" pitchFamily="34" charset="0"/>
              </a:rPr>
              <a:t>Josh Westgate– Contracting Officer</a:t>
            </a:r>
          </a:p>
          <a:p>
            <a:r>
              <a:rPr lang="en-US" dirty="0">
                <a:latin typeface="Calibri" panose="020F0502020204030204" pitchFamily="34" charset="0"/>
                <a:cs typeface="Calibri" panose="020F0502020204030204" pitchFamily="34" charset="0"/>
              </a:rPr>
              <a:t>Crystal Harbin– Deputy for Small Business</a:t>
            </a:r>
          </a:p>
          <a:p>
            <a:r>
              <a:rPr lang="en-US" dirty="0">
                <a:latin typeface="Calibri" panose="020F0502020204030204" pitchFamily="34" charset="0"/>
                <a:cs typeface="Calibri" panose="020F0502020204030204" pitchFamily="34" charset="0"/>
              </a:rPr>
              <a:t>Jim MacMillan– Design Team Lead</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Date: 23 April 2025</a:t>
            </a:r>
          </a:p>
          <a:p>
            <a:endParaRPr lang="en-US" dirty="0"/>
          </a:p>
        </p:txBody>
      </p:sp>
      <p:sp>
        <p:nvSpPr>
          <p:cNvPr id="14" name="TextBox 13">
            <a:extLst>
              <a:ext uri="{FF2B5EF4-FFF2-40B4-BE49-F238E27FC236}">
                <a16:creationId xmlns:a16="http://schemas.microsoft.com/office/drawing/2014/main" id="{A44CFD1B-3ABD-7DF8-B3CD-6903F060DC50}"/>
              </a:ext>
            </a:extLst>
          </p:cNvPr>
          <p:cNvSpPr txBox="1"/>
          <p:nvPr/>
        </p:nvSpPr>
        <p:spPr>
          <a:xfrm>
            <a:off x="3171031" y="5673739"/>
            <a:ext cx="8455239" cy="923330"/>
          </a:xfrm>
          <a:prstGeom prst="rect">
            <a:avLst/>
          </a:prstGeom>
          <a:noFill/>
        </p:spPr>
        <p:txBody>
          <a:bodyPr wrap="square" rtlCol="0">
            <a:spAutoFit/>
          </a:bodyPr>
          <a:lstStyle/>
          <a:p>
            <a:r>
              <a:rPr lang="en-US" i="1" dirty="0">
                <a:solidFill>
                  <a:schemeClr val="tx2"/>
                </a:solidFill>
                <a:latin typeface="Calibri" panose="020F0502020204030204" pitchFamily="34" charset="0"/>
                <a:cs typeface="Calibri" panose="020F0502020204030204" pitchFamily="34" charset="0"/>
              </a:rPr>
              <a:t>”The views, opinions and findings contained in this report are those of the author(s) and should not be construed as an official Department of the Army position, policy or decision, unless so designated by other official documentation.” </a:t>
            </a:r>
          </a:p>
        </p:txBody>
      </p:sp>
      <p:pic>
        <p:nvPicPr>
          <p:cNvPr id="4" name="Picture 3">
            <a:extLst>
              <a:ext uri="{FF2B5EF4-FFF2-40B4-BE49-F238E27FC236}">
                <a16:creationId xmlns:a16="http://schemas.microsoft.com/office/drawing/2014/main" id="{F0D4F7B9-4C99-36F8-7C73-2EF7DE75BF7F}"/>
              </a:ext>
            </a:extLst>
          </p:cNvPr>
          <p:cNvPicPr>
            <a:picLocks noChangeAspect="1"/>
          </p:cNvPicPr>
          <p:nvPr/>
        </p:nvPicPr>
        <p:blipFill>
          <a:blip r:embed="rId3"/>
          <a:stretch>
            <a:fillRect/>
          </a:stretch>
        </p:blipFill>
        <p:spPr>
          <a:xfrm>
            <a:off x="5341007" y="2506134"/>
            <a:ext cx="6495737" cy="2682867"/>
          </a:xfrm>
          <a:prstGeom prst="rect">
            <a:avLst/>
          </a:prstGeom>
        </p:spPr>
      </p:pic>
    </p:spTree>
    <p:extLst>
      <p:ext uri="{BB962C8B-B14F-4D97-AF65-F5344CB8AC3E}">
        <p14:creationId xmlns:p14="http://schemas.microsoft.com/office/powerpoint/2010/main" val="1948773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B2FFB12-F0B1-D636-2570-CEAB1E6C6D95}"/>
              </a:ext>
            </a:extLst>
          </p:cNvPr>
          <p:cNvSpPr>
            <a:spLocks noGrp="1"/>
          </p:cNvSpPr>
          <p:nvPr>
            <p:ph type="title"/>
          </p:nvPr>
        </p:nvSpPr>
        <p:spPr/>
        <p:txBody>
          <a:bodyPr/>
          <a:lstStyle/>
          <a:p>
            <a:pPr algn="ctr"/>
            <a:r>
              <a:rPr lang="en-US" dirty="0"/>
              <a:t>ADMINISTRATIVE ANNOUNCEMENTS</a:t>
            </a:r>
          </a:p>
        </p:txBody>
      </p:sp>
      <p:sp>
        <p:nvSpPr>
          <p:cNvPr id="9" name="Content Placeholder 7">
            <a:extLst>
              <a:ext uri="{FF2B5EF4-FFF2-40B4-BE49-F238E27FC236}">
                <a16:creationId xmlns:a16="http://schemas.microsoft.com/office/drawing/2014/main" id="{452942C3-6760-0073-E771-012EFCD6DD2C}"/>
              </a:ext>
            </a:extLst>
          </p:cNvPr>
          <p:cNvSpPr>
            <a:spLocks noGrp="1"/>
          </p:cNvSpPr>
          <p:nvPr>
            <p:ph sz="quarter" idx="10"/>
          </p:nvPr>
        </p:nvSpPr>
        <p:spPr>
          <a:xfrm>
            <a:off x="266700" y="1266738"/>
            <a:ext cx="11658600" cy="5362662"/>
          </a:xfrm>
        </p:spPr>
        <p:txBody>
          <a:bodyPr/>
          <a:lstStyle/>
          <a:p>
            <a:pPr marL="342900" indent="-342900">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Please ensure that you have signed in</a:t>
            </a:r>
            <a:endParaRPr lang="en-US" sz="2500" dirty="0">
              <a:solidFill>
                <a:schemeClr val="tx1"/>
              </a:solidFill>
              <a:latin typeface="Calibri" panose="020F0502020204030204" pitchFamily="34" charset="0"/>
              <a:cs typeface="Calibri" panose="020F0502020204030204" pitchFamily="34" charset="0"/>
            </a:endParaRPr>
          </a:p>
          <a:p>
            <a:pPr marL="742950" lvl="1" indent="-285750">
              <a:spcBef>
                <a:spcPts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Company Name, POC Name, Email, Phone</a:t>
            </a:r>
          </a:p>
          <a:p>
            <a:pPr marL="742950" lvl="1" indent="-285750">
              <a:spcBef>
                <a:spcPts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Are you interested in being the Prime or Subcontractor</a:t>
            </a:r>
          </a:p>
          <a:p>
            <a:pPr marL="742950" lvl="1" indent="-285750">
              <a:spcBef>
                <a:spcPts val="0"/>
              </a:spcBef>
              <a:spcAft>
                <a:spcPts val="600"/>
              </a:spcAft>
              <a:buFont typeface="Arial" panose="020B0604020202020204" pitchFamily="34" charset="0"/>
              <a:buChar char="•"/>
            </a:pPr>
            <a:r>
              <a:rPr lang="en-US" sz="2800" dirty="0">
                <a:latin typeface="Calibri" panose="020F0502020204030204" pitchFamily="34" charset="0"/>
                <a:cs typeface="Calibri" panose="020F0502020204030204" pitchFamily="34" charset="0"/>
              </a:rPr>
              <a:t>If you’re interested in being a subcontractor, state the type of work you are interested (Electrical, Mechanical, Roofing, etc.)</a:t>
            </a:r>
            <a:endParaRPr lang="en-US" sz="2800" dirty="0">
              <a:solidFill>
                <a:schemeClr val="tx1"/>
              </a:solidFill>
              <a:latin typeface="Calibri" panose="020F0502020204030204" pitchFamily="34" charset="0"/>
              <a:cs typeface="Calibri" panose="020F0502020204030204" pitchFamily="34" charset="0"/>
            </a:endParaRPr>
          </a:p>
          <a:p>
            <a:pPr marL="342900" indent="-342900">
              <a:spcAft>
                <a:spcPts val="600"/>
              </a:spcAft>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This briefing and the attendee roster will be posted to SAM</a:t>
            </a:r>
          </a:p>
          <a:p>
            <a:pPr marL="342900" indent="-342900">
              <a:spcAft>
                <a:spcPts val="600"/>
              </a:spcAft>
              <a:buFont typeface="Arial" panose="020B0604020202020204" pitchFamily="34" charset="0"/>
              <a:buChar char="•"/>
            </a:pPr>
            <a:r>
              <a:rPr lang="en-US" sz="2800" b="1" dirty="0">
                <a:solidFill>
                  <a:schemeClr val="tx1"/>
                </a:solidFill>
                <a:latin typeface="Calibri" panose="020F0502020204030204" pitchFamily="34" charset="0"/>
                <a:cs typeface="Calibri" panose="020F0502020204030204" pitchFamily="34" charset="0"/>
              </a:rPr>
              <a:t>Please be advised that none of the information discussed today is contractually-binding</a:t>
            </a:r>
          </a:p>
        </p:txBody>
      </p:sp>
    </p:spTree>
    <p:extLst>
      <p:ext uri="{BB962C8B-B14F-4D97-AF65-F5344CB8AC3E}">
        <p14:creationId xmlns:p14="http://schemas.microsoft.com/office/powerpoint/2010/main" val="3632363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5A3E20-D1B8-CBEA-C29C-3EA815A38389}"/>
              </a:ext>
            </a:extLst>
          </p:cNvPr>
          <p:cNvSpPr>
            <a:spLocks noGrp="1"/>
          </p:cNvSpPr>
          <p:nvPr>
            <p:ph sz="quarter" idx="10"/>
          </p:nvPr>
        </p:nvSpPr>
        <p:spPr/>
        <p:txBody>
          <a:bodyPr/>
          <a:lstStyle/>
          <a:p>
            <a:pPr marL="342900" indent="-342900">
              <a:buFont typeface="Arial" panose="020B0604020202020204" pitchFamily="34" charset="0"/>
              <a:buChar char="•"/>
            </a:pPr>
            <a:endParaRPr lang="en-US" dirty="0">
              <a:solidFill>
                <a:schemeClr val="tx1"/>
              </a:solidFill>
            </a:endParaRPr>
          </a:p>
          <a:p>
            <a:pPr marL="342900" indent="-342900">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Procurement Process And Overview</a:t>
            </a:r>
            <a:br>
              <a:rPr lang="en-US" sz="2800" dirty="0">
                <a:solidFill>
                  <a:schemeClr val="tx1"/>
                </a:solidFill>
                <a:latin typeface="Calibri" panose="020F0502020204030204" pitchFamily="34" charset="0"/>
                <a:cs typeface="Calibri" panose="020F0502020204030204" pitchFamily="34" charset="0"/>
              </a:rPr>
            </a:br>
            <a:endParaRPr lang="en-US" sz="2800" dirty="0">
              <a:solidFill>
                <a:schemeClr val="tx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Small Business Participation Plan and Subcontracting Requirements</a:t>
            </a:r>
          </a:p>
          <a:p>
            <a:endParaRPr lang="en-US" sz="2800" dirty="0">
              <a:solidFill>
                <a:schemeClr val="tx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Overview of the Project</a:t>
            </a:r>
          </a:p>
          <a:p>
            <a:endParaRPr lang="en-US" sz="2800" dirty="0">
              <a:solidFill>
                <a:schemeClr val="tx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Q&amp;A Session</a:t>
            </a:r>
          </a:p>
          <a:p>
            <a:endParaRPr lang="en-US" dirty="0"/>
          </a:p>
        </p:txBody>
      </p:sp>
      <p:sp>
        <p:nvSpPr>
          <p:cNvPr id="4" name="Title 3">
            <a:extLst>
              <a:ext uri="{FF2B5EF4-FFF2-40B4-BE49-F238E27FC236}">
                <a16:creationId xmlns:a16="http://schemas.microsoft.com/office/drawing/2014/main" id="{B5CE5AF1-1450-418A-9D16-190CA8015676}"/>
              </a:ext>
            </a:extLst>
          </p:cNvPr>
          <p:cNvSpPr>
            <a:spLocks noGrp="1"/>
          </p:cNvSpPr>
          <p:nvPr>
            <p:ph type="title"/>
          </p:nvPr>
        </p:nvSpPr>
        <p:spPr/>
        <p:txBody>
          <a:bodyPr/>
          <a:lstStyle/>
          <a:p>
            <a:pPr algn="ctr"/>
            <a:r>
              <a:rPr lang="en-US" sz="3200" dirty="0">
                <a:solidFill>
                  <a:schemeClr val="tx1"/>
                </a:solidFill>
              </a:rPr>
              <a:t>AGENDA</a:t>
            </a:r>
            <a:endParaRPr lang="en-US" dirty="0"/>
          </a:p>
        </p:txBody>
      </p:sp>
    </p:spTree>
    <p:extLst>
      <p:ext uri="{BB962C8B-B14F-4D97-AF65-F5344CB8AC3E}">
        <p14:creationId xmlns:p14="http://schemas.microsoft.com/office/powerpoint/2010/main" val="2657977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0DB522-41F8-04CF-CACE-8047203C6443}"/>
              </a:ext>
            </a:extLst>
          </p:cNvPr>
          <p:cNvSpPr>
            <a:spLocks noGrp="1"/>
          </p:cNvSpPr>
          <p:nvPr>
            <p:ph type="title"/>
          </p:nvPr>
        </p:nvSpPr>
        <p:spPr>
          <a:xfrm>
            <a:off x="902593" y="406072"/>
            <a:ext cx="10386814" cy="832920"/>
          </a:xfrm>
        </p:spPr>
        <p:txBody>
          <a:bodyPr/>
          <a:lstStyle/>
          <a:p>
            <a:pPr algn="ctr"/>
            <a:r>
              <a:rPr lang="en-US" sz="3200" dirty="0">
                <a:solidFill>
                  <a:schemeClr val="tx1"/>
                </a:solidFill>
              </a:rPr>
              <a:t> PROCUREMENT PROCESS and OVERVIEW</a:t>
            </a:r>
            <a:endParaRPr lang="en-US" dirty="0"/>
          </a:p>
        </p:txBody>
      </p:sp>
      <p:sp>
        <p:nvSpPr>
          <p:cNvPr id="8" name="Content Placeholder 7">
            <a:extLst>
              <a:ext uri="{FF2B5EF4-FFF2-40B4-BE49-F238E27FC236}">
                <a16:creationId xmlns:a16="http://schemas.microsoft.com/office/drawing/2014/main" id="{B646B137-090B-E8AE-BB6E-88BDA8E89A9F}"/>
              </a:ext>
            </a:extLst>
          </p:cNvPr>
          <p:cNvSpPr>
            <a:spLocks noGrp="1"/>
          </p:cNvSpPr>
          <p:nvPr>
            <p:ph sz="quarter" idx="10"/>
          </p:nvPr>
        </p:nvSpPr>
        <p:spPr>
          <a:xfrm>
            <a:off x="3022092" y="764620"/>
            <a:ext cx="5598523" cy="5600700"/>
          </a:xfrm>
        </p:spPr>
        <p:txBody>
          <a:bodyPr/>
          <a:lstStyle/>
          <a:p>
            <a:pPr algn="ctr"/>
            <a:endParaRPr lang="en-US" dirty="0"/>
          </a:p>
          <a:p>
            <a:pPr algn="ctr"/>
            <a:endParaRPr lang="en-US" dirty="0"/>
          </a:p>
          <a:p>
            <a:pPr algn="ctr"/>
            <a:endParaRPr lang="en-US" dirty="0"/>
          </a:p>
          <a:p>
            <a:pPr algn="ctr"/>
            <a:endParaRPr lang="en-US" dirty="0"/>
          </a:p>
          <a:p>
            <a:pPr algn="ctr"/>
            <a:endParaRPr lang="en-US" dirty="0"/>
          </a:p>
          <a:p>
            <a:pPr algn="ctr"/>
            <a:r>
              <a:rPr lang="en-US" sz="2800" b="1" dirty="0">
                <a:latin typeface="Calibri" panose="020F0502020204030204" pitchFamily="34" charset="0"/>
                <a:cs typeface="Calibri" panose="020F0502020204030204" pitchFamily="34" charset="0"/>
              </a:rPr>
              <a:t>Josh Westgate</a:t>
            </a:r>
          </a:p>
          <a:p>
            <a:pPr algn="ctr"/>
            <a:r>
              <a:rPr lang="en-US" sz="2800" dirty="0">
                <a:latin typeface="Calibri" panose="020F0502020204030204" pitchFamily="34" charset="0"/>
                <a:cs typeface="Calibri" panose="020F0502020204030204" pitchFamily="34" charset="0"/>
              </a:rPr>
              <a:t>Contracting Officer </a:t>
            </a:r>
          </a:p>
          <a:p>
            <a:pPr algn="ctr"/>
            <a:r>
              <a:rPr lang="en-US" sz="2800" dirty="0">
                <a:latin typeface="Calibri" panose="020F0502020204030204" pitchFamily="34" charset="0"/>
                <a:cs typeface="Calibri" panose="020F0502020204030204" pitchFamily="34" charset="0"/>
              </a:rPr>
              <a:t>U.S. Army Corps of Engineers</a:t>
            </a:r>
          </a:p>
          <a:p>
            <a:pPr algn="ctr"/>
            <a:r>
              <a:rPr lang="en-US" sz="2800" dirty="0">
                <a:latin typeface="Calibri" panose="020F0502020204030204" pitchFamily="34" charset="0"/>
                <a:cs typeface="Calibri" panose="020F0502020204030204" pitchFamily="34" charset="0"/>
              </a:rPr>
              <a:t>Louisville District</a:t>
            </a:r>
          </a:p>
          <a:p>
            <a:pPr algn="ctr"/>
            <a:r>
              <a:rPr lang="en-US" sz="2800" dirty="0">
                <a:latin typeface="Calibri" panose="020F0502020204030204" pitchFamily="34" charset="0"/>
                <a:cs typeface="Calibri" panose="020F0502020204030204" pitchFamily="34" charset="0"/>
              </a:rPr>
              <a:t>Joshua.K.Westgate@usace.army.mil</a:t>
            </a:r>
          </a:p>
        </p:txBody>
      </p:sp>
    </p:spTree>
    <p:extLst>
      <p:ext uri="{BB962C8B-B14F-4D97-AF65-F5344CB8AC3E}">
        <p14:creationId xmlns:p14="http://schemas.microsoft.com/office/powerpoint/2010/main" val="2120808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DD6306-F8CF-FFD5-1B10-CC5167A41FA5}"/>
              </a:ext>
            </a:extLst>
          </p:cNvPr>
          <p:cNvSpPr>
            <a:spLocks noGrp="1"/>
          </p:cNvSpPr>
          <p:nvPr>
            <p:ph sz="quarter" idx="10"/>
          </p:nvPr>
        </p:nvSpPr>
        <p:spPr>
          <a:xfrm>
            <a:off x="266700" y="1494904"/>
            <a:ext cx="11658600" cy="5134496"/>
          </a:xfrm>
        </p:spPr>
        <p:txBody>
          <a:bodyPr/>
          <a:lstStyle/>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System for Award Management (SAM) </a:t>
            </a:r>
            <a:r>
              <a:rPr lang="en-US" sz="2800" dirty="0">
                <a:solidFill>
                  <a:srgbClr val="000000">
                    <a:lumMod val="75000"/>
                    <a:lumOff val="25000"/>
                  </a:srgbClr>
                </a:solidFill>
                <a:latin typeface="Calibri" panose="020F0502020204030204" pitchFamily="34" charset="0"/>
                <a:cs typeface="Calibri" panose="020F0502020204030204" pitchFamily="34" charset="0"/>
              </a:rPr>
              <a:t>at</a:t>
            </a:r>
            <a:r>
              <a:rPr kumimoji="0" lang="en-US" sz="28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hlinkClick r:id="rId3"/>
              </a:rPr>
              <a:t>www.SAM.gov</a:t>
            </a:r>
            <a:endParaRPr kumimoji="0" lang="en-US" sz="2800" b="0" i="0" u="sng"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pPr marL="630237" indent="-342900">
              <a:spcBef>
                <a:spcPts val="300"/>
              </a:spcBef>
              <a:spcAft>
                <a:spcPts val="600"/>
              </a:spcAft>
              <a:buFont typeface="Arial" panose="020B0604020202020204" pitchFamily="34" charset="0"/>
              <a:buChar char="•"/>
              <a:defRPr/>
            </a:pPr>
            <a:r>
              <a:rPr lang="en-US" sz="2800" dirty="0">
                <a:solidFill>
                  <a:srgbClr val="000000"/>
                </a:solidFill>
                <a:latin typeface="Calibri" panose="020F0502020204030204" pitchFamily="34" charset="0"/>
                <a:cs typeface="Calibri" panose="020F0502020204030204" pitchFamily="34" charset="0"/>
              </a:rPr>
              <a:t>UEPH Barracks– Fort Campbell, KY</a:t>
            </a:r>
          </a:p>
          <a:p>
            <a:pPr marL="857250" lvl="1" indent="-342900">
              <a:spcBef>
                <a:spcPts val="300"/>
              </a:spcBef>
              <a:spcAft>
                <a:spcPts val="600"/>
              </a:spcAft>
              <a:buFont typeface="Arial" panose="020B0604020202020204" pitchFamily="34" charset="0"/>
              <a:buChar char="•"/>
              <a:defRPr/>
            </a:pPr>
            <a:r>
              <a:rPr lang="en-US" sz="2800" dirty="0">
                <a:solidFill>
                  <a:schemeClr val="tx1"/>
                </a:solidFill>
                <a:latin typeface="Calibri" panose="020F0502020204030204" pitchFamily="34" charset="0"/>
                <a:cs typeface="Calibri" panose="020F0502020204030204" pitchFamily="34" charset="0"/>
              </a:rPr>
              <a:t>Solicitation Number</a:t>
            </a:r>
            <a:r>
              <a:rPr kumimoji="0" lang="en-US" sz="28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is </a:t>
            </a:r>
            <a:r>
              <a:rPr kumimoji="0" lang="en-US" sz="28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TBD </a:t>
            </a:r>
          </a:p>
          <a:p>
            <a:pPr marL="857250" lvl="1" indent="-342900">
              <a:spcBef>
                <a:spcPts val="300"/>
              </a:spcBef>
              <a:spcAft>
                <a:spcPts val="600"/>
              </a:spcAft>
              <a:buFont typeface="Arial" panose="020B0604020202020204" pitchFamily="34" charset="0"/>
              <a:buChar char="•"/>
              <a:defRPr/>
            </a:pPr>
            <a:r>
              <a:rPr kumimoji="0" lang="en-US" sz="28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Solicitations for USACE-Louisville begin with </a:t>
            </a:r>
            <a:r>
              <a:rPr kumimoji="0" lang="en-US" sz="28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W912QR</a:t>
            </a:r>
          </a:p>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View </a:t>
            </a:r>
            <a:r>
              <a:rPr kumimoji="0" lang="en-US" sz="2800" b="0"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Interested Vendors List </a:t>
            </a:r>
            <a:r>
              <a:rPr kumimoji="0" lang="en-US" sz="2800" b="0" i="0"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register as an Interested Vendor</a:t>
            </a:r>
            <a:endParaRPr kumimoji="0" lang="en-US" sz="2800" b="0"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Register/Follow to receive notifications and updates / amendments</a:t>
            </a:r>
          </a:p>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lang="en-US" sz="2800" dirty="0">
                <a:solidFill>
                  <a:srgbClr val="000000"/>
                </a:solidFill>
                <a:latin typeface="Calibri" panose="020F0502020204030204" pitchFamily="34" charset="0"/>
                <a:cs typeface="Calibri" panose="020F0502020204030204" pitchFamily="34" charset="0"/>
              </a:rPr>
              <a:t>RFP Technical Information (i.e., Plans and Specs) will be available for download from </a:t>
            </a:r>
            <a:r>
              <a:rPr lang="en-US" sz="2800" dirty="0">
                <a:solidFill>
                  <a:srgbClr val="000000"/>
                </a:solidFill>
                <a:latin typeface="Calibri" panose="020F0502020204030204" pitchFamily="34" charset="0"/>
                <a:cs typeface="Calibri" panose="020F0502020204030204" pitchFamily="34" charset="0"/>
                <a:hlinkClick r:id="rId3"/>
              </a:rPr>
              <a:t>www.SAM.gov</a:t>
            </a:r>
            <a:r>
              <a:rPr lang="en-US" sz="2800" dirty="0">
                <a:solidFill>
                  <a:srgbClr val="000000"/>
                </a:solidFill>
                <a:latin typeface="Calibri" panose="020F0502020204030204" pitchFamily="34" charset="0"/>
                <a:cs typeface="Calibri" panose="020F0502020204030204" pitchFamily="34" charset="0"/>
              </a:rPr>
              <a:t>. </a:t>
            </a:r>
            <a:endPar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AFBF080B-CB64-D9B7-D381-FAF1BF3EF9A2}"/>
              </a:ext>
            </a:extLst>
          </p:cNvPr>
          <p:cNvSpPr>
            <a:spLocks noGrp="1"/>
          </p:cNvSpPr>
          <p:nvPr>
            <p:ph type="title"/>
          </p:nvPr>
        </p:nvSpPr>
        <p:spPr>
          <a:xfrm>
            <a:off x="1156184" y="457200"/>
            <a:ext cx="10386814" cy="604320"/>
          </a:xfrm>
        </p:spPr>
        <p:txBody>
          <a:bodyPr/>
          <a:lstStyle/>
          <a:p>
            <a:pPr algn="ctr"/>
            <a:r>
              <a:rPr lang="en-US" sz="3200" cap="none" dirty="0">
                <a:solidFill>
                  <a:schemeClr val="tx1"/>
                </a:solidFill>
                <a:ea typeface="+mj-ea"/>
              </a:rPr>
              <a:t>HOW TO OBTAIN THE SOLICITATION</a:t>
            </a:r>
            <a:br>
              <a:rPr lang="en-US" sz="3200" b="0" cap="none" dirty="0">
                <a:solidFill>
                  <a:schemeClr val="tx1"/>
                </a:solidFill>
                <a:latin typeface="Calibri Light" panose="020F0302020204030204"/>
                <a:ea typeface="+mj-ea"/>
                <a:cs typeface="+mj-cs"/>
              </a:rPr>
            </a:br>
            <a:endParaRPr lang="en-US" dirty="0"/>
          </a:p>
        </p:txBody>
      </p:sp>
    </p:spTree>
    <p:extLst>
      <p:ext uri="{BB962C8B-B14F-4D97-AF65-F5344CB8AC3E}">
        <p14:creationId xmlns:p14="http://schemas.microsoft.com/office/powerpoint/2010/main" val="526586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331AF-050F-0C4B-5F21-0D7B81BCF977}"/>
              </a:ext>
            </a:extLst>
          </p:cNvPr>
          <p:cNvSpPr>
            <a:spLocks noGrp="1"/>
          </p:cNvSpPr>
          <p:nvPr>
            <p:ph sz="quarter" idx="10"/>
          </p:nvPr>
        </p:nvSpPr>
        <p:spPr/>
        <p:txBody>
          <a:bodyPr/>
          <a:lstStyle/>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Pre-Solicitation Notice</a:t>
            </a:r>
          </a:p>
          <a:p>
            <a:pPr marL="569913" lvl="1" indent="-342900">
              <a:spcBef>
                <a:spcPts val="300"/>
              </a:spcBef>
              <a:spcAft>
                <a:spcPts val="600"/>
              </a:spcAft>
              <a:buFont typeface="Arial" panose="020B0604020202020204" pitchFamily="34" charset="0"/>
              <a:buChar char="•"/>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Posted on </a:t>
            </a: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hlinkClick r:id="rId3"/>
              </a:rPr>
              <a:t>www.sam.gov</a:t>
            </a: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least 15 days prior to the initial issuance of the Solicitation package.</a:t>
            </a:r>
            <a:b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endParaRPr kumimoji="0" lang="en-US" altLang="en-US" sz="26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Advertisement</a:t>
            </a:r>
          </a:p>
          <a:p>
            <a:pPr marL="569913" lvl="1" indent="-342900">
              <a:spcBef>
                <a:spcPts val="300"/>
              </a:spcBef>
              <a:spcAft>
                <a:spcPts val="600"/>
              </a:spcAft>
              <a:buFont typeface="Arial" panose="020B0604020202020204" pitchFamily="34" charset="0"/>
              <a:buChar char="•"/>
              <a:defRPr/>
            </a:pPr>
            <a:r>
              <a:rPr lang="en-US" altLang="en-US" sz="2600" dirty="0">
                <a:solidFill>
                  <a:srgbClr val="000000"/>
                </a:solidFill>
                <a:latin typeface="Calibri" panose="020F0502020204030204" pitchFamily="34" charset="0"/>
                <a:cs typeface="Calibri" panose="020F0502020204030204" pitchFamily="34" charset="0"/>
              </a:rPr>
              <a:t>M</a:t>
            </a:r>
            <a:r>
              <a:rPr kumimoji="0" lang="en-US" altLang="en-US" sz="2600" b="0" i="0" u="none" strike="noStrike" kern="120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rPr>
              <a:t>inimum</a:t>
            </a: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30 days to prepare proposals.</a:t>
            </a:r>
            <a:br>
              <a:rPr lang="en-US" altLang="en-US" sz="2600" dirty="0">
                <a:solidFill>
                  <a:srgbClr val="000000"/>
                </a:solidFill>
                <a:latin typeface="Calibri" panose="020F0502020204030204" pitchFamily="34" charset="0"/>
                <a:cs typeface="Calibri" panose="020F0502020204030204" pitchFamily="34" charset="0"/>
              </a:rPr>
            </a:br>
            <a:endPar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indent="-342900">
              <a:spcBef>
                <a:spcPts val="300"/>
              </a:spcBef>
              <a:spcAft>
                <a:spcPts val="600"/>
              </a:spcAft>
              <a:buFont typeface="Arial" panose="020B0604020202020204" pitchFamily="34" charset="0"/>
              <a:buChar char="•"/>
              <a:defRPr/>
            </a:pPr>
            <a:r>
              <a:rPr lang="en-US" altLang="en-US" sz="2600" dirty="0">
                <a:solidFill>
                  <a:srgbClr val="000000"/>
                </a:solidFill>
                <a:latin typeface="Calibri" panose="020F0502020204030204" pitchFamily="34" charset="0"/>
                <a:cs typeface="Calibri" panose="020F0502020204030204" pitchFamily="34" charset="0"/>
              </a:rPr>
              <a:t>Amendments issued to the RFP will also be posted on </a:t>
            </a:r>
            <a:r>
              <a:rPr lang="en-US" altLang="en-US" sz="2600" dirty="0">
                <a:solidFill>
                  <a:srgbClr val="000000"/>
                </a:solidFill>
                <a:latin typeface="Calibri" panose="020F0502020204030204" pitchFamily="34" charset="0"/>
                <a:cs typeface="Calibri" panose="020F0502020204030204" pitchFamily="34" charset="0"/>
                <a:hlinkClick r:id="rId3"/>
              </a:rPr>
              <a:t>www.SAM.gov</a:t>
            </a:r>
            <a:r>
              <a:rPr lang="en-US" altLang="en-US" sz="2600" dirty="0">
                <a:solidFill>
                  <a:srgbClr val="000000"/>
                </a:solidFill>
                <a:latin typeface="Calibri" panose="020F0502020204030204" pitchFamily="34" charset="0"/>
                <a:cs typeface="Calibri" panose="020F0502020204030204" pitchFamily="34" charset="0"/>
              </a:rPr>
              <a:t> </a:t>
            </a:r>
            <a:b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indent="-342900">
              <a:spcBef>
                <a:spcPts val="300"/>
              </a:spcBef>
              <a:spcAft>
                <a:spcPts val="600"/>
              </a:spcAft>
              <a:buFont typeface="Arial" panose="020B0604020202020204" pitchFamily="34" charset="0"/>
              <a:buChar char="•"/>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R="0" lvl="0" algn="l" defTabSz="914400" rtl="0" eaLnBrk="1" fontAlgn="base" latinLnBrk="0" hangingPunct="1">
              <a:lnSpc>
                <a:spcPct val="100000"/>
              </a:lnSpc>
              <a:spcBef>
                <a:spcPts val="300"/>
              </a:spcBef>
              <a:spcAft>
                <a:spcPts val="600"/>
              </a:spcAft>
              <a:buClrTx/>
              <a:buSzTx/>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endParaRPr lang="en-US" dirty="0"/>
          </a:p>
        </p:txBody>
      </p:sp>
      <p:sp>
        <p:nvSpPr>
          <p:cNvPr id="4" name="Title 3">
            <a:extLst>
              <a:ext uri="{FF2B5EF4-FFF2-40B4-BE49-F238E27FC236}">
                <a16:creationId xmlns:a16="http://schemas.microsoft.com/office/drawing/2014/main" id="{7E18140C-3ED0-2D80-CBE8-F74A6CBA71B4}"/>
              </a:ext>
            </a:extLst>
          </p:cNvPr>
          <p:cNvSpPr>
            <a:spLocks noGrp="1"/>
          </p:cNvSpPr>
          <p:nvPr>
            <p:ph type="title"/>
          </p:nvPr>
        </p:nvSpPr>
        <p:spPr>
          <a:xfrm>
            <a:off x="948366" y="498763"/>
            <a:ext cx="10386814" cy="463137"/>
          </a:xfrm>
        </p:spPr>
        <p:txBody>
          <a:bodyPr/>
          <a:lstStyle/>
          <a:p>
            <a:pPr algn="ctr"/>
            <a:r>
              <a:rPr kumimoji="0" lang="en-US" altLang="en-US" b="1"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OBTAINING THE ISSUE DOCUMENTS</a:t>
            </a:r>
            <a:br>
              <a:rPr kumimoji="0" lang="en-US" altLang="en-US" sz="29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endParaRPr lang="en-US" dirty="0"/>
          </a:p>
        </p:txBody>
      </p:sp>
    </p:spTree>
    <p:extLst>
      <p:ext uri="{BB962C8B-B14F-4D97-AF65-F5344CB8AC3E}">
        <p14:creationId xmlns:p14="http://schemas.microsoft.com/office/powerpoint/2010/main" val="3727695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331AF-050F-0C4B-5F21-0D7B81BCF977}"/>
              </a:ext>
            </a:extLst>
          </p:cNvPr>
          <p:cNvSpPr>
            <a:spLocks noGrp="1"/>
          </p:cNvSpPr>
          <p:nvPr>
            <p:ph sz="quarter" idx="10"/>
          </p:nvPr>
        </p:nvSpPr>
        <p:spPr/>
        <p:txBody>
          <a:bodyPr/>
          <a:lstStyle/>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Requirements to download Technical Data Package:</a:t>
            </a:r>
            <a:b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endPar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Need to be registered in System for Award Management (SAM) database.  You must sign up and sign-in to your account to use many features of SAM.gov (saving searches, viewing solicitations, etc.)</a:t>
            </a:r>
          </a:p>
          <a:p>
            <a:pPr marL="1317625" lvl="3" indent="-342900">
              <a:spcBef>
                <a:spcPts val="300"/>
              </a:spcBef>
              <a:defRPr/>
            </a:pPr>
            <a:r>
              <a:rPr lang="en-US" sz="2200" dirty="0">
                <a:solidFill>
                  <a:srgbClr val="000000"/>
                </a:solidFill>
                <a:latin typeface="Calibri" panose="020F0502020204030204" pitchFamily="34" charset="0"/>
                <a:cs typeface="Calibri" panose="020F0502020204030204" pitchFamily="34" charset="0"/>
              </a:rPr>
              <a:t>Locate and Access the Solicitation notice in SAM database.</a:t>
            </a:r>
          </a:p>
          <a:p>
            <a:pPr marL="1544637" lvl="4" indent="-342900">
              <a:spcBef>
                <a:spcPts val="300"/>
              </a:spcBef>
              <a:defRPr/>
            </a:pPr>
            <a:r>
              <a:rPr kumimoji="0" 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Go to Attachments/Links Section to download the solicitation and all technical documents.</a:t>
            </a:r>
            <a:br>
              <a:rPr kumimoji="0" 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endParaRPr kumimoji="0" 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You must register your business entity (you as an individual or your organization) to be able to propose on contracts or apply for federal assistance (grants, loans, etc.) from the federal government.</a:t>
            </a:r>
            <a:endParaRPr kumimoji="0" lang="en-US" altLang="en-US" sz="28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pPr marR="0" lvl="0" algn="l" defTabSz="914400" rtl="0" eaLnBrk="1" fontAlgn="base" latinLnBrk="0" hangingPunct="1">
              <a:lnSpc>
                <a:spcPct val="100000"/>
              </a:lnSpc>
              <a:spcBef>
                <a:spcPts val="300"/>
              </a:spcBef>
              <a:spcAft>
                <a:spcPts val="600"/>
              </a:spcAft>
              <a:buClrTx/>
              <a:buSzTx/>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endParaRPr lang="en-US" dirty="0"/>
          </a:p>
        </p:txBody>
      </p:sp>
      <p:sp>
        <p:nvSpPr>
          <p:cNvPr id="4" name="Title 3">
            <a:extLst>
              <a:ext uri="{FF2B5EF4-FFF2-40B4-BE49-F238E27FC236}">
                <a16:creationId xmlns:a16="http://schemas.microsoft.com/office/drawing/2014/main" id="{7E18140C-3ED0-2D80-CBE8-F74A6CBA71B4}"/>
              </a:ext>
            </a:extLst>
          </p:cNvPr>
          <p:cNvSpPr>
            <a:spLocks noGrp="1"/>
          </p:cNvSpPr>
          <p:nvPr>
            <p:ph type="title"/>
          </p:nvPr>
        </p:nvSpPr>
        <p:spPr>
          <a:xfrm>
            <a:off x="948366" y="498763"/>
            <a:ext cx="10386814" cy="463137"/>
          </a:xfrm>
        </p:spPr>
        <p:txBody>
          <a:bodyPr/>
          <a:lstStyle/>
          <a:p>
            <a:pPr algn="ctr"/>
            <a:r>
              <a:rPr kumimoji="0" lang="en-US" altLang="en-US" b="1"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OBTAINING THE ISSUE DOCUMENTS</a:t>
            </a:r>
            <a:br>
              <a:rPr kumimoji="0" lang="en-US" altLang="en-US" sz="29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endParaRPr lang="en-US" dirty="0"/>
          </a:p>
        </p:txBody>
      </p:sp>
    </p:spTree>
    <p:extLst>
      <p:ext uri="{BB962C8B-B14F-4D97-AF65-F5344CB8AC3E}">
        <p14:creationId xmlns:p14="http://schemas.microsoft.com/office/powerpoint/2010/main" val="2397164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331AF-050F-0C4B-5F21-0D7B81BCF977}"/>
              </a:ext>
            </a:extLst>
          </p:cNvPr>
          <p:cNvSpPr>
            <a:spLocks noGrp="1"/>
          </p:cNvSpPr>
          <p:nvPr>
            <p:ph sz="quarter" idx="10"/>
          </p:nvPr>
        </p:nvSpPr>
        <p:spPr/>
        <p:txBody>
          <a:bodyPr/>
          <a:lstStyle/>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Requirements to Submit Proposals:</a:t>
            </a:r>
            <a:br>
              <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endPar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You must register your business entity (you as an individual or your organization) to be able to propose on contracts or apply for federal assistance (grants, loans, etc.) from the federal government.</a:t>
            </a:r>
            <a:br>
              <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endPar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lang="en-US" altLang="en-US" sz="2600" b="1" dirty="0">
                <a:solidFill>
                  <a:srgbClr val="000000"/>
                </a:solidFill>
                <a:latin typeface="Calibri" panose="020F0502020204030204" pitchFamily="34" charset="0"/>
                <a:cs typeface="Calibri" panose="020F0502020204030204" pitchFamily="34" charset="0"/>
              </a:rPr>
              <a:t>All proposals</a:t>
            </a:r>
            <a:r>
              <a:rPr lang="en-US" altLang="en-US" sz="2600" dirty="0">
                <a:solidFill>
                  <a:srgbClr val="000000"/>
                </a:solidFill>
                <a:latin typeface="Calibri" panose="020F0502020204030204" pitchFamily="34" charset="0"/>
                <a:cs typeface="Calibri" panose="020F0502020204030204" pitchFamily="34" charset="0"/>
              </a:rPr>
              <a:t> will be </a:t>
            </a:r>
            <a:r>
              <a:rPr lang="en-US" altLang="en-US" sz="2600" b="1" dirty="0">
                <a:solidFill>
                  <a:srgbClr val="000000"/>
                </a:solidFill>
                <a:latin typeface="Calibri" panose="020F0502020204030204" pitchFamily="34" charset="0"/>
                <a:cs typeface="Calibri" panose="020F0502020204030204" pitchFamily="34" charset="0"/>
              </a:rPr>
              <a:t>submitted through the Procurement Integrated Enterprise Environment (</a:t>
            </a:r>
            <a:r>
              <a:rPr lang="en-US" altLang="en-US" sz="2600" b="1" u="sng" dirty="0">
                <a:solidFill>
                  <a:srgbClr val="000000"/>
                </a:solidFill>
                <a:latin typeface="Calibri" panose="020F0502020204030204" pitchFamily="34" charset="0"/>
                <a:cs typeface="Calibri" panose="020F0502020204030204" pitchFamily="34" charset="0"/>
              </a:rPr>
              <a:t>PIEE) Solicitation Module</a:t>
            </a:r>
            <a:r>
              <a:rPr lang="en-US" altLang="en-US" sz="2600" dirty="0">
                <a:solidFill>
                  <a:srgbClr val="000000"/>
                </a:solidFill>
                <a:latin typeface="Calibri" panose="020F0502020204030204" pitchFamily="34" charset="0"/>
                <a:cs typeface="Calibri" panose="020F0502020204030204" pitchFamily="34" charset="0"/>
              </a:rPr>
              <a:t> </a:t>
            </a:r>
            <a:r>
              <a:rPr lang="en-US" altLang="en-US" sz="2600" b="1" dirty="0">
                <a:solidFill>
                  <a:srgbClr val="000000"/>
                </a:solidFill>
                <a:latin typeface="Calibri" panose="020F0502020204030204" pitchFamily="34" charset="0"/>
                <a:cs typeface="Calibri" panose="020F0502020204030204" pitchFamily="34" charset="0"/>
              </a:rPr>
              <a:t>on time</a:t>
            </a:r>
            <a:r>
              <a:rPr lang="en-US" altLang="en-US" sz="2600" dirty="0">
                <a:solidFill>
                  <a:srgbClr val="000000"/>
                </a:solidFill>
                <a:latin typeface="Calibri" panose="020F0502020204030204" pitchFamily="34" charset="0"/>
                <a:cs typeface="Calibri" panose="020F0502020204030204" pitchFamily="34" charset="0"/>
              </a:rPr>
              <a:t>. Therefore, offerors must register in advance for a user ID and Password to access this system.</a:t>
            </a: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Instructions for submission will be in Section 00 21 00 of the Solicitation Package</a:t>
            </a:r>
          </a:p>
          <a:p>
            <a:pPr marR="0" lvl="0" algn="l" defTabSz="914400" rtl="0" eaLnBrk="1" fontAlgn="base" latinLnBrk="0" hangingPunct="1">
              <a:lnSpc>
                <a:spcPct val="100000"/>
              </a:lnSpc>
              <a:spcBef>
                <a:spcPts val="300"/>
              </a:spcBef>
              <a:spcAft>
                <a:spcPts val="600"/>
              </a:spcAft>
              <a:buClrTx/>
              <a:buSzTx/>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endParaRPr lang="en-US" dirty="0"/>
          </a:p>
        </p:txBody>
      </p:sp>
      <p:sp>
        <p:nvSpPr>
          <p:cNvPr id="4" name="Title 3">
            <a:extLst>
              <a:ext uri="{FF2B5EF4-FFF2-40B4-BE49-F238E27FC236}">
                <a16:creationId xmlns:a16="http://schemas.microsoft.com/office/drawing/2014/main" id="{7E18140C-3ED0-2D80-CBE8-F74A6CBA71B4}"/>
              </a:ext>
            </a:extLst>
          </p:cNvPr>
          <p:cNvSpPr>
            <a:spLocks noGrp="1"/>
          </p:cNvSpPr>
          <p:nvPr>
            <p:ph type="title"/>
          </p:nvPr>
        </p:nvSpPr>
        <p:spPr>
          <a:xfrm>
            <a:off x="948366" y="498763"/>
            <a:ext cx="10386814" cy="463137"/>
          </a:xfrm>
        </p:spPr>
        <p:txBody>
          <a:bodyPr/>
          <a:lstStyle/>
          <a:p>
            <a:pPr algn="ctr"/>
            <a:r>
              <a:rPr kumimoji="0" lang="en-US" altLang="en-US" b="1"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OBTAINING THE ISSUE DOCUMENTS</a:t>
            </a:r>
            <a:br>
              <a:rPr kumimoji="0" lang="en-US" altLang="en-US" sz="29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endParaRPr lang="en-US" dirty="0"/>
          </a:p>
        </p:txBody>
      </p:sp>
    </p:spTree>
    <p:extLst>
      <p:ext uri="{BB962C8B-B14F-4D97-AF65-F5344CB8AC3E}">
        <p14:creationId xmlns:p14="http://schemas.microsoft.com/office/powerpoint/2010/main" val="1485978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66DE466-CDDB-9A99-CAF7-60CE454BF2C8}"/>
              </a:ext>
            </a:extLst>
          </p:cNvPr>
          <p:cNvSpPr>
            <a:spLocks noGrp="1"/>
          </p:cNvSpPr>
          <p:nvPr>
            <p:ph sz="quarter" idx="10"/>
          </p:nvPr>
        </p:nvSpPr>
        <p:spPr/>
        <p:txBody>
          <a:bodyPr/>
          <a:lstStyle/>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a:t>
            </a:r>
            <a:r>
              <a:rPr lang="en-US" sz="2800" dirty="0">
                <a:solidFill>
                  <a:srgbClr val="000000"/>
                </a:solidFill>
                <a:latin typeface="Calibri" panose="020F0502020204030204" pitchFamily="34" charset="0"/>
                <a:cs typeface="Calibri" panose="020F0502020204030204" pitchFamily="34" charset="0"/>
              </a:rPr>
              <a:t>Unaccompanied Enlisted Personnel Housing (UEPH) Barracks Project </a:t>
            </a: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is a Design-Bid-Build (D-B-B) Request for Proposals (RFP). </a:t>
            </a:r>
          </a:p>
          <a:p>
            <a:pPr marL="0" marR="0" lvl="0" indent="0" algn="l" defTabSz="914400" rtl="0" eaLnBrk="1" fontAlgn="base" latinLnBrk="0" hangingPunct="1">
              <a:lnSpc>
                <a:spcPct val="100000"/>
              </a:lnSpc>
              <a:spcBef>
                <a:spcPts val="300"/>
              </a:spcBef>
              <a:spcAft>
                <a:spcPct val="0"/>
              </a:spcAft>
              <a:buClrTx/>
              <a:buSzTx/>
              <a:buFont typeface="Arial" pitchFamily="34" charset="0"/>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Project award will be made via a Single-Phase “Best Value Trade-off” basis as described in the evaluation criteria.</a:t>
            </a:r>
          </a:p>
          <a:p>
            <a:pPr marL="0" marR="0" lvl="0" indent="0" algn="l" defTabSz="914400" rtl="0" eaLnBrk="1" fontAlgn="base" latinLnBrk="0" hangingPunct="1">
              <a:lnSpc>
                <a:spcPct val="100000"/>
              </a:lnSpc>
              <a:spcBef>
                <a:spcPts val="300"/>
              </a:spcBef>
              <a:spcAft>
                <a:spcPct val="0"/>
              </a:spcAft>
              <a:buClrTx/>
              <a:buSzTx/>
              <a:buFont typeface="Arial" pitchFamily="34" charset="0"/>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Proposals must be submitted on time.</a:t>
            </a:r>
          </a:p>
          <a:p>
            <a:pPr marL="800100" marR="0" lvl="1"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800" i="0" u="sng"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The Louisville District is located within the Eastern time zone.</a:t>
            </a:r>
          </a:p>
          <a:p>
            <a:pPr marL="457200" marR="0" lvl="1" indent="0" algn="l" defTabSz="914400" rtl="0" eaLnBrk="1" fontAlgn="base" latinLnBrk="0" hangingPunct="1">
              <a:lnSpc>
                <a:spcPct val="100000"/>
              </a:lnSpc>
              <a:spcBef>
                <a:spcPts val="300"/>
              </a:spcBef>
              <a:spcAft>
                <a:spcPct val="0"/>
              </a:spcAft>
              <a:buClrTx/>
              <a:buSzTx/>
              <a:buFont typeface="Arial" pitchFamily="34" charset="0"/>
              <a:buNone/>
              <a:tabLst/>
              <a:defRPr/>
            </a:pPr>
            <a:endParaRPr kumimoji="0" lang="en-US" altLang="en-US" sz="2800" b="1" i="0" u="sng"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Source Selection Evaluation Board (SSEB) will evaluate contractors’ proposals based on specific factors which are defined in the RFP Package.</a:t>
            </a:r>
          </a:p>
          <a:p>
            <a:endParaRPr lang="en-US" dirty="0"/>
          </a:p>
        </p:txBody>
      </p:sp>
      <p:sp>
        <p:nvSpPr>
          <p:cNvPr id="4" name="Title 3">
            <a:extLst>
              <a:ext uri="{FF2B5EF4-FFF2-40B4-BE49-F238E27FC236}">
                <a16:creationId xmlns:a16="http://schemas.microsoft.com/office/drawing/2014/main" id="{9A9AC50D-5111-B6F3-0215-C5E7AF594F1B}"/>
              </a:ext>
            </a:extLst>
          </p:cNvPr>
          <p:cNvSpPr>
            <a:spLocks noGrp="1"/>
          </p:cNvSpPr>
          <p:nvPr>
            <p:ph type="title"/>
          </p:nvPr>
        </p:nvSpPr>
        <p:spPr>
          <a:xfrm>
            <a:off x="948366" y="443345"/>
            <a:ext cx="10386814" cy="518556"/>
          </a:xfrm>
        </p:spPr>
        <p:txBody>
          <a:bodyPr/>
          <a:lstStyle/>
          <a:p>
            <a:pPr algn="ctr"/>
            <a:r>
              <a:rPr kumimoji="0" lang="en-US" b="1"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THE PROCUREMENT PROCESS</a:t>
            </a:r>
            <a:br>
              <a:rPr kumimoji="0" lang="en-US" sz="40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endParaRPr lang="en-US" dirty="0"/>
          </a:p>
        </p:txBody>
      </p:sp>
    </p:spTree>
    <p:extLst>
      <p:ext uri="{BB962C8B-B14F-4D97-AF65-F5344CB8AC3E}">
        <p14:creationId xmlns:p14="http://schemas.microsoft.com/office/powerpoint/2010/main" val="2354696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72D10D-918A-7601-A324-854915CC7749}"/>
              </a:ext>
            </a:extLst>
          </p:cNvPr>
          <p:cNvSpPr>
            <a:spLocks noGrp="1"/>
          </p:cNvSpPr>
          <p:nvPr>
            <p:ph sz="quarter" idx="10"/>
          </p:nvPr>
        </p:nvSpPr>
        <p:spPr>
          <a:xfrm>
            <a:off x="266700" y="1088901"/>
            <a:ext cx="11772900" cy="5600700"/>
          </a:xfrm>
        </p:spPr>
        <p:txBody>
          <a:bodyPr/>
          <a:lstStyle/>
          <a:p>
            <a:pPr marR="0" lvl="0" algn="l" defTabSz="914400" rtl="0" eaLnBrk="1" fontAlgn="base" latinLnBrk="0" hangingPunct="1">
              <a:lnSpc>
                <a:spcPct val="100000"/>
              </a:lnSpc>
              <a:spcBef>
                <a:spcPts val="300"/>
              </a:spcBef>
              <a:spcAft>
                <a:spcPct val="0"/>
              </a:spcAft>
              <a:buClrTx/>
              <a:buSzTx/>
              <a:tabLst/>
              <a:defRPr/>
            </a:pPr>
            <a:r>
              <a:rPr kumimoji="0" lang="en-US" alt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Source Selection Criteria for the “Best Value Trade-Off” consists of the following elements:</a:t>
            </a:r>
          </a:p>
          <a:p>
            <a:pPr marL="569913" lvl="1" indent="-342900">
              <a:spcBef>
                <a:spcPts val="300"/>
              </a:spcBef>
              <a:buFont typeface="Arial" panose="020B0604020202020204" pitchFamily="34" charset="0"/>
              <a:buChar char="•"/>
              <a:defRPr/>
            </a:pPr>
            <a:r>
              <a:rPr kumimoji="0" lang="en-US" alt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Volume I</a:t>
            </a:r>
          </a:p>
          <a:p>
            <a:pPr marL="804863" lvl="2" indent="-342900">
              <a:spcBef>
                <a:spcPts val="300"/>
              </a:spcBef>
              <a:defRPr/>
            </a:pPr>
            <a:r>
              <a:rPr kumimoji="0" lang="en-US" altLang="en-US" sz="20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Factor I: Past Performance (Recent projects, similar in size and scope)</a:t>
            </a:r>
          </a:p>
          <a:p>
            <a:pPr marL="804863" lvl="2" indent="-342900">
              <a:spcBef>
                <a:spcPts val="300"/>
              </a:spcBef>
              <a:defRPr/>
            </a:pPr>
            <a:r>
              <a:rPr lang="en-US" altLang="en-US" sz="2000" dirty="0">
                <a:solidFill>
                  <a:schemeClr val="tx1"/>
                </a:solidFill>
                <a:latin typeface="Calibri" panose="020F0502020204030204" pitchFamily="34" charset="0"/>
                <a:cs typeface="Calibri" panose="020F0502020204030204" pitchFamily="34" charset="0"/>
              </a:rPr>
              <a:t>Factor II: Management Plan</a:t>
            </a:r>
          </a:p>
          <a:p>
            <a:pPr marL="804863" lvl="2" indent="-342900">
              <a:spcBef>
                <a:spcPts val="300"/>
              </a:spcBef>
              <a:defRPr/>
            </a:pPr>
            <a:r>
              <a:rPr lang="en-US" altLang="en-US" sz="2000" dirty="0">
                <a:solidFill>
                  <a:schemeClr val="tx1"/>
                </a:solidFill>
                <a:latin typeface="Calibri" panose="020F0502020204030204" pitchFamily="34" charset="0"/>
                <a:cs typeface="Calibri" panose="020F0502020204030204" pitchFamily="34" charset="0"/>
              </a:rPr>
              <a:t>Factor III: Small Business Participation Plan</a:t>
            </a:r>
          </a:p>
          <a:p>
            <a:pPr marL="569913" lvl="1" indent="-342900">
              <a:spcBef>
                <a:spcPts val="300"/>
              </a:spcBef>
              <a:buFont typeface="Arial" panose="020B0604020202020204" pitchFamily="34" charset="0"/>
              <a:buChar char="•"/>
              <a:defRPr/>
            </a:pPr>
            <a:endParaRPr kumimoji="0" lang="en-US" altLang="en-US" sz="10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a:p>
            <a:pPr marL="569913" lvl="1" indent="-342900">
              <a:spcBef>
                <a:spcPts val="300"/>
              </a:spcBef>
              <a:buFont typeface="Arial" panose="020B0604020202020204" pitchFamily="34" charset="0"/>
              <a:buChar char="•"/>
              <a:defRPr/>
            </a:pPr>
            <a:r>
              <a:rPr kumimoji="0" lang="en-US" alt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Volume II – Price and Pro Forma Information</a:t>
            </a:r>
          </a:p>
          <a:p>
            <a:pPr marL="804863" lvl="2" indent="-342900">
              <a:spcBef>
                <a:spcPts val="300"/>
              </a:spcBef>
              <a:defRPr/>
            </a:pPr>
            <a:r>
              <a:rPr lang="en-US" altLang="en-US" sz="2000" dirty="0">
                <a:solidFill>
                  <a:schemeClr val="tx1"/>
                </a:solidFill>
                <a:latin typeface="Calibri" panose="020F0502020204030204" pitchFamily="34" charset="0"/>
                <a:cs typeface="Calibri" panose="020F0502020204030204" pitchFamily="34" charset="0"/>
              </a:rPr>
              <a:t>Standard Form 1442 &amp; Price Breakout Schedule, </a:t>
            </a:r>
            <a:r>
              <a:rPr lang="en-US" altLang="en-US" sz="2000" dirty="0">
                <a:solidFill>
                  <a:schemeClr val="tx1"/>
                </a:solidFill>
                <a:highlight>
                  <a:srgbClr val="FFFFFF"/>
                </a:highlight>
                <a:latin typeface="Calibri" panose="020F0502020204030204" pitchFamily="34" charset="0"/>
                <a:cs typeface="Calibri" panose="020F0502020204030204" pitchFamily="34" charset="0"/>
              </a:rPr>
              <a:t>Subcontracting Plan (Large Businesses Only), Bonding, etc.</a:t>
            </a:r>
          </a:p>
          <a:p>
            <a:pPr marR="0" lvl="0" algn="l" defTabSz="914400" rtl="0" eaLnBrk="1" fontAlgn="base" latinLnBrk="0" hangingPunct="1">
              <a:lnSpc>
                <a:spcPct val="100000"/>
              </a:lnSpc>
              <a:spcAft>
                <a:spcPct val="0"/>
              </a:spcAft>
              <a:buClrTx/>
              <a:buSzTx/>
              <a:tabLst/>
              <a:defRPr/>
            </a:pPr>
            <a:endParaRPr kumimoji="0" 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Submit your best proposal the 1</a:t>
            </a:r>
            <a:r>
              <a:rPr kumimoji="0" lang="en-US" sz="2400" b="0" i="0" u="none" strike="noStrike" kern="1200" cap="none" spc="0" normalizeH="0" baseline="30000" noProof="0" dirty="0">
                <a:ln>
                  <a:noFill/>
                </a:ln>
                <a:solidFill>
                  <a:schemeClr val="tx1"/>
                </a:solidFill>
                <a:effectLst/>
                <a:uLnTx/>
                <a:uFillTx/>
                <a:latin typeface="Calibri" panose="020F0502020204030204" pitchFamily="34" charset="0"/>
                <a:cs typeface="Calibri" panose="020F0502020204030204" pitchFamily="34" charset="0"/>
              </a:rPr>
              <a:t>st</a:t>
            </a:r>
            <a:r>
              <a:rPr kumimoji="0" 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time.  If we receive an initial proposal that is awardable, discussions may not be opened.</a:t>
            </a:r>
          </a:p>
          <a:p>
            <a:endParaRPr lang="en-US" dirty="0"/>
          </a:p>
        </p:txBody>
      </p:sp>
      <p:sp>
        <p:nvSpPr>
          <p:cNvPr id="4" name="Title 3">
            <a:extLst>
              <a:ext uri="{FF2B5EF4-FFF2-40B4-BE49-F238E27FC236}">
                <a16:creationId xmlns:a16="http://schemas.microsoft.com/office/drawing/2014/main" id="{97E4FC17-3211-B683-66E1-1C1F14CE1F77}"/>
              </a:ext>
            </a:extLst>
          </p:cNvPr>
          <p:cNvSpPr>
            <a:spLocks noGrp="1"/>
          </p:cNvSpPr>
          <p:nvPr>
            <p:ph type="title"/>
          </p:nvPr>
        </p:nvSpPr>
        <p:spPr>
          <a:xfrm>
            <a:off x="948366" y="484909"/>
            <a:ext cx="10386814" cy="476992"/>
          </a:xfrm>
        </p:spPr>
        <p:txBody>
          <a:bodyPr/>
          <a:lstStyle/>
          <a:p>
            <a:pPr algn="ctr"/>
            <a:r>
              <a:rPr kumimoji="0" lang="en-US" altLang="en-US"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PROPOSAL REQUIREMENTS</a:t>
            </a:r>
            <a:b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endParaRPr lang="en-US" dirty="0"/>
          </a:p>
        </p:txBody>
      </p:sp>
    </p:spTree>
    <p:extLst>
      <p:ext uri="{BB962C8B-B14F-4D97-AF65-F5344CB8AC3E}">
        <p14:creationId xmlns:p14="http://schemas.microsoft.com/office/powerpoint/2010/main" val="2516622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6AB18E-8778-5AE9-582E-4DCDC3E19DC6}"/>
              </a:ext>
            </a:extLst>
          </p:cNvPr>
          <p:cNvSpPr>
            <a:spLocks noGrp="1"/>
          </p:cNvSpPr>
          <p:nvPr>
            <p:ph sz="quarter" idx="10"/>
          </p:nvPr>
        </p:nvSpPr>
        <p:spPr>
          <a:xfrm>
            <a:off x="266700" y="1427018"/>
            <a:ext cx="11658600" cy="5202382"/>
          </a:xfrm>
        </p:spPr>
        <p:txBody>
          <a:bodyPr/>
          <a:lstStyle/>
          <a:p>
            <a:pPr marL="569913" lvl="1" indent="-342900">
              <a:spcBef>
                <a:spcPts val="300"/>
              </a:spcBef>
              <a:spcAft>
                <a:spcPts val="600"/>
              </a:spcAft>
              <a:buFont typeface="Arial" panose="020B0604020202020204" pitchFamily="34" charset="0"/>
              <a:buChar char="•"/>
              <a:defRPr/>
            </a:pPr>
            <a:r>
              <a:rPr kumimoji="0" lang="en-US" sz="2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Instructions for submitting a Request for Information (RFI) is included in the Solicitation</a:t>
            </a:r>
            <a:br>
              <a:rPr kumimoji="0" lang="en-US" sz="2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endParaRPr kumimoji="0" lang="en-US" sz="2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RFIs for this project will be received and answered through the ProjNet system, </a:t>
            </a:r>
            <a:r>
              <a:rPr lang="pt-BR" sz="2300" dirty="0">
                <a:latin typeface="Calibri" panose="020F0502020204030204" pitchFamily="34" charset="0"/>
                <a:cs typeface="Calibri" panose="020F0502020204030204" pitchFamily="34" charset="0"/>
                <a:hlinkClick r:id="rId3"/>
              </a:rPr>
              <a:t>http://www.ProjNet.org/ProjNet</a:t>
            </a:r>
            <a:r>
              <a:rPr lang="pt-BR" sz="2300" dirty="0">
                <a:latin typeface="Calibri" panose="020F0502020204030204" pitchFamily="34" charset="0"/>
                <a:cs typeface="Calibri" panose="020F0502020204030204" pitchFamily="34" charset="0"/>
              </a:rPr>
              <a:t> </a:t>
            </a:r>
            <a:r>
              <a:rPr kumimoji="0" lang="en-US" sz="2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a:r>
          </a:p>
          <a:p>
            <a:pPr marL="1092200" lvl="2" indent="-342900">
              <a:spcBef>
                <a:spcPts val="300"/>
              </a:spcBef>
              <a:spcAft>
                <a:spcPts val="600"/>
              </a:spcAft>
              <a:defRPr/>
            </a:pP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Any RFIs submitted directly to the project team will not receive a response and will be directed to the ProjNet system.</a:t>
            </a:r>
            <a:br>
              <a:rPr kumimoji="0" lang="en-US" sz="2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endParaRPr kumimoji="0" lang="en-US" sz="2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744537" indent="-457200">
              <a:spcBef>
                <a:spcPts val="300"/>
              </a:spcBef>
              <a:spcAft>
                <a:spcPts val="600"/>
              </a:spcAft>
              <a:buFont typeface="Arial" panose="020B0604020202020204" pitchFamily="34" charset="0"/>
              <a:buChar char="•"/>
              <a:defRPr/>
            </a:pPr>
            <a:r>
              <a:rPr lang="en-US" sz="2300" dirty="0">
                <a:solidFill>
                  <a:srgbClr val="000000"/>
                </a:solidFill>
                <a:latin typeface="Calibri" panose="020F0502020204030204" pitchFamily="34" charset="0"/>
                <a:cs typeface="Calibri" panose="020F0502020204030204" pitchFamily="34" charset="0"/>
              </a:rPr>
              <a:t>Each project will have a </a:t>
            </a:r>
            <a:r>
              <a:rPr lang="en-US" sz="2300" dirty="0" err="1">
                <a:solidFill>
                  <a:srgbClr val="000000"/>
                </a:solidFill>
                <a:latin typeface="Calibri" panose="020F0502020204030204" pitchFamily="34" charset="0"/>
                <a:cs typeface="Calibri" panose="020F0502020204030204" pitchFamily="34" charset="0"/>
              </a:rPr>
              <a:t>ProjNet</a:t>
            </a:r>
            <a:r>
              <a:rPr lang="en-US" sz="2300" dirty="0">
                <a:solidFill>
                  <a:srgbClr val="000000"/>
                </a:solidFill>
                <a:latin typeface="Calibri" panose="020F0502020204030204" pitchFamily="34" charset="0"/>
                <a:cs typeface="Calibri" panose="020F0502020204030204" pitchFamily="34" charset="0"/>
              </a:rPr>
              <a:t> Bidder’s Key, which is used to post your RFIs to the proper project.</a:t>
            </a:r>
            <a:endParaRPr lang="en-US" sz="2300" dirty="0">
              <a:solidFill>
                <a:srgbClr val="000000">
                  <a:lumMod val="75000"/>
                  <a:lumOff val="25000"/>
                </a:srgbClr>
              </a:solidFill>
              <a:latin typeface="Calibri" panose="020F0502020204030204" pitchFamily="34" charset="0"/>
              <a:cs typeface="Calibri" panose="020F0502020204030204" pitchFamily="34" charset="0"/>
            </a:endParaRPr>
          </a:p>
          <a:p>
            <a:pPr marL="1206500" lvl="2" indent="-457200">
              <a:spcBef>
                <a:spcPts val="300"/>
              </a:spcBef>
              <a:spcAft>
                <a:spcPts val="600"/>
              </a:spcAft>
              <a:defRPr/>
            </a:pP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a:t>
            </a:r>
            <a:r>
              <a:rPr kumimoji="0" lang="en-US" sz="2000" b="0" i="0" u="none" strike="noStrike" kern="120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rPr>
              <a:t>ProjNet</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Bidder’s Key will be included in the </a:t>
            </a:r>
            <a:r>
              <a:rPr kumimoji="0" lang="en-US" sz="2000" b="0" i="0" u="none" strike="noStrike" kern="120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rPr>
              <a:t>ProjNet</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Instructions section of the RFP.</a:t>
            </a:r>
            <a:br>
              <a:rPr kumimoji="0" 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endParaRPr kumimoji="0" 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lang="en-US" sz="2300" dirty="0">
                <a:solidFill>
                  <a:srgbClr val="000000"/>
                </a:solidFill>
                <a:latin typeface="Calibri" panose="020F0502020204030204" pitchFamily="34" charset="0"/>
                <a:cs typeface="Calibri" panose="020F0502020204030204" pitchFamily="34" charset="0"/>
              </a:rPr>
              <a:t>Requests for Information and their responses will be available for public review through </a:t>
            </a:r>
            <a:r>
              <a:rPr lang="en-US" sz="2300" dirty="0" err="1">
                <a:solidFill>
                  <a:srgbClr val="000000"/>
                </a:solidFill>
                <a:latin typeface="Calibri" panose="020F0502020204030204" pitchFamily="34" charset="0"/>
                <a:cs typeface="Calibri" panose="020F0502020204030204" pitchFamily="34" charset="0"/>
              </a:rPr>
              <a:t>ProjNet</a:t>
            </a:r>
            <a:r>
              <a:rPr lang="en-US" sz="2300" dirty="0">
                <a:solidFill>
                  <a:srgbClr val="000000"/>
                </a:solidFill>
                <a:latin typeface="Calibri" panose="020F0502020204030204" pitchFamily="34" charset="0"/>
                <a:cs typeface="Calibri" panose="020F0502020204030204" pitchFamily="34" charset="0"/>
              </a:rPr>
              <a:t>.</a:t>
            </a:r>
          </a:p>
          <a:p>
            <a:endParaRPr lang="en-US" dirty="0"/>
          </a:p>
        </p:txBody>
      </p:sp>
      <p:sp>
        <p:nvSpPr>
          <p:cNvPr id="4" name="Title 3">
            <a:extLst>
              <a:ext uri="{FF2B5EF4-FFF2-40B4-BE49-F238E27FC236}">
                <a16:creationId xmlns:a16="http://schemas.microsoft.com/office/drawing/2014/main" id="{044E5E4E-4F1D-8B41-34FE-413248079D02}"/>
              </a:ext>
            </a:extLst>
          </p:cNvPr>
          <p:cNvSpPr>
            <a:spLocks noGrp="1"/>
          </p:cNvSpPr>
          <p:nvPr>
            <p:ph type="title"/>
          </p:nvPr>
        </p:nvSpPr>
        <p:spPr>
          <a:xfrm>
            <a:off x="948366" y="568035"/>
            <a:ext cx="10386814" cy="393865"/>
          </a:xfrm>
        </p:spPr>
        <p:txBody>
          <a:bodyPr/>
          <a:lstStyle/>
          <a:p>
            <a:pPr algn="ctr"/>
            <a:r>
              <a:rPr kumimoji="0" lang="en-US" altLang="en-US"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PROPOSAL</a:t>
            </a:r>
            <a:r>
              <a:rPr kumimoji="0" lang="en-US" altLang="en-US" b="1" i="0" u="none" strike="noStrike" kern="1200" cap="none" spc="0" normalizeH="0" baseline="0" noProof="0" dirty="0">
                <a:ln>
                  <a:noFill/>
                </a:ln>
                <a:solidFill>
                  <a:srgbClr val="000000"/>
                </a:solidFill>
                <a:effectLst/>
                <a:uLnTx/>
                <a:uFillTx/>
                <a:latin typeface="Arial"/>
                <a:ea typeface="ＭＳ Ｐゴシック" charset="0"/>
                <a:cs typeface="Arial" pitchFamily="34" charset="0"/>
              </a:rPr>
              <a:t> REQUIREMENTS (cont.)</a:t>
            </a:r>
            <a:br>
              <a:rPr kumimoji="0" lang="en-US" altLang="en-US" sz="32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endParaRPr lang="en-US" dirty="0"/>
          </a:p>
        </p:txBody>
      </p:sp>
    </p:spTree>
    <p:extLst>
      <p:ext uri="{BB962C8B-B14F-4D97-AF65-F5344CB8AC3E}">
        <p14:creationId xmlns:p14="http://schemas.microsoft.com/office/powerpoint/2010/main" val="3643648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C6756D-2500-A78B-4B08-818D38CA76EE}"/>
              </a:ext>
            </a:extLst>
          </p:cNvPr>
          <p:cNvSpPr>
            <a:spLocks noGrp="1"/>
          </p:cNvSpPr>
          <p:nvPr>
            <p:ph sz="quarter" idx="10"/>
          </p:nvPr>
        </p:nvSpPr>
        <p:spPr>
          <a:xfrm>
            <a:off x="266700" y="1371600"/>
            <a:ext cx="11658600" cy="5257800"/>
          </a:xfrm>
        </p:spPr>
        <p:txBody>
          <a:bodyPr/>
          <a:lstStyle/>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We will utilize the Electronic Receipt of Proposal process – Instructions will be in Section 00 21 00 of the solicitation package</a:t>
            </a:r>
            <a:b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endPar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Proposals uploaded to and submitted through PIEE Solicitation Module</a:t>
            </a:r>
            <a:b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endPar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Don’t wait until the last minute to upload your proposal. Late is Late! </a:t>
            </a: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No exceptions!</a:t>
            </a:r>
          </a:p>
          <a:p>
            <a:endParaRPr lang="en-US" dirty="0"/>
          </a:p>
        </p:txBody>
      </p:sp>
      <p:sp>
        <p:nvSpPr>
          <p:cNvPr id="4" name="Title 3">
            <a:extLst>
              <a:ext uri="{FF2B5EF4-FFF2-40B4-BE49-F238E27FC236}">
                <a16:creationId xmlns:a16="http://schemas.microsoft.com/office/drawing/2014/main" id="{1C32F905-E58A-9F88-BBFB-588FA127B8C5}"/>
              </a:ext>
            </a:extLst>
          </p:cNvPr>
          <p:cNvSpPr>
            <a:spLocks noGrp="1"/>
          </p:cNvSpPr>
          <p:nvPr>
            <p:ph type="title"/>
          </p:nvPr>
        </p:nvSpPr>
        <p:spPr>
          <a:xfrm>
            <a:off x="948366" y="623455"/>
            <a:ext cx="10386814" cy="338446"/>
          </a:xfrm>
        </p:spPr>
        <p:txBody>
          <a:bodyPr/>
          <a:lstStyle/>
          <a:p>
            <a:pPr algn="ctr"/>
            <a:r>
              <a:rPr kumimoji="0" lang="en-US" altLang="en-US"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PROPOSAL</a:t>
            </a:r>
            <a:r>
              <a:rPr kumimoji="0" lang="en-US" altLang="en-US" b="1" i="0" u="none" strike="noStrike" kern="1200" cap="none" spc="0" normalizeH="0" baseline="0" noProof="0" dirty="0">
                <a:ln>
                  <a:noFill/>
                </a:ln>
                <a:solidFill>
                  <a:srgbClr val="000000"/>
                </a:solidFill>
                <a:effectLst/>
                <a:uLnTx/>
                <a:uFillTx/>
                <a:latin typeface="Arial"/>
                <a:ea typeface="ＭＳ Ｐゴシック" charset="0"/>
                <a:cs typeface="Arial" pitchFamily="34" charset="0"/>
              </a:rPr>
              <a:t> SUBMISSION</a:t>
            </a:r>
            <a:br>
              <a:rPr kumimoji="0" lang="en-US" altLang="en-US" sz="32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endParaRPr lang="en-US" dirty="0"/>
          </a:p>
        </p:txBody>
      </p:sp>
    </p:spTree>
    <p:extLst>
      <p:ext uri="{BB962C8B-B14F-4D97-AF65-F5344CB8AC3E}">
        <p14:creationId xmlns:p14="http://schemas.microsoft.com/office/powerpoint/2010/main" val="772829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8EB33B-51FD-46DB-A351-256B515547F3}"/>
              </a:ext>
            </a:extLst>
          </p:cNvPr>
          <p:cNvSpPr>
            <a:spLocks noGrp="1"/>
          </p:cNvSpPr>
          <p:nvPr>
            <p:ph sz="quarter" idx="10"/>
          </p:nvPr>
        </p:nvSpPr>
        <p:spPr/>
        <p:txBody>
          <a:bodyPr/>
          <a:lstStyle/>
          <a:p>
            <a:endParaRPr lang="en-US" sz="3200" dirty="0"/>
          </a:p>
          <a:p>
            <a:endParaRPr lang="en-US" sz="3200" dirty="0"/>
          </a:p>
          <a:p>
            <a:r>
              <a:rPr lang="en-US" sz="3200" dirty="0"/>
              <a:t>Advertise: First Quarter FY 26</a:t>
            </a:r>
          </a:p>
          <a:p>
            <a:endParaRPr lang="en-US" sz="3200" dirty="0"/>
          </a:p>
          <a:p>
            <a:r>
              <a:rPr lang="en-US" sz="3200" dirty="0"/>
              <a:t>Bids Due: Second Quarter FY26</a:t>
            </a:r>
          </a:p>
          <a:p>
            <a:endParaRPr lang="en-US" sz="3200" dirty="0"/>
          </a:p>
          <a:p>
            <a:r>
              <a:rPr lang="en-US" sz="3200" dirty="0"/>
              <a:t>Award: Second/Third Quarter FY 26</a:t>
            </a:r>
          </a:p>
          <a:p>
            <a:endParaRPr lang="en-US" sz="3200" dirty="0"/>
          </a:p>
          <a:p>
            <a:pPr defTabSz="923925">
              <a:tabLst>
                <a:tab pos="5548313" algn="l"/>
              </a:tabLst>
            </a:pPr>
            <a:r>
              <a:rPr lang="en-US" sz="3200" dirty="0"/>
              <a:t>Project Complete: Second Quarter FY 29</a:t>
            </a:r>
          </a:p>
        </p:txBody>
      </p:sp>
      <p:sp>
        <p:nvSpPr>
          <p:cNvPr id="4" name="Title 3">
            <a:extLst>
              <a:ext uri="{FF2B5EF4-FFF2-40B4-BE49-F238E27FC236}">
                <a16:creationId xmlns:a16="http://schemas.microsoft.com/office/drawing/2014/main" id="{5189757B-E9C2-4CE0-B22F-4B53310AE9D3}"/>
              </a:ext>
            </a:extLst>
          </p:cNvPr>
          <p:cNvSpPr>
            <a:spLocks noGrp="1"/>
          </p:cNvSpPr>
          <p:nvPr>
            <p:ph type="title"/>
          </p:nvPr>
        </p:nvSpPr>
        <p:spPr/>
        <p:txBody>
          <a:bodyPr/>
          <a:lstStyle/>
          <a:p>
            <a:pPr algn="ctr"/>
            <a:r>
              <a:rPr lang="en-US" dirty="0"/>
              <a:t>Schedule</a:t>
            </a:r>
          </a:p>
        </p:txBody>
      </p:sp>
    </p:spTree>
    <p:extLst>
      <p:ext uri="{BB962C8B-B14F-4D97-AF65-F5344CB8AC3E}">
        <p14:creationId xmlns:p14="http://schemas.microsoft.com/office/powerpoint/2010/main" val="4251338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3235297" y="2801681"/>
            <a:ext cx="5721406" cy="2527300"/>
          </a:xfrm>
        </p:spPr>
        <p:txBody>
          <a:bodyPr/>
          <a:lstStyle/>
          <a:p>
            <a:pPr marL="342900" indent="-342900" algn="ctr">
              <a:lnSpc>
                <a:spcPct val="90000"/>
              </a:lnSpc>
              <a:spcBef>
                <a:spcPct val="20000"/>
              </a:spcBef>
            </a:pPr>
            <a:endParaRPr lang="en-US" altLang="en-US" sz="3200" kern="0" dirty="0">
              <a:solidFill>
                <a:srgbClr val="000000"/>
              </a:solidFill>
              <a:latin typeface="Arial"/>
              <a:ea typeface="+mn-ea"/>
              <a:cs typeface="+mn-cs"/>
            </a:endParaRPr>
          </a:p>
          <a:p>
            <a:pPr marL="342900" indent="-342900" algn="ctr">
              <a:lnSpc>
                <a:spcPct val="90000"/>
              </a:lnSpc>
              <a:spcBef>
                <a:spcPct val="20000"/>
              </a:spcBef>
            </a:pPr>
            <a:r>
              <a:rPr lang="en-US" altLang="en-US" sz="3600" b="1" kern="0" dirty="0">
                <a:solidFill>
                  <a:srgbClr val="000000"/>
                </a:solidFill>
                <a:latin typeface="Arial"/>
                <a:ea typeface="+mn-ea"/>
                <a:cs typeface="+mn-cs"/>
              </a:rPr>
              <a:t>Crystal Harbin</a:t>
            </a:r>
          </a:p>
          <a:p>
            <a:pPr marL="342900" indent="-342900" algn="ctr">
              <a:lnSpc>
                <a:spcPct val="90000"/>
              </a:lnSpc>
              <a:spcBef>
                <a:spcPct val="20000"/>
              </a:spcBef>
            </a:pPr>
            <a:r>
              <a:rPr lang="en-US" altLang="en-US" sz="3200" kern="0" dirty="0">
                <a:solidFill>
                  <a:srgbClr val="000000"/>
                </a:solidFill>
                <a:latin typeface="Arial"/>
                <a:ea typeface="+mn-ea"/>
                <a:cs typeface="+mn-cs"/>
              </a:rPr>
              <a:t>Deputy for Small Business </a:t>
            </a:r>
          </a:p>
          <a:p>
            <a:pPr marL="342900" indent="-342900" algn="ctr">
              <a:lnSpc>
                <a:spcPct val="90000"/>
              </a:lnSpc>
              <a:spcBef>
                <a:spcPct val="20000"/>
              </a:spcBef>
            </a:pPr>
            <a:r>
              <a:rPr lang="en-US" altLang="en-US" sz="3200" kern="0" dirty="0">
                <a:solidFill>
                  <a:srgbClr val="000000"/>
                </a:solidFill>
                <a:latin typeface="Arial"/>
                <a:ea typeface="+mn-ea"/>
                <a:cs typeface="+mn-cs"/>
              </a:rPr>
              <a:t>Louisville District</a:t>
            </a:r>
          </a:p>
        </p:txBody>
      </p:sp>
      <p:graphicFrame>
        <p:nvGraphicFramePr>
          <p:cNvPr id="4" name="Object 70">
            <a:extLst>
              <a:ext uri="{FF2B5EF4-FFF2-40B4-BE49-F238E27FC236}">
                <a16:creationId xmlns:a16="http://schemas.microsoft.com/office/drawing/2014/main" id="{4DEFC358-A0E1-470A-9ED4-0271816470EB}"/>
              </a:ext>
            </a:extLst>
          </p:cNvPr>
          <p:cNvGraphicFramePr>
            <a:graphicFrameLocks/>
          </p:cNvGraphicFramePr>
          <p:nvPr/>
        </p:nvGraphicFramePr>
        <p:xfrm>
          <a:off x="4653250" y="577228"/>
          <a:ext cx="2733101" cy="2074985"/>
        </p:xfrm>
        <a:graphic>
          <a:graphicData uri="http://schemas.openxmlformats.org/presentationml/2006/ole">
            <mc:AlternateContent xmlns:mc="http://schemas.openxmlformats.org/markup-compatibility/2006">
              <mc:Choice xmlns:v="urn:schemas-microsoft-com:vml" Requires="v">
                <p:oleObj name="Presentation" r:id="rId2" imgW="2459618" imgH="1844186" progId="PowerPoint.Show.8">
                  <p:embed/>
                </p:oleObj>
              </mc:Choice>
              <mc:Fallback>
                <p:oleObj name="Presentation" r:id="rId2" imgW="2459618" imgH="1844186" progId="PowerPoint.Show.8">
                  <p:embed/>
                  <p:pic>
                    <p:nvPicPr>
                      <p:cNvPr id="4" name="Object 70">
                        <a:extLst>
                          <a:ext uri="{FF2B5EF4-FFF2-40B4-BE49-F238E27FC236}">
                            <a16:creationId xmlns:a16="http://schemas.microsoft.com/office/drawing/2014/main" id="{4DEFC358-A0E1-470A-9ED4-0271816470E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3250" y="577228"/>
                        <a:ext cx="2733101" cy="2074985"/>
                      </a:xfrm>
                      <a:prstGeom prst="rect">
                        <a:avLst/>
                      </a:prstGeom>
                      <a:noFill/>
                      <a:ln>
                        <a:noFill/>
                      </a:ln>
                      <a:effectLst/>
                    </p:spPr>
                  </p:pic>
                </p:oleObj>
              </mc:Fallback>
            </mc:AlternateContent>
          </a:graphicData>
        </a:graphic>
      </p:graphicFrame>
      <p:sp>
        <p:nvSpPr>
          <p:cNvPr id="6" name="TextBox 5">
            <a:extLst>
              <a:ext uri="{FF2B5EF4-FFF2-40B4-BE49-F238E27FC236}">
                <a16:creationId xmlns:a16="http://schemas.microsoft.com/office/drawing/2014/main" id="{BED2E5BE-C6AF-8D32-9BEB-EEE3ECADB2AB}"/>
              </a:ext>
            </a:extLst>
          </p:cNvPr>
          <p:cNvSpPr txBox="1"/>
          <p:nvPr/>
        </p:nvSpPr>
        <p:spPr>
          <a:xfrm>
            <a:off x="588397" y="5478449"/>
            <a:ext cx="11336903" cy="1231106"/>
          </a:xfrm>
          <a:prstGeom prst="rect">
            <a:avLst/>
          </a:prstGeom>
          <a:noFill/>
        </p:spPr>
        <p:txBody>
          <a:bodyPr wrap="square" rtlCol="0">
            <a:spAutoFit/>
          </a:bodyPr>
          <a:lstStyle/>
          <a:p>
            <a:pPr marL="342900" indent="-342900" algn="ctr">
              <a:lnSpc>
                <a:spcPct val="90000"/>
              </a:lnSpc>
              <a:spcBef>
                <a:spcPct val="20000"/>
              </a:spcBef>
            </a:pPr>
            <a:endParaRPr lang="en-US" altLang="en-US" sz="2800" kern="0" dirty="0">
              <a:solidFill>
                <a:srgbClr val="000000"/>
              </a:solidFill>
              <a:latin typeface="Arial"/>
              <a:ea typeface="+mn-ea"/>
              <a:cs typeface="+mn-cs"/>
            </a:endParaRPr>
          </a:p>
          <a:p>
            <a:pPr marL="342900" indent="-342900" algn="ctr">
              <a:lnSpc>
                <a:spcPct val="90000"/>
              </a:lnSpc>
              <a:spcBef>
                <a:spcPct val="20000"/>
              </a:spcBef>
            </a:pPr>
            <a:r>
              <a:rPr lang="en-US" altLang="en-US" sz="2800" kern="0" dirty="0">
                <a:solidFill>
                  <a:srgbClr val="000000"/>
                </a:solidFill>
                <a:latin typeface="Arial"/>
                <a:ea typeface="+mn-ea"/>
                <a:cs typeface="+mn-cs"/>
                <a:hlinkClick r:id="rId4"/>
              </a:rPr>
              <a:t>SBO-LRL@usace.army.mil</a:t>
            </a:r>
            <a:r>
              <a:rPr lang="en-US" altLang="en-US" sz="2800" kern="0" dirty="0">
                <a:solidFill>
                  <a:srgbClr val="000000"/>
                </a:solidFill>
                <a:latin typeface="Arial"/>
                <a:ea typeface="+mn-ea"/>
                <a:cs typeface="+mn-cs"/>
              </a:rPr>
              <a:t> </a:t>
            </a:r>
          </a:p>
          <a:p>
            <a:endParaRPr lang="en-US" dirty="0"/>
          </a:p>
        </p:txBody>
      </p:sp>
    </p:spTree>
    <p:extLst>
      <p:ext uri="{BB962C8B-B14F-4D97-AF65-F5344CB8AC3E}">
        <p14:creationId xmlns:p14="http://schemas.microsoft.com/office/powerpoint/2010/main" val="432243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6">
            <a:extLst>
              <a:ext uri="{FF2B5EF4-FFF2-40B4-BE49-F238E27FC236}">
                <a16:creationId xmlns:a16="http://schemas.microsoft.com/office/drawing/2014/main" id="{076DA479-89CA-4AFA-9E18-58DD9482BE97}"/>
              </a:ext>
            </a:extLst>
          </p:cNvPr>
          <p:cNvSpPr>
            <a:spLocks noGrp="1"/>
          </p:cNvSpPr>
          <p:nvPr>
            <p:ph sz="quarter" idx="10"/>
          </p:nvPr>
        </p:nvSpPr>
        <p:spPr>
          <a:xfrm>
            <a:off x="266700" y="1340528"/>
            <a:ext cx="11658600" cy="6043474"/>
          </a:xfrm>
        </p:spPr>
        <p:txBody>
          <a:bodyPr/>
          <a:lstStyle/>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21F20"/>
                </a:solidFill>
                <a:effectLst/>
                <a:uLnTx/>
                <a:uFillTx/>
                <a:latin typeface="Arial" pitchFamily="34" charset="0"/>
                <a:ea typeface="ＭＳ Ｐゴシック" charset="0"/>
                <a:cs typeface="Arial" pitchFamily="34" charset="0"/>
              </a:rPr>
              <a:t>The Small Business Participation Plan is a rated evaluation factor in all unrestricted procurements</a:t>
            </a:r>
          </a:p>
          <a:p>
            <a:pPr marL="857250" marR="0" lvl="1"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21F20"/>
                </a:solidFill>
                <a:effectLst/>
                <a:uLnTx/>
                <a:uFillTx/>
                <a:latin typeface="Arial" pitchFamily="34" charset="0"/>
                <a:ea typeface="+mn-ea"/>
                <a:cs typeface="Arial" pitchFamily="34" charset="0"/>
              </a:rPr>
              <a:t>Both large and small business offerors must submit a participation plan</a:t>
            </a:r>
          </a:p>
          <a:p>
            <a:pPr marL="857250" marR="0" lvl="1"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21F20"/>
                </a:solidFill>
                <a:effectLst/>
                <a:uLnTx/>
                <a:uFillTx/>
                <a:latin typeface="Arial" pitchFamily="34" charset="0"/>
                <a:ea typeface="+mn-ea"/>
                <a:cs typeface="Arial" pitchFamily="34" charset="0"/>
              </a:rPr>
              <a:t>The participation plan is based on </a:t>
            </a:r>
            <a:r>
              <a:rPr kumimoji="0" lang="en-US" sz="2000" b="0" i="0" u="sng" strike="noStrike" kern="1200" cap="none" spc="0" normalizeH="0" baseline="0" noProof="0" dirty="0">
                <a:ln>
                  <a:noFill/>
                </a:ln>
                <a:solidFill>
                  <a:srgbClr val="221F20"/>
                </a:solidFill>
                <a:effectLst/>
                <a:uLnTx/>
                <a:uFillTx/>
                <a:latin typeface="Arial" pitchFamily="34" charset="0"/>
                <a:ea typeface="+mn-ea"/>
                <a:cs typeface="Arial" pitchFamily="34" charset="0"/>
              </a:rPr>
              <a:t>total contract value</a:t>
            </a:r>
          </a:p>
          <a:p>
            <a:pPr marL="857250" marR="0" lvl="1"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21F20"/>
                </a:solidFill>
                <a:effectLst/>
                <a:uLnTx/>
                <a:uFillTx/>
                <a:latin typeface="Arial" pitchFamily="34" charset="0"/>
                <a:ea typeface="+mn-ea"/>
                <a:cs typeface="Arial" pitchFamily="34" charset="0"/>
              </a:rPr>
              <a:t>The Small Business Participation Plan must meet the minimum Total Small Business Participation goal. The percentage will be </a:t>
            </a:r>
            <a:r>
              <a:rPr lang="en-US" sz="2000" dirty="0">
                <a:solidFill>
                  <a:srgbClr val="221F20"/>
                </a:solidFill>
                <a:ea typeface="+mn-ea"/>
              </a:rPr>
              <a:t>included the solicitation. </a:t>
            </a:r>
            <a:endParaRPr kumimoji="0" lang="en-US" sz="2000" b="0" i="0" u="none" strike="noStrike" kern="1200" cap="none" spc="0" normalizeH="0" baseline="0" noProof="0" dirty="0">
              <a:ln>
                <a:noFill/>
              </a:ln>
              <a:solidFill>
                <a:srgbClr val="221F20"/>
              </a:solidFill>
              <a:effectLst/>
              <a:uLnTx/>
              <a:uFillTx/>
              <a:latin typeface="Arial" pitchFamily="34" charset="0"/>
              <a:ea typeface="+mn-ea"/>
              <a:cs typeface="Arial" pitchFamily="34" charset="0"/>
            </a:endParaRPr>
          </a:p>
          <a:p>
            <a:pPr marL="857250" marR="0" lvl="1"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21F20"/>
                </a:solidFill>
                <a:effectLst/>
                <a:uLnTx/>
                <a:uFillTx/>
                <a:latin typeface="Arial" pitchFamily="34" charset="0"/>
                <a:ea typeface="+mn-ea"/>
                <a:cs typeface="Arial" pitchFamily="34" charset="0"/>
              </a:rPr>
              <a:t>Small Business primes self-performance counts as Small Business Participation</a:t>
            </a:r>
          </a:p>
          <a:p>
            <a:pPr marL="857250" marR="0" lvl="1"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221F20"/>
              </a:solidFill>
              <a:effectLst/>
              <a:uLnTx/>
              <a:uFillTx/>
              <a:latin typeface="Arial" pitchFamily="34" charset="0"/>
              <a:ea typeface="+mn-ea"/>
              <a:cs typeface="Arial" pitchFamily="34" charset="0"/>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21F20"/>
                </a:solidFill>
                <a:effectLst/>
                <a:uLnTx/>
                <a:uFillTx/>
                <a:latin typeface="Arial" pitchFamily="34" charset="0"/>
                <a:ea typeface="ＭＳ Ｐゴシック" charset="0"/>
                <a:cs typeface="Arial" pitchFamily="34" charset="0"/>
              </a:rPr>
              <a:t>Large Business offerors </a:t>
            </a:r>
            <a:r>
              <a:rPr kumimoji="0" lang="en-US" sz="2000" b="0" i="0" u="sng" strike="noStrike" kern="1200" cap="none" spc="0" normalizeH="0" baseline="0" noProof="0" dirty="0">
                <a:ln>
                  <a:noFill/>
                </a:ln>
                <a:solidFill>
                  <a:srgbClr val="221F20"/>
                </a:solidFill>
                <a:effectLst/>
                <a:uLnTx/>
                <a:uFillTx/>
                <a:latin typeface="Arial" pitchFamily="34" charset="0"/>
                <a:ea typeface="ＭＳ Ｐゴシック" charset="0"/>
                <a:cs typeface="Arial" pitchFamily="34" charset="0"/>
              </a:rPr>
              <a:t>must</a:t>
            </a:r>
            <a:r>
              <a:rPr kumimoji="0" lang="en-US" sz="2000" b="0" i="0" u="none" strike="noStrike" kern="1200" cap="none" spc="0" normalizeH="0" baseline="0" noProof="0" dirty="0">
                <a:ln>
                  <a:noFill/>
                </a:ln>
                <a:solidFill>
                  <a:srgbClr val="221F20"/>
                </a:solidFill>
                <a:effectLst/>
                <a:uLnTx/>
                <a:uFillTx/>
                <a:latin typeface="Arial" pitchFamily="34" charset="0"/>
                <a:ea typeface="ＭＳ Ｐゴシック" charset="0"/>
                <a:cs typeface="Arial" pitchFamily="34" charset="0"/>
              </a:rPr>
              <a:t> submit a Small Business Subcontracting Plan</a:t>
            </a:r>
          </a:p>
          <a:p>
            <a:pPr marL="857250" marR="0" lvl="1" indent="-3429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21F20"/>
                </a:solidFill>
                <a:effectLst/>
                <a:uLnTx/>
                <a:uFillTx/>
                <a:latin typeface="Arial" pitchFamily="34" charset="0"/>
                <a:cs typeface="Arial" pitchFamily="34" charset="0"/>
              </a:rPr>
              <a:t>Mandated by FAR 19.702</a:t>
            </a:r>
          </a:p>
          <a:p>
            <a:pPr marL="857250" marR="0" lvl="1" indent="-3429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21F20"/>
                </a:solidFill>
                <a:effectLst/>
                <a:uLnTx/>
                <a:uFillTx/>
                <a:latin typeface="Arial" pitchFamily="34" charset="0"/>
                <a:cs typeface="Arial" pitchFamily="34" charset="0"/>
              </a:rPr>
              <a:t>This is not a rated element as a part of the Source Selection process but the offeror shall submit an acceptable plan </a:t>
            </a:r>
            <a:r>
              <a:rPr kumimoji="0" lang="en-US" sz="2000" b="1" i="0" u="none" strike="noStrike" kern="1200" cap="none" spc="0" normalizeH="0" baseline="0" noProof="0" dirty="0">
                <a:ln>
                  <a:noFill/>
                </a:ln>
                <a:solidFill>
                  <a:srgbClr val="221F20"/>
                </a:solidFill>
                <a:effectLst/>
                <a:uLnTx/>
                <a:uFillTx/>
                <a:latin typeface="Arial" pitchFamily="34" charset="0"/>
                <a:cs typeface="Arial" pitchFamily="34" charset="0"/>
              </a:rPr>
              <a:t>prior</a:t>
            </a:r>
            <a:r>
              <a:rPr kumimoji="0" lang="en-US" sz="2000" b="0" i="0" u="none" strike="noStrike" kern="1200" cap="none" spc="0" normalizeH="0" baseline="0" noProof="0" dirty="0">
                <a:ln>
                  <a:noFill/>
                </a:ln>
                <a:solidFill>
                  <a:srgbClr val="221F20"/>
                </a:solidFill>
                <a:effectLst/>
                <a:uLnTx/>
                <a:uFillTx/>
                <a:latin typeface="Arial" pitchFamily="34" charset="0"/>
                <a:cs typeface="Arial" pitchFamily="34" charset="0"/>
              </a:rPr>
              <a:t> to award </a:t>
            </a:r>
          </a:p>
          <a:p>
            <a:pPr marL="857250" marR="0" lvl="1" indent="-3429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21F20"/>
                </a:solidFill>
                <a:effectLst/>
                <a:uLnTx/>
                <a:uFillTx/>
                <a:latin typeface="Arial" pitchFamily="34" charset="0"/>
                <a:cs typeface="Arial" pitchFamily="34" charset="0"/>
              </a:rPr>
              <a:t>The subcontracting plan is based on </a:t>
            </a:r>
            <a:r>
              <a:rPr kumimoji="0" lang="en-US" sz="2000" b="0" i="0" u="sng" strike="noStrike" kern="1200" cap="none" spc="0" normalizeH="0" baseline="0" noProof="0" dirty="0">
                <a:ln>
                  <a:noFill/>
                </a:ln>
                <a:solidFill>
                  <a:srgbClr val="221F20"/>
                </a:solidFill>
                <a:effectLst/>
                <a:uLnTx/>
                <a:uFillTx/>
                <a:latin typeface="Arial" pitchFamily="34" charset="0"/>
                <a:cs typeface="Arial" pitchFamily="34" charset="0"/>
              </a:rPr>
              <a:t>total subcontracted dollars</a:t>
            </a:r>
          </a:p>
          <a:p>
            <a:pPr marL="857250" marR="0" lvl="1" indent="-3429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21F20"/>
                </a:solidFill>
                <a:effectLst/>
                <a:uLnTx/>
                <a:uFillTx/>
                <a:latin typeface="Arial" pitchFamily="34" charset="0"/>
                <a:cs typeface="Arial" pitchFamily="34" charset="0"/>
              </a:rPr>
              <a:t>Failure to comply in good faith is in material breach of the contract</a:t>
            </a:r>
          </a:p>
          <a:p>
            <a:pPr marL="857250" lvl="1" indent="-342900" fontAlgn="auto">
              <a:spcBef>
                <a:spcPts val="500"/>
              </a:spcBef>
              <a:spcAft>
                <a:spcPts val="0"/>
              </a:spcAft>
              <a:buFont typeface="Arial" panose="020B0604020202020204" pitchFamily="34" charset="0"/>
              <a:buChar char="•"/>
            </a:pPr>
            <a:endParaRPr lang="en-US" dirty="0">
              <a:solidFill>
                <a:schemeClr val="tx1"/>
              </a:solidFill>
              <a:ea typeface="+mn-ea"/>
            </a:endParaRPr>
          </a:p>
        </p:txBody>
      </p:sp>
      <p:sp>
        <p:nvSpPr>
          <p:cNvPr id="2" name="Title 1"/>
          <p:cNvSpPr>
            <a:spLocks noGrp="1"/>
          </p:cNvSpPr>
          <p:nvPr>
            <p:ph type="title"/>
          </p:nvPr>
        </p:nvSpPr>
        <p:spPr>
          <a:xfrm>
            <a:off x="948366" y="128981"/>
            <a:ext cx="10386814" cy="962972"/>
          </a:xfrm>
        </p:spPr>
        <p:txBody>
          <a:bodyPr/>
          <a:lstStyle/>
          <a:p>
            <a:pPr algn="ctr"/>
            <a:r>
              <a:rPr lang="en-US" dirty="0"/>
              <a:t>Small Business Participation plan &amp; Subcontracting PLAN</a:t>
            </a:r>
          </a:p>
        </p:txBody>
      </p:sp>
    </p:spTree>
    <p:extLst>
      <p:ext uri="{BB962C8B-B14F-4D97-AF65-F5344CB8AC3E}">
        <p14:creationId xmlns:p14="http://schemas.microsoft.com/office/powerpoint/2010/main" val="1780010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A45BA-F3D7-4407-8E37-D131D1381ADC}"/>
              </a:ext>
            </a:extLst>
          </p:cNvPr>
          <p:cNvSpPr>
            <a:spLocks noGrp="1"/>
          </p:cNvSpPr>
          <p:nvPr>
            <p:ph type="title"/>
          </p:nvPr>
        </p:nvSpPr>
        <p:spPr/>
        <p:txBody>
          <a:bodyPr/>
          <a:lstStyle/>
          <a:p>
            <a:pPr algn="ctr"/>
            <a:r>
              <a:rPr lang="en-US" sz="3600" cap="none" dirty="0">
                <a:solidFill>
                  <a:schemeClr val="tx1"/>
                </a:solidFill>
                <a:ea typeface="+mj-ea"/>
              </a:rPr>
              <a:t>BUILDING YOUR TEAM</a:t>
            </a:r>
            <a:endParaRPr lang="en-US" sz="3600" dirty="0"/>
          </a:p>
        </p:txBody>
      </p:sp>
      <p:sp>
        <p:nvSpPr>
          <p:cNvPr id="5" name="Slide Number Placeholder 4">
            <a:extLst>
              <a:ext uri="{FF2B5EF4-FFF2-40B4-BE49-F238E27FC236}">
                <a16:creationId xmlns:a16="http://schemas.microsoft.com/office/drawing/2014/main" id="{C1CE9277-0735-49E9-B5D6-77621B54979D}"/>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257827-C34C-4251-B995-96C9C233CCC8}" type="slidenum">
              <a:rPr kumimoji="0" lang="en-US" sz="1000" b="0" i="0" u="none" strike="noStrike" kern="1200" cap="none" spc="0" normalizeH="0" baseline="0" noProof="0" smtClean="0">
                <a:ln>
                  <a:noFill/>
                </a:ln>
                <a:solidFill>
                  <a:srgbClr val="898989"/>
                </a:solidFill>
                <a:effectLst/>
                <a:uLnTx/>
                <a:uFillTx/>
                <a:latin typeface="Arial"/>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000" b="0" i="0" u="none" strike="noStrike" kern="1200" cap="none" spc="0" normalizeH="0" baseline="0" noProof="0" dirty="0">
              <a:ln>
                <a:noFill/>
              </a:ln>
              <a:solidFill>
                <a:srgbClr val="898989"/>
              </a:solidFill>
              <a:effectLst/>
              <a:uLnTx/>
              <a:uFillTx/>
              <a:latin typeface="Arial"/>
              <a:ea typeface="+mn-ea"/>
              <a:cs typeface="Arial" pitchFamily="34" charset="0"/>
            </a:endParaRPr>
          </a:p>
        </p:txBody>
      </p:sp>
      <p:sp>
        <p:nvSpPr>
          <p:cNvPr id="9" name="TextBox 8">
            <a:extLst>
              <a:ext uri="{FF2B5EF4-FFF2-40B4-BE49-F238E27FC236}">
                <a16:creationId xmlns:a16="http://schemas.microsoft.com/office/drawing/2014/main" id="{3C890C72-DA3B-4547-A7D6-EF744B7C4B69}"/>
              </a:ext>
            </a:extLst>
          </p:cNvPr>
          <p:cNvSpPr txBox="1"/>
          <p:nvPr/>
        </p:nvSpPr>
        <p:spPr>
          <a:xfrm>
            <a:off x="406400" y="1213498"/>
            <a:ext cx="11176000" cy="489364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Network at Industry Day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000000"/>
                </a:solidFill>
                <a:latin typeface="Arial"/>
              </a:rPr>
              <a:t>Review Sign-In Sheet and Interested Vendors List (</a:t>
            </a:r>
            <a:r>
              <a:rPr lang="en-US" sz="2400" dirty="0">
                <a:solidFill>
                  <a:srgbClr val="000000"/>
                </a:solidFill>
                <a:latin typeface="Arial"/>
                <a:hlinkClick r:id="rId2"/>
              </a:rPr>
              <a:t>https://www.sam.gov/</a:t>
            </a:r>
            <a:r>
              <a:rPr lang="en-US" sz="2400" dirty="0">
                <a:solidFill>
                  <a:srgbClr val="000000"/>
                </a:solidFill>
                <a:latin typeface="Arial"/>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000000"/>
                </a:solidFill>
                <a:latin typeface="Arial"/>
              </a:rPr>
              <a:t>SBA’s Dynamic Small Business Search (</a:t>
            </a:r>
            <a:r>
              <a:rPr lang="en-US" sz="2400" dirty="0">
                <a:solidFill>
                  <a:srgbClr val="000000"/>
                </a:solidFill>
                <a:latin typeface="Arial"/>
                <a:hlinkClick r:id="rId3"/>
              </a:rPr>
              <a:t>https://dsbs.sba.gov</a:t>
            </a:r>
            <a:r>
              <a:rPr lang="en-US" sz="2400" dirty="0">
                <a:solidFill>
                  <a:srgbClr val="000000"/>
                </a:solidFill>
                <a:latin typeface="Arial"/>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400" dirty="0">
              <a:solidFill>
                <a:srgbClr val="000000"/>
              </a:solidFill>
              <a:latin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000000"/>
                </a:solidFill>
                <a:latin typeface="Arial"/>
              </a:rPr>
              <a:t>SBA’s </a:t>
            </a:r>
            <a:r>
              <a:rPr lang="en-US" sz="2400" dirty="0" err="1">
                <a:solidFill>
                  <a:srgbClr val="000000"/>
                </a:solidFill>
                <a:latin typeface="Arial"/>
              </a:rPr>
              <a:t>SUBNet</a:t>
            </a:r>
            <a:r>
              <a:rPr lang="en-US" sz="2400" dirty="0">
                <a:solidFill>
                  <a:srgbClr val="000000"/>
                </a:solidFill>
                <a:latin typeface="Arial"/>
              </a:rPr>
              <a:t> (</a:t>
            </a:r>
            <a:r>
              <a:rPr lang="en-US" sz="2400" dirty="0">
                <a:solidFill>
                  <a:srgbClr val="000000"/>
                </a:solidFill>
                <a:latin typeface="Arial"/>
                <a:hlinkClick r:id="rId4"/>
              </a:rPr>
              <a:t>https://subnet.sba.gov/client/dsp_Landing.cfm</a:t>
            </a:r>
            <a:r>
              <a:rPr lang="en-US" sz="2400" dirty="0">
                <a:solidFill>
                  <a:srgbClr val="000000"/>
                </a:solidFill>
                <a:latin typeface="Arial"/>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000000"/>
                </a:solidFill>
                <a:latin typeface="Arial"/>
              </a:rPr>
              <a:t>FPDS-NG </a:t>
            </a:r>
            <a:r>
              <a:rPr lang="en-US" sz="2400" dirty="0" err="1">
                <a:solidFill>
                  <a:srgbClr val="000000"/>
                </a:solidFill>
                <a:latin typeface="Arial"/>
              </a:rPr>
              <a:t>ezSearch</a:t>
            </a:r>
            <a:r>
              <a:rPr lang="en-US" sz="2400" dirty="0">
                <a:solidFill>
                  <a:srgbClr val="000000"/>
                </a:solidFill>
                <a:latin typeface="Arial"/>
              </a:rPr>
              <a:t> (</a:t>
            </a:r>
            <a:r>
              <a:rPr lang="en-US" sz="2400" dirty="0">
                <a:solidFill>
                  <a:srgbClr val="000000"/>
                </a:solidFill>
                <a:latin typeface="Arial"/>
                <a:hlinkClick r:id="rId5"/>
              </a:rPr>
              <a:t>https://www.fpds.gov/ezsearch/</a:t>
            </a:r>
            <a:r>
              <a:rPr lang="en-US" sz="2400" dirty="0">
                <a:solidFill>
                  <a:srgbClr val="000000"/>
                </a:solidFill>
                <a:latin typeface="Arial"/>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err="1">
                <a:solidFill>
                  <a:srgbClr val="000000"/>
                </a:solidFill>
                <a:latin typeface="Arial"/>
              </a:rPr>
              <a:t>USASpending</a:t>
            </a:r>
            <a:r>
              <a:rPr lang="en-US" sz="2400" dirty="0">
                <a:solidFill>
                  <a:srgbClr val="000000"/>
                </a:solidFill>
                <a:latin typeface="Arial"/>
              </a:rPr>
              <a:t> (</a:t>
            </a:r>
            <a:r>
              <a:rPr lang="en-US" sz="2400" dirty="0">
                <a:solidFill>
                  <a:srgbClr val="000000"/>
                </a:solidFill>
                <a:latin typeface="Arial"/>
                <a:hlinkClick r:id="rId6"/>
              </a:rPr>
              <a:t>https://www.usaspending.gov/</a:t>
            </a:r>
            <a:r>
              <a:rPr lang="en-US" sz="2400" dirty="0">
                <a:solidFill>
                  <a:srgbClr val="000000"/>
                </a:solidFill>
                <a:latin typeface="Arial"/>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000000"/>
                </a:solidFill>
                <a:latin typeface="Arial"/>
              </a:rPr>
              <a:t>APEX Accelerator (</a:t>
            </a:r>
            <a:r>
              <a:rPr lang="en-US" sz="2400" dirty="0">
                <a:solidFill>
                  <a:srgbClr val="000000"/>
                </a:solidFill>
                <a:latin typeface="Arial"/>
                <a:hlinkClick r:id="rId7"/>
              </a:rPr>
              <a:t>https://www.apexaccelerators.us/#/</a:t>
            </a:r>
            <a:r>
              <a:rPr lang="en-US" sz="2400" dirty="0">
                <a:solidFill>
                  <a:srgbClr val="000000"/>
                </a:solidFill>
                <a:latin typeface="Arial"/>
              </a:rPr>
              <a:t>) </a:t>
            </a: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622917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dirty="0"/>
              <a:t>Obtain information</a:t>
            </a:r>
          </a:p>
        </p:txBody>
      </p:sp>
      <p:sp>
        <p:nvSpPr>
          <p:cNvPr id="5" name="TextBox 4"/>
          <p:cNvSpPr txBox="1"/>
          <p:nvPr/>
        </p:nvSpPr>
        <p:spPr>
          <a:xfrm>
            <a:off x="686475" y="1100334"/>
            <a:ext cx="10910596" cy="4062651"/>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mj-lt"/>
              </a:rPr>
              <a:t>Attend Site Visits, Pre-Proposal Conferences, &amp; Industry Days</a:t>
            </a:r>
          </a:p>
          <a:p>
            <a:pPr marL="800100" lvl="1" indent="-342900">
              <a:buFont typeface="Arial" panose="020B0604020202020204" pitchFamily="34" charset="0"/>
              <a:buChar char="•"/>
            </a:pPr>
            <a:r>
              <a:rPr lang="en-US" sz="2400" dirty="0">
                <a:latin typeface="+mj-lt"/>
              </a:rPr>
              <a:t>Obtain copies of attendee roster for subcontracting opportunities</a:t>
            </a:r>
          </a:p>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Attend Workshops and Conferences</a:t>
            </a:r>
          </a:p>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Louisville District Open House: February 2026</a:t>
            </a:r>
          </a:p>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Construction &amp; IDIQ Forecast is maintained on the Business with Us page of the Great Lakes and Ohio River Division website, </a:t>
            </a:r>
            <a:r>
              <a:rPr lang="en-US" sz="2400" dirty="0">
                <a:latin typeface="+mj-lt"/>
                <a:hlinkClick r:id="rId2"/>
              </a:rPr>
              <a:t>https://www.lrd.usace.army.mil/Opportunity-Forecast/</a:t>
            </a:r>
            <a:endParaRPr lang="en-US" sz="2400" dirty="0">
              <a:latin typeface="+mj-lt"/>
            </a:endParaRPr>
          </a:p>
          <a:p>
            <a:pPr lvl="1"/>
            <a:endParaRPr lang="en-US" kern="0" dirty="0">
              <a:solidFill>
                <a:srgbClr val="FF0000"/>
              </a:solidFill>
              <a:latin typeface="Arial"/>
              <a:ea typeface="ＭＳ Ｐゴシック" pitchFamily="-110" charset="-128"/>
              <a:cs typeface="Times New Roman" pitchFamily="18" charset="0"/>
            </a:endParaRPr>
          </a:p>
        </p:txBody>
      </p:sp>
      <p:pic>
        <p:nvPicPr>
          <p:cNvPr id="6" name="Picture 5">
            <a:extLst>
              <a:ext uri="{FF2B5EF4-FFF2-40B4-BE49-F238E27FC236}">
                <a16:creationId xmlns:a16="http://schemas.microsoft.com/office/drawing/2014/main" id="{412292BB-5FB8-AE19-149F-B9F5AC941996}"/>
              </a:ext>
            </a:extLst>
          </p:cNvPr>
          <p:cNvPicPr>
            <a:picLocks noChangeAspect="1"/>
          </p:cNvPicPr>
          <p:nvPr/>
        </p:nvPicPr>
        <p:blipFill>
          <a:blip r:embed="rId3"/>
          <a:stretch>
            <a:fillRect/>
          </a:stretch>
        </p:blipFill>
        <p:spPr>
          <a:xfrm>
            <a:off x="8839669" y="4302308"/>
            <a:ext cx="1998220" cy="1998220"/>
          </a:xfrm>
          <a:prstGeom prst="rect">
            <a:avLst/>
          </a:prstGeom>
        </p:spPr>
      </p:pic>
    </p:spTree>
    <p:extLst>
      <p:ext uri="{BB962C8B-B14F-4D97-AF65-F5344CB8AC3E}">
        <p14:creationId xmlns:p14="http://schemas.microsoft.com/office/powerpoint/2010/main" val="3025160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dirty="0"/>
              <a:t>opportunities</a:t>
            </a:r>
          </a:p>
        </p:txBody>
      </p:sp>
      <p:sp>
        <p:nvSpPr>
          <p:cNvPr id="5" name="TextBox 4"/>
          <p:cNvSpPr txBox="1"/>
          <p:nvPr/>
        </p:nvSpPr>
        <p:spPr>
          <a:xfrm>
            <a:off x="254493" y="1140761"/>
            <a:ext cx="11683014"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We anticipate executing approximately $1.3B in FY25 through both small and large businesses.</a:t>
            </a:r>
          </a:p>
          <a:p>
            <a:pPr marL="342900" indent="-342900">
              <a:buFont typeface="Arial" panose="020B0604020202020204" pitchFamily="34" charset="0"/>
              <a:buChar char="•"/>
            </a:pPr>
            <a:endParaRPr lang="en-US" sz="2400" dirty="0">
              <a:cs typeface="Times New Roman" pitchFamily="18" charset="0"/>
            </a:endParaRPr>
          </a:p>
          <a:p>
            <a:pPr marL="342900" indent="-342900">
              <a:buFont typeface="Arial" panose="020B0604020202020204" pitchFamily="34" charset="0"/>
              <a:buChar char="•"/>
            </a:pPr>
            <a:r>
              <a:rPr lang="en-US" sz="2400" dirty="0">
                <a:cs typeface="Times New Roman" pitchFamily="18" charset="0"/>
              </a:rPr>
              <a:t>Contracting opportunities are posted in the System for Award Management (SAM) website at </a:t>
            </a:r>
            <a:r>
              <a:rPr lang="en-US" sz="2400" dirty="0">
                <a:cs typeface="Times New Roman" pitchFamily="18" charset="0"/>
                <a:hlinkClick r:id="rId2"/>
              </a:rPr>
              <a:t>www.sam.gov</a:t>
            </a:r>
            <a:r>
              <a:rPr lang="en-US" sz="2400" dirty="0">
                <a:cs typeface="Times New Roman" pitchFamily="18" charset="0"/>
              </a:rPr>
              <a:t>. Use “W912QR” to search for Louisville District projects.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Actively Respond to Sources Sought Notices (Market Surveys) posted to SAM</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Actively Respond to Competitive Requirements posted to SAM</a:t>
            </a:r>
            <a:endParaRPr lang="en-US" sz="2000" dirty="0"/>
          </a:p>
        </p:txBody>
      </p:sp>
    </p:spTree>
    <p:extLst>
      <p:ext uri="{BB962C8B-B14F-4D97-AF65-F5344CB8AC3E}">
        <p14:creationId xmlns:p14="http://schemas.microsoft.com/office/powerpoint/2010/main" val="1899781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483C43-3FBF-4223-FD45-9496815C8950}"/>
              </a:ext>
            </a:extLst>
          </p:cNvPr>
          <p:cNvSpPr>
            <a:spLocks noGrp="1"/>
          </p:cNvSpPr>
          <p:nvPr>
            <p:ph sz="quarter" idx="10"/>
          </p:nvPr>
        </p:nvSpPr>
        <p:spPr/>
        <p:txBody>
          <a:bodyPr/>
          <a:lstStyle/>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Register SAM.gov to obtain and respond to solicitations</a:t>
            </a:r>
          </a:p>
          <a:p>
            <a:pPr marR="0" lvl="0" algn="l" defTabSz="914400" rtl="0" eaLnBrk="1" fontAlgn="base" latinLnBrk="0" hangingPunct="1">
              <a:lnSpc>
                <a:spcPct val="100000"/>
              </a:lnSpc>
              <a:spcBef>
                <a:spcPts val="300"/>
              </a:spcBef>
              <a:spcAft>
                <a:spcPct val="0"/>
              </a:spcAft>
              <a:buClrTx/>
              <a:buSzTx/>
              <a:tabLst/>
              <a:defRPr/>
            </a:pPr>
            <a:endParaRPr kumimoji="0" 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Source Selection Evaluation Criteria are basis for selection by source evaluation boards</a:t>
            </a:r>
          </a:p>
          <a:p>
            <a:pPr marR="0" lvl="0" algn="l" defTabSz="914400" rtl="0" eaLnBrk="1" fontAlgn="base" latinLnBrk="0" hangingPunct="1">
              <a:lnSpc>
                <a:spcPct val="100000"/>
              </a:lnSpc>
              <a:spcBef>
                <a:spcPts val="300"/>
              </a:spcBef>
              <a:spcAft>
                <a:spcPct val="0"/>
              </a:spcAft>
              <a:buClrTx/>
              <a:buSzTx/>
              <a:tabLst/>
              <a:defRPr/>
            </a:pPr>
            <a:endParaRPr kumimoji="0" 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Unrestricted solicitations require small business participation plan</a:t>
            </a:r>
          </a:p>
          <a:p>
            <a:pPr marR="0" lvl="0" algn="l" defTabSz="914400" rtl="0" eaLnBrk="1" fontAlgn="base" latinLnBrk="0" hangingPunct="1">
              <a:lnSpc>
                <a:spcPct val="100000"/>
              </a:lnSpc>
              <a:spcBef>
                <a:spcPts val="300"/>
              </a:spcBef>
              <a:spcAft>
                <a:spcPct val="0"/>
              </a:spcAft>
              <a:buClrTx/>
              <a:buSzTx/>
              <a:tabLst/>
              <a:defRPr/>
            </a:pPr>
            <a:endParaRPr kumimoji="0" lang="en-US" sz="2400" b="0" i="0" u="none" strike="noStrike" kern="1200" cap="none" spc="0" normalizeH="0" baseline="0" noProof="0" dirty="0">
              <a:ln>
                <a:noFill/>
              </a:ln>
              <a:solidFill>
                <a:schemeClr val="tx1"/>
              </a:solidFill>
              <a:effectLst/>
              <a:highlight>
                <a:srgbClr val="FFFF00"/>
              </a:highligh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lang="en-US" sz="2400" dirty="0">
                <a:solidFill>
                  <a:schemeClr val="tx1"/>
                </a:solidFill>
                <a:latin typeface="Calibri" panose="020F0502020204030204" pitchFamily="34" charset="0"/>
                <a:cs typeface="Calibri" panose="020F0502020204030204" pitchFamily="34" charset="0"/>
              </a:rPr>
              <a:t>Fort Campbell UEPH Barracks Project is scheduled for bids due in:</a:t>
            </a:r>
            <a:endParaRPr kumimoji="0" lang="en-US"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lang="en-US" sz="2200" dirty="0">
                <a:solidFill>
                  <a:schemeClr val="tx1"/>
                </a:solidFill>
                <a:latin typeface="Calibri" panose="020F0502020204030204" pitchFamily="34" charset="0"/>
                <a:cs typeface="Calibri" panose="020F0502020204030204" pitchFamily="34" charset="0"/>
              </a:rPr>
              <a:t>Second Quarter FY 26</a:t>
            </a:r>
            <a:endParaRPr lang="en-US" dirty="0"/>
          </a:p>
        </p:txBody>
      </p:sp>
      <p:sp>
        <p:nvSpPr>
          <p:cNvPr id="4" name="Title 3">
            <a:extLst>
              <a:ext uri="{FF2B5EF4-FFF2-40B4-BE49-F238E27FC236}">
                <a16:creationId xmlns:a16="http://schemas.microsoft.com/office/drawing/2014/main" id="{984BD323-2428-D418-D2E3-A777F56DE5FF}"/>
              </a:ext>
            </a:extLst>
          </p:cNvPr>
          <p:cNvSpPr>
            <a:spLocks noGrp="1"/>
          </p:cNvSpPr>
          <p:nvPr>
            <p:ph type="title"/>
          </p:nvPr>
        </p:nvSpPr>
        <p:spPr/>
        <p:txBody>
          <a:bodyPr/>
          <a:lstStyle/>
          <a:p>
            <a:pPr algn="ctr"/>
            <a:r>
              <a:rPr kumimoji="0" lang="en-US" b="1" i="0" u="none" strike="noStrike" kern="1200" cap="none" spc="0" normalizeH="0" baseline="0" noProof="0" dirty="0">
                <a:ln>
                  <a:noFill/>
                </a:ln>
                <a:solidFill>
                  <a:srgbClr val="000000">
                    <a:lumMod val="75000"/>
                    <a:lumOff val="25000"/>
                  </a:srgbClr>
                </a:solidFill>
                <a:effectLst/>
                <a:uLnTx/>
                <a:uFillTx/>
                <a:latin typeface="Arial" pitchFamily="34" charset="0"/>
                <a:ea typeface="ＭＳ Ｐゴシック" charset="0"/>
                <a:cs typeface="Arial" pitchFamily="34" charset="0"/>
              </a:rPr>
              <a:t>SUMMARY</a:t>
            </a:r>
            <a:endParaRPr lang="en-US" sz="2400" dirty="0"/>
          </a:p>
        </p:txBody>
      </p:sp>
    </p:spTree>
    <p:extLst>
      <p:ext uri="{BB962C8B-B14F-4D97-AF65-F5344CB8AC3E}">
        <p14:creationId xmlns:p14="http://schemas.microsoft.com/office/powerpoint/2010/main" val="340171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5DF8B7-65FA-D1F4-EF10-F5FDDF09D12D}"/>
              </a:ext>
            </a:extLst>
          </p:cNvPr>
          <p:cNvSpPr>
            <a:spLocks noGrp="1"/>
          </p:cNvSpPr>
          <p:nvPr>
            <p:ph type="title"/>
          </p:nvPr>
        </p:nvSpPr>
        <p:spPr>
          <a:xfrm>
            <a:off x="902593" y="3012540"/>
            <a:ext cx="10386814" cy="832920"/>
          </a:xfrm>
        </p:spPr>
        <p:txBody>
          <a:bodyPr/>
          <a:lstStyle/>
          <a:p>
            <a:pPr algn="ctr"/>
            <a:r>
              <a:rPr lang="en-US" dirty="0"/>
              <a:t>What Questions do you have for us? </a:t>
            </a:r>
          </a:p>
        </p:txBody>
      </p:sp>
    </p:spTree>
    <p:extLst>
      <p:ext uri="{BB962C8B-B14F-4D97-AF65-F5344CB8AC3E}">
        <p14:creationId xmlns:p14="http://schemas.microsoft.com/office/powerpoint/2010/main" val="3249128953"/>
      </p:ext>
    </p:extLst>
  </p:cSld>
  <p:clrMapOvr>
    <a:masterClrMapping/>
  </p:clrMapOvr>
</p:sld>
</file>

<file path=ppt/theme/theme1.xml><?xml version="1.0" encoding="utf-8"?>
<a:theme xmlns:a="http://schemas.openxmlformats.org/drawingml/2006/main" name="Upper left castle template public">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2.xml><?xml version="1.0" encoding="utf-8"?>
<a:theme xmlns:a="http://schemas.openxmlformats.org/drawingml/2006/main" name="CUI Upper left Castle template ">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3.xml><?xml version="1.0" encoding="utf-8"?>
<a:theme xmlns:a="http://schemas.openxmlformats.org/drawingml/2006/main" name="traditional templat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4.xml><?xml version="1.0" encoding="utf-8"?>
<a:theme xmlns:a="http://schemas.openxmlformats.org/drawingml/2006/main" name="Traditional templat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5.xml><?xml version="1.0" encoding="utf-8"?>
<a:theme xmlns:a="http://schemas.openxmlformats.org/drawingml/2006/main" name="2_Upper Left Star and Castl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6.xml><?xml version="1.0" encoding="utf-8"?>
<a:theme xmlns:a="http://schemas.openxmlformats.org/drawingml/2006/main" name="Upper Left Star and Castl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7.xml><?xml version="1.0" encoding="utf-8"?>
<a:theme xmlns:a="http://schemas.openxmlformats.org/drawingml/2006/main" name="Chart Color Templates">
  <a:themeElements>
    <a:clrScheme name="Charts">
      <a:dk1>
        <a:srgbClr val="221F20"/>
      </a:dk1>
      <a:lt1>
        <a:srgbClr val="565557"/>
      </a:lt1>
      <a:dk2>
        <a:srgbClr val="FFFFFF"/>
      </a:dk2>
      <a:lt2>
        <a:srgbClr val="D5D5D7"/>
      </a:lt2>
      <a:accent1>
        <a:srgbClr val="F16521"/>
      </a:accent1>
      <a:accent2>
        <a:srgbClr val="2DAA27"/>
      </a:accent2>
      <a:accent3>
        <a:srgbClr val="CF0000"/>
      </a:accent3>
      <a:accent4>
        <a:srgbClr val="FFCC01"/>
      </a:accent4>
      <a:accent5>
        <a:srgbClr val="00308F"/>
      </a:accent5>
      <a:accent6>
        <a:srgbClr val="532476"/>
      </a:accent6>
      <a:hlink>
        <a:srgbClr val="4D7EA1"/>
      </a:hlink>
      <a:folHlink>
        <a:srgbClr val="CF000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7A4F02DA-9F69-4CE8-8688-F5382440A1E1}"/>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baeaec8-4928-4375-bdfb-ddb7c7196353" xsi:nil="true"/>
    <PublishingExpirationDate xmlns="http://schemas.microsoft.com/sharepoint/v3" xsi:nil="true"/>
    <PublishingStartDate xmlns="http://schemas.microsoft.com/sharepoint/v3" xsi:nil="true"/>
    <lcf76f155ced4ddcb4097134ff3c332f xmlns="b65aa6f8-8819-45a8-b6a0-906d6a702c4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8306E62ACD7194CB5569EDCC29018C1" ma:contentTypeVersion="13" ma:contentTypeDescription="Create a new document." ma:contentTypeScope="" ma:versionID="a18618c4f784b261712098dab10db08b">
  <xsd:schema xmlns:xsd="http://www.w3.org/2001/XMLSchema" xmlns:xs="http://www.w3.org/2001/XMLSchema" xmlns:p="http://schemas.microsoft.com/office/2006/metadata/properties" xmlns:ns1="http://schemas.microsoft.com/sharepoint/v3" xmlns:ns2="a62f2820-d4f7-4116-8da7-341863dcf762" xmlns:ns3="b65aa6f8-8819-45a8-b6a0-906d6a702c4f" xmlns:ns4="4baeaec8-4928-4375-bdfb-ddb7c7196353" targetNamespace="http://schemas.microsoft.com/office/2006/metadata/properties" ma:root="true" ma:fieldsID="ecdf03241d752fff07264fd355140b78" ns1:_="" ns2:_="" ns3:_="" ns4:_="">
    <xsd:import namespace="http://schemas.microsoft.com/sharepoint/v3"/>
    <xsd:import namespace="a62f2820-d4f7-4116-8da7-341863dcf762"/>
    <xsd:import namespace="b65aa6f8-8819-45a8-b6a0-906d6a702c4f"/>
    <xsd:import namespace="4baeaec8-4928-4375-bdfb-ddb7c7196353"/>
    <xsd:element name="properties">
      <xsd:complexType>
        <xsd:sequence>
          <xsd:element name="documentManagement">
            <xsd:complexType>
              <xsd:all>
                <xsd:element ref="ns1:PublishingStartDate" minOccurs="0"/>
                <xsd:element ref="ns1:PublishingExpirationDate" minOccurs="0"/>
                <xsd:element ref="ns2:SharedWithUser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62f2820-d4f7-4116-8da7-341863dcf762"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65aa6f8-8819-45a8-b6a0-906d6a702c4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baeaec8-4928-4375-bdfb-ddb7c7196353"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75e900b0-493a-4298-a51a-8f0676c612fa}" ma:internalName="TaxCatchAll" ma:showField="CatchAllData" ma:web="4baeaec8-4928-4375-bdfb-ddb7c71963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8C2CD5-50C2-4A7C-996A-3D6312B83669}">
  <ds:schemaRefs>
    <ds:schemaRef ds:uri="http://schemas.microsoft.com/office/2006/documentManagement/types"/>
    <ds:schemaRef ds:uri="http://schemas.microsoft.com/office/2006/metadata/properties"/>
    <ds:schemaRef ds:uri="http://schemas.microsoft.com/office/infopath/2007/PartnerControls"/>
    <ds:schemaRef ds:uri="http://purl.org/dc/terms/"/>
    <ds:schemaRef ds:uri="http://purl.org/dc/dcmitype/"/>
    <ds:schemaRef ds:uri="18f88ba2-4714-4ce4-8806-1d85d427829f"/>
    <ds:schemaRef ds:uri="http://schemas.openxmlformats.org/package/2006/metadata/core-properties"/>
    <ds:schemaRef ds:uri="http://www.w3.org/XML/1998/namespace"/>
    <ds:schemaRef ds:uri="http://purl.org/dc/elements/1.1/"/>
    <ds:schemaRef ds:uri="4baeaec8-4928-4375-bdfb-ddb7c7196353"/>
    <ds:schemaRef ds:uri="http://schemas.microsoft.com/sharepoint/v3"/>
    <ds:schemaRef ds:uri="b65aa6f8-8819-45a8-b6a0-906d6a702c4f"/>
  </ds:schemaRefs>
</ds:datastoreItem>
</file>

<file path=customXml/itemProps2.xml><?xml version="1.0" encoding="utf-8"?>
<ds:datastoreItem xmlns:ds="http://schemas.openxmlformats.org/officeDocument/2006/customXml" ds:itemID="{CA44228C-BC0D-47EA-B705-B50FC273ED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62f2820-d4f7-4116-8da7-341863dcf762"/>
    <ds:schemaRef ds:uri="b65aa6f8-8819-45a8-b6a0-906d6a702c4f"/>
    <ds:schemaRef ds:uri="4baeaec8-4928-4375-bdfb-ddb7c71963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7CAE72E-856B-4DF4-A9F6-93C41667E9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23657</TotalTime>
  <Words>1401</Words>
  <Application>Microsoft Office PowerPoint</Application>
  <PresentationFormat>Widescreen</PresentationFormat>
  <Paragraphs>172</Paragraphs>
  <Slides>20</Slides>
  <Notes>11</Notes>
  <HiddenSlides>0</HiddenSlides>
  <MMClips>0</MMClips>
  <ScaleCrop>false</ScaleCrop>
  <HeadingPairs>
    <vt:vector size="8" baseType="variant">
      <vt:variant>
        <vt:lpstr>Fonts Used</vt:lpstr>
      </vt:variant>
      <vt:variant>
        <vt:i4>4</vt:i4>
      </vt:variant>
      <vt:variant>
        <vt:lpstr>Theme</vt:lpstr>
      </vt:variant>
      <vt:variant>
        <vt:i4>7</vt:i4>
      </vt:variant>
      <vt:variant>
        <vt:lpstr>Embedded OLE Servers</vt:lpstr>
      </vt:variant>
      <vt:variant>
        <vt:i4>1</vt:i4>
      </vt:variant>
      <vt:variant>
        <vt:lpstr>Slide Titles</vt:lpstr>
      </vt:variant>
      <vt:variant>
        <vt:i4>20</vt:i4>
      </vt:variant>
    </vt:vector>
  </HeadingPairs>
  <TitlesOfParts>
    <vt:vector size="32" baseType="lpstr">
      <vt:lpstr>Arial</vt:lpstr>
      <vt:lpstr>Calibri</vt:lpstr>
      <vt:lpstr>Calibri Light</vt:lpstr>
      <vt:lpstr>Times New Roman</vt:lpstr>
      <vt:lpstr>Upper left castle template public</vt:lpstr>
      <vt:lpstr>CUI Upper left Castle template </vt:lpstr>
      <vt:lpstr>traditional template NON CUI</vt:lpstr>
      <vt:lpstr>Traditional template CUI</vt:lpstr>
      <vt:lpstr>2_Upper Left Star and Castle NON CUI</vt:lpstr>
      <vt:lpstr>Upper Left Star and Castle CUI</vt:lpstr>
      <vt:lpstr>Chart Color Templates</vt:lpstr>
      <vt:lpstr>Presentation</vt:lpstr>
      <vt:lpstr>Industry day the Unaccompanied Enlisted Personnel Housing (UEPH) Barracks Fort Campbell, KY </vt:lpstr>
      <vt:lpstr>ADMINISTRATIVE ANNOUNCEMENTS</vt:lpstr>
      <vt:lpstr>AGENDA</vt:lpstr>
      <vt:lpstr> PROCUREMENT PROCESS and OVERVIEW</vt:lpstr>
      <vt:lpstr>HOW TO OBTAIN THE SOLICITATION </vt:lpstr>
      <vt:lpstr>OBTAINING THE ISSUE DOCUMENTS </vt:lpstr>
      <vt:lpstr>OBTAINING THE ISSUE DOCUMENTS </vt:lpstr>
      <vt:lpstr>OBTAINING THE ISSUE DOCUMENTS </vt:lpstr>
      <vt:lpstr>THE PROCUREMENT PROCESS </vt:lpstr>
      <vt:lpstr>PROPOSAL REQUIREMENTS </vt:lpstr>
      <vt:lpstr>PROPOSAL REQUIREMENTS (cont.) </vt:lpstr>
      <vt:lpstr>PROPOSAL SUBMISSION </vt:lpstr>
      <vt:lpstr>Schedule</vt:lpstr>
      <vt:lpstr>PowerPoint Presentation</vt:lpstr>
      <vt:lpstr>Small Business Participation plan &amp; Subcontracting PLAN</vt:lpstr>
      <vt:lpstr>BUILDING YOUR TEAM</vt:lpstr>
      <vt:lpstr>Obtain information</vt:lpstr>
      <vt:lpstr>opportunities</vt:lpstr>
      <vt:lpstr>SUMMARY</vt:lpstr>
      <vt:lpstr>What Questions do you have for us? </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ELW</dc:creator>
  <cp:lastModifiedBy>Westgate, Joshua K CIV USARMY CELRL (USA)</cp:lastModifiedBy>
  <cp:revision>469</cp:revision>
  <dcterms:created xsi:type="dcterms:W3CDTF">2017-02-20T05:10:01Z</dcterms:created>
  <dcterms:modified xsi:type="dcterms:W3CDTF">2025-04-22T13:14:05Z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0x01010098306E62ACD7194CB5569EDCC29018C1</vt:lpwstr>
  </property>
</Properties>
</file>