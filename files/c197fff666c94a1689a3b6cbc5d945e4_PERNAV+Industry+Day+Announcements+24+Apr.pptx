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322" r:id="rId2"/>
    <p:sldId id="321" r:id="rId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20" autoAdjust="0"/>
  </p:normalViewPr>
  <p:slideViewPr>
    <p:cSldViewPr snapToGrid="0">
      <p:cViewPr varScale="1">
        <p:scale>
          <a:sx n="120" d="100"/>
          <a:sy n="120" d="100"/>
        </p:scale>
        <p:origin x="23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C84035-392E-4CC9-8970-B2C4899A8FFF}" type="datetimeFigureOut">
              <a:rPr lang="es-PE" smtClean="0"/>
              <a:t>24/04/2025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3E515-2B93-416B-80EA-9FF0D533181F}" type="slidenum">
              <a:rPr lang="es-PE" smtClean="0"/>
              <a:t>‹#›</a:t>
            </a:fld>
            <a:endParaRPr lang="es-PE"/>
          </a:p>
        </p:txBody>
      </p:sp>
    </p:spTree>
    <p:extLst>
      <p:ext uri="{BB962C8B-B14F-4D97-AF65-F5344CB8AC3E}">
        <p14:creationId xmlns:p14="http://schemas.microsoft.com/office/powerpoint/2010/main" val="3432267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E603E515-2B93-416B-80EA-9FF0D533181F}" type="slidenum">
              <a:rPr lang="es-PE" smtClean="0"/>
              <a:t>1</a:t>
            </a:fld>
            <a:endParaRPr lang="es-PE"/>
          </a:p>
        </p:txBody>
      </p:sp>
    </p:spTree>
    <p:extLst>
      <p:ext uri="{BB962C8B-B14F-4D97-AF65-F5344CB8AC3E}">
        <p14:creationId xmlns:p14="http://schemas.microsoft.com/office/powerpoint/2010/main" val="1729563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E603E515-2B93-416B-80EA-9FF0D533181F}" type="slidenum">
              <a:rPr lang="es-PE" smtClean="0"/>
              <a:t>2</a:t>
            </a:fld>
            <a:endParaRPr lang="es-PE"/>
          </a:p>
        </p:txBody>
      </p:sp>
    </p:spTree>
    <p:extLst>
      <p:ext uri="{BB962C8B-B14F-4D97-AF65-F5344CB8AC3E}">
        <p14:creationId xmlns:p14="http://schemas.microsoft.com/office/powerpoint/2010/main" val="160835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A7C9BA-55A6-BECF-4755-1B366601CE2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8C62E316-E325-308F-7443-4E8CCDFEF1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3B621706-D3A1-5607-CFE9-161A94D05A93}"/>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030E9A77-40DC-7DDF-C04A-ED1E75A50D2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220B724-7583-5000-1328-41A5CA024B9F}"/>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655257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171E1E-21FB-F700-72FB-1904F77AA168}"/>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875BFCC-5EDD-9FC1-A015-D9F911DF6E6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5C60236-C7E4-D12E-D9A6-B407A18FE810}"/>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28E38E00-15D6-43C5-859C-CA1D04A08C4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2191723-5452-F24E-C38B-4E6472D37F77}"/>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82658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40FEC-E8C1-5F51-FBB9-B35273F9D46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9CE38EC-CBD4-074E-6F71-E44236D50D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E3B228B-EFA8-10DC-D81A-3F08E46836A9}"/>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D4E89AAD-E6B0-7B39-CDAB-F61D9FEE401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2BA4436-16E0-F219-713B-5623F13CB576}"/>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2973101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3612FD-D182-FCB4-B84A-6E30800AD736}"/>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2A8AB61-0284-CF9C-ADFD-37361CFE96A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ADA0ED42-6DB4-058E-99E1-A90E8494EAB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636BCA50-18BE-75CD-FC1F-DBCBCE6E7043}"/>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6" name="Marcador de pie de página 5">
            <a:extLst>
              <a:ext uri="{FF2B5EF4-FFF2-40B4-BE49-F238E27FC236}">
                <a16:creationId xmlns:a16="http://schemas.microsoft.com/office/drawing/2014/main" id="{E82D5870-4D05-481C-A169-ECB4B808B7A3}"/>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561878D-99A3-D627-FCBD-8B89FB1ECE24}"/>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2389141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99E7CC-DE25-96D7-A12C-F5697B1C40E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990D9F93-D4DC-D24F-82AE-833589E0BC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8973584-F1C8-42B4-18E6-97837513A67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B65B5E47-52AA-4976-A8DF-52B23208E1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D19FC7D-18FE-F7AE-B285-550E3664977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A8F30BC4-9122-A257-E058-7EE61B81AA04}"/>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8" name="Marcador de pie de página 7">
            <a:extLst>
              <a:ext uri="{FF2B5EF4-FFF2-40B4-BE49-F238E27FC236}">
                <a16:creationId xmlns:a16="http://schemas.microsoft.com/office/drawing/2014/main" id="{8B80E781-8610-FB92-A676-7DA7B2EF245B}"/>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75259B70-6C2C-4D5F-8239-30990F2BC61C}"/>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25410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BAA01-6465-E938-96E1-6A1260C8CED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D02785E8-C449-55FE-9233-41B5FD6DE0E7}"/>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4" name="Marcador de pie de página 3">
            <a:extLst>
              <a:ext uri="{FF2B5EF4-FFF2-40B4-BE49-F238E27FC236}">
                <a16:creationId xmlns:a16="http://schemas.microsoft.com/office/drawing/2014/main" id="{FBF7AB53-3DAB-D6E4-863D-C42CE345BA3F}"/>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447FF5B5-302F-3570-EAC7-FAB71399FDD9}"/>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1271557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32C488D-4177-D149-D631-E65539C1C7AD}"/>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3" name="Marcador de pie de página 2">
            <a:extLst>
              <a:ext uri="{FF2B5EF4-FFF2-40B4-BE49-F238E27FC236}">
                <a16:creationId xmlns:a16="http://schemas.microsoft.com/office/drawing/2014/main" id="{A3358F55-FA43-27C3-3FF7-8531A3F915FD}"/>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2ECBC6E4-8C7F-A01D-EF04-7EC10A58C824}"/>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238603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D85FB-8CA0-0EF5-30FB-E960883FFE2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896F4F8-28D5-C3B7-9130-33287FC5D5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FE531C16-11C8-A7EE-32FA-1241F45C1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AF47B19-AFCC-B9B9-52CF-3ED68DAD3007}"/>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6" name="Marcador de pie de página 5">
            <a:extLst>
              <a:ext uri="{FF2B5EF4-FFF2-40B4-BE49-F238E27FC236}">
                <a16:creationId xmlns:a16="http://schemas.microsoft.com/office/drawing/2014/main" id="{AFA1A278-A3F3-2AF8-E671-92D02DCC774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F37DF96-4884-C832-BD92-73DA21AFE0FF}"/>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4172967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630A82-5843-F4BA-FB6D-22C92D843B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2327FF3A-ACBA-DA28-374A-9679E811A4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0B5F734D-E211-1D25-B961-3AD15E03A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7D39ECA-0CC4-23A7-1F7D-84A8783AD303}"/>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6" name="Marcador de pie de página 5">
            <a:extLst>
              <a:ext uri="{FF2B5EF4-FFF2-40B4-BE49-F238E27FC236}">
                <a16:creationId xmlns:a16="http://schemas.microsoft.com/office/drawing/2014/main" id="{A1EEC3E9-D7C3-1A6E-D132-14FAD25B9EA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E475F9CA-CEA4-110B-D2FF-BFBC969DF977}"/>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705944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DC17F-743D-1135-396C-81D8013B730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72B94280-B7A6-3FFB-B191-984E0FA1383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3755BE83-36CF-8704-4709-6CC045198848}"/>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E41EA67C-AD43-4CFE-D33F-255FCE0C2ED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2C8DEC2-60A3-C1EA-B64C-757DFBDBB02E}"/>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2352112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D86EB3C-34D4-6FB4-B443-0D2B67FFA92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697E26CD-A3AE-410F-A572-F968EB1FAE8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5FB6EEE-28CD-1D46-CC1D-7FC98AC2421D}"/>
              </a:ext>
            </a:extLst>
          </p:cNvPr>
          <p:cNvSpPr>
            <a:spLocks noGrp="1"/>
          </p:cNvSpPr>
          <p:nvPr>
            <p:ph type="dt" sz="half" idx="10"/>
          </p:nvPr>
        </p:nvSpPr>
        <p:spPr/>
        <p:txBody>
          <a:body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9840C509-25B5-9DB2-DCC4-31874FAFAF2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23A974A-CCE7-2DB9-8BEC-DC75F9E70A06}"/>
              </a:ext>
            </a:extLst>
          </p:cNvPr>
          <p:cNvSpPr>
            <a:spLocks noGrp="1"/>
          </p:cNvSpPr>
          <p:nvPr>
            <p:ph type="sldNum" sz="quarter" idx="12"/>
          </p:nvPr>
        </p:nvSpPr>
        <p:spPr/>
        <p:txBody>
          <a:bodyPr/>
          <a:lstStyle/>
          <a:p>
            <a:fld id="{BC2AC675-45F8-4616-89FD-F7A051838F79}" type="slidenum">
              <a:rPr lang="es-PE" smtClean="0"/>
              <a:t>‹#›</a:t>
            </a:fld>
            <a:endParaRPr lang="es-PE"/>
          </a:p>
        </p:txBody>
      </p:sp>
    </p:spTree>
    <p:extLst>
      <p:ext uri="{BB962C8B-B14F-4D97-AF65-F5344CB8AC3E}">
        <p14:creationId xmlns:p14="http://schemas.microsoft.com/office/powerpoint/2010/main" val="1169704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41431723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0D9E56-B679-C714-36D4-6A7E524C3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727234E-7EA6-C1A7-6565-BF40920EE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7D55AF8-EC48-2ED2-DFC1-6A933D56B2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C83F28-A6E8-4C8A-B6AD-CC5832537F5E}" type="datetimeFigureOut">
              <a:rPr lang="es-PE" smtClean="0"/>
              <a:t>24/04/2025</a:t>
            </a:fld>
            <a:endParaRPr lang="es-PE"/>
          </a:p>
        </p:txBody>
      </p:sp>
      <p:sp>
        <p:nvSpPr>
          <p:cNvPr id="5" name="Marcador de pie de página 4">
            <a:extLst>
              <a:ext uri="{FF2B5EF4-FFF2-40B4-BE49-F238E27FC236}">
                <a16:creationId xmlns:a16="http://schemas.microsoft.com/office/drawing/2014/main" id="{0A54BC8D-A758-406B-EAF2-78DD227C2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3003CDE4-B546-8B97-F665-FCC3899EB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2AC675-45F8-4616-89FD-F7A051838F79}" type="slidenum">
              <a:rPr lang="es-PE" smtClean="0"/>
              <a:t>‹#›</a:t>
            </a:fld>
            <a:endParaRPr lang="es-PE"/>
          </a:p>
        </p:txBody>
      </p:sp>
    </p:spTree>
    <p:extLst>
      <p:ext uri="{BB962C8B-B14F-4D97-AF65-F5344CB8AC3E}">
        <p14:creationId xmlns:p14="http://schemas.microsoft.com/office/powerpoint/2010/main" val="1799276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jpg"/><Relationship Id="rId9" Type="http://schemas.openxmlformats.org/officeDocument/2006/relationships/hyperlink" Target="http://www.sam.gov/"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hyperlink" Target="https://sam.gov/" TargetMode="External"/><Relationship Id="rId7"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emf"/><Relationship Id="rId5" Type="http://schemas.openxmlformats.org/officeDocument/2006/relationships/image" Target="../media/image1.png"/><Relationship Id="rId10" Type="http://schemas.openxmlformats.org/officeDocument/2006/relationships/hyperlink" Target="http://www.sam.gov/" TargetMode="External"/><Relationship Id="rId4" Type="http://schemas.openxmlformats.org/officeDocument/2006/relationships/image" Target="../media/image2.jpg"/><Relationship Id="rId9"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0312668-B2CB-40ED-878A-F31029025DD2}"/>
              </a:ext>
            </a:extLst>
          </p:cNvPr>
          <p:cNvPicPr>
            <a:picLocks noChangeAspect="1"/>
          </p:cNvPicPr>
          <p:nvPr/>
        </p:nvPicPr>
        <p:blipFill>
          <a:blip r:embed="rId3"/>
          <a:stretch>
            <a:fillRect/>
          </a:stretch>
        </p:blipFill>
        <p:spPr>
          <a:xfrm>
            <a:off x="11202" y="4651001"/>
            <a:ext cx="3677594" cy="2200602"/>
          </a:xfrm>
          <a:prstGeom prst="rect">
            <a:avLst/>
          </a:prstGeom>
        </p:spPr>
      </p:pic>
      <p:sp>
        <p:nvSpPr>
          <p:cNvPr id="3" name="Text Placeholder 1">
            <a:extLst>
              <a:ext uri="{FF2B5EF4-FFF2-40B4-BE49-F238E27FC236}">
                <a16:creationId xmlns:a16="http://schemas.microsoft.com/office/drawing/2014/main" id="{22DD3691-E45D-447D-BEB4-C4F0E71F28DC}"/>
              </a:ext>
            </a:extLst>
          </p:cNvPr>
          <p:cNvSpPr txBox="1">
            <a:spLocks/>
          </p:cNvSpPr>
          <p:nvPr/>
        </p:nvSpPr>
        <p:spPr>
          <a:xfrm>
            <a:off x="4127167" y="136525"/>
            <a:ext cx="7893431" cy="4619949"/>
          </a:xfrm>
          <a:prstGeom prst="rect">
            <a:avLst/>
          </a:prstGeom>
        </p:spPr>
        <p:txBody>
          <a:bodyPr/>
          <a:lst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400" dirty="0"/>
              <a:t>The United States Army Corps of Engineers (USACE) has future requirements in support of the Peruvian Navy for maritime and shoreside construction at the Port of Callao.</a:t>
            </a:r>
            <a:r>
              <a:rPr lang="es-PE" sz="1300" dirty="0">
                <a:latin typeface="Arial" panose="020B0604020202020204" pitchFamily="34" charset="0"/>
                <a:cs typeface="Arial" panose="020B0604020202020204" pitchFamily="34" charset="0"/>
              </a:rPr>
              <a:t>  </a:t>
            </a:r>
            <a:r>
              <a:rPr lang="en-US" sz="1400" dirty="0"/>
              <a:t>USACE, through a Government to Government agreement, is seeking contractors with experience in design, construction and repair of facilities, utilities, and infrastructure.  </a:t>
            </a:r>
          </a:p>
          <a:p>
            <a:pPr marL="0" indent="0">
              <a:lnSpc>
                <a:spcPct val="150000"/>
              </a:lnSpc>
              <a:buNone/>
            </a:pPr>
            <a:r>
              <a:rPr lang="es" sz="1300" dirty="0">
                <a:latin typeface="Arial" panose="020B0604020202020204" pitchFamily="34" charset="0"/>
                <a:cs typeface="Arial" panose="020B0604020202020204" pitchFamily="34" charset="0"/>
              </a:rPr>
              <a:t>The Industry Day will provide information relating to the requirements and </a:t>
            </a:r>
            <a:r>
              <a:rPr lang="en-US" sz="1400" dirty="0"/>
              <a:t>and how to submit a proposal.  Sessions will also include the opportunity for industry feedback on technical and procedural aspects of the planned solicitations.</a:t>
            </a:r>
          </a:p>
          <a:p>
            <a:pPr marL="0" marR="0" lvl="0" indent="0" algn="just" defTabSz="914400" rtl="0" eaLnBrk="1" fontAlgn="auto" latinLnBrk="0" hangingPunct="1">
              <a:lnSpc>
                <a:spcPct val="150000"/>
              </a:lnSpc>
              <a:spcBef>
                <a:spcPts val="1000"/>
              </a:spcBef>
              <a:spcAft>
                <a:spcPts val="0"/>
              </a:spcAft>
              <a:buClr>
                <a:srgbClr val="D34817">
                  <a:lumMod val="60000"/>
                  <a:lumOff val="40000"/>
                </a:srgbClr>
              </a:buClr>
              <a:buSzTx/>
              <a:buFont typeface="Wingdings" panose="05000000000000000000" pitchFamily="2" charset="2"/>
              <a:buNone/>
              <a:tabLst/>
              <a:defRPr/>
            </a:pPr>
            <a:r>
              <a:rPr kumimoji="0" lang="en-U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Contractors are encouraged to begin the registration process prior to the conference in the systems listed on this page to ensure that they can download solicitations when they become available.  Solicitations will only be announced on https://SAM.gov and can only be downloaded from and proposals submitted through https://piee.eb.mil. </a:t>
            </a:r>
          </a:p>
          <a:p>
            <a:pPr marL="0" marR="0" lvl="0" indent="0" algn="just" defTabSz="914400" rtl="0" eaLnBrk="1" fontAlgn="auto" latinLnBrk="0" hangingPunct="1">
              <a:lnSpc>
                <a:spcPct val="100000"/>
              </a:lnSpc>
              <a:spcBef>
                <a:spcPts val="0"/>
              </a:spcBef>
              <a:spcAft>
                <a:spcPts val="0"/>
              </a:spcAft>
              <a:buClr>
                <a:srgbClr val="D34817">
                  <a:lumMod val="60000"/>
                  <a:lumOff val="40000"/>
                </a:srgbClr>
              </a:buClr>
              <a:buSzTx/>
              <a:buFont typeface="Wingdings" panose="05000000000000000000" pitchFamily="2" charset="2"/>
              <a:buNone/>
              <a:tabLst/>
              <a:defRPr/>
            </a:pPr>
            <a:endParaRPr kumimoji="0" lang="en-US" sz="13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
                <a:srgbClr val="D34817">
                  <a:lumMod val="60000"/>
                  <a:lumOff val="40000"/>
                </a:srgbClr>
              </a:buClr>
              <a:buSzTx/>
              <a:buFont typeface="Wingdings" panose="05000000000000000000" pitchFamily="2" charset="2"/>
              <a:buNone/>
              <a:tabLst/>
              <a:defRPr/>
            </a:pPr>
            <a:r>
              <a:rPr kumimoji="0" lang="en-U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Please register in advance with Claudia Montero at: </a:t>
            </a:r>
          </a:p>
          <a:p>
            <a:pPr marL="0" marR="0" lvl="0" indent="0" algn="just" defTabSz="914400" rtl="0" eaLnBrk="1" fontAlgn="auto" latinLnBrk="0" hangingPunct="1">
              <a:lnSpc>
                <a:spcPct val="100000"/>
              </a:lnSpc>
              <a:spcBef>
                <a:spcPts val="0"/>
              </a:spcBef>
              <a:spcAft>
                <a:spcPts val="0"/>
              </a:spcAft>
              <a:buClr>
                <a:srgbClr val="D34817">
                  <a:lumMod val="60000"/>
                  <a:lumOff val="40000"/>
                </a:srgbClr>
              </a:buClr>
              <a:buSzTx/>
              <a:buFont typeface="Wingdings" panose="05000000000000000000" pitchFamily="2" charset="2"/>
              <a:buNone/>
              <a:tabLst/>
              <a:defRPr/>
            </a:pPr>
            <a:r>
              <a:rPr kumimoji="0" lang="en-U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claudia.m.montero@usace.army.mil</a:t>
            </a:r>
          </a:p>
        </p:txBody>
      </p:sp>
      <p:sp>
        <p:nvSpPr>
          <p:cNvPr id="7" name="Title 1">
            <a:extLst>
              <a:ext uri="{FF2B5EF4-FFF2-40B4-BE49-F238E27FC236}">
                <a16:creationId xmlns:a16="http://schemas.microsoft.com/office/drawing/2014/main" id="{6C90F06E-74EC-4EF4-9FB0-4AC5D2814C7F}"/>
              </a:ext>
            </a:extLst>
          </p:cNvPr>
          <p:cNvSpPr txBox="1">
            <a:spLocks/>
          </p:cNvSpPr>
          <p:nvPr/>
        </p:nvSpPr>
        <p:spPr bwMode="auto">
          <a:xfrm>
            <a:off x="55621" y="634257"/>
            <a:ext cx="3779822" cy="3830098"/>
          </a:xfrm>
          <a:prstGeom prst="rect">
            <a:avLst/>
          </a:prstGeom>
          <a:noFill/>
          <a:ln w="9525">
            <a:noFill/>
            <a:miter lim="800000"/>
            <a:headEnd/>
            <a:tailEnd/>
          </a:ln>
        </p:spPr>
        <p:txBody>
          <a:bodyPr vert="horz" wrap="square" lIns="45720" tIns="0" rIns="0" bIns="0" numCol="1" anchor="ctr" anchorCtr="0" compatLnSpc="1">
            <a:prstTxWarp prst="textNoShape">
              <a:avLst/>
            </a:prstTxWarp>
            <a:normAutofit fontScale="97500" lnSpcReduction="10000"/>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91440" algn="ctr"/>
            <a:r>
              <a:rPr lang="es" sz="3300" dirty="0"/>
              <a:t>Industry Day</a:t>
            </a:r>
          </a:p>
          <a:p>
            <a:pPr marL="91440" algn="ctr"/>
            <a:r>
              <a:rPr lang="es" sz="1800" dirty="0"/>
              <a:t> </a:t>
            </a:r>
            <a:br>
              <a:rPr lang="en-US" sz="1800" dirty="0"/>
            </a:br>
            <a:r>
              <a:rPr lang="es-PE" sz="1800" dirty="0" err="1"/>
              <a:t>Construction</a:t>
            </a:r>
            <a:r>
              <a:rPr lang="es-PE" sz="1800" dirty="0"/>
              <a:t> </a:t>
            </a:r>
            <a:r>
              <a:rPr lang="es-PE" sz="1800" dirty="0" err="1"/>
              <a:t>of</a:t>
            </a:r>
            <a:r>
              <a:rPr lang="es-PE" sz="1800" dirty="0"/>
              <a:t> </a:t>
            </a:r>
            <a:r>
              <a:rPr lang="es-PE" sz="1800" dirty="0" err="1"/>
              <a:t>the</a:t>
            </a:r>
            <a:r>
              <a:rPr lang="es-PE" sz="1800" dirty="0"/>
              <a:t> </a:t>
            </a:r>
            <a:r>
              <a:rPr lang="es-PE" sz="1800" dirty="0" err="1"/>
              <a:t>port</a:t>
            </a:r>
            <a:r>
              <a:rPr lang="es-PE" sz="1800" dirty="0"/>
              <a:t> and </a:t>
            </a:r>
            <a:r>
              <a:rPr lang="es-PE" sz="1800" dirty="0" err="1"/>
              <a:t>buildings</a:t>
            </a:r>
            <a:r>
              <a:rPr lang="es-PE" sz="1800" dirty="0"/>
              <a:t> </a:t>
            </a:r>
            <a:r>
              <a:rPr lang="es-PE" sz="1800" dirty="0" err="1"/>
              <a:t>for</a:t>
            </a:r>
            <a:r>
              <a:rPr lang="es-PE" sz="1800" dirty="0"/>
              <a:t> </a:t>
            </a:r>
            <a:r>
              <a:rPr lang="es-PE" sz="1800" dirty="0" err="1"/>
              <a:t>the</a:t>
            </a:r>
            <a:r>
              <a:rPr lang="es-PE" sz="1800" dirty="0"/>
              <a:t> Callao Naval Base</a:t>
            </a:r>
            <a:br>
              <a:rPr lang="en-US" dirty="0"/>
            </a:br>
            <a:br>
              <a:rPr lang="en-US" dirty="0"/>
            </a:br>
            <a:br>
              <a:rPr lang="en-US" dirty="0"/>
            </a:br>
            <a:r>
              <a:rPr lang="es" sz="1800" dirty="0"/>
              <a:t>Thursday May 8, 2025 </a:t>
            </a:r>
            <a:br>
              <a:rPr lang="en-US" sz="1800" dirty="0"/>
            </a:br>
            <a:r>
              <a:rPr lang="es" sz="1800" dirty="0"/>
              <a:t>Centro Naval del Perú </a:t>
            </a:r>
            <a:br>
              <a:rPr lang="en-US" sz="1800" dirty="0"/>
            </a:br>
            <a:r>
              <a:rPr lang="es" sz="1800" dirty="0"/>
              <a:t>av. San Luis SN, San Borja</a:t>
            </a:r>
          </a:p>
          <a:p>
            <a:pPr marL="91440" algn="ctr"/>
            <a:r>
              <a:rPr lang="es" sz="1800" dirty="0"/>
              <a:t>9:00AM </a:t>
            </a:r>
            <a:br>
              <a:rPr lang="en-US" sz="1800" dirty="0"/>
            </a:br>
            <a:endParaRPr lang="en-US" dirty="0"/>
          </a:p>
        </p:txBody>
      </p:sp>
      <p:pic>
        <p:nvPicPr>
          <p:cNvPr id="8" name="Picture 18" descr="A red and white sign&#10;&#10;AI-generated content may be incorrect.">
            <a:extLst>
              <a:ext uri="{FF2B5EF4-FFF2-40B4-BE49-F238E27FC236}">
                <a16:creationId xmlns:a16="http://schemas.microsoft.com/office/drawing/2014/main" id="{5B50C382-2FCC-4F01-8B95-892719F7392F}"/>
              </a:ext>
            </a:extLst>
          </p:cNvPr>
          <p:cNvPicPr>
            <a:picLocks noChangeAspect="1"/>
          </p:cNvPicPr>
          <p:nvPr/>
        </p:nvPicPr>
        <p:blipFill>
          <a:blip r:embed="rId4"/>
          <a:stretch>
            <a:fillRect/>
          </a:stretch>
        </p:blipFill>
        <p:spPr>
          <a:xfrm>
            <a:off x="55621" y="0"/>
            <a:ext cx="727075" cy="634257"/>
          </a:xfrm>
          <a:prstGeom prst="rect">
            <a:avLst/>
          </a:prstGeom>
        </p:spPr>
      </p:pic>
      <p:pic>
        <p:nvPicPr>
          <p:cNvPr id="11" name="Picture 10">
            <a:extLst>
              <a:ext uri="{FF2B5EF4-FFF2-40B4-BE49-F238E27FC236}">
                <a16:creationId xmlns:a16="http://schemas.microsoft.com/office/drawing/2014/main" id="{4CBB7FD8-ADC5-AD1C-9350-8A3B68FDC94E}"/>
              </a:ext>
            </a:extLst>
          </p:cNvPr>
          <p:cNvPicPr>
            <a:picLocks noChangeAspect="1"/>
          </p:cNvPicPr>
          <p:nvPr/>
        </p:nvPicPr>
        <p:blipFill>
          <a:blip r:embed="rId5"/>
          <a:stretch>
            <a:fillRect/>
          </a:stretch>
        </p:blipFill>
        <p:spPr>
          <a:xfrm>
            <a:off x="11217144" y="4744927"/>
            <a:ext cx="589036" cy="589036"/>
          </a:xfrm>
          <a:prstGeom prst="rect">
            <a:avLst/>
          </a:prstGeom>
        </p:spPr>
      </p:pic>
      <p:pic>
        <p:nvPicPr>
          <p:cNvPr id="15" name="Picture 14">
            <a:extLst>
              <a:ext uri="{FF2B5EF4-FFF2-40B4-BE49-F238E27FC236}">
                <a16:creationId xmlns:a16="http://schemas.microsoft.com/office/drawing/2014/main" id="{450625C9-ED18-F793-8A56-9663E18C72B1}"/>
              </a:ext>
            </a:extLst>
          </p:cNvPr>
          <p:cNvPicPr>
            <a:picLocks noChangeAspect="1"/>
          </p:cNvPicPr>
          <p:nvPr/>
        </p:nvPicPr>
        <p:blipFill>
          <a:blip r:embed="rId6"/>
          <a:stretch>
            <a:fillRect/>
          </a:stretch>
        </p:blipFill>
        <p:spPr>
          <a:xfrm>
            <a:off x="3700175" y="5432038"/>
            <a:ext cx="2357542" cy="1317022"/>
          </a:xfrm>
          <a:prstGeom prst="rect">
            <a:avLst/>
          </a:prstGeom>
        </p:spPr>
      </p:pic>
      <p:pic>
        <p:nvPicPr>
          <p:cNvPr id="21" name="Picture 20">
            <a:extLst>
              <a:ext uri="{FF2B5EF4-FFF2-40B4-BE49-F238E27FC236}">
                <a16:creationId xmlns:a16="http://schemas.microsoft.com/office/drawing/2014/main" id="{0A003A0D-FDD0-76FC-23D1-237E8019F8ED}"/>
              </a:ext>
            </a:extLst>
          </p:cNvPr>
          <p:cNvPicPr>
            <a:picLocks noChangeAspect="1"/>
          </p:cNvPicPr>
          <p:nvPr/>
        </p:nvPicPr>
        <p:blipFill>
          <a:blip r:embed="rId7"/>
          <a:stretch>
            <a:fillRect/>
          </a:stretch>
        </p:blipFill>
        <p:spPr>
          <a:xfrm>
            <a:off x="10915856" y="5537802"/>
            <a:ext cx="595806" cy="589035"/>
          </a:xfrm>
          <a:prstGeom prst="rect">
            <a:avLst/>
          </a:prstGeom>
        </p:spPr>
      </p:pic>
      <p:pic>
        <p:nvPicPr>
          <p:cNvPr id="23" name="Picture 22">
            <a:extLst>
              <a:ext uri="{FF2B5EF4-FFF2-40B4-BE49-F238E27FC236}">
                <a16:creationId xmlns:a16="http://schemas.microsoft.com/office/drawing/2014/main" id="{048C7687-4E31-2187-6C9E-467E0C82AC98}"/>
              </a:ext>
            </a:extLst>
          </p:cNvPr>
          <p:cNvPicPr>
            <a:picLocks noChangeAspect="1"/>
          </p:cNvPicPr>
          <p:nvPr/>
        </p:nvPicPr>
        <p:blipFill>
          <a:blip r:embed="rId8"/>
          <a:stretch>
            <a:fillRect/>
          </a:stretch>
        </p:blipFill>
        <p:spPr>
          <a:xfrm>
            <a:off x="7478076" y="6231520"/>
            <a:ext cx="595806" cy="595806"/>
          </a:xfrm>
          <a:prstGeom prst="rect">
            <a:avLst/>
          </a:prstGeom>
        </p:spPr>
      </p:pic>
      <p:sp>
        <p:nvSpPr>
          <p:cNvPr id="24" name="TextBox 23">
            <a:extLst>
              <a:ext uri="{FF2B5EF4-FFF2-40B4-BE49-F238E27FC236}">
                <a16:creationId xmlns:a16="http://schemas.microsoft.com/office/drawing/2014/main" id="{9914412B-D873-F2CA-FAD5-12ED649D19A7}"/>
              </a:ext>
            </a:extLst>
          </p:cNvPr>
          <p:cNvSpPr txBox="1"/>
          <p:nvPr/>
        </p:nvSpPr>
        <p:spPr>
          <a:xfrm>
            <a:off x="5887785" y="4651000"/>
            <a:ext cx="6293013" cy="2200602"/>
          </a:xfrm>
          <a:prstGeom prst="rect">
            <a:avLst/>
          </a:prstGeom>
          <a:noFill/>
          <a:ln w="12700">
            <a:solidFill>
              <a:schemeClr val="tx1"/>
            </a:solidFill>
          </a:ln>
        </p:spPr>
        <p:txBody>
          <a:bodyPr wrap="square" rtlCol="0">
            <a:spAutoFit/>
          </a:bodyPr>
          <a:lstStyle/>
          <a:p>
            <a:r>
              <a:rPr lang="en-US" sz="1100" b="1" dirty="0"/>
              <a:t>Required Registrations (Obtain Registrations in the Order Shown)</a:t>
            </a:r>
          </a:p>
          <a:p>
            <a:pPr marL="228600" indent="-228600">
              <a:buAutoNum type="arabicPeriod"/>
            </a:pPr>
            <a:r>
              <a:rPr lang="en-US" sz="1100" dirty="0"/>
              <a:t>Get a CAGE or an NCAGE Code assigned.  It takes up to 14 business days to obtain</a:t>
            </a:r>
          </a:p>
          <a:p>
            <a:r>
              <a:rPr lang="en-US" sz="1100" dirty="0"/>
              <a:t>        an NCAGE code.</a:t>
            </a:r>
          </a:p>
          <a:p>
            <a:pPr marL="228600" indent="-228600">
              <a:buAutoNum type="arabicPeriod"/>
            </a:pPr>
            <a:endParaRPr lang="en-US" sz="1100" dirty="0"/>
          </a:p>
          <a:p>
            <a:pPr marL="228600" indent="-228600">
              <a:buAutoNum type="arabicPeriod"/>
            </a:pPr>
            <a:endParaRPr lang="en-US" sz="700" dirty="0"/>
          </a:p>
          <a:p>
            <a:r>
              <a:rPr lang="en-US" sz="1100" dirty="0"/>
              <a:t>2.    Create a SAM account and get your Unique Entity Identifier (UEI) Number</a:t>
            </a:r>
          </a:p>
          <a:p>
            <a:r>
              <a:rPr lang="en-US" sz="1100" dirty="0"/>
              <a:t>        (formerly known as DUNS) at </a:t>
            </a:r>
            <a:r>
              <a:rPr lang="en-US" sz="1100" dirty="0">
                <a:hlinkClick r:id="rId9"/>
              </a:rPr>
              <a:t>www.sam.gov</a:t>
            </a:r>
            <a:r>
              <a:rPr lang="en-US" sz="1100" dirty="0"/>
              <a:t>.  Allow up to 15 business days</a:t>
            </a:r>
          </a:p>
          <a:p>
            <a:r>
              <a:rPr lang="en-US" sz="1100" dirty="0"/>
              <a:t>        after submission before your registration is active in SAM.  For international</a:t>
            </a:r>
          </a:p>
          <a:p>
            <a:r>
              <a:rPr lang="en-US" sz="1100" dirty="0"/>
              <a:t>        registrants, refer to the Quick Start Guide available through the SAM website.</a:t>
            </a:r>
          </a:p>
          <a:p>
            <a:pPr marL="228600" indent="-228600">
              <a:buAutoNum type="arabicPeriod"/>
            </a:pPr>
            <a:endParaRPr lang="en-US" sz="1100" dirty="0"/>
          </a:p>
          <a:p>
            <a:pPr marL="228600" indent="-228600">
              <a:buAutoNum type="arabicPeriod"/>
            </a:pPr>
            <a:endParaRPr lang="en-US" sz="1100" dirty="0"/>
          </a:p>
          <a:p>
            <a:r>
              <a:rPr lang="en-US" sz="1100" dirty="0"/>
              <a:t>3.    Obtain PIEE access.  </a:t>
            </a:r>
          </a:p>
          <a:p>
            <a:pPr marL="228600" indent="-228600">
              <a:buAutoNum type="arabicPeriod"/>
            </a:pPr>
            <a:endParaRPr lang="en-US" sz="500" dirty="0"/>
          </a:p>
        </p:txBody>
      </p:sp>
      <p:sp>
        <p:nvSpPr>
          <p:cNvPr id="25" name="TextBox 24">
            <a:extLst>
              <a:ext uri="{FF2B5EF4-FFF2-40B4-BE49-F238E27FC236}">
                <a16:creationId xmlns:a16="http://schemas.microsoft.com/office/drawing/2014/main" id="{647D20B1-7E73-1840-F159-32B13F1F07F4}"/>
              </a:ext>
            </a:extLst>
          </p:cNvPr>
          <p:cNvSpPr txBox="1"/>
          <p:nvPr/>
        </p:nvSpPr>
        <p:spPr>
          <a:xfrm>
            <a:off x="3664424" y="5058160"/>
            <a:ext cx="2283895" cy="307777"/>
          </a:xfrm>
          <a:prstGeom prst="rect">
            <a:avLst/>
          </a:prstGeom>
          <a:noFill/>
        </p:spPr>
        <p:txBody>
          <a:bodyPr wrap="none" rtlCol="0">
            <a:spAutoFit/>
          </a:bodyPr>
          <a:lstStyle/>
          <a:p>
            <a:r>
              <a:rPr lang="en-US" sz="1400" b="1" dirty="0"/>
              <a:t>Website and Social Media</a:t>
            </a:r>
          </a:p>
        </p:txBody>
      </p:sp>
      <p:sp>
        <p:nvSpPr>
          <p:cNvPr id="26" name="Rectangle 25">
            <a:extLst>
              <a:ext uri="{FF2B5EF4-FFF2-40B4-BE49-F238E27FC236}">
                <a16:creationId xmlns:a16="http://schemas.microsoft.com/office/drawing/2014/main" id="{2EA2ACEC-5E4C-9D73-E2C4-DA3CDDE81973}"/>
              </a:ext>
            </a:extLst>
          </p:cNvPr>
          <p:cNvSpPr/>
          <p:nvPr/>
        </p:nvSpPr>
        <p:spPr>
          <a:xfrm>
            <a:off x="3700175" y="4652921"/>
            <a:ext cx="2187610" cy="21986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9505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22DD3691-E45D-447D-BEB4-C4F0E71F28DC}"/>
              </a:ext>
            </a:extLst>
          </p:cNvPr>
          <p:cNvSpPr txBox="1">
            <a:spLocks/>
          </p:cNvSpPr>
          <p:nvPr/>
        </p:nvSpPr>
        <p:spPr>
          <a:xfrm>
            <a:off x="4127167" y="136525"/>
            <a:ext cx="7893431" cy="4619949"/>
          </a:xfrm>
          <a:prstGeom prst="rect">
            <a:avLst/>
          </a:prstGeom>
        </p:spPr>
        <p:txBody>
          <a:bodyPr/>
          <a:lst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000"/>
              </a:spcBef>
              <a:spcAft>
                <a:spcPts val="0"/>
              </a:spcAft>
              <a:buClr>
                <a:srgbClr val="D34817">
                  <a:lumMod val="60000"/>
                  <a:lumOff val="40000"/>
                </a:srgbClr>
              </a:buClr>
              <a:buSzTx/>
              <a:buFont typeface="Wingdings" panose="05000000000000000000" pitchFamily="2" charset="2"/>
              <a:buNone/>
              <a:tabLst/>
              <a:defRPr/>
            </a:pP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El Cuerpo de Ingenieros del Ejército de los Estados Unidos (USACE) tiene </a:t>
            </a:r>
            <a:r>
              <a:rPr lang="es-PE" sz="1300" dirty="0">
                <a:latin typeface="Arial" panose="020B0604020202020204" pitchFamily="34" charset="0"/>
                <a:cs typeface="Arial" panose="020B0604020202020204" pitchFamily="34" charset="0"/>
              </a:rPr>
              <a:t>necesidades futuras de apoyo  a la Marina de Guerra del Perú para la construcción marítima y costera en la Base Naval del Callao,  El USACE a través de un acuerdo de Gobierno a Gobierno,  busca contratistas con experiencia en diseño, construcción y reparación de instalaciones, servicios públicos e infraestructura.</a:t>
            </a:r>
          </a:p>
          <a:p>
            <a:pPr marL="0" marR="0" lvl="0" indent="0" algn="just" defTabSz="914400" rtl="0" eaLnBrk="1" fontAlgn="auto" latinLnBrk="0" hangingPunct="1">
              <a:lnSpc>
                <a:spcPct val="150000"/>
              </a:lnSpc>
              <a:spcBef>
                <a:spcPts val="1000"/>
              </a:spcBef>
              <a:spcAft>
                <a:spcPts val="0"/>
              </a:spcAft>
              <a:buClr>
                <a:srgbClr val="D34817">
                  <a:lumMod val="60000"/>
                  <a:lumOff val="40000"/>
                </a:srgbClr>
              </a:buClr>
              <a:buSzTx/>
              <a:buFont typeface="Wingdings" panose="05000000000000000000" pitchFamily="2" charset="2"/>
              <a:buNone/>
              <a:tabLst/>
              <a:defRPr/>
            </a:pPr>
            <a:r>
              <a:rPr lang="es" sz="1300" dirty="0">
                <a:latin typeface="Arial" panose="020B0604020202020204" pitchFamily="34" charset="0"/>
                <a:cs typeface="Arial" panose="020B0604020202020204" pitchFamily="34" charset="0"/>
              </a:rPr>
              <a:t>El</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Dia de la Industr</a:t>
            </a:r>
            <a:r>
              <a:rPr kumimoji="0" lang="es-PE"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i</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a  </a:t>
            </a:r>
            <a:r>
              <a:rPr kumimoji="0" lang="es-PE"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se proveerá información relacionada con los requisitos para los procesos y como deben presentar las empresas sus propuestas. </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Las sesiones también </a:t>
            </a:r>
            <a:r>
              <a:rPr kumimoji="0" lang="es-PE"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ofrecerán </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la oportunidad de recibir comentarios de la industria sobre aspectos técnicos y de procedimiento de las convocatorias planificadas.</a:t>
            </a:r>
          </a:p>
          <a:p>
            <a:pPr marL="0" marR="0" lvl="0" indent="0" algn="just" defTabSz="914400" rtl="0" eaLnBrk="1" fontAlgn="auto" latinLnBrk="0" hangingPunct="1">
              <a:lnSpc>
                <a:spcPct val="150000"/>
              </a:lnSpc>
              <a:spcBef>
                <a:spcPts val="1000"/>
              </a:spcBef>
              <a:spcAft>
                <a:spcPts val="0"/>
              </a:spcAft>
              <a:buClr>
                <a:srgbClr val="D34817">
                  <a:lumMod val="60000"/>
                  <a:lumOff val="40000"/>
                </a:srgbClr>
              </a:buClr>
              <a:buSzTx/>
              <a:buFont typeface="Wingdings" panose="05000000000000000000" pitchFamily="2" charset="2"/>
              <a:buNone/>
              <a:tabLst/>
              <a:defRPr/>
            </a:pP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Se recomienda a </a:t>
            </a:r>
            <a:r>
              <a:rPr kumimoji="0" lang="es-PE"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los </a:t>
            </a:r>
            <a:r>
              <a:rPr lang="es-PE" sz="1300" dirty="0">
                <a:latin typeface="Arial" panose="020B0604020202020204" pitchFamily="34" charset="0"/>
                <a:cs typeface="Arial" panose="020B0604020202020204" pitchFamily="34" charset="0"/>
              </a:rPr>
              <a:t>contratistas que inicien el proceso de registro antes de la conferencia en los sistemas que se indican en esta pagina para asegurarse de poder descargar las solicitudes cuando estén disponibles</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 Las licitaciones solo se anunciarán en  </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hlinkClick r:id="rId3"/>
              </a:rPr>
              <a:t>https://sam.gov</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a:t>
            </a:r>
            <a:r>
              <a:rPr lang="es" sz="1300" dirty="0">
                <a:latin typeface="Arial" panose="020B0604020202020204" pitchFamily="34" charset="0"/>
                <a:cs typeface="Arial" panose="020B0604020202020204" pitchFamily="34" charset="0"/>
              </a:rPr>
              <a:t>  </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y </a:t>
            </a:r>
            <a:r>
              <a:rPr kumimoji="0" lang="es-PE"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solo podrán descargarse y enviarse propuestas a través de   </a:t>
            </a: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https://piee.eb.mil.</a:t>
            </a:r>
          </a:p>
          <a:p>
            <a:pPr marL="0" marR="0" lvl="0" indent="0" algn="just" defTabSz="914400" rtl="0" eaLnBrk="1" fontAlgn="auto" latinLnBrk="0" hangingPunct="1">
              <a:lnSpc>
                <a:spcPct val="150000"/>
              </a:lnSpc>
              <a:spcBef>
                <a:spcPts val="1000"/>
              </a:spcBef>
              <a:spcAft>
                <a:spcPts val="0"/>
              </a:spcAft>
              <a:buClr>
                <a:srgbClr val="D34817">
                  <a:lumMod val="60000"/>
                  <a:lumOff val="40000"/>
                </a:srgbClr>
              </a:buClr>
              <a:buSzTx/>
              <a:buFont typeface="Wingdings" panose="05000000000000000000" pitchFamily="2" charset="2"/>
              <a:buNone/>
              <a:tabLst/>
              <a:defRPr/>
            </a:pP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Por favor registrarse previamente con Claudia Montero en: </a:t>
            </a:r>
          </a:p>
          <a:p>
            <a:pPr marL="0" marR="0" lvl="0" indent="0" algn="just" defTabSz="914400" rtl="0" eaLnBrk="1" fontAlgn="auto" latinLnBrk="0" hangingPunct="1">
              <a:lnSpc>
                <a:spcPct val="100000"/>
              </a:lnSpc>
              <a:spcBef>
                <a:spcPts val="0"/>
              </a:spcBef>
              <a:spcAft>
                <a:spcPts val="0"/>
              </a:spcAft>
              <a:buClr>
                <a:srgbClr val="D34817">
                  <a:lumMod val="60000"/>
                  <a:lumOff val="40000"/>
                </a:srgbClr>
              </a:buClr>
              <a:buSzTx/>
              <a:buFont typeface="Wingdings" panose="05000000000000000000" pitchFamily="2" charset="2"/>
              <a:buNone/>
              <a:tabLst/>
              <a:defRPr/>
            </a:pPr>
            <a:r>
              <a:rPr kumimoji="0" lang="es" sz="1300" b="0" i="0" u="none" strike="noStrike" kern="1200" cap="none" spc="0" normalizeH="0" baseline="0" noProof="0" dirty="0">
                <a:ln>
                  <a:noFill/>
                </a:ln>
                <a:effectLst/>
                <a:uLnTx/>
                <a:uFillTx/>
                <a:latin typeface="Arial" panose="020B0604020202020204" pitchFamily="34" charset="0"/>
                <a:cs typeface="Arial" panose="020B0604020202020204" pitchFamily="34" charset="0"/>
              </a:rPr>
              <a:t>claudia.m.montero@usace.army.mil</a:t>
            </a:r>
          </a:p>
        </p:txBody>
      </p:sp>
      <p:sp>
        <p:nvSpPr>
          <p:cNvPr id="7" name="Title 1">
            <a:extLst>
              <a:ext uri="{FF2B5EF4-FFF2-40B4-BE49-F238E27FC236}">
                <a16:creationId xmlns:a16="http://schemas.microsoft.com/office/drawing/2014/main" id="{6C90F06E-74EC-4EF4-9FB0-4AC5D2814C7F}"/>
              </a:ext>
            </a:extLst>
          </p:cNvPr>
          <p:cNvSpPr txBox="1">
            <a:spLocks/>
          </p:cNvSpPr>
          <p:nvPr/>
        </p:nvSpPr>
        <p:spPr bwMode="auto">
          <a:xfrm>
            <a:off x="55621" y="634257"/>
            <a:ext cx="3779822" cy="3830098"/>
          </a:xfrm>
          <a:prstGeom prst="rect">
            <a:avLst/>
          </a:prstGeom>
          <a:noFill/>
          <a:ln w="9525">
            <a:noFill/>
            <a:miter lim="800000"/>
            <a:headEnd/>
            <a:tailEnd/>
          </a:ln>
        </p:spPr>
        <p:txBody>
          <a:bodyPr vert="horz" wrap="square" lIns="45720" tIns="0" rIns="0" bIns="0" numCol="1" anchor="ctr" anchorCtr="0" compatLnSpc="1">
            <a:prstTxWarp prst="textNoShape">
              <a:avLst/>
            </a:prstTxWarp>
            <a:normAutofit fontScale="97500" lnSpcReduction="10000"/>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91440" algn="ctr"/>
            <a:r>
              <a:rPr lang="es" sz="3300" dirty="0"/>
              <a:t>el Día de la Industria</a:t>
            </a:r>
          </a:p>
          <a:p>
            <a:pPr marL="91440" algn="ctr"/>
            <a:r>
              <a:rPr lang="es" sz="1800" dirty="0"/>
              <a:t> </a:t>
            </a:r>
          </a:p>
          <a:p>
            <a:pPr marL="91440" algn="ctr"/>
            <a:br>
              <a:rPr lang="en-US" sz="1800" dirty="0"/>
            </a:br>
            <a:r>
              <a:rPr lang="es-PE" sz="1800" dirty="0"/>
              <a:t>CONSTRUCCION DEL PUERTO DE LA BASE NAVAL DEL CALLAO Y CONSTRUCCION DE EDIFICACIONES</a:t>
            </a:r>
            <a:br>
              <a:rPr lang="en-US" dirty="0"/>
            </a:br>
            <a:br>
              <a:rPr lang="en-US" dirty="0"/>
            </a:br>
            <a:r>
              <a:rPr lang="es" sz="1800" dirty="0"/>
              <a:t>Jueves 8 de mayo de 2025 </a:t>
            </a:r>
            <a:br>
              <a:rPr lang="en-US" sz="1800" dirty="0"/>
            </a:br>
            <a:r>
              <a:rPr lang="es" sz="1800" dirty="0"/>
              <a:t>Centro Naval del Perú </a:t>
            </a:r>
            <a:br>
              <a:rPr lang="en-US" sz="1800" dirty="0"/>
            </a:br>
            <a:r>
              <a:rPr lang="es" sz="1800" dirty="0"/>
              <a:t>av. San Luis SN, San Borja</a:t>
            </a:r>
          </a:p>
          <a:p>
            <a:pPr marL="91440" algn="ctr"/>
            <a:r>
              <a:rPr lang="es" sz="1800" dirty="0"/>
              <a:t>09:00</a:t>
            </a:r>
            <a:endParaRPr lang="en-US" dirty="0"/>
          </a:p>
        </p:txBody>
      </p:sp>
      <p:pic>
        <p:nvPicPr>
          <p:cNvPr id="8" name="Picture 18" descr="A red and white sign&#10;&#10;AI-generated content may be incorrect.">
            <a:extLst>
              <a:ext uri="{FF2B5EF4-FFF2-40B4-BE49-F238E27FC236}">
                <a16:creationId xmlns:a16="http://schemas.microsoft.com/office/drawing/2014/main" id="{5B50C382-2FCC-4F01-8B95-892719F7392F}"/>
              </a:ext>
            </a:extLst>
          </p:cNvPr>
          <p:cNvPicPr>
            <a:picLocks noChangeAspect="1"/>
          </p:cNvPicPr>
          <p:nvPr/>
        </p:nvPicPr>
        <p:blipFill>
          <a:blip r:embed="rId4"/>
          <a:stretch>
            <a:fillRect/>
          </a:stretch>
        </p:blipFill>
        <p:spPr>
          <a:xfrm>
            <a:off x="55621" y="0"/>
            <a:ext cx="727075" cy="634257"/>
          </a:xfrm>
          <a:prstGeom prst="rect">
            <a:avLst/>
          </a:prstGeom>
        </p:spPr>
      </p:pic>
      <p:pic>
        <p:nvPicPr>
          <p:cNvPr id="2" name="Imagen 8">
            <a:extLst>
              <a:ext uri="{FF2B5EF4-FFF2-40B4-BE49-F238E27FC236}">
                <a16:creationId xmlns:a16="http://schemas.microsoft.com/office/drawing/2014/main" id="{270D0714-4361-BAE5-F712-505A73C567B8}"/>
              </a:ext>
            </a:extLst>
          </p:cNvPr>
          <p:cNvPicPr>
            <a:picLocks noChangeAspect="1"/>
          </p:cNvPicPr>
          <p:nvPr/>
        </p:nvPicPr>
        <p:blipFill>
          <a:blip r:embed="rId5"/>
          <a:stretch>
            <a:fillRect/>
          </a:stretch>
        </p:blipFill>
        <p:spPr>
          <a:xfrm>
            <a:off x="11202" y="4666903"/>
            <a:ext cx="3653222" cy="2186018"/>
          </a:xfrm>
          <a:prstGeom prst="rect">
            <a:avLst/>
          </a:prstGeom>
        </p:spPr>
      </p:pic>
      <p:pic>
        <p:nvPicPr>
          <p:cNvPr id="6" name="Picture 5">
            <a:extLst>
              <a:ext uri="{FF2B5EF4-FFF2-40B4-BE49-F238E27FC236}">
                <a16:creationId xmlns:a16="http://schemas.microsoft.com/office/drawing/2014/main" id="{2590E07C-9908-FB43-7BB7-829D63B13482}"/>
              </a:ext>
            </a:extLst>
          </p:cNvPr>
          <p:cNvPicPr>
            <a:picLocks noChangeAspect="1"/>
          </p:cNvPicPr>
          <p:nvPr/>
        </p:nvPicPr>
        <p:blipFill>
          <a:blip r:embed="rId6"/>
          <a:stretch>
            <a:fillRect/>
          </a:stretch>
        </p:blipFill>
        <p:spPr>
          <a:xfrm>
            <a:off x="10988533" y="4724670"/>
            <a:ext cx="589036" cy="589036"/>
          </a:xfrm>
          <a:prstGeom prst="rect">
            <a:avLst/>
          </a:prstGeom>
        </p:spPr>
      </p:pic>
      <p:pic>
        <p:nvPicPr>
          <p:cNvPr id="10" name="Picture 9">
            <a:extLst>
              <a:ext uri="{FF2B5EF4-FFF2-40B4-BE49-F238E27FC236}">
                <a16:creationId xmlns:a16="http://schemas.microsoft.com/office/drawing/2014/main" id="{0DFDC7DF-E067-4352-1AAA-BFF9690C9F25}"/>
              </a:ext>
            </a:extLst>
          </p:cNvPr>
          <p:cNvPicPr>
            <a:picLocks noChangeAspect="1"/>
          </p:cNvPicPr>
          <p:nvPr/>
        </p:nvPicPr>
        <p:blipFill>
          <a:blip r:embed="rId7"/>
          <a:stretch>
            <a:fillRect/>
          </a:stretch>
        </p:blipFill>
        <p:spPr>
          <a:xfrm>
            <a:off x="3692224" y="5447940"/>
            <a:ext cx="2357542" cy="1317022"/>
          </a:xfrm>
          <a:prstGeom prst="rect">
            <a:avLst/>
          </a:prstGeom>
        </p:spPr>
      </p:pic>
      <p:pic>
        <p:nvPicPr>
          <p:cNvPr id="11" name="Picture 10">
            <a:extLst>
              <a:ext uri="{FF2B5EF4-FFF2-40B4-BE49-F238E27FC236}">
                <a16:creationId xmlns:a16="http://schemas.microsoft.com/office/drawing/2014/main" id="{485C6A28-FC9C-CB4A-6D07-8D098339F2C7}"/>
              </a:ext>
            </a:extLst>
          </p:cNvPr>
          <p:cNvPicPr>
            <a:picLocks noChangeAspect="1"/>
          </p:cNvPicPr>
          <p:nvPr/>
        </p:nvPicPr>
        <p:blipFill>
          <a:blip r:embed="rId8"/>
          <a:stretch>
            <a:fillRect/>
          </a:stretch>
        </p:blipFill>
        <p:spPr>
          <a:xfrm>
            <a:off x="11455363" y="5431560"/>
            <a:ext cx="595806" cy="589035"/>
          </a:xfrm>
          <a:prstGeom prst="rect">
            <a:avLst/>
          </a:prstGeom>
        </p:spPr>
      </p:pic>
      <p:pic>
        <p:nvPicPr>
          <p:cNvPr id="12" name="Picture 11">
            <a:extLst>
              <a:ext uri="{FF2B5EF4-FFF2-40B4-BE49-F238E27FC236}">
                <a16:creationId xmlns:a16="http://schemas.microsoft.com/office/drawing/2014/main" id="{5AB388ED-4F29-B2CD-4A66-01F2EA9CFE07}"/>
              </a:ext>
            </a:extLst>
          </p:cNvPr>
          <p:cNvPicPr>
            <a:picLocks noChangeAspect="1"/>
          </p:cNvPicPr>
          <p:nvPr/>
        </p:nvPicPr>
        <p:blipFill>
          <a:blip r:embed="rId9"/>
          <a:stretch>
            <a:fillRect/>
          </a:stretch>
        </p:blipFill>
        <p:spPr>
          <a:xfrm>
            <a:off x="7802433" y="6142739"/>
            <a:ext cx="595806" cy="595806"/>
          </a:xfrm>
          <a:prstGeom prst="rect">
            <a:avLst/>
          </a:prstGeom>
        </p:spPr>
      </p:pic>
      <p:sp>
        <p:nvSpPr>
          <p:cNvPr id="13" name="TextBox 12">
            <a:extLst>
              <a:ext uri="{FF2B5EF4-FFF2-40B4-BE49-F238E27FC236}">
                <a16:creationId xmlns:a16="http://schemas.microsoft.com/office/drawing/2014/main" id="{5DF01A7B-92EC-3503-FF23-6B5216259A80}"/>
              </a:ext>
            </a:extLst>
          </p:cNvPr>
          <p:cNvSpPr txBox="1"/>
          <p:nvPr/>
        </p:nvSpPr>
        <p:spPr>
          <a:xfrm>
            <a:off x="5879834" y="4666902"/>
            <a:ext cx="6293013" cy="2185214"/>
          </a:xfrm>
          <a:prstGeom prst="rect">
            <a:avLst/>
          </a:prstGeom>
          <a:noFill/>
          <a:ln w="12700">
            <a:solidFill>
              <a:schemeClr val="tx1"/>
            </a:solidFill>
          </a:ln>
        </p:spPr>
        <p:txBody>
          <a:bodyPr wrap="square" rtlCol="0">
            <a:spAutoFit/>
          </a:bodyPr>
          <a:lstStyle/>
          <a:p>
            <a:r>
              <a:rPr lang="en-US" sz="1100" b="1" dirty="0"/>
              <a:t>Los pasos para </a:t>
            </a:r>
            <a:r>
              <a:rPr lang="en-US" sz="1100" b="1" dirty="0" err="1"/>
              <a:t>registrarse</a:t>
            </a:r>
            <a:r>
              <a:rPr lang="en-US" sz="1100" b="1" dirty="0"/>
              <a:t> </a:t>
            </a:r>
            <a:r>
              <a:rPr lang="en-US" sz="1100" b="1" dirty="0" err="1"/>
              <a:t>deben</a:t>
            </a:r>
            <a:r>
              <a:rPr lang="en-US" sz="1100" b="1" dirty="0"/>
              <a:t> </a:t>
            </a:r>
            <a:r>
              <a:rPr lang="en-US" sz="1100" b="1" dirty="0" err="1"/>
              <a:t>seguir</a:t>
            </a:r>
            <a:r>
              <a:rPr lang="en-US" sz="1100" b="1" dirty="0"/>
              <a:t> </a:t>
            </a:r>
            <a:r>
              <a:rPr lang="en-US" sz="1100" b="1" dirty="0" err="1"/>
              <a:t>el</a:t>
            </a:r>
            <a:r>
              <a:rPr lang="en-US" sz="1100" b="1" dirty="0"/>
              <a:t> </a:t>
            </a:r>
            <a:r>
              <a:rPr lang="en-US" sz="1100" b="1" dirty="0" err="1"/>
              <a:t>siguiente</a:t>
            </a:r>
            <a:r>
              <a:rPr lang="en-US" sz="1100" b="1" dirty="0"/>
              <a:t> </a:t>
            </a:r>
            <a:r>
              <a:rPr lang="en-US" sz="1100" b="1" dirty="0" err="1"/>
              <a:t>orden</a:t>
            </a:r>
            <a:r>
              <a:rPr lang="en-US" sz="1100" b="1" dirty="0"/>
              <a:t>:</a:t>
            </a:r>
          </a:p>
          <a:p>
            <a:pPr marL="0" lvl="1"/>
            <a:r>
              <a:rPr lang="en-US" sz="1100" dirty="0"/>
              <a:t>1.   </a:t>
            </a:r>
            <a:r>
              <a:rPr lang="en-US" sz="1100" dirty="0" err="1"/>
              <a:t>Obtenga</a:t>
            </a:r>
            <a:r>
              <a:rPr lang="en-US" sz="1100" dirty="0"/>
              <a:t> un </a:t>
            </a:r>
            <a:r>
              <a:rPr lang="en-US" sz="1100" dirty="0" err="1"/>
              <a:t>código</a:t>
            </a:r>
            <a:r>
              <a:rPr lang="en-US" sz="1100" dirty="0"/>
              <a:t> NCAGE. </a:t>
            </a:r>
            <a:r>
              <a:rPr lang="en-US" sz="1100" dirty="0" err="1"/>
              <a:t>Puede</a:t>
            </a:r>
            <a:r>
              <a:rPr lang="en-US" sz="1100" dirty="0"/>
              <a:t> </a:t>
            </a:r>
            <a:r>
              <a:rPr lang="en-US" sz="1100" dirty="0" err="1"/>
              <a:t>tomar</a:t>
            </a:r>
            <a:r>
              <a:rPr lang="en-US" sz="1100" dirty="0"/>
              <a:t> hasta 14 días </a:t>
            </a:r>
            <a:r>
              <a:rPr lang="en-US" sz="1100" dirty="0" err="1"/>
              <a:t>hábiles</a:t>
            </a:r>
            <a:r>
              <a:rPr lang="en-US" sz="1100" dirty="0"/>
              <a:t> para </a:t>
            </a:r>
            <a:r>
              <a:rPr lang="en-US" sz="1100" dirty="0" err="1"/>
              <a:t>obtenerlo</a:t>
            </a:r>
            <a:r>
              <a:rPr lang="en-US" sz="1100" dirty="0"/>
              <a:t>.</a:t>
            </a:r>
          </a:p>
          <a:p>
            <a:pPr marL="228600" indent="-228600">
              <a:buAutoNum type="arabicPeriod"/>
            </a:pPr>
            <a:endParaRPr lang="en-US" sz="1100" dirty="0"/>
          </a:p>
          <a:p>
            <a:pPr marL="228600" indent="-228600">
              <a:buAutoNum type="arabicPeriod"/>
            </a:pPr>
            <a:endParaRPr lang="en-US" sz="1100" dirty="0"/>
          </a:p>
          <a:p>
            <a:pPr marL="228600" indent="-228600">
              <a:buAutoNum type="arabicPeriod"/>
            </a:pPr>
            <a:endParaRPr lang="en-US" sz="700" dirty="0"/>
          </a:p>
          <a:p>
            <a:pPr marL="228600" indent="-228600">
              <a:buAutoNum type="arabicPeriod" startAt="2"/>
            </a:pPr>
            <a:r>
              <a:rPr lang="en-US" sz="1100" dirty="0" err="1"/>
              <a:t>Crear</a:t>
            </a:r>
            <a:r>
              <a:rPr lang="en-US" sz="1100" dirty="0"/>
              <a:t> </a:t>
            </a:r>
            <a:r>
              <a:rPr lang="en-US" sz="1100" dirty="0" err="1"/>
              <a:t>una</a:t>
            </a:r>
            <a:r>
              <a:rPr lang="en-US" sz="1100" dirty="0"/>
              <a:t> </a:t>
            </a:r>
            <a:r>
              <a:rPr lang="en-US" sz="1100" dirty="0" err="1"/>
              <a:t>cuenta</a:t>
            </a:r>
            <a:r>
              <a:rPr lang="en-US" sz="1100" dirty="0"/>
              <a:t> SAM </a:t>
            </a:r>
            <a:r>
              <a:rPr lang="en-US" sz="1100" dirty="0" err="1"/>
              <a:t>usando</a:t>
            </a:r>
            <a:r>
              <a:rPr lang="en-US" sz="1100" dirty="0"/>
              <a:t> </a:t>
            </a:r>
            <a:r>
              <a:rPr lang="en-US" sz="1100" dirty="0" err="1"/>
              <a:t>el</a:t>
            </a:r>
            <a:r>
              <a:rPr lang="en-US" sz="1100" dirty="0"/>
              <a:t> enlace </a:t>
            </a:r>
            <a:r>
              <a:rPr lang="en-US" sz="1100" dirty="0">
                <a:hlinkClick r:id="rId10"/>
              </a:rPr>
              <a:t>www.sam.gov</a:t>
            </a:r>
            <a:r>
              <a:rPr lang="en-US" sz="1100" dirty="0"/>
              <a:t> y </a:t>
            </a:r>
            <a:r>
              <a:rPr lang="en-US" sz="1100" dirty="0" err="1"/>
              <a:t>obtener</a:t>
            </a:r>
            <a:r>
              <a:rPr lang="en-US" sz="1100" dirty="0"/>
              <a:t> </a:t>
            </a:r>
            <a:r>
              <a:rPr lang="en-US" sz="1100" dirty="0" err="1"/>
              <a:t>el</a:t>
            </a:r>
            <a:r>
              <a:rPr lang="en-US" sz="1100" dirty="0"/>
              <a:t> </a:t>
            </a:r>
            <a:r>
              <a:rPr lang="en-US" sz="1100" dirty="0" err="1"/>
              <a:t>número</a:t>
            </a:r>
            <a:r>
              <a:rPr lang="en-US" sz="1100" dirty="0"/>
              <a:t> UEI</a:t>
            </a:r>
          </a:p>
          <a:p>
            <a:r>
              <a:rPr lang="en-US" sz="1100" dirty="0"/>
              <a:t>        (Unique Entity Identifier).  </a:t>
            </a:r>
            <a:r>
              <a:rPr lang="en-US" sz="1100" dirty="0" err="1"/>
              <a:t>Puede</a:t>
            </a:r>
            <a:r>
              <a:rPr lang="en-US" sz="1100" dirty="0"/>
              <a:t> </a:t>
            </a:r>
            <a:r>
              <a:rPr lang="en-US" sz="1100" dirty="0" err="1"/>
              <a:t>tomar</a:t>
            </a:r>
            <a:r>
              <a:rPr lang="en-US" sz="1100" dirty="0"/>
              <a:t> hasta 15 días </a:t>
            </a:r>
            <a:r>
              <a:rPr lang="en-US" sz="1100" dirty="0" err="1"/>
              <a:t>hábiles</a:t>
            </a:r>
            <a:r>
              <a:rPr lang="en-US" sz="1100" dirty="0"/>
              <a:t> para que </a:t>
            </a:r>
            <a:r>
              <a:rPr lang="en-US" sz="1100" dirty="0" err="1"/>
              <a:t>su</a:t>
            </a:r>
            <a:r>
              <a:rPr lang="en-US" sz="1100" dirty="0"/>
              <a:t> </a:t>
            </a:r>
            <a:r>
              <a:rPr lang="en-US" sz="1100" dirty="0" err="1"/>
              <a:t>cuenta</a:t>
            </a:r>
            <a:r>
              <a:rPr lang="en-US" sz="1100" dirty="0"/>
              <a:t> SAM</a:t>
            </a:r>
          </a:p>
          <a:p>
            <a:r>
              <a:rPr lang="en-US" sz="1100" dirty="0"/>
              <a:t>        sea </a:t>
            </a:r>
            <a:r>
              <a:rPr lang="en-US" sz="1100" dirty="0" err="1"/>
              <a:t>activada</a:t>
            </a:r>
            <a:r>
              <a:rPr lang="en-US" sz="1100" dirty="0"/>
              <a:t>.  Para </a:t>
            </a:r>
            <a:r>
              <a:rPr lang="en-US" sz="1100" dirty="0" err="1"/>
              <a:t>usuarios</a:t>
            </a:r>
            <a:r>
              <a:rPr lang="en-US" sz="1100" dirty="0"/>
              <a:t> </a:t>
            </a:r>
            <a:r>
              <a:rPr lang="en-US" sz="1100" dirty="0" err="1"/>
              <a:t>internacionales</a:t>
            </a:r>
            <a:r>
              <a:rPr lang="en-US" sz="1100" dirty="0"/>
              <a:t>, </a:t>
            </a:r>
            <a:r>
              <a:rPr lang="en-US" sz="1100" dirty="0" err="1"/>
              <a:t>escanear</a:t>
            </a:r>
            <a:r>
              <a:rPr lang="en-US" sz="1100" dirty="0"/>
              <a:t> Código QR para </a:t>
            </a:r>
            <a:r>
              <a:rPr lang="en-US" sz="1100" dirty="0" err="1"/>
              <a:t>obtener</a:t>
            </a:r>
            <a:r>
              <a:rPr lang="en-US" sz="1100" dirty="0"/>
              <a:t> </a:t>
            </a:r>
            <a:r>
              <a:rPr lang="en-US" sz="1100" dirty="0" err="1"/>
              <a:t>ayuda</a:t>
            </a:r>
            <a:r>
              <a:rPr lang="en-US" sz="1100" dirty="0"/>
              <a:t>.</a:t>
            </a:r>
          </a:p>
          <a:p>
            <a:pPr marL="228600" indent="-228600">
              <a:buAutoNum type="arabicPeriod"/>
            </a:pPr>
            <a:endParaRPr lang="en-US" sz="1400" dirty="0"/>
          </a:p>
          <a:p>
            <a:r>
              <a:rPr lang="en-US" sz="1100" dirty="0"/>
              <a:t>3.   </a:t>
            </a:r>
            <a:r>
              <a:rPr lang="en-US" sz="1100" dirty="0" err="1"/>
              <a:t>Obtenga</a:t>
            </a:r>
            <a:r>
              <a:rPr lang="en-US" sz="1100" dirty="0"/>
              <a:t> </a:t>
            </a:r>
            <a:r>
              <a:rPr lang="en-US" sz="1100" dirty="0" err="1"/>
              <a:t>acceso</a:t>
            </a:r>
            <a:r>
              <a:rPr lang="en-US" sz="1100" dirty="0"/>
              <a:t> </a:t>
            </a:r>
            <a:r>
              <a:rPr lang="en-US" sz="1100" dirty="0" err="1"/>
              <a:t>en</a:t>
            </a:r>
            <a:r>
              <a:rPr lang="en-US" sz="1100" dirty="0"/>
              <a:t> PIEE.  </a:t>
            </a:r>
          </a:p>
          <a:p>
            <a:pPr marL="228600" indent="-228600">
              <a:buAutoNum type="arabicPeriod"/>
            </a:pPr>
            <a:endParaRPr lang="en-US" sz="1100" dirty="0"/>
          </a:p>
          <a:p>
            <a:pPr marL="228600" indent="-228600">
              <a:buAutoNum type="arabicPeriod"/>
            </a:pPr>
            <a:endParaRPr lang="en-US" sz="1100" dirty="0"/>
          </a:p>
          <a:p>
            <a:pPr marL="228600" indent="-228600">
              <a:buAutoNum type="arabicPeriod"/>
            </a:pPr>
            <a:endParaRPr lang="en-US" sz="500" dirty="0"/>
          </a:p>
        </p:txBody>
      </p:sp>
      <p:sp>
        <p:nvSpPr>
          <p:cNvPr id="14" name="TextBox 13">
            <a:extLst>
              <a:ext uri="{FF2B5EF4-FFF2-40B4-BE49-F238E27FC236}">
                <a16:creationId xmlns:a16="http://schemas.microsoft.com/office/drawing/2014/main" id="{5FA43907-5FA5-8D74-724B-7EC0072BD5C4}"/>
              </a:ext>
            </a:extLst>
          </p:cNvPr>
          <p:cNvSpPr txBox="1"/>
          <p:nvPr/>
        </p:nvSpPr>
        <p:spPr>
          <a:xfrm>
            <a:off x="3656473" y="5074062"/>
            <a:ext cx="2283895" cy="307777"/>
          </a:xfrm>
          <a:prstGeom prst="rect">
            <a:avLst/>
          </a:prstGeom>
          <a:noFill/>
        </p:spPr>
        <p:txBody>
          <a:bodyPr wrap="none" rtlCol="0">
            <a:spAutoFit/>
          </a:bodyPr>
          <a:lstStyle/>
          <a:p>
            <a:r>
              <a:rPr lang="en-US" sz="1400" b="1" dirty="0"/>
              <a:t>Website and Social Media</a:t>
            </a:r>
          </a:p>
        </p:txBody>
      </p:sp>
      <p:sp>
        <p:nvSpPr>
          <p:cNvPr id="15" name="Rectangle 14">
            <a:extLst>
              <a:ext uri="{FF2B5EF4-FFF2-40B4-BE49-F238E27FC236}">
                <a16:creationId xmlns:a16="http://schemas.microsoft.com/office/drawing/2014/main" id="{B7510805-83CB-235A-35F4-0E2AC9D81BC9}"/>
              </a:ext>
            </a:extLst>
          </p:cNvPr>
          <p:cNvSpPr/>
          <p:nvPr/>
        </p:nvSpPr>
        <p:spPr>
          <a:xfrm>
            <a:off x="3676322" y="4668823"/>
            <a:ext cx="2187610" cy="21832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464631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654</Words>
  <Application>Microsoft Office PowerPoint</Application>
  <PresentationFormat>Widescreen</PresentationFormat>
  <Paragraphs>45</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Wingdings</vt:lpstr>
      <vt:lpstr>Tema de Office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Giancarlo Polar Figari</dc:creator>
  <cp:lastModifiedBy>Julie Walton</cp:lastModifiedBy>
  <cp:revision>18</cp:revision>
  <dcterms:created xsi:type="dcterms:W3CDTF">2025-04-15T15:51:53Z</dcterms:created>
  <dcterms:modified xsi:type="dcterms:W3CDTF">2025-04-24T21:13:33Z</dcterms:modified>
</cp:coreProperties>
</file>