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74" r:id="rId5"/>
    <p:sldId id="1817606150" r:id="rId6"/>
    <p:sldId id="1817606151" r:id="rId7"/>
    <p:sldId id="1817606152" r:id="rId8"/>
    <p:sldId id="1817606153" r:id="rId9"/>
    <p:sldId id="1817606154" r:id="rId10"/>
    <p:sldId id="1817606155" r:id="rId11"/>
    <p:sldId id="1817606156" r:id="rId12"/>
    <p:sldId id="1817606157" r:id="rId13"/>
    <p:sldId id="1817606158" r:id="rId14"/>
    <p:sldId id="1817606159" r:id="rId15"/>
    <p:sldId id="1817606160" r:id="rId16"/>
    <p:sldId id="1817606161" r:id="rId17"/>
    <p:sldId id="1817606162" r:id="rId18"/>
  </p:sldIdLst>
  <p:sldSz cx="9144000" cy="6858000" type="screen4x3"/>
  <p:notesSz cx="7010400" cy="92964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ttschalk, Kathryn M., VBASLCY" initials="GKMV" lastIdx="6" clrIdx="0">
    <p:extLst>
      <p:ext uri="{19B8F6BF-5375-455C-9EA6-DF929625EA0E}">
        <p15:presenceInfo xmlns:p15="http://schemas.microsoft.com/office/powerpoint/2012/main" userId="S::Kathryn.Gottschalk@va.gov::9d425984-34c7-4857-9699-75186dc3c8e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04077A"/>
    <a:srgbClr val="012C5B"/>
    <a:srgbClr val="002F56"/>
    <a:srgbClr val="003556"/>
    <a:srgbClr val="66FF99"/>
    <a:srgbClr val="B3E175"/>
    <a:srgbClr val="66CCFF"/>
    <a:srgbClr val="3BA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97" autoAdjust="0"/>
    <p:restoredTop sz="96120" autoAdjust="0"/>
  </p:normalViewPr>
  <p:slideViewPr>
    <p:cSldViewPr snapToGrid="0">
      <p:cViewPr varScale="1">
        <p:scale>
          <a:sx n="92" d="100"/>
          <a:sy n="92" d="100"/>
        </p:scale>
        <p:origin x="1230"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s, Christina C., VBAVACO" userId="1288d3fc-d853-4f99-a78b-33c4155248b3" providerId="ADAL" clId="{72F7FB7A-CB80-4A28-98E3-9AD0C22F9001}"/>
    <pc:docChg chg="custSel modSld">
      <pc:chgData name="Zais, Christina C., VBAVACO" userId="1288d3fc-d853-4f99-a78b-33c4155248b3" providerId="ADAL" clId="{72F7FB7A-CB80-4A28-98E3-9AD0C22F9001}" dt="2025-04-11T20:25:49.466" v="0" actId="478"/>
      <pc:docMkLst>
        <pc:docMk/>
      </pc:docMkLst>
      <pc:sldChg chg="delSp mod">
        <pc:chgData name="Zais, Christina C., VBAVACO" userId="1288d3fc-d853-4f99-a78b-33c4155248b3" providerId="ADAL" clId="{72F7FB7A-CB80-4A28-98E3-9AD0C22F9001}" dt="2025-04-11T20:25:49.466" v="0" actId="478"/>
        <pc:sldMkLst>
          <pc:docMk/>
          <pc:sldMk cId="1735310372" sldId="274"/>
        </pc:sldMkLst>
        <pc:spChg chg="del">
          <ac:chgData name="Zais, Christina C., VBAVACO" userId="1288d3fc-d853-4f99-a78b-33c4155248b3" providerId="ADAL" clId="{72F7FB7A-CB80-4A28-98E3-9AD0C22F9001}" dt="2025-04-11T20:25:49.466" v="0" actId="478"/>
          <ac:spMkLst>
            <pc:docMk/>
            <pc:sldMk cId="1735310372" sldId="274"/>
            <ac:spMk id="15" creationId="{379CF25E-DA37-4D31-A916-A829D03F374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377BF1-7801-4B9A-95B5-4E81822F4645}"/>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00E11B9-F8D6-4CF5-BA9D-5703FEF4F488}"/>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9C67935B-C11A-4312-AF52-EE9656BC6AF5}" type="datetimeFigureOut">
              <a:rPr lang="en-US" smtClean="0"/>
              <a:t>04/11/2025</a:t>
            </a:fld>
            <a:endParaRPr lang="en-US"/>
          </a:p>
        </p:txBody>
      </p:sp>
      <p:sp>
        <p:nvSpPr>
          <p:cNvPr id="4" name="Footer Placeholder 3">
            <a:extLst>
              <a:ext uri="{FF2B5EF4-FFF2-40B4-BE49-F238E27FC236}">
                <a16:creationId xmlns:a16="http://schemas.microsoft.com/office/drawing/2014/main" id="{FC898597-C27E-4069-A445-63EAECFCF899}"/>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1B7009-B2EB-4DA5-88D5-AEE11FA9513C}"/>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ECB606C5-A29C-436D-9708-BEC8DA952254}" type="slidenum">
              <a:rPr lang="en-US" smtClean="0"/>
              <a:t>‹#›</a:t>
            </a:fld>
            <a:endParaRPr lang="en-US"/>
          </a:p>
        </p:txBody>
      </p:sp>
    </p:spTree>
    <p:extLst>
      <p:ext uri="{BB962C8B-B14F-4D97-AF65-F5344CB8AC3E}">
        <p14:creationId xmlns:p14="http://schemas.microsoft.com/office/powerpoint/2010/main" val="29487871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40BF6123-5584-4859-9232-7C64D48C60BC}" type="datetimeFigureOut">
              <a:rPr lang="en-US" smtClean="0"/>
              <a:t>04/11/2025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A263C7BD-EE4B-42E2-A75C-958D06C60C46}" type="slidenum">
              <a:rPr lang="en-US" smtClean="0"/>
              <a:t>‹#›</a:t>
            </a:fld>
            <a:endParaRPr lang="en-US"/>
          </a:p>
        </p:txBody>
      </p:sp>
    </p:spTree>
    <p:extLst>
      <p:ext uri="{BB962C8B-B14F-4D97-AF65-F5344CB8AC3E}">
        <p14:creationId xmlns:p14="http://schemas.microsoft.com/office/powerpoint/2010/main" val="2876064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63C7BD-EE4B-42E2-A75C-958D06C60C46}" type="slidenum">
              <a:rPr lang="en-US" smtClean="0"/>
              <a:t>1</a:t>
            </a:fld>
            <a:endParaRPr lang="en-US"/>
          </a:p>
        </p:txBody>
      </p:sp>
    </p:spTree>
    <p:extLst>
      <p:ext uri="{BB962C8B-B14F-4D97-AF65-F5344CB8AC3E}">
        <p14:creationId xmlns:p14="http://schemas.microsoft.com/office/powerpoint/2010/main" val="10280449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_Title_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5" name="Title 4">
            <a:extLst>
              <a:ext uri="{FF2B5EF4-FFF2-40B4-BE49-F238E27FC236}">
                <a16:creationId xmlns:a16="http://schemas.microsoft.com/office/drawing/2014/main" id="{86BD5E62-EFBC-4F45-99D2-A48D6ED444BF}"/>
              </a:ext>
            </a:extLst>
          </p:cNvPr>
          <p:cNvSpPr>
            <a:spLocks noGrp="1"/>
          </p:cNvSpPr>
          <p:nvPr>
            <p:ph type="title"/>
          </p:nvPr>
        </p:nvSpPr>
        <p:spPr>
          <a:xfrm>
            <a:off x="3667464" y="1083179"/>
            <a:ext cx="4682448" cy="2849563"/>
          </a:xfrm>
        </p:spPr>
        <p:txBody>
          <a:bodyPr>
            <a:noAutofit/>
          </a:bodyPr>
          <a:lstStyle>
            <a:lvl1pPr>
              <a:defRPr sz="5400" b="1">
                <a:solidFill>
                  <a:srgbClr val="0070C0"/>
                </a:solidFill>
                <a:latin typeface="Arial" panose="020B0604020202020204" pitchFamily="34" charset="0"/>
                <a:cs typeface="Arial" panose="020B0604020202020204" pitchFamily="34" charset="0"/>
              </a:defRPr>
            </a:lvl1pPr>
          </a:lstStyle>
          <a:p>
            <a:r>
              <a:rPr lang="en-US"/>
              <a:t>Click to edit Master title style</a:t>
            </a:r>
          </a:p>
        </p:txBody>
      </p:sp>
      <p:sp>
        <p:nvSpPr>
          <p:cNvPr id="10" name="Text Placeholder 9">
            <a:extLst>
              <a:ext uri="{FF2B5EF4-FFF2-40B4-BE49-F238E27FC236}">
                <a16:creationId xmlns:a16="http://schemas.microsoft.com/office/drawing/2014/main" id="{9C66106D-F75B-4DE4-A4D2-FF9676F51574}"/>
              </a:ext>
            </a:extLst>
          </p:cNvPr>
          <p:cNvSpPr>
            <a:spLocks noGrp="1"/>
          </p:cNvSpPr>
          <p:nvPr>
            <p:ph type="body" sz="quarter" idx="11"/>
          </p:nvPr>
        </p:nvSpPr>
        <p:spPr>
          <a:xfrm>
            <a:off x="2971800" y="4800600"/>
            <a:ext cx="5779008" cy="448056"/>
          </a:xfrm>
        </p:spPr>
        <p:txBody>
          <a:bodyPr/>
          <a:lstStyle>
            <a:lvl1pPr marL="0" indent="0" algn="r">
              <a:buFontTx/>
              <a:buNone/>
              <a:defRPr sz="2000">
                <a:latin typeface="+mj-lt"/>
              </a:defRPr>
            </a:lvl1pPr>
            <a:lvl2pPr marL="457200" indent="0">
              <a:buNone/>
              <a:defRPr/>
            </a:lvl2pPr>
            <a:lvl5pPr marL="1828800" indent="0">
              <a:buNone/>
              <a:defRPr/>
            </a:lvl5pPr>
          </a:lstStyle>
          <a:p>
            <a:pPr lvl="0"/>
            <a:r>
              <a:rPr lang="en-US"/>
              <a:t>Click to edit Master text styles</a:t>
            </a:r>
          </a:p>
        </p:txBody>
      </p:sp>
      <p:grpSp>
        <p:nvGrpSpPr>
          <p:cNvPr id="12" name="Group 11"/>
          <p:cNvGrpSpPr/>
          <p:nvPr userDrawn="1"/>
        </p:nvGrpSpPr>
        <p:grpSpPr>
          <a:xfrm>
            <a:off x="1285686" y="1694038"/>
            <a:ext cx="2217822" cy="1558035"/>
            <a:chOff x="966536" y="1694131"/>
            <a:chExt cx="2217822" cy="1558035"/>
          </a:xfrm>
        </p:grpSpPr>
        <p:sp>
          <p:nvSpPr>
            <p:cNvPr id="13" name="Title 1"/>
            <p:cNvSpPr txBox="1">
              <a:spLocks/>
            </p:cNvSpPr>
            <p:nvPr/>
          </p:nvSpPr>
          <p:spPr>
            <a:xfrm>
              <a:off x="966536" y="1763943"/>
              <a:ext cx="2133600" cy="1488223"/>
            </a:xfrm>
            <a:prstGeom prst="rect">
              <a:avLst/>
            </a:prstGeom>
            <a:ln>
              <a:solidFill>
                <a:schemeClr val="bg1"/>
              </a:solidFill>
            </a:ln>
            <a:effectLst/>
          </p:spPr>
          <p:txBody>
            <a:bodyPr vert="horz"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en-US" sz="11500" b="1" spc="-100">
                  <a:solidFill>
                    <a:srgbClr val="003F72">
                      <a:lumMod val="50000"/>
                    </a:srgbClr>
                  </a:solidFill>
                  <a:latin typeface="Myriad Pro"/>
                  <a:cs typeface="Arial" panose="020B0604020202020204" pitchFamily="34" charset="0"/>
                </a:rPr>
                <a:t>VA</a:t>
              </a:r>
            </a:p>
          </p:txBody>
        </p:sp>
        <p:cxnSp>
          <p:nvCxnSpPr>
            <p:cNvPr id="15" name="Straight Connector 14"/>
            <p:cNvCxnSpPr/>
            <p:nvPr/>
          </p:nvCxnSpPr>
          <p:spPr>
            <a:xfrm flipH="1">
              <a:off x="3172326" y="1694131"/>
              <a:ext cx="12032" cy="1280160"/>
            </a:xfrm>
            <a:prstGeom prst="line">
              <a:avLst/>
            </a:prstGeom>
            <a:ln w="22225"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4" name="Rectangle 3"/>
          <p:cNvSpPr/>
          <p:nvPr userDrawn="1"/>
        </p:nvSpPr>
        <p:spPr>
          <a:xfrm>
            <a:off x="0" y="5376954"/>
            <a:ext cx="9144000" cy="14811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solidFill>
                <a:prstClr val="white"/>
              </a:solidFill>
            </a:endParaRPr>
          </a:p>
        </p:txBody>
      </p:sp>
      <p:pic>
        <p:nvPicPr>
          <p:cNvPr id="1026" name="Picture 2" descr="C:\Users\vacoGrovem\AppData\Local\Microsoft\Windows\Temporary Internet Files\Content.Outlook\83QVOJUE\CHOOSE-VA-rev.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648664" y="5644912"/>
            <a:ext cx="3048000" cy="820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147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4" name="Rectangle 3"/>
          <p:cNvSpPr/>
          <p:nvPr userDrawn="1"/>
        </p:nvSpPr>
        <p:spPr>
          <a:xfrm>
            <a:off x="0" y="5376861"/>
            <a:ext cx="9144000" cy="14811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solidFill>
                <a:prstClr val="white"/>
              </a:solidFill>
            </a:endParaRPr>
          </a:p>
        </p:txBody>
      </p:sp>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10" name="Title 1">
            <a:extLst>
              <a:ext uri="{FF2B5EF4-FFF2-40B4-BE49-F238E27FC236}">
                <a16:creationId xmlns:a16="http://schemas.microsoft.com/office/drawing/2014/main" id="{6B8CA788-CF29-4498-9895-F59CC1C2B2B6}"/>
              </a:ext>
            </a:extLst>
          </p:cNvPr>
          <p:cNvSpPr>
            <a:spLocks noGrp="1"/>
          </p:cNvSpPr>
          <p:nvPr>
            <p:ph type="ctrTitle"/>
          </p:nvPr>
        </p:nvSpPr>
        <p:spPr>
          <a:xfrm>
            <a:off x="685800" y="2130519"/>
            <a:ext cx="7772400" cy="1470025"/>
          </a:xfrm>
        </p:spPr>
        <p:txBody>
          <a:bodyPr>
            <a:normAutofit/>
          </a:bodyPr>
          <a:lstStyle/>
          <a:p>
            <a:endParaRPr lang="en-US" sz="3600" b="1"/>
          </a:p>
        </p:txBody>
      </p:sp>
      <p:sp>
        <p:nvSpPr>
          <p:cNvPr id="11" name="Subtitle 1">
            <a:extLst>
              <a:ext uri="{FF2B5EF4-FFF2-40B4-BE49-F238E27FC236}">
                <a16:creationId xmlns:a16="http://schemas.microsoft.com/office/drawing/2014/main" id="{366430F6-DA1D-4071-921F-855F6862B88D}"/>
              </a:ext>
            </a:extLst>
          </p:cNvPr>
          <p:cNvSpPr>
            <a:spLocks noGrp="1"/>
          </p:cNvSpPr>
          <p:nvPr>
            <p:ph type="subTitle" idx="1"/>
          </p:nvPr>
        </p:nvSpPr>
        <p:spPr>
          <a:xfrm>
            <a:off x="533400" y="3429000"/>
            <a:ext cx="7955688" cy="1066800"/>
          </a:xfrm>
        </p:spPr>
        <p:txBody>
          <a:bodyPr>
            <a:normAutofit/>
          </a:bodyPr>
          <a:lstStyle>
            <a:lvl1pPr marL="0" indent="0" algn="ctr">
              <a:buNone/>
              <a:defRPr/>
            </a:lvl1pPr>
          </a:lstStyle>
          <a:p>
            <a:endParaRPr lang="en-US" sz="2800" b="1">
              <a:solidFill>
                <a:schemeClr val="tx1">
                  <a:lumMod val="65000"/>
                  <a:lumOff val="35000"/>
                </a:schemeClr>
              </a:solidFill>
            </a:endParaRPr>
          </a:p>
        </p:txBody>
      </p:sp>
      <p:sp>
        <p:nvSpPr>
          <p:cNvPr id="12" name="Text Placeholder 1">
            <a:extLst>
              <a:ext uri="{FF2B5EF4-FFF2-40B4-BE49-F238E27FC236}">
                <a16:creationId xmlns:a16="http://schemas.microsoft.com/office/drawing/2014/main" id="{57C18AA3-587D-42DA-8A11-9E61AD467661}"/>
              </a:ext>
            </a:extLst>
          </p:cNvPr>
          <p:cNvSpPr>
            <a:spLocks noGrp="1"/>
          </p:cNvSpPr>
          <p:nvPr>
            <p:ph type="body" sz="quarter" idx="11"/>
          </p:nvPr>
        </p:nvSpPr>
        <p:spPr>
          <a:xfrm>
            <a:off x="2971800" y="4800600"/>
            <a:ext cx="5779008" cy="448056"/>
          </a:xfrm>
        </p:spPr>
        <p:txBody>
          <a:bodyPr/>
          <a:lstStyle>
            <a:lvl1pPr marL="0" indent="0" algn="r">
              <a:buFontTx/>
              <a:buNone/>
              <a:defRPr sz="2000">
                <a:latin typeface="+mj-lt"/>
              </a:defRPr>
            </a:lvl1pPr>
          </a:lstStyle>
          <a:p>
            <a:pPr lvl="0"/>
            <a:r>
              <a:rPr lang="en-US"/>
              <a:t>Click to edit Master text styles</a:t>
            </a:r>
          </a:p>
        </p:txBody>
      </p:sp>
      <p:sp>
        <p:nvSpPr>
          <p:cNvPr id="19" name="Subtitle 2">
            <a:extLst>
              <a:ext uri="{FF2B5EF4-FFF2-40B4-BE49-F238E27FC236}">
                <a16:creationId xmlns:a16="http://schemas.microsoft.com/office/drawing/2014/main" id="{DE95A4AD-7BED-4A52-9F5B-B3199DB1391F}"/>
              </a:ext>
            </a:extLst>
          </p:cNvPr>
          <p:cNvSpPr txBox="1">
            <a:spLocks/>
          </p:cNvSpPr>
          <p:nvPr userDrawn="1"/>
        </p:nvSpPr>
        <p:spPr>
          <a:xfrm>
            <a:off x="114967" y="5696712"/>
            <a:ext cx="1332833" cy="365760"/>
          </a:xfrm>
          <a:prstGeom prst="rect">
            <a:avLst/>
          </a:prstGeom>
        </p:spPr>
        <p:txBody>
          <a:bodyPr vert="horz" lIns="91440" tIns="45720" rIns="91440" bIns="45720" rtlCol="0" anchor="b">
            <a:noAutofit/>
          </a:bodyPr>
          <a:lstStyle>
            <a:lvl1pPr marL="0" indent="0" algn="l" defTabSz="914400" rtl="0" eaLnBrk="1" latinLnBrk="0" hangingPunct="1">
              <a:spcBef>
                <a:spcPct val="20000"/>
              </a:spcBef>
              <a:buFont typeface="Arial" pitchFamily="34" charset="0"/>
              <a:buNone/>
              <a:defRPr sz="2000" kern="1200">
                <a:solidFill>
                  <a:schemeClr val="tx1">
                    <a:tint val="75000"/>
                  </a:schemeClr>
                </a:solidFill>
                <a:latin typeface="Arial" pitchFamily="34" charset="0"/>
                <a:ea typeface="+mn-ea"/>
                <a:cs typeface="Arial" pitchFamily="34" charset="0"/>
              </a:defRPr>
            </a:lvl1pPr>
            <a:lvl2pPr marL="457200" indent="0" algn="l" defTabSz="914400" rtl="0" eaLnBrk="1" latinLnBrk="0" hangingPunct="1">
              <a:spcBef>
                <a:spcPct val="20000"/>
              </a:spcBef>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spcBef>
                <a:spcPct val="20000"/>
              </a:spcBef>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spcBef>
                <a:spcPct val="20000"/>
              </a:spcBef>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spcBef>
                <a:spcPct val="20000"/>
              </a:spcBef>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sz="1800" b="1">
                <a:solidFill>
                  <a:schemeClr val="bg1"/>
                </a:solidFill>
                <a:latin typeface="+mj-lt"/>
              </a:rPr>
              <a:t>Briefed by: </a:t>
            </a:r>
          </a:p>
        </p:txBody>
      </p:sp>
      <p:sp>
        <p:nvSpPr>
          <p:cNvPr id="14" name="Text Placeholder 2">
            <a:extLst>
              <a:ext uri="{FF2B5EF4-FFF2-40B4-BE49-F238E27FC236}">
                <a16:creationId xmlns:a16="http://schemas.microsoft.com/office/drawing/2014/main" id="{9E963D3A-9232-4D54-A283-616D7712F39B}"/>
              </a:ext>
            </a:extLst>
          </p:cNvPr>
          <p:cNvSpPr>
            <a:spLocks noGrp="1"/>
          </p:cNvSpPr>
          <p:nvPr>
            <p:ph type="body" sz="quarter" idx="12"/>
          </p:nvPr>
        </p:nvSpPr>
        <p:spPr>
          <a:xfrm>
            <a:off x="1295400" y="5696712"/>
            <a:ext cx="3825875" cy="365760"/>
          </a:xfrm>
        </p:spPr>
        <p:txBody>
          <a:bodyPr>
            <a:normAutofit/>
          </a:bodyPr>
          <a:lstStyle>
            <a:lvl1pPr marL="0" indent="0">
              <a:buNone/>
              <a:defRPr sz="1800" b="1">
                <a:solidFill>
                  <a:schemeClr val="bg1"/>
                </a:solidFill>
              </a:defRPr>
            </a:lvl1pPr>
          </a:lstStyle>
          <a:p>
            <a:pPr lvl="0"/>
            <a:r>
              <a:rPr lang="en-US"/>
              <a:t>Click to edit Master text styles</a:t>
            </a:r>
          </a:p>
        </p:txBody>
      </p:sp>
      <p:sp>
        <p:nvSpPr>
          <p:cNvPr id="20" name="Subtitle 3">
            <a:extLst>
              <a:ext uri="{FF2B5EF4-FFF2-40B4-BE49-F238E27FC236}">
                <a16:creationId xmlns:a16="http://schemas.microsoft.com/office/drawing/2014/main" id="{8C1DDB0D-223E-4AAA-9A10-A018FB827EA7}"/>
              </a:ext>
            </a:extLst>
          </p:cNvPr>
          <p:cNvSpPr txBox="1">
            <a:spLocks/>
          </p:cNvSpPr>
          <p:nvPr userDrawn="1"/>
        </p:nvSpPr>
        <p:spPr>
          <a:xfrm>
            <a:off x="118872" y="6076324"/>
            <a:ext cx="1332833" cy="365125"/>
          </a:xfrm>
          <a:prstGeom prst="rect">
            <a:avLst/>
          </a:prstGeom>
        </p:spPr>
        <p:txBody>
          <a:bodyPr vert="horz" lIns="91440" tIns="45720" rIns="91440" bIns="45720" rtlCol="0" anchor="b">
            <a:noAutofit/>
          </a:bodyPr>
          <a:lstStyle>
            <a:lvl1pPr marL="0" indent="0" algn="l" defTabSz="914400" rtl="0" eaLnBrk="1" latinLnBrk="0" hangingPunct="1">
              <a:spcBef>
                <a:spcPct val="20000"/>
              </a:spcBef>
              <a:buFont typeface="Arial" pitchFamily="34" charset="0"/>
              <a:buNone/>
              <a:defRPr sz="2000" kern="1200">
                <a:solidFill>
                  <a:schemeClr val="tx1">
                    <a:tint val="75000"/>
                  </a:schemeClr>
                </a:solidFill>
                <a:latin typeface="Arial" pitchFamily="34" charset="0"/>
                <a:ea typeface="+mn-ea"/>
                <a:cs typeface="Arial" pitchFamily="34" charset="0"/>
              </a:defRPr>
            </a:lvl1pPr>
            <a:lvl2pPr marL="457200" indent="0" algn="l" defTabSz="914400" rtl="0" eaLnBrk="1" latinLnBrk="0" hangingPunct="1">
              <a:spcBef>
                <a:spcPct val="20000"/>
              </a:spcBef>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spcBef>
                <a:spcPct val="20000"/>
              </a:spcBef>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spcBef>
                <a:spcPct val="20000"/>
              </a:spcBef>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spcBef>
                <a:spcPct val="20000"/>
              </a:spcBef>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sz="1800" b="1">
                <a:solidFill>
                  <a:schemeClr val="bg1"/>
                </a:solidFill>
                <a:latin typeface="+mj-lt"/>
              </a:rPr>
              <a:t>Name/Title:</a:t>
            </a:r>
          </a:p>
        </p:txBody>
      </p:sp>
      <p:sp>
        <p:nvSpPr>
          <p:cNvPr id="21" name="Text Placeholder 4">
            <a:extLst>
              <a:ext uri="{FF2B5EF4-FFF2-40B4-BE49-F238E27FC236}">
                <a16:creationId xmlns:a16="http://schemas.microsoft.com/office/drawing/2014/main" id="{6D16A68F-F134-47D0-86A1-9B7556A0CC01}"/>
              </a:ext>
            </a:extLst>
          </p:cNvPr>
          <p:cNvSpPr>
            <a:spLocks noGrp="1"/>
          </p:cNvSpPr>
          <p:nvPr>
            <p:ph type="body" sz="quarter" idx="13"/>
          </p:nvPr>
        </p:nvSpPr>
        <p:spPr>
          <a:xfrm>
            <a:off x="1431925" y="6080760"/>
            <a:ext cx="3825875" cy="365760"/>
          </a:xfrm>
        </p:spPr>
        <p:txBody>
          <a:bodyPr>
            <a:normAutofit/>
          </a:bodyPr>
          <a:lstStyle>
            <a:lvl1pPr marL="0" indent="0">
              <a:buNone/>
              <a:defRPr sz="1800" b="1">
                <a:solidFill>
                  <a:schemeClr val="bg1"/>
                </a:solidFill>
              </a:defRPr>
            </a:lvl1pPr>
          </a:lstStyle>
          <a:p>
            <a:pPr lvl="0"/>
            <a:r>
              <a:rPr lang="en-US"/>
              <a:t>Click to edit Master text styles</a:t>
            </a:r>
          </a:p>
        </p:txBody>
      </p:sp>
      <p:pic>
        <p:nvPicPr>
          <p:cNvPr id="18" name="Picture 4" descr="dvaseal">
            <a:extLst>
              <a:ext uri="{FF2B5EF4-FFF2-40B4-BE49-F238E27FC236}">
                <a16:creationId xmlns:a16="http://schemas.microsoft.com/office/drawing/2014/main" id="{27B8CD43-030B-4E92-B392-DADBD0188BB3}"/>
              </a:ext>
            </a:extLst>
          </p:cNvPr>
          <p:cNvPicPr>
            <a:picLocks noChangeAspect="1" noChangeArrowheads="1"/>
          </p:cNvPicPr>
          <p:nvPr userDrawn="1"/>
        </p:nvPicPr>
        <p:blipFill>
          <a:blip r:embed="rId2"/>
          <a:srcRect/>
          <a:stretch>
            <a:fillRect/>
          </a:stretch>
        </p:blipFill>
        <p:spPr bwMode="auto">
          <a:xfrm>
            <a:off x="3886200" y="838200"/>
            <a:ext cx="1371600" cy="1371600"/>
          </a:xfrm>
          <a:prstGeom prst="rect">
            <a:avLst/>
          </a:prstGeom>
          <a:noFill/>
          <a:ln w="9525">
            <a:noFill/>
            <a:miter lim="800000"/>
            <a:headEnd/>
            <a:tailEnd/>
          </a:ln>
        </p:spPr>
      </p:pic>
      <p:pic>
        <p:nvPicPr>
          <p:cNvPr id="1026" name="Picture 2" descr="C:\Users\vacoGrovem\AppData\Local\Microsoft\Windows\Temporary Internet Files\Content.Outlook\83QVOJUE\CHOOSE-VA-rev.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648664" y="5644912"/>
            <a:ext cx="3048000" cy="820716"/>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5596653-A993-43E0-8610-CDBDAA5D4BC6}"/>
              </a:ext>
            </a:extLst>
          </p:cNvPr>
          <p:cNvSpPr/>
          <p:nvPr userDrawn="1"/>
        </p:nvSpPr>
        <p:spPr>
          <a:xfrm>
            <a:off x="0" y="-76200"/>
            <a:ext cx="9144000" cy="73152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a:solidFill>
                <a:prstClr val="white"/>
              </a:solidFill>
            </a:endParaRPr>
          </a:p>
        </p:txBody>
      </p:sp>
    </p:spTree>
    <p:extLst>
      <p:ext uri="{BB962C8B-B14F-4D97-AF65-F5344CB8AC3E}">
        <p14:creationId xmlns:p14="http://schemas.microsoft.com/office/powerpoint/2010/main" val="30979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s)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8" name="Rectangle 7">
            <a:extLst>
              <a:ext uri="{FF2B5EF4-FFF2-40B4-BE49-F238E27FC236}">
                <a16:creationId xmlns:a16="http://schemas.microsoft.com/office/drawing/2014/main" id="{B7F04C61-4CBF-47C2-B87E-42E7B1F56EBF}"/>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2" name="Title 1">
            <a:extLst>
              <a:ext uri="{FF2B5EF4-FFF2-40B4-BE49-F238E27FC236}">
                <a16:creationId xmlns:a16="http://schemas.microsoft.com/office/drawing/2014/main" id="{96E9C03B-0565-4945-877F-7865DA2FE5A3}"/>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pic>
        <p:nvPicPr>
          <p:cNvPr id="11" name="Graphic 10" descr="List Icon  ">
            <a:extLst>
              <a:ext uri="{FF2B5EF4-FFF2-40B4-BE49-F238E27FC236}">
                <a16:creationId xmlns:a16="http://schemas.microsoft.com/office/drawing/2014/main" id="{3191AB6E-825B-4109-9D95-996F93B94F07}"/>
              </a:ext>
            </a:extLst>
          </p:cNvPr>
          <p:cNvPicPr>
            <a:picLocks noChangeAspect="1"/>
          </p:cNvPicPr>
          <p:nvPr userDrawn="1"/>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797941"/>
            <a:ext cx="4738255" cy="4738255"/>
          </a:xfrm>
          <a:prstGeom prst="rect">
            <a:avLst/>
          </a:prstGeom>
        </p:spPr>
      </p:pic>
      <p:sp>
        <p:nvSpPr>
          <p:cNvPr id="6" name="Content Placeholder 5">
            <a:extLst>
              <a:ext uri="{FF2B5EF4-FFF2-40B4-BE49-F238E27FC236}">
                <a16:creationId xmlns:a16="http://schemas.microsoft.com/office/drawing/2014/main" id="{CC6740E7-9003-401C-B355-CF7A157EF567}"/>
              </a:ext>
            </a:extLst>
          </p:cNvPr>
          <p:cNvSpPr>
            <a:spLocks noGrp="1"/>
          </p:cNvSpPr>
          <p:nvPr>
            <p:ph sz="quarter" idx="11" hasCustomPrompt="1"/>
          </p:nvPr>
        </p:nvSpPr>
        <p:spPr>
          <a:xfrm>
            <a:off x="457200" y="1321804"/>
            <a:ext cx="6096000" cy="3647502"/>
          </a:xfrm>
          <a:solidFill>
            <a:schemeClr val="bg2">
              <a:alpha val="77000"/>
            </a:schemeClr>
          </a:solidFill>
        </p:spPr>
        <p:txBody>
          <a:bodyPr>
            <a:normAutofit/>
          </a:bodyPr>
          <a:lstStyle>
            <a:lvl1pPr>
              <a:defRPr sz="1800"/>
            </a:lvl1pPr>
            <a:lvl2pPr marL="457200" indent="0">
              <a:buNone/>
              <a:defRPr/>
            </a:lvl2pPr>
          </a:lstStyle>
          <a:p>
            <a:pPr lvl="0"/>
            <a:r>
              <a:rPr lang="en-US"/>
              <a:t>Explain….</a:t>
            </a:r>
          </a:p>
          <a:p>
            <a:pPr lvl="0"/>
            <a:r>
              <a:rPr lang="en-US"/>
              <a:t>Summarize….</a:t>
            </a:r>
          </a:p>
          <a:p>
            <a:pPr lvl="0"/>
            <a:r>
              <a:rPr lang="en-US"/>
              <a:t>(Note: This text box is adjustable)</a:t>
            </a:r>
          </a:p>
        </p:txBody>
      </p:sp>
    </p:spTree>
    <p:extLst>
      <p:ext uri="{BB962C8B-B14F-4D97-AF65-F5344CB8AC3E}">
        <p14:creationId xmlns:p14="http://schemas.microsoft.com/office/powerpoint/2010/main" val="381529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clusions_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8" name="Rectangle 7">
            <a:extLst>
              <a:ext uri="{FF2B5EF4-FFF2-40B4-BE49-F238E27FC236}">
                <a16:creationId xmlns:a16="http://schemas.microsoft.com/office/drawing/2014/main" id="{B7F04C61-4CBF-47C2-B87E-42E7B1F56EBF}"/>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4" name="Title 1">
            <a:extLst>
              <a:ext uri="{FF2B5EF4-FFF2-40B4-BE49-F238E27FC236}">
                <a16:creationId xmlns:a16="http://schemas.microsoft.com/office/drawing/2014/main" id="{4E884A74-8A45-4802-99B6-D3217C17CF7B}"/>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7F0341B9-7914-4171-813B-A813E2E27E07}"/>
              </a:ext>
            </a:extLst>
          </p:cNvPr>
          <p:cNvSpPr>
            <a:spLocks noGrp="1"/>
          </p:cNvSpPr>
          <p:nvPr>
            <p:ph idx="1"/>
          </p:nvPr>
        </p:nvSpPr>
        <p:spPr>
          <a:xfrm>
            <a:off x="457200" y="990600"/>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7100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8" name="Title 1">
            <a:extLst>
              <a:ext uri="{FF2B5EF4-FFF2-40B4-BE49-F238E27FC236}">
                <a16:creationId xmlns:a16="http://schemas.microsoft.com/office/drawing/2014/main" id="{7CF6E81F-0650-4E10-B545-BC24E7FBF566}"/>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pic>
        <p:nvPicPr>
          <p:cNvPr id="4" name="Picture 3">
            <a:extLst>
              <a:ext uri="{FF2B5EF4-FFF2-40B4-BE49-F238E27FC236}">
                <a16:creationId xmlns:a16="http://schemas.microsoft.com/office/drawing/2014/main" id="{A0271A28-272B-4AC7-BB34-2A12AED1E3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47800" y="1295400"/>
            <a:ext cx="6096000" cy="3689350"/>
          </a:xfrm>
          <a:prstGeom prst="rect">
            <a:avLst/>
          </a:prstGeom>
        </p:spPr>
      </p:pic>
      <p:sp>
        <p:nvSpPr>
          <p:cNvPr id="7" name="TextBox 6">
            <a:extLst>
              <a:ext uri="{FF2B5EF4-FFF2-40B4-BE49-F238E27FC236}">
                <a16:creationId xmlns:a16="http://schemas.microsoft.com/office/drawing/2014/main" id="{4DADCB00-D3CA-4A8A-9002-14C2023A13A2}"/>
              </a:ext>
            </a:extLst>
          </p:cNvPr>
          <p:cNvSpPr txBox="1"/>
          <p:nvPr userDrawn="1"/>
        </p:nvSpPr>
        <p:spPr>
          <a:xfrm>
            <a:off x="3886200" y="4984750"/>
            <a:ext cx="3810000" cy="369332"/>
          </a:xfrm>
          <a:prstGeom prst="rect">
            <a:avLst/>
          </a:prstGeom>
          <a:noFill/>
        </p:spPr>
        <p:txBody>
          <a:bodyPr wrap="square" rtlCol="0">
            <a:spAutoFit/>
          </a:bodyPr>
          <a:lstStyle/>
          <a:p>
            <a:pPr algn="r"/>
            <a:r>
              <a:rPr lang="en-US" i="1"/>
              <a:t>(Courtesy of </a:t>
            </a:r>
            <a:r>
              <a:rPr lang="en-US" i="1" err="1"/>
              <a:t>Pixabay</a:t>
            </a:r>
            <a:r>
              <a:rPr lang="en-US" i="1"/>
              <a:t>)</a:t>
            </a:r>
          </a:p>
        </p:txBody>
      </p:sp>
    </p:spTree>
    <p:extLst>
      <p:ext uri="{BB962C8B-B14F-4D97-AF65-F5344CB8AC3E}">
        <p14:creationId xmlns:p14="http://schemas.microsoft.com/office/powerpoint/2010/main" val="228511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8" name="Content Placeholder 2">
            <a:extLst>
              <a:ext uri="{FF2B5EF4-FFF2-40B4-BE49-F238E27FC236}">
                <a16:creationId xmlns:a16="http://schemas.microsoft.com/office/drawing/2014/main" id="{FB3C996D-2CB6-4441-9C10-FBBA19493AC4}"/>
              </a:ext>
            </a:extLst>
          </p:cNvPr>
          <p:cNvSpPr>
            <a:spLocks noGrp="1"/>
          </p:cNvSpPr>
          <p:nvPr>
            <p:ph idx="1"/>
          </p:nvPr>
        </p:nvSpPr>
        <p:spPr>
          <a:xfrm>
            <a:off x="457200" y="990600"/>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761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Jusfitie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10" name="Title 1">
            <a:extLst>
              <a:ext uri="{FF2B5EF4-FFF2-40B4-BE49-F238E27FC236}">
                <a16:creationId xmlns:a16="http://schemas.microsoft.com/office/drawing/2014/main" id="{F954BFC4-5727-4341-9D67-CF9A69B55CA2}"/>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B6428BB-B02B-4F65-BF9B-E59A64BC573E}"/>
              </a:ext>
            </a:extLst>
          </p:cNvPr>
          <p:cNvSpPr>
            <a:spLocks noGrp="1"/>
          </p:cNvSpPr>
          <p:nvPr>
            <p:ph type="body" sz="quarter" idx="14"/>
          </p:nvPr>
        </p:nvSpPr>
        <p:spPr>
          <a:xfrm>
            <a:off x="533400" y="838200"/>
            <a:ext cx="4876800" cy="457200"/>
          </a:xfrm>
        </p:spPr>
        <p:txBody>
          <a:bodyPr/>
          <a:lstStyle>
            <a:lvl1pPr>
              <a:defRPr>
                <a:solidFill>
                  <a:schemeClr val="tx2"/>
                </a:solidFill>
              </a:defRPr>
            </a:lvl1pPr>
          </a:lstStyle>
          <a:p>
            <a:pPr lvl="0"/>
            <a:r>
              <a:rPr lang="en-US"/>
              <a:t>Edit Master text styles</a:t>
            </a:r>
          </a:p>
        </p:txBody>
      </p:sp>
      <p:sp>
        <p:nvSpPr>
          <p:cNvPr id="6" name="Text Placeholder 5">
            <a:extLst>
              <a:ext uri="{FF2B5EF4-FFF2-40B4-BE49-F238E27FC236}">
                <a16:creationId xmlns:a16="http://schemas.microsoft.com/office/drawing/2014/main" id="{41717C34-26A6-4BF5-B3A5-413886FBCEEF}"/>
              </a:ext>
            </a:extLst>
          </p:cNvPr>
          <p:cNvSpPr>
            <a:spLocks noGrp="1"/>
          </p:cNvSpPr>
          <p:nvPr>
            <p:ph type="body" sz="quarter" idx="13" hasCustomPrompt="1"/>
          </p:nvPr>
        </p:nvSpPr>
        <p:spPr>
          <a:xfrm>
            <a:off x="533400" y="1371600"/>
            <a:ext cx="4419600" cy="4572000"/>
          </a:xfrm>
        </p:spPr>
        <p:txBody>
          <a:bodyPr>
            <a:normAutofit/>
          </a:bodyPr>
          <a:lstStyle>
            <a:lvl1pPr marL="0" indent="0">
              <a:buNone/>
              <a:defRPr sz="1800"/>
            </a:lvl1pPr>
          </a:lstStyle>
          <a:p>
            <a:pPr lvl="0"/>
            <a:r>
              <a:rPr lang="en-US"/>
              <a:t>Edit Master text  </a:t>
            </a:r>
          </a:p>
        </p:txBody>
      </p:sp>
      <p:sp>
        <p:nvSpPr>
          <p:cNvPr id="4" name="Picture Placeholder 3">
            <a:extLst>
              <a:ext uri="{FF2B5EF4-FFF2-40B4-BE49-F238E27FC236}">
                <a16:creationId xmlns:a16="http://schemas.microsoft.com/office/drawing/2014/main" id="{77086B31-FDE6-451A-8B97-7904F778283D}"/>
              </a:ext>
            </a:extLst>
          </p:cNvPr>
          <p:cNvSpPr>
            <a:spLocks noGrp="1"/>
          </p:cNvSpPr>
          <p:nvPr>
            <p:ph type="pic" sz="quarter" idx="12"/>
          </p:nvPr>
        </p:nvSpPr>
        <p:spPr>
          <a:xfrm>
            <a:off x="5105400" y="1600200"/>
            <a:ext cx="3505200" cy="3352800"/>
          </a:xfrm>
        </p:spPr>
        <p:txBody>
          <a:bodyPr/>
          <a:lstStyle/>
          <a:p>
            <a:endParaRPr lang="en-US"/>
          </a:p>
        </p:txBody>
      </p:sp>
    </p:spTree>
    <p:extLst>
      <p:ext uri="{BB962C8B-B14F-4D97-AF65-F5344CB8AC3E}">
        <p14:creationId xmlns:p14="http://schemas.microsoft.com/office/powerpoint/2010/main" val="3391272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Justifie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10" name="Title 1">
            <a:extLst>
              <a:ext uri="{FF2B5EF4-FFF2-40B4-BE49-F238E27FC236}">
                <a16:creationId xmlns:a16="http://schemas.microsoft.com/office/drawing/2014/main" id="{30F036F6-2387-4C4D-818B-11787283EC55}"/>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B6428BB-B02B-4F65-BF9B-E59A64BC573E}"/>
              </a:ext>
            </a:extLst>
          </p:cNvPr>
          <p:cNvSpPr>
            <a:spLocks noGrp="1"/>
          </p:cNvSpPr>
          <p:nvPr>
            <p:ph type="body" sz="quarter" idx="14"/>
          </p:nvPr>
        </p:nvSpPr>
        <p:spPr>
          <a:xfrm>
            <a:off x="533400" y="838200"/>
            <a:ext cx="4876800" cy="457200"/>
          </a:xfrm>
        </p:spPr>
        <p:txBody>
          <a:bodyPr/>
          <a:lstStyle>
            <a:lvl1pPr>
              <a:defRPr>
                <a:solidFill>
                  <a:schemeClr val="tx2"/>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77086B31-FDE6-451A-8B97-7904F778283D}"/>
              </a:ext>
            </a:extLst>
          </p:cNvPr>
          <p:cNvSpPr>
            <a:spLocks noGrp="1"/>
          </p:cNvSpPr>
          <p:nvPr>
            <p:ph type="pic" sz="quarter" idx="12"/>
          </p:nvPr>
        </p:nvSpPr>
        <p:spPr>
          <a:xfrm>
            <a:off x="762000" y="1676400"/>
            <a:ext cx="3581400" cy="3352800"/>
          </a:xfrm>
        </p:spPr>
        <p:txBody>
          <a:bodyPr/>
          <a:lstStyle/>
          <a:p>
            <a:endParaRPr lang="en-US"/>
          </a:p>
        </p:txBody>
      </p:sp>
      <p:sp>
        <p:nvSpPr>
          <p:cNvPr id="6" name="Text Placeholder 5">
            <a:extLst>
              <a:ext uri="{FF2B5EF4-FFF2-40B4-BE49-F238E27FC236}">
                <a16:creationId xmlns:a16="http://schemas.microsoft.com/office/drawing/2014/main" id="{41717C34-26A6-4BF5-B3A5-413886FBCEEF}"/>
              </a:ext>
            </a:extLst>
          </p:cNvPr>
          <p:cNvSpPr>
            <a:spLocks noGrp="1"/>
          </p:cNvSpPr>
          <p:nvPr>
            <p:ph type="body" sz="quarter" idx="13" hasCustomPrompt="1"/>
          </p:nvPr>
        </p:nvSpPr>
        <p:spPr>
          <a:xfrm>
            <a:off x="4747591" y="1409700"/>
            <a:ext cx="3969026" cy="4038600"/>
          </a:xfrm>
        </p:spPr>
        <p:txBody>
          <a:bodyPr>
            <a:normAutofit/>
          </a:bodyPr>
          <a:lstStyle>
            <a:lvl1pPr marL="0" indent="0">
              <a:buNone/>
              <a:defRPr sz="1800"/>
            </a:lvl1pPr>
          </a:lstStyle>
          <a:p>
            <a:pPr lvl="0"/>
            <a:r>
              <a:rPr lang="en-US"/>
              <a:t>Edit Master text  </a:t>
            </a:r>
          </a:p>
        </p:txBody>
      </p:sp>
    </p:spTree>
    <p:extLst>
      <p:ext uri="{BB962C8B-B14F-4D97-AF65-F5344CB8AC3E}">
        <p14:creationId xmlns:p14="http://schemas.microsoft.com/office/powerpoint/2010/main" val="1026188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entered Tex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7" name="Title 1">
            <a:extLst>
              <a:ext uri="{FF2B5EF4-FFF2-40B4-BE49-F238E27FC236}">
                <a16:creationId xmlns:a16="http://schemas.microsoft.com/office/drawing/2014/main" id="{F831A0F8-1FA5-4389-8B52-463936A3AC4C}"/>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B6428BB-B02B-4F65-BF9B-E59A64BC573E}"/>
              </a:ext>
            </a:extLst>
          </p:cNvPr>
          <p:cNvSpPr>
            <a:spLocks noGrp="1"/>
          </p:cNvSpPr>
          <p:nvPr>
            <p:ph type="body" sz="quarter" idx="14"/>
          </p:nvPr>
        </p:nvSpPr>
        <p:spPr>
          <a:xfrm>
            <a:off x="533400" y="838200"/>
            <a:ext cx="4876800" cy="457200"/>
          </a:xfrm>
        </p:spPr>
        <p:txBody>
          <a:bodyPr/>
          <a:lstStyle>
            <a:lvl1pPr>
              <a:defRPr>
                <a:solidFill>
                  <a:schemeClr val="tx2"/>
                </a:solidFill>
              </a:defRPr>
            </a:lvl1pPr>
          </a:lstStyle>
          <a:p>
            <a:pPr lvl="0"/>
            <a:r>
              <a:rPr lang="en-US"/>
              <a:t>Edit Master text styles</a:t>
            </a:r>
          </a:p>
        </p:txBody>
      </p:sp>
      <p:sp>
        <p:nvSpPr>
          <p:cNvPr id="6" name="Text Placeholder 5">
            <a:extLst>
              <a:ext uri="{FF2B5EF4-FFF2-40B4-BE49-F238E27FC236}">
                <a16:creationId xmlns:a16="http://schemas.microsoft.com/office/drawing/2014/main" id="{41717C34-26A6-4BF5-B3A5-413886FBCEEF}"/>
              </a:ext>
            </a:extLst>
          </p:cNvPr>
          <p:cNvSpPr>
            <a:spLocks noGrp="1"/>
          </p:cNvSpPr>
          <p:nvPr>
            <p:ph type="body" sz="quarter" idx="13" hasCustomPrompt="1"/>
          </p:nvPr>
        </p:nvSpPr>
        <p:spPr>
          <a:xfrm>
            <a:off x="533400" y="1409700"/>
            <a:ext cx="8183217" cy="4038600"/>
          </a:xfrm>
        </p:spPr>
        <p:txBody>
          <a:bodyPr>
            <a:normAutofit/>
          </a:bodyPr>
          <a:lstStyle>
            <a:lvl1pPr marL="0" indent="0">
              <a:buNone/>
              <a:defRPr sz="1800"/>
            </a:lvl1pPr>
          </a:lstStyle>
          <a:p>
            <a:pPr lvl="0"/>
            <a:r>
              <a:rPr lang="en-US"/>
              <a:t>Edit Master text  </a:t>
            </a:r>
          </a:p>
        </p:txBody>
      </p:sp>
    </p:spTree>
    <p:extLst>
      <p:ext uri="{BB962C8B-B14F-4D97-AF65-F5344CB8AC3E}">
        <p14:creationId xmlns:p14="http://schemas.microsoft.com/office/powerpoint/2010/main" val="3068623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rap">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10" name="Title 1">
            <a:extLst>
              <a:ext uri="{FF2B5EF4-FFF2-40B4-BE49-F238E27FC236}">
                <a16:creationId xmlns:a16="http://schemas.microsoft.com/office/drawing/2014/main" id="{2951DA1A-BE46-4B09-836B-99A8658EEF10}"/>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B6428BB-B02B-4F65-BF9B-E59A64BC573E}"/>
              </a:ext>
            </a:extLst>
          </p:cNvPr>
          <p:cNvSpPr>
            <a:spLocks noGrp="1"/>
          </p:cNvSpPr>
          <p:nvPr>
            <p:ph type="body" sz="quarter" idx="14"/>
          </p:nvPr>
        </p:nvSpPr>
        <p:spPr>
          <a:xfrm>
            <a:off x="533400" y="838200"/>
            <a:ext cx="4876800" cy="457200"/>
          </a:xfrm>
        </p:spPr>
        <p:txBody>
          <a:bodyPr/>
          <a:lstStyle>
            <a:lvl1pPr>
              <a:defRPr>
                <a:solidFill>
                  <a:schemeClr val="tx2"/>
                </a:solidFill>
              </a:defRPr>
            </a:lvl1pPr>
          </a:lstStyle>
          <a:p>
            <a:pPr lvl="0"/>
            <a:r>
              <a:rPr lang="en-US"/>
              <a:t>Edit Master text styles</a:t>
            </a:r>
          </a:p>
        </p:txBody>
      </p:sp>
      <p:sp>
        <p:nvSpPr>
          <p:cNvPr id="6" name="Text Placeholder 5">
            <a:extLst>
              <a:ext uri="{FF2B5EF4-FFF2-40B4-BE49-F238E27FC236}">
                <a16:creationId xmlns:a16="http://schemas.microsoft.com/office/drawing/2014/main" id="{41717C34-26A6-4BF5-B3A5-413886FBCEEF}"/>
              </a:ext>
            </a:extLst>
          </p:cNvPr>
          <p:cNvSpPr>
            <a:spLocks noGrp="1"/>
          </p:cNvSpPr>
          <p:nvPr>
            <p:ph type="body" sz="quarter" idx="13" hasCustomPrompt="1"/>
          </p:nvPr>
        </p:nvSpPr>
        <p:spPr>
          <a:xfrm>
            <a:off x="533400" y="1409700"/>
            <a:ext cx="8183217" cy="4038600"/>
          </a:xfrm>
        </p:spPr>
        <p:txBody>
          <a:bodyPr>
            <a:normAutofit/>
          </a:bodyPr>
          <a:lstStyle>
            <a:lvl1pPr marL="0" indent="0">
              <a:buNone/>
              <a:defRPr sz="1800"/>
            </a:lvl1pPr>
          </a:lstStyle>
          <a:p>
            <a:pPr lvl="0"/>
            <a:r>
              <a:rPr lang="en-US"/>
              <a:t>Edit Master text  </a:t>
            </a:r>
          </a:p>
        </p:txBody>
      </p:sp>
      <p:sp>
        <p:nvSpPr>
          <p:cNvPr id="7" name="Picture Placeholder 3">
            <a:extLst>
              <a:ext uri="{FF2B5EF4-FFF2-40B4-BE49-F238E27FC236}">
                <a16:creationId xmlns:a16="http://schemas.microsoft.com/office/drawing/2014/main" id="{8276DFC5-27F8-4DED-965B-3CBC6A7A7282}"/>
              </a:ext>
            </a:extLst>
          </p:cNvPr>
          <p:cNvSpPr>
            <a:spLocks noGrp="1"/>
          </p:cNvSpPr>
          <p:nvPr>
            <p:ph type="pic" sz="quarter" idx="12"/>
          </p:nvPr>
        </p:nvSpPr>
        <p:spPr>
          <a:xfrm>
            <a:off x="4114800" y="1752600"/>
            <a:ext cx="3581400" cy="3352800"/>
          </a:xfrm>
        </p:spPr>
        <p:txBody>
          <a:bodyPr/>
          <a:lstStyle/>
          <a:p>
            <a:endParaRPr lang="en-US"/>
          </a:p>
        </p:txBody>
      </p:sp>
    </p:spTree>
    <p:extLst>
      <p:ext uri="{BB962C8B-B14F-4D97-AF65-F5344CB8AC3E}">
        <p14:creationId xmlns:p14="http://schemas.microsoft.com/office/powerpoint/2010/main" val="39304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_Center_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9" name="Rectangle 8">
            <a:extLst>
              <a:ext uri="{FF2B5EF4-FFF2-40B4-BE49-F238E27FC236}">
                <a16:creationId xmlns:a16="http://schemas.microsoft.com/office/drawing/2014/main" id="{B7CBE8E2-9D2D-4477-A96E-08E876601FED}"/>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6" name="Title 1">
            <a:extLst>
              <a:ext uri="{FF2B5EF4-FFF2-40B4-BE49-F238E27FC236}">
                <a16:creationId xmlns:a16="http://schemas.microsoft.com/office/drawing/2014/main" id="{438543BB-2D0B-415A-B1ED-A52B7E5888BA}"/>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5" name="Table Placeholder 4">
            <a:extLst>
              <a:ext uri="{FF2B5EF4-FFF2-40B4-BE49-F238E27FC236}">
                <a16:creationId xmlns:a16="http://schemas.microsoft.com/office/drawing/2014/main" id="{534692E4-D0A6-4F50-9631-722CE1FB00B0}"/>
              </a:ext>
            </a:extLst>
          </p:cNvPr>
          <p:cNvSpPr>
            <a:spLocks noGrp="1"/>
          </p:cNvSpPr>
          <p:nvPr>
            <p:ph type="tbl" sz="quarter" idx="12"/>
          </p:nvPr>
        </p:nvSpPr>
        <p:spPr>
          <a:xfrm>
            <a:off x="1905000" y="1676400"/>
            <a:ext cx="5181600" cy="2362200"/>
          </a:xfrm>
        </p:spPr>
        <p:txBody>
          <a:bodyPr/>
          <a:lstStyle/>
          <a:p>
            <a:endParaRPr lang="en-US"/>
          </a:p>
        </p:txBody>
      </p:sp>
    </p:spTree>
    <p:extLst>
      <p:ext uri="{BB962C8B-B14F-4D97-AF65-F5344CB8AC3E}">
        <p14:creationId xmlns:p14="http://schemas.microsoft.com/office/powerpoint/2010/main" val="3138780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46989027-B0A2-4901-8832-B1EB66E34028}"/>
              </a:ext>
            </a:extLst>
          </p:cNvPr>
          <p:cNvSpPr>
            <a:spLocks noGrp="1"/>
          </p:cNvSpPr>
          <p:nvPr>
            <p:ph type="sldNum" sz="quarter" idx="10"/>
          </p:nvPr>
        </p:nvSpPr>
        <p:spPr>
          <a:xfrm>
            <a:off x="8686800" y="6400232"/>
            <a:ext cx="384630" cy="365125"/>
          </a:xfrm>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2" name="Title 1"/>
          <p:cNvSpPr>
            <a:spLocks noGrp="1"/>
          </p:cNvSpPr>
          <p:nvPr>
            <p:ph type="ctrTitle"/>
          </p:nvPr>
        </p:nvSpPr>
        <p:spPr>
          <a:xfrm>
            <a:off x="685800" y="213051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769790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
        <p:nvSpPr>
          <p:cNvPr id="8" name="Rectangle 7">
            <a:extLst>
              <a:ext uri="{FF2B5EF4-FFF2-40B4-BE49-F238E27FC236}">
                <a16:creationId xmlns:a16="http://schemas.microsoft.com/office/drawing/2014/main" id="{5688962A-1806-486F-BC71-D81BBC5FD510}"/>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7" name="Title 1">
            <a:extLst>
              <a:ext uri="{FF2B5EF4-FFF2-40B4-BE49-F238E27FC236}">
                <a16:creationId xmlns:a16="http://schemas.microsoft.com/office/drawing/2014/main" id="{BE7379FB-8B62-4FEA-8913-2A0DD54C8AC7}"/>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3" name="Content Placeholder 2"/>
          <p:cNvSpPr>
            <a:spLocks noGrp="1"/>
          </p:cNvSpPr>
          <p:nvPr>
            <p:ph idx="1"/>
          </p:nvPr>
        </p:nvSpPr>
        <p:spPr>
          <a:xfrm>
            <a:off x="457200" y="990600"/>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8874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
        <p:nvSpPr>
          <p:cNvPr id="7" name="Rectangle 6">
            <a:extLst>
              <a:ext uri="{FF2B5EF4-FFF2-40B4-BE49-F238E27FC236}">
                <a16:creationId xmlns:a16="http://schemas.microsoft.com/office/drawing/2014/main" id="{0E6B5569-2124-4863-9C89-B99374C57A0B}"/>
              </a:ext>
            </a:extLst>
          </p:cNvPr>
          <p:cNvSpPr/>
          <p:nvPr userDrawn="1"/>
        </p:nvSpPr>
        <p:spPr>
          <a:xfrm>
            <a:off x="-1" y="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3600" b="1">
              <a:solidFill>
                <a:prstClr val="white"/>
              </a:solidFill>
            </a:endParaRPr>
          </a:p>
        </p:txBody>
      </p:sp>
      <p:sp>
        <p:nvSpPr>
          <p:cNvPr id="4" name="Title 1">
            <a:extLst>
              <a:ext uri="{FF2B5EF4-FFF2-40B4-BE49-F238E27FC236}">
                <a16:creationId xmlns:a16="http://schemas.microsoft.com/office/drawing/2014/main" id="{13287E17-E862-4812-9496-0C95DB7FC31D}"/>
              </a:ext>
            </a:extLst>
          </p:cNvPr>
          <p:cNvSpPr>
            <a:spLocks noGrp="1"/>
          </p:cNvSpPr>
          <p:nvPr>
            <p:ph type="title"/>
          </p:nvPr>
        </p:nvSpPr>
        <p:spPr>
          <a:xfrm>
            <a:off x="457200" y="0"/>
            <a:ext cx="8229600" cy="731520"/>
          </a:xfrm>
        </p:spPr>
        <p:txBody>
          <a:bodyPr/>
          <a:lstStyle>
            <a:lvl1pPr>
              <a:defRPr sz="3600" b="1">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2FA20E12-3F25-43B2-B6EF-90D423A2004E}"/>
              </a:ext>
            </a:extLst>
          </p:cNvPr>
          <p:cNvSpPr>
            <a:spLocks noGrp="1"/>
          </p:cNvSpPr>
          <p:nvPr>
            <p:ph idx="1"/>
          </p:nvPr>
        </p:nvSpPr>
        <p:spPr>
          <a:xfrm>
            <a:off x="457200" y="990600"/>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7561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
        <p:nvSpPr>
          <p:cNvPr id="2" name="Title 1"/>
          <p:cNvSpPr>
            <a:spLocks noGrp="1"/>
          </p:cNvSpPr>
          <p:nvPr>
            <p:ph type="title"/>
          </p:nvPr>
        </p:nvSpPr>
        <p:spPr>
          <a:xfrm>
            <a:off x="457205" y="273141"/>
            <a:ext cx="3008313" cy="1162051"/>
          </a:xfrm>
        </p:spPr>
        <p:txBody>
          <a:bodyPr anchor="b"/>
          <a:lstStyle>
            <a:lvl1pPr algn="l">
              <a:defRPr sz="2000" b="1"/>
            </a:lvl1pPr>
          </a:lstStyle>
          <a:p>
            <a:r>
              <a:rPr lang="en-US"/>
              <a:t>Click to edit Master title style</a:t>
            </a:r>
          </a:p>
        </p:txBody>
      </p:sp>
      <p:sp>
        <p:nvSpPr>
          <p:cNvPr id="4" name="Text Placeholder 3"/>
          <p:cNvSpPr>
            <a:spLocks noGrp="1"/>
          </p:cNvSpPr>
          <p:nvPr>
            <p:ph type="body" sz="half" idx="2"/>
          </p:nvPr>
        </p:nvSpPr>
        <p:spPr>
          <a:xfrm>
            <a:off x="457205"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142"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6056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
        <p:nvSpPr>
          <p:cNvPr id="6" name="Title 1">
            <a:extLst>
              <a:ext uri="{FF2B5EF4-FFF2-40B4-BE49-F238E27FC236}">
                <a16:creationId xmlns:a16="http://schemas.microsoft.com/office/drawing/2014/main" id="{FAE1E9DD-1B4A-468F-81C2-D6806365AF25}"/>
              </a:ext>
            </a:extLst>
          </p:cNvPr>
          <p:cNvSpPr>
            <a:spLocks noGrp="1"/>
          </p:cNvSpPr>
          <p:nvPr>
            <p:ph type="title"/>
          </p:nvPr>
        </p:nvSpPr>
        <p:spPr>
          <a:xfrm>
            <a:off x="457200" y="274637"/>
            <a:ext cx="8229600" cy="1143000"/>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A8B5DECD-EBFB-4924-BAEE-F6C3A1AF3CB8}"/>
              </a:ext>
            </a:extLst>
          </p:cNvPr>
          <p:cNvSpPr>
            <a:spLocks noGrp="1"/>
          </p:cNvSpPr>
          <p:nvPr>
            <p:ph idx="1"/>
          </p:nvPr>
        </p:nvSpPr>
        <p:spPr>
          <a:xfrm>
            <a:off x="457200" y="1642370"/>
            <a:ext cx="8229600" cy="3874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0697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983F1FA-211D-3044-9E35-958DFBC26156}" type="slidenum">
              <a:rPr lang="en-US" smtClean="0">
                <a:solidFill>
                  <a:prstClr val="white"/>
                </a:solidFill>
              </a:rPr>
              <a:pPr/>
              <a:t>‹#›</a:t>
            </a:fld>
            <a:endParaRPr lang="en-US">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1147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a:t>
            </a:fld>
            <a:endParaRPr lang="en-US">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7" name="Content Placeholder 2">
            <a:extLst>
              <a:ext uri="{FF2B5EF4-FFF2-40B4-BE49-F238E27FC236}">
                <a16:creationId xmlns:a16="http://schemas.microsoft.com/office/drawing/2014/main" id="{7E7757C5-7CD3-4A12-BD0C-01F14A79836E}"/>
              </a:ext>
            </a:extLst>
          </p:cNvPr>
          <p:cNvSpPr>
            <a:spLocks noGrp="1"/>
          </p:cNvSpPr>
          <p:nvPr>
            <p:ph idx="1"/>
          </p:nvPr>
        </p:nvSpPr>
        <p:spPr>
          <a:xfrm>
            <a:off x="457200" y="1642370"/>
            <a:ext cx="8229600" cy="3874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968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9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descr="Blue banner with Choose VA logo and U.S. Department of Veterans Affairs Logo">
            <a:extLst>
              <a:ext uri="{C183D7F6-B498-43B3-948B-1728B52AA6E4}">
                <adec:decorative xmlns:adec="http://schemas.microsoft.com/office/drawing/2017/decorative" val="0"/>
              </a:ext>
            </a:extLst>
          </p:cNvPr>
          <p:cNvSpPr/>
          <p:nvPr/>
        </p:nvSpPr>
        <p:spPr>
          <a:xfrm>
            <a:off x="0" y="6140680"/>
            <a:ext cx="9144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a:solidFill>
                <a:prstClr val="white"/>
              </a:solidFill>
            </a:endParaRPr>
          </a:p>
        </p:txBody>
      </p:sp>
      <p:sp>
        <p:nvSpPr>
          <p:cNvPr id="6" name="Slide Number Placeholder 5"/>
          <p:cNvSpPr>
            <a:spLocks noGrp="1"/>
          </p:cNvSpPr>
          <p:nvPr>
            <p:ph type="sldNum" sz="quarter" idx="4"/>
          </p:nvPr>
        </p:nvSpPr>
        <p:spPr>
          <a:xfrm>
            <a:off x="8686800" y="6400232"/>
            <a:ext cx="384630" cy="365125"/>
          </a:xfrm>
          <a:prstGeom prst="rect">
            <a:avLst/>
          </a:prstGeom>
        </p:spPr>
        <p:txBody>
          <a:bodyPr vert="horz" lIns="91440" tIns="45720" rIns="91440" bIns="45720" rtlCol="0" anchor="ctr"/>
          <a:lstStyle>
            <a:lvl1pPr algn="r">
              <a:defRPr sz="1200">
                <a:solidFill>
                  <a:schemeClr val="bg1"/>
                </a:solidFill>
              </a:defRPr>
            </a:lvl1pPr>
          </a:lstStyle>
          <a:p>
            <a:pPr defTabSz="457200"/>
            <a:fld id="{D983F1FA-211D-3044-9E35-958DFBC26156}" type="slidenum">
              <a:rPr lang="en-US" smtClean="0">
                <a:solidFill>
                  <a:prstClr val="white"/>
                </a:solidFill>
              </a:rPr>
              <a:pPr defTabSz="457200"/>
              <a:t>‹#›</a:t>
            </a:fld>
            <a:endParaRPr lang="en-US">
              <a:solidFill>
                <a:prstClr val="white"/>
              </a:solidFill>
            </a:endParaRPr>
          </a:p>
        </p:txBody>
      </p:sp>
      <p:pic>
        <p:nvPicPr>
          <p:cNvPr id="2050" name="Picture 2" descr="C:\Users\vacoGrovem\AppData\Local\Microsoft\Windows\Temporary Internet Files\Content.Outlook\83QVOJUE\CHOOSE-VA-rev.png"/>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152400" y="6172200"/>
            <a:ext cx="2037558"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Seal.png"/>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6199909" y="6184206"/>
            <a:ext cx="2563091" cy="641708"/>
          </a:xfrm>
          <a:prstGeom prst="rect">
            <a:avLst/>
          </a:prstGeom>
        </p:spPr>
      </p:pic>
    </p:spTree>
    <p:extLst>
      <p:ext uri="{BB962C8B-B14F-4D97-AF65-F5344CB8AC3E}">
        <p14:creationId xmlns:p14="http://schemas.microsoft.com/office/powerpoint/2010/main" val="2343439601"/>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63" r:id="rId3"/>
    <p:sldLayoutId id="2147483696" r:id="rId4"/>
    <p:sldLayoutId id="2147483662" r:id="rId5"/>
    <p:sldLayoutId id="2147483698" r:id="rId6"/>
    <p:sldLayoutId id="2147483699" r:id="rId7"/>
    <p:sldLayoutId id="2147483700" r:id="rId8"/>
    <p:sldLayoutId id="2147483701" r:id="rId9"/>
    <p:sldLayoutId id="2147483702" r:id="rId10"/>
    <p:sldLayoutId id="2147483697" r:id="rId11"/>
    <p:sldLayoutId id="2147483664" r:id="rId12"/>
    <p:sldLayoutId id="2147483665" r:id="rId13"/>
    <p:sldLayoutId id="2147483666" r:id="rId14"/>
    <p:sldLayoutId id="2147483667" r:id="rId15"/>
    <p:sldLayoutId id="2147483668" r:id="rId16"/>
    <p:sldLayoutId id="2147483669" r:id="rId17"/>
    <p:sldLayoutId id="2147483682" r:id="rId18"/>
  </p:sldLayoutIdLst>
  <p:hf hdr="0" ftr="0" dt="0"/>
  <p:txStyles>
    <p:titleStyle>
      <a:lvl1pPr algn="ctr" defTabSz="4572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b="0" i="0" u="none"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tapevents.mil/courses/306"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hyperlink" Target="https://tapevents.mil/courses/263" TargetMode="External"/><Relationship Id="rId13" Type="http://schemas.openxmlformats.org/officeDocument/2006/relationships/hyperlink" Target="https://tapevents.mil/courses/347" TargetMode="External"/><Relationship Id="rId3" Type="http://schemas.openxmlformats.org/officeDocument/2006/relationships/hyperlink" Target="https://www.tapevents.mil/courses/349" TargetMode="External"/><Relationship Id="rId7" Type="http://schemas.openxmlformats.org/officeDocument/2006/relationships/hyperlink" Target="https://tapevents.mil/courses/264" TargetMode="External"/><Relationship Id="rId12" Type="http://schemas.openxmlformats.org/officeDocument/2006/relationships/hyperlink" Target="https://tapevents.mil/courses/341" TargetMode="External"/><Relationship Id="rId2" Type="http://schemas.openxmlformats.org/officeDocument/2006/relationships/hyperlink" Target="https://www.tapevents.mil/courses/283" TargetMode="External"/><Relationship Id="rId1" Type="http://schemas.openxmlformats.org/officeDocument/2006/relationships/slideLayout" Target="../slideLayouts/slideLayout6.xml"/><Relationship Id="rId6" Type="http://schemas.openxmlformats.org/officeDocument/2006/relationships/hyperlink" Target="https://tapevents.mil/courses/342" TargetMode="External"/><Relationship Id="rId11" Type="http://schemas.openxmlformats.org/officeDocument/2006/relationships/hyperlink" Target="https://www.tapevents.mil/courses/311" TargetMode="External"/><Relationship Id="rId5" Type="http://schemas.openxmlformats.org/officeDocument/2006/relationships/hyperlink" Target="https://tapevents.mil/courses/262" TargetMode="External"/><Relationship Id="rId10" Type="http://schemas.openxmlformats.org/officeDocument/2006/relationships/hyperlink" Target="https://tapevents.mil/courses/279" TargetMode="External"/><Relationship Id="rId4" Type="http://schemas.openxmlformats.org/officeDocument/2006/relationships/hyperlink" Target="https://tapevents.mil/courses/280" TargetMode="External"/><Relationship Id="rId9" Type="http://schemas.openxmlformats.org/officeDocument/2006/relationships/hyperlink" Target="https://www.tapevents.mil/courses/293" TargetMode="External"/><Relationship Id="rId14" Type="http://schemas.openxmlformats.org/officeDocument/2006/relationships/hyperlink" Target="https://tapevents.mil/courses/294"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s://www.benefits.va.gov/REPORTS/abr/docs/2024-abr.pdf" TargetMode="External"/><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Department of Veterans Affairs Logo in color">
            <a:extLst>
              <a:ext uri="{FF2B5EF4-FFF2-40B4-BE49-F238E27FC236}">
                <a16:creationId xmlns:a16="http://schemas.microsoft.com/office/drawing/2014/main" id="{EC23CA31-984C-4C0E-876B-338CB8780B27}"/>
              </a:ext>
            </a:extLst>
          </p:cNvPr>
          <p:cNvPicPr>
            <a:picLocks noChangeAspect="1"/>
          </p:cNvPicPr>
          <p:nvPr/>
        </p:nvPicPr>
        <p:blipFill>
          <a:blip r:embed="rId3"/>
          <a:stretch>
            <a:fillRect/>
          </a:stretch>
        </p:blipFill>
        <p:spPr>
          <a:xfrm>
            <a:off x="3404750" y="830903"/>
            <a:ext cx="2200275" cy="1857375"/>
          </a:xfrm>
          <a:prstGeom prst="rect">
            <a:avLst/>
          </a:prstGeom>
        </p:spPr>
      </p:pic>
      <p:sp>
        <p:nvSpPr>
          <p:cNvPr id="14" name="Title 2">
            <a:extLst>
              <a:ext uri="{FF2B5EF4-FFF2-40B4-BE49-F238E27FC236}">
                <a16:creationId xmlns:a16="http://schemas.microsoft.com/office/drawing/2014/main" id="{60EAD9CB-D008-4102-8E3D-5FDEE3B7377B}"/>
              </a:ext>
            </a:extLst>
          </p:cNvPr>
          <p:cNvSpPr txBox="1">
            <a:spLocks noGrp="1"/>
          </p:cNvSpPr>
          <p:nvPr>
            <p:ph type="title" idx="4294967295"/>
          </p:nvPr>
        </p:nvSpPr>
        <p:spPr>
          <a:xfrm>
            <a:off x="36487" y="2897828"/>
            <a:ext cx="9034943" cy="85870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457200" rtl="0" eaLnBrk="1" latinLnBrk="0" hangingPunct="1">
              <a:spcBef>
                <a:spcPct val="0"/>
              </a:spcBef>
              <a:buNone/>
              <a:defRPr sz="3600" b="1" i="0" u="none" kern="1200">
                <a:solidFill>
                  <a:schemeClr val="bg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U.S. Department of Veterans Affairs</a:t>
            </a:r>
          </a:p>
        </p:txBody>
      </p:sp>
      <p:sp>
        <p:nvSpPr>
          <p:cNvPr id="4" name="Subtitle 2">
            <a:extLst>
              <a:ext uri="{FF2B5EF4-FFF2-40B4-BE49-F238E27FC236}">
                <a16:creationId xmlns:a16="http://schemas.microsoft.com/office/drawing/2014/main" id="{BF2EC132-C2A6-4A05-F64D-65D0FF28FB56}"/>
              </a:ext>
            </a:extLst>
          </p:cNvPr>
          <p:cNvSpPr txBox="1">
            <a:spLocks/>
          </p:cNvSpPr>
          <p:nvPr/>
        </p:nvSpPr>
        <p:spPr>
          <a:xfrm>
            <a:off x="1005840" y="3710358"/>
            <a:ext cx="7370064" cy="13680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b="0" i="0" u="none"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dirty="0">
                <a:solidFill>
                  <a:schemeClr val="bg1">
                    <a:lumMod val="75000"/>
                  </a:schemeClr>
                </a:solidFill>
              </a:rPr>
              <a:t>Pre-solicitation Notice ID: 36C10X25Q0032</a:t>
            </a:r>
          </a:p>
          <a:p>
            <a:pPr marL="0" indent="0" algn="ctr">
              <a:buNone/>
            </a:pPr>
            <a:endParaRPr lang="en-US" dirty="0">
              <a:solidFill>
                <a:schemeClr val="bg1">
                  <a:lumMod val="75000"/>
                </a:schemeClr>
              </a:solidFill>
            </a:endParaRPr>
          </a:p>
          <a:p>
            <a:pPr algn="ctr"/>
            <a:endParaRPr lang="en-US" dirty="0"/>
          </a:p>
        </p:txBody>
      </p:sp>
      <p:sp>
        <p:nvSpPr>
          <p:cNvPr id="3" name="TextBox 2">
            <a:extLst>
              <a:ext uri="{FF2B5EF4-FFF2-40B4-BE49-F238E27FC236}">
                <a16:creationId xmlns:a16="http://schemas.microsoft.com/office/drawing/2014/main" id="{96A9693A-8D9A-EEF9-C49B-CF5AA6C37229}"/>
              </a:ext>
            </a:extLst>
          </p:cNvPr>
          <p:cNvSpPr txBox="1"/>
          <p:nvPr/>
        </p:nvSpPr>
        <p:spPr>
          <a:xfrm>
            <a:off x="3017988" y="6306425"/>
            <a:ext cx="2497390" cy="307777"/>
          </a:xfrm>
          <a:prstGeom prst="rect">
            <a:avLst/>
          </a:prstGeom>
          <a:noFill/>
        </p:spPr>
        <p:txBody>
          <a:bodyPr wrap="square" rtlCol="0">
            <a:spAutoFit/>
          </a:bodyPr>
          <a:lstStyle/>
          <a:p>
            <a:pPr algn="ctr"/>
            <a:r>
              <a:rPr lang="en-US" sz="1400" dirty="0">
                <a:solidFill>
                  <a:schemeClr val="bg1"/>
                </a:solidFill>
              </a:rPr>
              <a:t>Pre-Decisional</a:t>
            </a:r>
          </a:p>
        </p:txBody>
      </p:sp>
      <p:sp>
        <p:nvSpPr>
          <p:cNvPr id="2" name="Slide Number Placeholder 1">
            <a:extLst>
              <a:ext uri="{FF2B5EF4-FFF2-40B4-BE49-F238E27FC236}">
                <a16:creationId xmlns:a16="http://schemas.microsoft.com/office/drawing/2014/main" id="{9974687C-764B-4950-9562-D453318B3141}"/>
              </a:ext>
            </a:extLst>
          </p:cNvPr>
          <p:cNvSpPr>
            <a:spLocks noGrp="1"/>
          </p:cNvSpPr>
          <p:nvPr>
            <p:ph type="sldNum" sz="quarter" idx="10"/>
          </p:nvPr>
        </p:nvSpPr>
        <p:spPr/>
        <p:txBody>
          <a:bodyPr/>
          <a:lstStyle/>
          <a:p>
            <a:pPr defTabSz="457200"/>
            <a:fld id="{D983F1FA-211D-3044-9E35-958DFBC26156}" type="slidenum">
              <a:rPr lang="en-US" smtClean="0">
                <a:solidFill>
                  <a:prstClr val="white"/>
                </a:solidFill>
              </a:rPr>
              <a:pPr defTabSz="457200"/>
              <a:t>1</a:t>
            </a:fld>
            <a:endParaRPr lang="en-US">
              <a:solidFill>
                <a:prstClr val="white"/>
              </a:solidFill>
            </a:endParaRPr>
          </a:p>
        </p:txBody>
      </p:sp>
    </p:spTree>
    <p:extLst>
      <p:ext uri="{BB962C8B-B14F-4D97-AF65-F5344CB8AC3E}">
        <p14:creationId xmlns:p14="http://schemas.microsoft.com/office/powerpoint/2010/main" val="17353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Agenda</a:t>
            </a:r>
            <a:r>
              <a:rPr lang="en-US" dirty="0"/>
              <a:t>	</a:t>
            </a:r>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normAutofit fontScale="77500" lnSpcReduction="20000"/>
          </a:bodyPr>
          <a:lstStyle/>
          <a:p>
            <a:r>
              <a:rPr lang="en-US" dirty="0"/>
              <a:t>VA Transition Assistance</a:t>
            </a:r>
          </a:p>
          <a:p>
            <a:pPr lvl="1"/>
            <a:r>
              <a:rPr lang="en-US" dirty="0"/>
              <a:t>Overview</a:t>
            </a:r>
          </a:p>
          <a:p>
            <a:pPr lvl="1"/>
            <a:r>
              <a:rPr lang="en-US" dirty="0"/>
              <a:t>Scope of Work</a:t>
            </a:r>
          </a:p>
          <a:p>
            <a:pPr lvl="1"/>
            <a:r>
              <a:rPr lang="en-US" dirty="0"/>
              <a:t>VA Benefits and Services Briefing</a:t>
            </a:r>
          </a:p>
          <a:p>
            <a:pPr lvl="1"/>
            <a:r>
              <a:rPr lang="en-US" dirty="0"/>
              <a:t>Curriculum Delivery Modalities</a:t>
            </a:r>
          </a:p>
          <a:p>
            <a:pPr lvl="1"/>
            <a:r>
              <a:rPr lang="en-US" dirty="0"/>
              <a:t>Military Life Cycle Modules</a:t>
            </a:r>
          </a:p>
          <a:p>
            <a:pPr lvl="1"/>
            <a:r>
              <a:rPr lang="en-US" dirty="0"/>
              <a:t>Women's Health Transition Training </a:t>
            </a:r>
          </a:p>
          <a:p>
            <a:pPr lvl="1"/>
            <a:r>
              <a:rPr lang="en-US" dirty="0"/>
              <a:t>VA Benefits Advisors</a:t>
            </a:r>
          </a:p>
          <a:p>
            <a:pPr lvl="1"/>
            <a:r>
              <a:rPr lang="en-US" dirty="0"/>
              <a:t>VA Transition Assistance Program Execution</a:t>
            </a:r>
          </a:p>
          <a:p>
            <a:pPr lvl="1"/>
            <a:r>
              <a:rPr lang="en-US" dirty="0"/>
              <a:t>Supporting VA Transition Assistance Program Customers</a:t>
            </a:r>
          </a:p>
          <a:p>
            <a:pPr lvl="1"/>
            <a:r>
              <a:rPr lang="en-US" dirty="0"/>
              <a:t>Benefits Advisors Training</a:t>
            </a:r>
          </a:p>
          <a:p>
            <a:pPr lvl="1"/>
            <a:r>
              <a:rPr lang="en-US" dirty="0"/>
              <a:t>Curriculum Development</a:t>
            </a:r>
          </a:p>
          <a:p>
            <a:r>
              <a:rPr lang="en-US" dirty="0"/>
              <a:t>Questions and Answers</a:t>
            </a:r>
          </a:p>
          <a:p>
            <a:endParaRPr lang="en-US" dirty="0"/>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2</a:t>
            </a:fld>
            <a:endParaRPr lang="en-US">
              <a:solidFill>
                <a:prstClr val="white"/>
              </a:solidFill>
            </a:endParaRPr>
          </a:p>
        </p:txBody>
      </p:sp>
    </p:spTree>
    <p:extLst>
      <p:ext uri="{BB962C8B-B14F-4D97-AF65-F5344CB8AC3E}">
        <p14:creationId xmlns:p14="http://schemas.microsoft.com/office/powerpoint/2010/main" val="3660020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Overview</a:t>
            </a:r>
            <a:r>
              <a:rPr lang="en-US" dirty="0"/>
              <a:t>	</a:t>
            </a:r>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normAutofit fontScale="85000" lnSpcReduction="20000"/>
          </a:bodyPr>
          <a:lstStyle/>
          <a:p>
            <a:r>
              <a:rPr lang="en-US" sz="2500" dirty="0"/>
              <a:t>10 U.S.C. § 1142 and 1144 </a:t>
            </a:r>
          </a:p>
          <a:p>
            <a:endParaRPr lang="en-US" sz="2500" dirty="0"/>
          </a:p>
          <a:p>
            <a:r>
              <a:rPr lang="en-US" sz="2500" dirty="0"/>
              <a:t>About 200,000 Service members transition to civilian life each year. The Transition Assistance Program (TAP) provides information, resources, and tools to service members and their loved ones to help prepare for the move from military to civilian life. Service members begin TAP one year prior to separation, or two years prior to retiring. </a:t>
            </a:r>
          </a:p>
          <a:p>
            <a:endParaRPr lang="en-US" sz="2500" dirty="0"/>
          </a:p>
          <a:p>
            <a:r>
              <a:rPr lang="en-US" sz="2500" dirty="0"/>
              <a:t>The VA portion of TAP is a one-day, in-person course called VA Benefits and Services. Led by VA Benefits Advisors, the course helps participants understand how to navigate VA and the benefits and services they’ve earned through their military career. The course offers interactive exercises, real examples, and covers topics important to you like family support, disability compensation, education, and health care benefits.</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3</a:t>
            </a:fld>
            <a:endParaRPr lang="en-US">
              <a:solidFill>
                <a:prstClr val="white"/>
              </a:solidFill>
            </a:endParaRPr>
          </a:p>
        </p:txBody>
      </p:sp>
    </p:spTree>
    <p:extLst>
      <p:ext uri="{BB962C8B-B14F-4D97-AF65-F5344CB8AC3E}">
        <p14:creationId xmlns:p14="http://schemas.microsoft.com/office/powerpoint/2010/main" val="1749750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Scope of Work</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normAutofit/>
          </a:bodyPr>
          <a:lstStyle/>
          <a:p>
            <a:pPr marR="0">
              <a:spcAft>
                <a:spcPts val="0"/>
              </a:spcAft>
              <a:tabLst>
                <a:tab pos="182880" algn="l"/>
                <a:tab pos="365760" algn="l"/>
                <a:tab pos="548640" algn="l"/>
                <a:tab pos="731520" algn="l"/>
              </a:tabLst>
            </a:pPr>
            <a:r>
              <a:rPr lang="en-US" sz="2100" dirty="0"/>
              <a:t>The agency program office responsible for conducting VA’s contribution to the interagency TAP, Outreach, Transition and Economic Development (OTED) requires contract support services to continue the existing TAP onsite support and associated program management, curriculum development, and training requirements. </a:t>
            </a:r>
          </a:p>
          <a:p>
            <a:pPr marL="0" marR="0" indent="0">
              <a:spcAft>
                <a:spcPts val="0"/>
              </a:spcAft>
              <a:buNone/>
              <a:tabLst>
                <a:tab pos="182880" algn="l"/>
                <a:tab pos="365760" algn="l"/>
                <a:tab pos="548640" algn="l"/>
                <a:tab pos="731520" algn="l"/>
              </a:tabLst>
            </a:pPr>
            <a:endParaRPr lang="en-US" sz="2100" dirty="0"/>
          </a:p>
          <a:p>
            <a:pPr marR="0">
              <a:spcAft>
                <a:spcPts val="0"/>
              </a:spcAft>
              <a:tabLst>
                <a:tab pos="182880" algn="l"/>
                <a:tab pos="365760" algn="l"/>
                <a:tab pos="548640" algn="l"/>
                <a:tab pos="731520" algn="l"/>
              </a:tabLst>
            </a:pPr>
            <a:r>
              <a:rPr lang="en-US" sz="2100" dirty="0"/>
              <a:t>This contract support encompasses program management and administration; curriculum development, revision, and validation; onsite support activities at military installations to conduct and report on VA-supported activities; conduct in-person, instructor-led classroom and instructor-led virtual briefings to include virtual off-base transition training workshops; providing information through generalized and one-on-one settings; and conducting evaluations. </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4</a:t>
            </a:fld>
            <a:endParaRPr lang="en-US">
              <a:solidFill>
                <a:prstClr val="white"/>
              </a:solidFill>
            </a:endParaRPr>
          </a:p>
        </p:txBody>
      </p:sp>
    </p:spTree>
    <p:extLst>
      <p:ext uri="{BB962C8B-B14F-4D97-AF65-F5344CB8AC3E}">
        <p14:creationId xmlns:p14="http://schemas.microsoft.com/office/powerpoint/2010/main" val="3776466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VA Benefits and Services Briefing</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5756564" cy="4525963"/>
          </a:xfrm>
        </p:spPr>
        <p:txBody>
          <a:bodyPr>
            <a:normAutofit fontScale="47500" lnSpcReduction="20000"/>
          </a:bodyPr>
          <a:lstStyle/>
          <a:p>
            <a:r>
              <a:rPr lang="en-US" sz="4400" dirty="0">
                <a:latin typeface="+mj-lt"/>
                <a:cs typeface="Arial"/>
              </a:rPr>
              <a:t>Mandatory, one day of instruction on how to navigate resources within VA, including the benefits and services they have earned. </a:t>
            </a:r>
          </a:p>
          <a:p>
            <a:r>
              <a:rPr lang="en-US" sz="4400" dirty="0">
                <a:latin typeface="+mj-lt"/>
                <a:cs typeface="Arial"/>
              </a:rPr>
              <a:t>Benefits and Services 6.0 includes 6 modules:</a:t>
            </a:r>
          </a:p>
          <a:p>
            <a:pPr lvl="1"/>
            <a:r>
              <a:rPr lang="en-US" sz="3800" dirty="0">
                <a:effectLst/>
                <a:latin typeface="+mj-lt"/>
                <a:ea typeface="Calibri"/>
                <a:cs typeface="Arial"/>
              </a:rPr>
              <a:t>Module 1- Introduction to VA Benefits and Services </a:t>
            </a:r>
          </a:p>
          <a:p>
            <a:pPr marR="0" lvl="1">
              <a:spcAft>
                <a:spcPts val="0"/>
              </a:spcAft>
            </a:pPr>
            <a:r>
              <a:rPr lang="en-US" sz="3800" dirty="0">
                <a:latin typeface="+mj-lt"/>
                <a:ea typeface="Calibri"/>
                <a:cs typeface="Arial"/>
              </a:rPr>
              <a:t>Module 2 – Maintaining Your Health </a:t>
            </a:r>
          </a:p>
          <a:p>
            <a:pPr marR="0" lvl="1">
              <a:spcAft>
                <a:spcPts val="0"/>
              </a:spcAft>
            </a:pPr>
            <a:r>
              <a:rPr lang="en-US" sz="3800" dirty="0">
                <a:latin typeface="+mj-lt"/>
                <a:ea typeface="Calibri"/>
                <a:cs typeface="Arial"/>
              </a:rPr>
              <a:t>Module 3 – Applying for Disability Compensation </a:t>
            </a:r>
          </a:p>
          <a:p>
            <a:pPr marR="0" lvl="1">
              <a:spcAft>
                <a:spcPts val="0"/>
              </a:spcAft>
            </a:pPr>
            <a:r>
              <a:rPr lang="en-US" sz="3800" dirty="0">
                <a:latin typeface="+mj-lt"/>
                <a:ea typeface="Calibri"/>
                <a:cs typeface="Arial"/>
              </a:rPr>
              <a:t>Module 4 – Getting Career Ready </a:t>
            </a:r>
          </a:p>
          <a:p>
            <a:pPr marR="0" lvl="1">
              <a:spcAft>
                <a:spcPts val="0"/>
              </a:spcAft>
            </a:pPr>
            <a:r>
              <a:rPr lang="en-US" sz="3800" dirty="0">
                <a:latin typeface="+mj-lt"/>
                <a:ea typeface="Calibri"/>
                <a:cs typeface="Arial"/>
              </a:rPr>
              <a:t>Module 5 – Finding a Place to Live and Community Resources </a:t>
            </a:r>
          </a:p>
          <a:p>
            <a:pPr marR="0" lvl="1">
              <a:spcAft>
                <a:spcPts val="0"/>
              </a:spcAft>
            </a:pPr>
            <a:r>
              <a:rPr lang="en-US" sz="3800" dirty="0">
                <a:latin typeface="+mj-lt"/>
                <a:ea typeface="Calibri"/>
                <a:cs typeface="Arial"/>
              </a:rPr>
              <a:t>Module 6 – Course Capstone</a:t>
            </a:r>
          </a:p>
          <a:p>
            <a:r>
              <a:rPr lang="en-US" sz="4400" dirty="0">
                <a:latin typeface="+mj-lt"/>
                <a:ea typeface="Calibri"/>
                <a:cs typeface="Arial"/>
              </a:rPr>
              <a:t>Average length of each module is 56 minutes.</a:t>
            </a:r>
          </a:p>
          <a:p>
            <a:r>
              <a:rPr lang="en-US" sz="4400" dirty="0">
                <a:latin typeface="+mj-lt"/>
                <a:ea typeface="Calibri"/>
                <a:cs typeface="Arial"/>
              </a:rPr>
              <a:t>Available at: </a:t>
            </a:r>
            <a:r>
              <a:rPr lang="en-US" sz="4400" dirty="0">
                <a:solidFill>
                  <a:schemeClr val="tx2">
                    <a:lumMod val="60000"/>
                    <a:lumOff val="40000"/>
                  </a:schemeClr>
                </a:solidFill>
                <a:latin typeface="+mj-lt"/>
                <a:ea typeface="Calibri"/>
                <a:cs typeface="Arial"/>
                <a:hlinkClick r:id="rId2">
                  <a:extLst>
                    <a:ext uri="{A12FA001-AC4F-418D-AE19-62706E023703}">
                      <ahyp:hlinkClr xmlns:ahyp="http://schemas.microsoft.com/office/drawing/2018/hyperlinkcolor" val="tx"/>
                    </a:ext>
                  </a:extLst>
                </a:hlinkClick>
              </a:rPr>
              <a:t>https://www.tapevents.mil/courses/306</a:t>
            </a:r>
            <a:endParaRPr lang="en-US" sz="4400" dirty="0">
              <a:latin typeface="+mj-lt"/>
              <a:ea typeface="Calibri"/>
              <a:cs typeface="Arial"/>
            </a:endParaRPr>
          </a:p>
          <a:p>
            <a:endParaRPr lang="en-US" dirty="0">
              <a:latin typeface="+mj-lt"/>
            </a:endParaRP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5</a:t>
            </a:fld>
            <a:endParaRPr lang="en-US">
              <a:solidFill>
                <a:prstClr val="white"/>
              </a:solidFill>
            </a:endParaRPr>
          </a:p>
        </p:txBody>
      </p:sp>
      <p:pic>
        <p:nvPicPr>
          <p:cNvPr id="3" name="Picture 2">
            <a:hlinkClick r:id="rId2"/>
            <a:extLst>
              <a:ext uri="{FF2B5EF4-FFF2-40B4-BE49-F238E27FC236}">
                <a16:creationId xmlns:a16="http://schemas.microsoft.com/office/drawing/2014/main" id="{42B6267C-A554-3BAD-C6F2-738321FD9C00}"/>
              </a:ext>
            </a:extLst>
          </p:cNvPr>
          <p:cNvPicPr>
            <a:picLocks noChangeAspect="1"/>
          </p:cNvPicPr>
          <p:nvPr/>
        </p:nvPicPr>
        <p:blipFill>
          <a:blip r:embed="rId3"/>
          <a:srcRect l="29421" t="9546" r="29275"/>
          <a:stretch/>
        </p:blipFill>
        <p:spPr>
          <a:xfrm>
            <a:off x="6339311" y="1893885"/>
            <a:ext cx="2347489" cy="3070230"/>
          </a:xfrm>
          <a:prstGeom prst="rect">
            <a:avLst/>
          </a:prstGeom>
        </p:spPr>
      </p:pic>
    </p:spTree>
    <p:extLst>
      <p:ext uri="{BB962C8B-B14F-4D97-AF65-F5344CB8AC3E}">
        <p14:creationId xmlns:p14="http://schemas.microsoft.com/office/powerpoint/2010/main" val="74538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Curriculum Delivery Modalities</a:t>
            </a:r>
            <a:endParaRPr lang="en-US" dirty="0"/>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6</a:t>
            </a:fld>
            <a:endParaRPr lang="en-US">
              <a:solidFill>
                <a:prstClr val="white"/>
              </a:solidFill>
            </a:endParaRPr>
          </a:p>
        </p:txBody>
      </p:sp>
      <p:sp>
        <p:nvSpPr>
          <p:cNvPr id="3" name="Oval 2">
            <a:extLst>
              <a:ext uri="{FF2B5EF4-FFF2-40B4-BE49-F238E27FC236}">
                <a16:creationId xmlns:a16="http://schemas.microsoft.com/office/drawing/2014/main" id="{BC763FE1-3812-09F1-98AA-869BB9EAB8C8}"/>
              </a:ext>
            </a:extLst>
          </p:cNvPr>
          <p:cNvSpPr/>
          <p:nvPr/>
        </p:nvSpPr>
        <p:spPr>
          <a:xfrm>
            <a:off x="4062302" y="2770339"/>
            <a:ext cx="1145406" cy="111653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Image illustrating service members in uniforms in a classroom setting in front of their computers; some  taking notes. ">
            <a:extLst>
              <a:ext uri="{FF2B5EF4-FFF2-40B4-BE49-F238E27FC236}">
                <a16:creationId xmlns:a16="http://schemas.microsoft.com/office/drawing/2014/main" id="{A5B2D162-C178-1657-6F66-4121C25D24E9}"/>
              </a:ext>
            </a:extLst>
          </p:cNvPr>
          <p:cNvPicPr/>
          <p:nvPr/>
        </p:nvPicPr>
        <p:blipFill rotWithShape="1">
          <a:blip r:embed="rId2" cstate="print">
            <a:extLst>
              <a:ext uri="{28A0092B-C50C-407E-A947-70E740481C1C}">
                <a14:useLocalDpi xmlns:a14="http://schemas.microsoft.com/office/drawing/2010/main" val="0"/>
              </a:ext>
            </a:extLst>
          </a:blip>
          <a:srcRect l="41959" t="7280" r="15041" b="3809"/>
          <a:stretch/>
        </p:blipFill>
        <p:spPr>
          <a:xfrm>
            <a:off x="445240" y="1048103"/>
            <a:ext cx="3138018" cy="4561002"/>
          </a:xfrm>
          <a:prstGeom prst="rect">
            <a:avLst/>
          </a:prstGeom>
          <a:ln>
            <a:noFill/>
          </a:ln>
          <a:effectLst>
            <a:outerShdw blurRad="292100" dist="139700" dir="2700000" algn="tl" rotWithShape="0">
              <a:srgbClr val="333333">
                <a:alpha val="65000"/>
              </a:srgbClr>
            </a:outerShdw>
          </a:effectLst>
        </p:spPr>
      </p:pic>
      <p:grpSp>
        <p:nvGrpSpPr>
          <p:cNvPr id="7" name="Group 6">
            <a:extLst>
              <a:ext uri="{FF2B5EF4-FFF2-40B4-BE49-F238E27FC236}">
                <a16:creationId xmlns:a16="http://schemas.microsoft.com/office/drawing/2014/main" id="{A86EB828-790A-70F0-65A9-838953DADF4E}"/>
              </a:ext>
            </a:extLst>
          </p:cNvPr>
          <p:cNvGrpSpPr/>
          <p:nvPr/>
        </p:nvGrpSpPr>
        <p:grpSpPr>
          <a:xfrm>
            <a:off x="4007321" y="1136205"/>
            <a:ext cx="1255368" cy="1116530"/>
            <a:chOff x="3577232" y="1138657"/>
            <a:chExt cx="1255368" cy="1116530"/>
          </a:xfrm>
        </p:grpSpPr>
        <p:sp>
          <p:nvSpPr>
            <p:cNvPr id="8" name="Oval 7">
              <a:extLst>
                <a:ext uri="{FF2B5EF4-FFF2-40B4-BE49-F238E27FC236}">
                  <a16:creationId xmlns:a16="http://schemas.microsoft.com/office/drawing/2014/main" id="{EBAF6850-2D8B-469D-9D09-DEB85EFABDB3}"/>
                </a:ext>
              </a:extLst>
            </p:cNvPr>
            <p:cNvSpPr/>
            <p:nvPr/>
          </p:nvSpPr>
          <p:spPr>
            <a:xfrm>
              <a:off x="3687194" y="1138657"/>
              <a:ext cx="1145406" cy="111653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A black and white logo&#10;&#10;Description automatically generated with medium confidence">
              <a:extLst>
                <a:ext uri="{FF2B5EF4-FFF2-40B4-BE49-F238E27FC236}">
                  <a16:creationId xmlns:a16="http://schemas.microsoft.com/office/drawing/2014/main" id="{D37D6A71-B98A-EE6E-F91F-028E11D8632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897" t="2628"/>
            <a:stretch/>
          </p:blipFill>
          <p:spPr>
            <a:xfrm>
              <a:off x="3577232" y="1312368"/>
              <a:ext cx="1145406" cy="813239"/>
            </a:xfrm>
            <a:prstGeom prst="rect">
              <a:avLst/>
            </a:prstGeom>
          </p:spPr>
        </p:pic>
      </p:grpSp>
      <p:pic>
        <p:nvPicPr>
          <p:cNvPr id="10" name="Picture 9" descr="A black and white logo&#10;&#10;Description automatically generated with medium confidence">
            <a:extLst>
              <a:ext uri="{FF2B5EF4-FFF2-40B4-BE49-F238E27FC236}">
                <a16:creationId xmlns:a16="http://schemas.microsoft.com/office/drawing/2014/main" id="{199E0A41-F7E1-15B1-3219-A888256B292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1422" t="-19628" r="39460" b="-14058"/>
          <a:stretch/>
        </p:blipFill>
        <p:spPr>
          <a:xfrm>
            <a:off x="3944225" y="2689901"/>
            <a:ext cx="1277651" cy="1116529"/>
          </a:xfrm>
          <a:prstGeom prst="rect">
            <a:avLst/>
          </a:prstGeom>
        </p:spPr>
      </p:pic>
      <p:sp>
        <p:nvSpPr>
          <p:cNvPr id="11" name="Oval 10">
            <a:extLst>
              <a:ext uri="{FF2B5EF4-FFF2-40B4-BE49-F238E27FC236}">
                <a16:creationId xmlns:a16="http://schemas.microsoft.com/office/drawing/2014/main" id="{7CFD6157-89D9-69DC-C0F4-FD00EB89452C}"/>
              </a:ext>
            </a:extLst>
          </p:cNvPr>
          <p:cNvSpPr/>
          <p:nvPr/>
        </p:nvSpPr>
        <p:spPr>
          <a:xfrm>
            <a:off x="4062302" y="4453615"/>
            <a:ext cx="1145406" cy="111653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A black and white logo&#10;&#10;Description automatically generated with medium confidence">
            <a:extLst>
              <a:ext uri="{FF2B5EF4-FFF2-40B4-BE49-F238E27FC236}">
                <a16:creationId xmlns:a16="http://schemas.microsoft.com/office/drawing/2014/main" id="{F1884EF9-749C-C259-11F3-57359AD646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2887" r="80058"/>
          <a:stretch/>
        </p:blipFill>
        <p:spPr>
          <a:xfrm>
            <a:off x="4239054" y="4469517"/>
            <a:ext cx="875030" cy="942819"/>
          </a:xfrm>
          <a:prstGeom prst="rect">
            <a:avLst/>
          </a:prstGeom>
        </p:spPr>
      </p:pic>
      <p:sp>
        <p:nvSpPr>
          <p:cNvPr id="13" name="Title 3">
            <a:extLst>
              <a:ext uri="{FF2B5EF4-FFF2-40B4-BE49-F238E27FC236}">
                <a16:creationId xmlns:a16="http://schemas.microsoft.com/office/drawing/2014/main" id="{75F0928B-E096-1737-A78B-EE84DD4A39B5}"/>
              </a:ext>
            </a:extLst>
          </p:cNvPr>
          <p:cNvSpPr txBox="1">
            <a:spLocks/>
          </p:cNvSpPr>
          <p:nvPr/>
        </p:nvSpPr>
        <p:spPr>
          <a:xfrm>
            <a:off x="5323064" y="1177644"/>
            <a:ext cx="2821003" cy="38348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b="1" kern="1200" baseline="0">
                <a:solidFill>
                  <a:schemeClr val="bg1"/>
                </a:solidFill>
                <a:latin typeface="+mj-lt"/>
                <a:ea typeface="+mj-ea"/>
                <a:cs typeface="+mj-cs"/>
              </a:defRPr>
            </a:lvl1pPr>
          </a:lstStyle>
          <a:p>
            <a:pPr algn="l"/>
            <a:r>
              <a:rPr lang="en-US" sz="2200">
                <a:solidFill>
                  <a:srgbClr val="003E75"/>
                </a:solidFill>
                <a:cs typeface="Arial" panose="020B0604020202020204" pitchFamily="34" charset="0"/>
              </a:rPr>
              <a:t>Live Classroom</a:t>
            </a:r>
          </a:p>
        </p:txBody>
      </p:sp>
      <p:sp>
        <p:nvSpPr>
          <p:cNvPr id="14" name="Text Placeholder 5">
            <a:extLst>
              <a:ext uri="{FF2B5EF4-FFF2-40B4-BE49-F238E27FC236}">
                <a16:creationId xmlns:a16="http://schemas.microsoft.com/office/drawing/2014/main" id="{7B2FAD0A-50E7-1596-5004-A4CA6CD1FA72}"/>
              </a:ext>
            </a:extLst>
          </p:cNvPr>
          <p:cNvSpPr txBox="1">
            <a:spLocks/>
          </p:cNvSpPr>
          <p:nvPr/>
        </p:nvSpPr>
        <p:spPr>
          <a:xfrm>
            <a:off x="5323064" y="1593059"/>
            <a:ext cx="3709927" cy="43088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mj-lt"/>
                <a:cs typeface="Arial" panose="020B0604020202020204" pitchFamily="34" charset="0"/>
              </a:rPr>
              <a:t>Traditional in-person, synchronous format</a:t>
            </a:r>
            <a:endParaRPr lang="en-US" sz="1200" dirty="0">
              <a:latin typeface="+mj-lt"/>
              <a:cs typeface="Arial" panose="020B0604020202020204" pitchFamily="34" charset="0"/>
            </a:endParaRPr>
          </a:p>
          <a:p>
            <a:endParaRPr lang="en-US" sz="1200" dirty="0">
              <a:latin typeface="+mj-lt"/>
            </a:endParaRPr>
          </a:p>
        </p:txBody>
      </p:sp>
      <p:sp>
        <p:nvSpPr>
          <p:cNvPr id="15" name="Title 3">
            <a:extLst>
              <a:ext uri="{FF2B5EF4-FFF2-40B4-BE49-F238E27FC236}">
                <a16:creationId xmlns:a16="http://schemas.microsoft.com/office/drawing/2014/main" id="{8A4BFA13-961D-29E0-6607-5CE5D5A1BDED}"/>
              </a:ext>
            </a:extLst>
          </p:cNvPr>
          <p:cNvSpPr txBox="1">
            <a:spLocks/>
          </p:cNvSpPr>
          <p:nvPr/>
        </p:nvSpPr>
        <p:spPr>
          <a:xfrm>
            <a:off x="5323064" y="2868906"/>
            <a:ext cx="2821003" cy="38348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b="1" kern="1200" baseline="0">
                <a:solidFill>
                  <a:schemeClr val="bg1"/>
                </a:solidFill>
                <a:latin typeface="+mj-lt"/>
                <a:ea typeface="+mj-ea"/>
                <a:cs typeface="+mj-cs"/>
              </a:defRPr>
            </a:lvl1pPr>
          </a:lstStyle>
          <a:p>
            <a:pPr algn="l"/>
            <a:r>
              <a:rPr lang="en-US" sz="2200">
                <a:solidFill>
                  <a:srgbClr val="003E75"/>
                </a:solidFill>
                <a:cs typeface="Arial" panose="020B0604020202020204" pitchFamily="34" charset="0"/>
              </a:rPr>
              <a:t>Live Virtual</a:t>
            </a:r>
          </a:p>
        </p:txBody>
      </p:sp>
      <p:sp>
        <p:nvSpPr>
          <p:cNvPr id="16" name="Text Placeholder 5">
            <a:extLst>
              <a:ext uri="{FF2B5EF4-FFF2-40B4-BE49-F238E27FC236}">
                <a16:creationId xmlns:a16="http://schemas.microsoft.com/office/drawing/2014/main" id="{5EAFFB06-4E92-9865-613A-9924E9B1A2B4}"/>
              </a:ext>
            </a:extLst>
          </p:cNvPr>
          <p:cNvSpPr txBox="1">
            <a:spLocks/>
          </p:cNvSpPr>
          <p:nvPr/>
        </p:nvSpPr>
        <p:spPr>
          <a:xfrm>
            <a:off x="5323064" y="3271103"/>
            <a:ext cx="3141359" cy="430886"/>
          </a:xfrm>
          <a:prstGeom prst="rect">
            <a:avLst/>
          </a:prstGeom>
        </p:spPr>
        <p:txBody>
          <a:bodyPr lIns="91440" tIns="45720" rIns="91440" bIns="45720"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mj-lt"/>
                <a:cs typeface="Arial" panose="020B0604020202020204" pitchFamily="34" charset="0"/>
              </a:rPr>
              <a:t>Virtual synchronous format hosted on Microsoft</a:t>
            </a:r>
            <a:r>
              <a:rPr lang="en-US" sz="1800" dirty="0">
                <a:solidFill>
                  <a:schemeClr val="tx2">
                    <a:lumMod val="60000"/>
                    <a:lumOff val="40000"/>
                  </a:schemeClr>
                </a:solidFill>
                <a:latin typeface="+mj-lt"/>
                <a:cs typeface="Arial" panose="020B0604020202020204" pitchFamily="34" charset="0"/>
              </a:rPr>
              <a:t> </a:t>
            </a:r>
            <a:r>
              <a:rPr lang="en-US" sz="1800" dirty="0">
                <a:latin typeface="+mj-lt"/>
                <a:cs typeface="Arial" panose="020B0604020202020204" pitchFamily="34" charset="0"/>
              </a:rPr>
              <a:t>Teams</a:t>
            </a:r>
            <a:endParaRPr lang="en-US" sz="1200" dirty="0">
              <a:latin typeface="+mj-lt"/>
              <a:cs typeface="Arial" panose="020B0604020202020204" pitchFamily="34" charset="0"/>
            </a:endParaRPr>
          </a:p>
        </p:txBody>
      </p:sp>
      <p:sp>
        <p:nvSpPr>
          <p:cNvPr id="17" name="Title 3">
            <a:extLst>
              <a:ext uri="{FF2B5EF4-FFF2-40B4-BE49-F238E27FC236}">
                <a16:creationId xmlns:a16="http://schemas.microsoft.com/office/drawing/2014/main" id="{6A9A6784-5F46-EE2A-E3FD-7EE7ABD1F72D}"/>
              </a:ext>
            </a:extLst>
          </p:cNvPr>
          <p:cNvSpPr txBox="1">
            <a:spLocks/>
          </p:cNvSpPr>
          <p:nvPr/>
        </p:nvSpPr>
        <p:spPr>
          <a:xfrm>
            <a:off x="5323064" y="4583671"/>
            <a:ext cx="2821003" cy="38348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b="1" kern="1200" baseline="0">
                <a:solidFill>
                  <a:schemeClr val="bg1"/>
                </a:solidFill>
                <a:latin typeface="+mj-lt"/>
                <a:ea typeface="+mj-ea"/>
                <a:cs typeface="+mj-cs"/>
              </a:defRPr>
            </a:lvl1pPr>
          </a:lstStyle>
          <a:p>
            <a:pPr algn="l"/>
            <a:r>
              <a:rPr lang="en-US" sz="2200" dirty="0">
                <a:solidFill>
                  <a:srgbClr val="003E75"/>
                </a:solidFill>
                <a:cs typeface="Arial" panose="020B0604020202020204" pitchFamily="34" charset="0"/>
              </a:rPr>
              <a:t>Web-Based</a:t>
            </a:r>
          </a:p>
        </p:txBody>
      </p:sp>
      <p:sp>
        <p:nvSpPr>
          <p:cNvPr id="18" name="Text Placeholder 5">
            <a:extLst>
              <a:ext uri="{FF2B5EF4-FFF2-40B4-BE49-F238E27FC236}">
                <a16:creationId xmlns:a16="http://schemas.microsoft.com/office/drawing/2014/main" id="{74A82B6F-07A2-B763-98CB-1E0E4CC620DE}"/>
              </a:ext>
            </a:extLst>
          </p:cNvPr>
          <p:cNvSpPr txBox="1">
            <a:spLocks/>
          </p:cNvSpPr>
          <p:nvPr/>
        </p:nvSpPr>
        <p:spPr>
          <a:xfrm>
            <a:off x="5323064" y="4950910"/>
            <a:ext cx="3709927" cy="43088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mj-lt"/>
                <a:cs typeface="Arial" panose="020B0604020202020204" pitchFamily="34" charset="0"/>
              </a:rPr>
              <a:t>Online, self-paced, asynchronous format</a:t>
            </a:r>
            <a:endParaRPr lang="en-US" sz="1200" dirty="0">
              <a:latin typeface="+mj-lt"/>
              <a:cs typeface="Arial" panose="020B0604020202020204" pitchFamily="34" charset="0"/>
            </a:endParaRPr>
          </a:p>
          <a:p>
            <a:endParaRPr lang="en-US" sz="1200" dirty="0">
              <a:latin typeface="+mj-lt"/>
            </a:endParaRPr>
          </a:p>
        </p:txBody>
      </p:sp>
    </p:spTree>
    <p:extLst>
      <p:ext uri="{BB962C8B-B14F-4D97-AF65-F5344CB8AC3E}">
        <p14:creationId xmlns:p14="http://schemas.microsoft.com/office/powerpoint/2010/main" val="1664945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Military Life Cycle Modules</a:t>
            </a:r>
            <a:endParaRPr lang="en-US" dirty="0"/>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7</a:t>
            </a:fld>
            <a:endParaRPr lang="en-US">
              <a:solidFill>
                <a:prstClr val="white"/>
              </a:solidFill>
            </a:endParaRPr>
          </a:p>
        </p:txBody>
      </p:sp>
      <p:graphicFrame>
        <p:nvGraphicFramePr>
          <p:cNvPr id="3" name="Table 2">
            <a:extLst>
              <a:ext uri="{FF2B5EF4-FFF2-40B4-BE49-F238E27FC236}">
                <a16:creationId xmlns:a16="http://schemas.microsoft.com/office/drawing/2014/main" id="{ECABD814-AC3C-19BF-C1CC-CA1CAFD47B3E}"/>
              </a:ext>
            </a:extLst>
          </p:cNvPr>
          <p:cNvGraphicFramePr>
            <a:graphicFrameLocks noGrp="1"/>
          </p:cNvGraphicFramePr>
          <p:nvPr>
            <p:extLst>
              <p:ext uri="{D42A27DB-BD31-4B8C-83A1-F6EECF244321}">
                <p14:modId xmlns:p14="http://schemas.microsoft.com/office/powerpoint/2010/main" val="3797607818"/>
              </p:ext>
            </p:extLst>
          </p:nvPr>
        </p:nvGraphicFramePr>
        <p:xfrm>
          <a:off x="185530" y="991206"/>
          <a:ext cx="4357757" cy="5128818"/>
        </p:xfrm>
        <a:graphic>
          <a:graphicData uri="http://schemas.openxmlformats.org/drawingml/2006/table">
            <a:tbl>
              <a:tblPr firstRow="1" bandRow="1">
                <a:tableStyleId>{5C22544A-7EE6-4342-B048-85BDC9FD1C3A}</a:tableStyleId>
              </a:tblPr>
              <a:tblGrid>
                <a:gridCol w="1660277">
                  <a:extLst>
                    <a:ext uri="{9D8B030D-6E8A-4147-A177-3AD203B41FA5}">
                      <a16:colId xmlns:a16="http://schemas.microsoft.com/office/drawing/2014/main" val="414650223"/>
                    </a:ext>
                  </a:extLst>
                </a:gridCol>
                <a:gridCol w="2697480">
                  <a:extLst>
                    <a:ext uri="{9D8B030D-6E8A-4147-A177-3AD203B41FA5}">
                      <a16:colId xmlns:a16="http://schemas.microsoft.com/office/drawing/2014/main" val="4233035759"/>
                    </a:ext>
                  </a:extLst>
                </a:gridCol>
              </a:tblGrid>
              <a:tr h="228600">
                <a:tc>
                  <a:txBody>
                    <a:bodyPr/>
                    <a:lstStyle/>
                    <a:p>
                      <a:pPr algn="ctr"/>
                      <a:r>
                        <a:rPr lang="en-US" sz="1000" dirty="0">
                          <a:latin typeface="Arial" panose="020B0604020202020204" pitchFamily="34" charset="0"/>
                          <a:cs typeface="Arial" panose="020B0604020202020204" pitchFamily="34" charset="0"/>
                        </a:rPr>
                        <a:t>Module Name &amp; Length</a:t>
                      </a:r>
                    </a:p>
                  </a:txBody>
                  <a:tcPr marL="68580" marR="68580" marT="34290" marB="34290">
                    <a:solidFill>
                      <a:schemeClr val="accent6">
                        <a:lumMod val="50000"/>
                      </a:schemeClr>
                    </a:solidFill>
                  </a:tcPr>
                </a:tc>
                <a:tc>
                  <a:txBody>
                    <a:bodyPr/>
                    <a:lstStyle/>
                    <a:p>
                      <a:pPr algn="ctr"/>
                      <a:r>
                        <a:rPr lang="en-US" sz="1000" dirty="0">
                          <a:latin typeface="Arial" panose="020B0604020202020204" pitchFamily="34" charset="0"/>
                          <a:cs typeface="Arial" panose="020B0604020202020204" pitchFamily="34" charset="0"/>
                        </a:rPr>
                        <a:t>Module Overview</a:t>
                      </a:r>
                    </a:p>
                  </a:txBody>
                  <a:tcPr marL="68580" marR="68580" marT="34290" marB="34290">
                    <a:solidFill>
                      <a:schemeClr val="accent6">
                        <a:lumMod val="50000"/>
                      </a:schemeClr>
                    </a:solidFill>
                  </a:tcPr>
                </a:tc>
                <a:extLst>
                  <a:ext uri="{0D108BD9-81ED-4DB2-BD59-A6C34878D82A}">
                    <a16:rowId xmlns:a16="http://schemas.microsoft.com/office/drawing/2014/main" val="2564670212"/>
                  </a:ext>
                </a:extLst>
              </a:tr>
              <a:tr h="982980">
                <a:tc>
                  <a:txBody>
                    <a:bodyPr/>
                    <a:lstStyle/>
                    <a:p>
                      <a:r>
                        <a:rPr lang="en-US" sz="1000" b="1">
                          <a:solidFill>
                            <a:schemeClr val="bg1"/>
                          </a:solidFill>
                          <a:latin typeface="Arial" panose="020B0604020202020204" pitchFamily="34" charset="0"/>
                          <a:cs typeface="Arial" panose="020B0604020202020204" pitchFamily="34" charset="0"/>
                          <a:hlinkClick r:id="rId2"/>
                        </a:rPr>
                        <a:t>VA Education Benefits </a:t>
                      </a:r>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Arial" panose="020B0604020202020204" pitchFamily="34" charset="0"/>
                          <a:ea typeface="+mn-ea"/>
                          <a:cs typeface="Arial" panose="020B0604020202020204" pitchFamily="34" charset="0"/>
                        </a:rPr>
                        <a:t>Provides information about Defense Department (DOD) and VA education benefits to include Post-9/11 benefits that may help Service members pay for or offset the cost of tuition, housing, books and supplies. </a:t>
                      </a:r>
                    </a:p>
                  </a:txBody>
                  <a:tcPr marL="68580" marR="68580" marT="34290" marB="34290">
                    <a:solidFill>
                      <a:schemeClr val="bg1">
                        <a:lumMod val="85000"/>
                      </a:schemeClr>
                    </a:solidFill>
                  </a:tcPr>
                </a:tc>
                <a:extLst>
                  <a:ext uri="{0D108BD9-81ED-4DB2-BD59-A6C34878D82A}">
                    <a16:rowId xmlns:a16="http://schemas.microsoft.com/office/drawing/2014/main" val="3357109492"/>
                  </a:ext>
                </a:extLst>
              </a:tr>
              <a:tr h="1135380">
                <a:tc>
                  <a:txBody>
                    <a:bodyPr/>
                    <a:lstStyle/>
                    <a:p>
                      <a:r>
                        <a:rPr lang="en-US" sz="1000" b="1">
                          <a:solidFill>
                            <a:schemeClr val="bg1"/>
                          </a:solidFill>
                          <a:latin typeface="Arial" panose="020B0604020202020204" pitchFamily="34" charset="0"/>
                          <a:cs typeface="Arial" panose="020B0604020202020204" pitchFamily="34" charset="0"/>
                          <a:hlinkClick r:id="rId3"/>
                        </a:rPr>
                        <a:t>VA Education and Training Benefits for Spouses and Dependents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Arial" panose="020B0604020202020204" pitchFamily="34" charset="0"/>
                          <a:ea typeface="+mn-ea"/>
                          <a:cs typeface="Arial" panose="020B0604020202020204" pitchFamily="34" charset="0"/>
                        </a:rPr>
                        <a:t>Communicates relevant information about education benefits, including Post-9/11 benefits, that can help eligible family members and caregivers pay for tuition, housing, books and supplies costs through VA education and training benefits available to them.</a:t>
                      </a:r>
                    </a:p>
                  </a:txBody>
                  <a:tcPr marL="68580" marR="68580" marT="34290" marB="34290">
                    <a:solidFill>
                      <a:schemeClr val="bg1">
                        <a:lumMod val="85000"/>
                      </a:schemeClr>
                    </a:solidFill>
                  </a:tcPr>
                </a:tc>
                <a:extLst>
                  <a:ext uri="{0D108BD9-81ED-4DB2-BD59-A6C34878D82A}">
                    <a16:rowId xmlns:a16="http://schemas.microsoft.com/office/drawing/2014/main" val="1970253948"/>
                  </a:ext>
                </a:extLst>
              </a:tr>
              <a:tr h="678180">
                <a:tc>
                  <a:txBody>
                    <a:bodyPr/>
                    <a:lstStyle/>
                    <a:p>
                      <a:r>
                        <a:rPr lang="en-US" sz="1000" b="1">
                          <a:solidFill>
                            <a:schemeClr val="bg1"/>
                          </a:solidFill>
                          <a:latin typeface="Arial" panose="020B0604020202020204" pitchFamily="34" charset="0"/>
                          <a:cs typeface="Arial" panose="020B0604020202020204" pitchFamily="34" charset="0"/>
                          <a:hlinkClick r:id="rId4"/>
                        </a:rPr>
                        <a:t>VA Benefits 101</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Highlights VA benefits and services, to include education, home loan guaranty, health care and insurance, and memorial benefits. </a:t>
                      </a:r>
                    </a:p>
                  </a:txBody>
                  <a:tcPr marL="68580" marR="68580" marT="34290" marB="34290">
                    <a:solidFill>
                      <a:schemeClr val="bg1">
                        <a:lumMod val="85000"/>
                      </a:schemeClr>
                    </a:solidFill>
                  </a:tcPr>
                </a:tc>
                <a:extLst>
                  <a:ext uri="{0D108BD9-81ED-4DB2-BD59-A6C34878D82A}">
                    <a16:rowId xmlns:a16="http://schemas.microsoft.com/office/drawing/2014/main" val="3220468753"/>
                  </a:ext>
                </a:extLst>
              </a:tr>
              <a:tr h="678180">
                <a:tc>
                  <a:txBody>
                    <a:bodyPr/>
                    <a:lstStyle/>
                    <a:p>
                      <a:r>
                        <a:rPr lang="en-US" sz="1000" b="1">
                          <a:solidFill>
                            <a:schemeClr val="bg1"/>
                          </a:solidFill>
                          <a:latin typeface="Arial" panose="020B0604020202020204" pitchFamily="34" charset="0"/>
                          <a:cs typeface="Arial" panose="020B0604020202020204" pitchFamily="34" charset="0"/>
                          <a:hlinkClick r:id="rId5"/>
                        </a:rPr>
                        <a:t>Social and Emotional Health Resources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Describes services and provides information on resources for coping with life experiences and stressors that may impact social and emotional health.</a:t>
                      </a:r>
                    </a:p>
                  </a:txBody>
                  <a:tcPr marL="68580" marR="68580" marT="34290" marB="34290">
                    <a:solidFill>
                      <a:schemeClr val="bg1">
                        <a:lumMod val="85000"/>
                      </a:schemeClr>
                    </a:solidFill>
                  </a:tcPr>
                </a:tc>
                <a:extLst>
                  <a:ext uri="{0D108BD9-81ED-4DB2-BD59-A6C34878D82A}">
                    <a16:rowId xmlns:a16="http://schemas.microsoft.com/office/drawing/2014/main" val="1510664798"/>
                  </a:ext>
                </a:extLst>
              </a:tr>
              <a:tr h="726496">
                <a:tc>
                  <a:txBody>
                    <a:bodyPr/>
                    <a:lstStyle/>
                    <a:p>
                      <a:r>
                        <a:rPr lang="en-US" sz="1000" b="1">
                          <a:solidFill>
                            <a:schemeClr val="bg1"/>
                          </a:solidFill>
                          <a:latin typeface="Arial" panose="020B0604020202020204" pitchFamily="34" charset="0"/>
                          <a:cs typeface="Arial" panose="020B0604020202020204" pitchFamily="34" charset="0"/>
                          <a:hlinkClick r:id="rId6"/>
                        </a:rPr>
                        <a:t>Mental Health for Families</a:t>
                      </a:r>
                      <a:endParaRPr lang="en-US" sz="1000" b="1">
                        <a:solidFill>
                          <a:schemeClr val="bg1"/>
                        </a:solidFill>
                        <a:latin typeface="Arial" panose="020B0604020202020204" pitchFamily="34" charset="0"/>
                        <a:cs typeface="Arial" panose="020B0604020202020204" pitchFamily="34" charset="0"/>
                      </a:endParaRP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effectLst/>
                          <a:latin typeface="Roboto" panose="02000000000000000000" pitchFamily="2" charset="0"/>
                        </a:rPr>
                        <a:t>This course explains how to identify local services and community organizations that can provide assistance and aid to Service members and their loved ones.</a:t>
                      </a:r>
                      <a:endParaRPr lang="en-US" sz="1000" kern="1200">
                        <a:solidFill>
                          <a:schemeClr val="tx1"/>
                        </a:solidFill>
                        <a:effectLst/>
                        <a:latin typeface="Arial" panose="020B0604020202020204" pitchFamily="34" charset="0"/>
                        <a:ea typeface="+mn-ea"/>
                        <a:cs typeface="Arial" panose="020B0604020202020204" pitchFamily="34" charset="0"/>
                      </a:endParaRPr>
                    </a:p>
                  </a:txBody>
                  <a:tcPr marL="68580" marR="68580" marT="34290" marB="34290">
                    <a:solidFill>
                      <a:schemeClr val="bg1">
                        <a:lumMod val="85000"/>
                      </a:schemeClr>
                    </a:solidFill>
                  </a:tcPr>
                </a:tc>
                <a:extLst>
                  <a:ext uri="{0D108BD9-81ED-4DB2-BD59-A6C34878D82A}">
                    <a16:rowId xmlns:a16="http://schemas.microsoft.com/office/drawing/2014/main" val="3836712770"/>
                  </a:ext>
                </a:extLst>
              </a:tr>
              <a:tr h="699002">
                <a:tc>
                  <a:txBody>
                    <a:bodyPr/>
                    <a:lstStyle/>
                    <a:p>
                      <a:r>
                        <a:rPr lang="en-US" sz="1000" b="1">
                          <a:solidFill>
                            <a:schemeClr val="bg1"/>
                          </a:solidFill>
                          <a:latin typeface="Arial" panose="020B0604020202020204" pitchFamily="34" charset="0"/>
                          <a:cs typeface="Arial" panose="020B0604020202020204" pitchFamily="34" charset="0"/>
                          <a:hlinkClick r:id="rId7"/>
                        </a:rPr>
                        <a:t>VA Home Loan Guaranty Program</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(60 minutes)</a:t>
                      </a:r>
                    </a:p>
                  </a:txBody>
                  <a:tcPr marL="68580" marR="68580" marT="34290" marB="34290">
                    <a:solidFill>
                      <a:srgbClr val="00206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Offers a general overview of the VA Home Loan Guaranty Program including eligibility, processes, costs and other available resources.</a:t>
                      </a:r>
                    </a:p>
                  </a:txBody>
                  <a:tcPr marL="68580" marR="68580" marT="34290" marB="34290">
                    <a:solidFill>
                      <a:schemeClr val="bg1">
                        <a:lumMod val="85000"/>
                      </a:schemeClr>
                    </a:solidFill>
                  </a:tcPr>
                </a:tc>
                <a:extLst>
                  <a:ext uri="{0D108BD9-81ED-4DB2-BD59-A6C34878D82A}">
                    <a16:rowId xmlns:a16="http://schemas.microsoft.com/office/drawing/2014/main" val="28871827"/>
                  </a:ext>
                </a:extLst>
              </a:tr>
            </a:tbl>
          </a:graphicData>
        </a:graphic>
      </p:graphicFrame>
      <p:graphicFrame>
        <p:nvGraphicFramePr>
          <p:cNvPr id="5" name="Table 4">
            <a:extLst>
              <a:ext uri="{FF2B5EF4-FFF2-40B4-BE49-F238E27FC236}">
                <a16:creationId xmlns:a16="http://schemas.microsoft.com/office/drawing/2014/main" id="{A129A893-2AC6-1219-69CE-284B400067BC}"/>
              </a:ext>
            </a:extLst>
          </p:cNvPr>
          <p:cNvGraphicFramePr>
            <a:graphicFrameLocks noGrp="1"/>
          </p:cNvGraphicFramePr>
          <p:nvPr>
            <p:extLst>
              <p:ext uri="{D42A27DB-BD31-4B8C-83A1-F6EECF244321}">
                <p14:modId xmlns:p14="http://schemas.microsoft.com/office/powerpoint/2010/main" val="2210862504"/>
              </p:ext>
            </p:extLst>
          </p:nvPr>
        </p:nvGraphicFramePr>
        <p:xfrm>
          <a:off x="4633358" y="991206"/>
          <a:ext cx="4361238" cy="5119952"/>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414650223"/>
                    </a:ext>
                  </a:extLst>
                </a:gridCol>
                <a:gridCol w="2697030">
                  <a:extLst>
                    <a:ext uri="{9D8B030D-6E8A-4147-A177-3AD203B41FA5}">
                      <a16:colId xmlns:a16="http://schemas.microsoft.com/office/drawing/2014/main" val="4233035759"/>
                    </a:ext>
                  </a:extLst>
                </a:gridCol>
              </a:tblGrid>
              <a:tr h="219456">
                <a:tc>
                  <a:txBody>
                    <a:bodyPr/>
                    <a:lstStyle/>
                    <a:p>
                      <a:pPr algn="ctr"/>
                      <a:r>
                        <a:rPr lang="en-US" sz="1050" dirty="0">
                          <a:latin typeface="Arial" panose="020B0604020202020204" pitchFamily="34" charset="0"/>
                          <a:cs typeface="Arial" panose="020B0604020202020204" pitchFamily="34" charset="0"/>
                        </a:rPr>
                        <a:t>Module Name &amp; Length</a:t>
                      </a:r>
                    </a:p>
                  </a:txBody>
                  <a:tcPr marL="68580" marR="68580" marT="34290" marB="34290">
                    <a:solidFill>
                      <a:schemeClr val="accent6">
                        <a:lumMod val="50000"/>
                      </a:schemeClr>
                    </a:solidFill>
                  </a:tcPr>
                </a:tc>
                <a:tc>
                  <a:txBody>
                    <a:bodyPr/>
                    <a:lstStyle/>
                    <a:p>
                      <a:pPr algn="ctr"/>
                      <a:r>
                        <a:rPr lang="en-US" sz="1000" dirty="0">
                          <a:latin typeface="Arial" panose="020B0604020202020204" pitchFamily="34" charset="0"/>
                          <a:cs typeface="Arial" panose="020B0604020202020204" pitchFamily="34" charset="0"/>
                        </a:rPr>
                        <a:t>Module Overview</a:t>
                      </a:r>
                    </a:p>
                  </a:txBody>
                  <a:tcPr marL="68580" marR="68580" marT="34290" marB="34290">
                    <a:solidFill>
                      <a:schemeClr val="accent6">
                        <a:lumMod val="50000"/>
                      </a:schemeClr>
                    </a:solidFill>
                  </a:tcPr>
                </a:tc>
                <a:extLst>
                  <a:ext uri="{0D108BD9-81ED-4DB2-BD59-A6C34878D82A}">
                    <a16:rowId xmlns:a16="http://schemas.microsoft.com/office/drawing/2014/main" val="2564670212"/>
                  </a:ext>
                </a:extLst>
              </a:tr>
              <a:tr h="685458">
                <a:tc>
                  <a:txBody>
                    <a:bodyPr/>
                    <a:lstStyle/>
                    <a:p>
                      <a:r>
                        <a:rPr lang="en-US" sz="1000" b="1">
                          <a:solidFill>
                            <a:schemeClr val="bg1"/>
                          </a:solidFill>
                          <a:latin typeface="Arial" panose="020B0604020202020204" pitchFamily="34" charset="0"/>
                          <a:cs typeface="Arial" panose="020B0604020202020204" pitchFamily="34" charset="0"/>
                          <a:hlinkClick r:id="rId8"/>
                        </a:rPr>
                        <a:t>Vet Centers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Describes how to connect with local Vet Centers and how Service members, Veterans and their loved ones can use Vet Centers as a free resource.</a:t>
                      </a:r>
                    </a:p>
                  </a:txBody>
                  <a:tcPr marL="68580" marR="68580" marT="34290" marB="34290">
                    <a:solidFill>
                      <a:schemeClr val="bg1">
                        <a:lumMod val="85000"/>
                      </a:schemeClr>
                    </a:solidFill>
                  </a:tcPr>
                </a:tc>
                <a:extLst>
                  <a:ext uri="{0D108BD9-81ED-4DB2-BD59-A6C34878D82A}">
                    <a16:rowId xmlns:a16="http://schemas.microsoft.com/office/drawing/2014/main" val="3357109492"/>
                  </a:ext>
                </a:extLst>
              </a:tr>
              <a:tr h="689459">
                <a:tc>
                  <a:txBody>
                    <a:bodyPr/>
                    <a:lstStyle/>
                    <a:p>
                      <a:r>
                        <a:rPr lang="en-US" sz="1000" b="1">
                          <a:solidFill>
                            <a:schemeClr val="bg1"/>
                          </a:solidFill>
                          <a:latin typeface="Arial" panose="020B0604020202020204" pitchFamily="34" charset="0"/>
                          <a:cs typeface="Arial" panose="020B0604020202020204" pitchFamily="34" charset="0"/>
                          <a:hlinkClick r:id="rId9"/>
                        </a:rPr>
                        <a:t>Disability</a:t>
                      </a:r>
                      <a:r>
                        <a:rPr lang="en-US" sz="1000" b="1">
                          <a:solidFill>
                            <a:schemeClr val="bg1"/>
                          </a:solidFill>
                          <a:latin typeface="Arial" panose="020B0604020202020204" pitchFamily="34" charset="0"/>
                          <a:cs typeface="Arial" panose="020B0604020202020204" pitchFamily="34" charset="0"/>
                        </a:rPr>
                        <a:t> </a:t>
                      </a:r>
                      <a:r>
                        <a:rPr lang="en-US" sz="1000" b="1">
                          <a:solidFill>
                            <a:schemeClr val="bg1"/>
                          </a:solidFill>
                          <a:latin typeface="Arial" panose="020B0604020202020204" pitchFamily="34" charset="0"/>
                          <a:cs typeface="Arial" panose="020B0604020202020204" pitchFamily="34" charset="0"/>
                          <a:hlinkClick r:id="rId9"/>
                        </a:rPr>
                        <a:t>Compensation</a:t>
                      </a:r>
                      <a:endParaRPr lang="en-US" sz="1000" b="1">
                        <a:solidFill>
                          <a:schemeClr val="bg1"/>
                        </a:solidFill>
                        <a:latin typeface="Arial" panose="020B0604020202020204" pitchFamily="34" charset="0"/>
                        <a:cs typeface="Arial" panose="020B0604020202020204" pitchFamily="34" charset="0"/>
                      </a:endParaRPr>
                    </a:p>
                    <a:p>
                      <a:r>
                        <a:rPr lang="en-US" sz="1000" b="1">
                          <a:solidFill>
                            <a:schemeClr val="bg1"/>
                          </a:solidFill>
                          <a:latin typeface="Arial" panose="020B0604020202020204" pitchFamily="34" charset="0"/>
                          <a:cs typeface="Arial" panose="020B0604020202020204" pitchFamily="34" charset="0"/>
                        </a:rPr>
                        <a:t>(60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Introduces the VA disability compensation benefit that may be available to eligible transitioning Service members and Veterans and shows where to find key resources.</a:t>
                      </a:r>
                    </a:p>
                  </a:txBody>
                  <a:tcPr marL="68580" marR="68580" marT="34290" marB="34290">
                    <a:solidFill>
                      <a:schemeClr val="bg1">
                        <a:lumMod val="85000"/>
                      </a:schemeClr>
                    </a:solidFill>
                  </a:tcPr>
                </a:tc>
                <a:extLst>
                  <a:ext uri="{0D108BD9-81ED-4DB2-BD59-A6C34878D82A}">
                    <a16:rowId xmlns:a16="http://schemas.microsoft.com/office/drawing/2014/main" val="1970253948"/>
                  </a:ext>
                </a:extLst>
              </a:tr>
              <a:tr h="685458">
                <a:tc>
                  <a:txBody>
                    <a:bodyPr/>
                    <a:lstStyle/>
                    <a:p>
                      <a:r>
                        <a:rPr lang="en-US" sz="1000" b="1">
                          <a:solidFill>
                            <a:schemeClr val="bg1"/>
                          </a:solidFill>
                          <a:latin typeface="Arial" panose="020B0604020202020204" pitchFamily="34" charset="0"/>
                          <a:cs typeface="Arial" panose="020B0604020202020204" pitchFamily="34" charset="0"/>
                          <a:hlinkClick r:id="rId10"/>
                        </a:rPr>
                        <a:t>VA Life Insurance Benefits</a:t>
                      </a:r>
                      <a:endParaRPr lang="en-US" sz="1000" b="1">
                        <a:solidFill>
                          <a:schemeClr val="bg1"/>
                        </a:solidFill>
                        <a:latin typeface="Arial" panose="020B0604020202020204" pitchFamily="34" charset="0"/>
                        <a:cs typeface="Arial" panose="020B0604020202020204" pitchFamily="34" charset="0"/>
                      </a:endParaRPr>
                    </a:p>
                    <a:p>
                      <a:r>
                        <a:rPr lang="en-US" sz="1000" b="1">
                          <a:solidFill>
                            <a:schemeClr val="bg1"/>
                          </a:solidFill>
                          <a:latin typeface="Arial" panose="020B0604020202020204" pitchFamily="34" charset="0"/>
                          <a:cs typeface="Arial" panose="020B0604020202020204" pitchFamily="34" charset="0"/>
                        </a:rPr>
                        <a:t>(60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Arial" panose="020B0604020202020204" pitchFamily="34" charset="0"/>
                          <a:ea typeface="+mn-ea"/>
                          <a:cs typeface="Arial" panose="020B0604020202020204" pitchFamily="34" charset="0"/>
                        </a:rPr>
                        <a:t>Discusses the different types of VA life insurance benefits to help determine the best choice for Service members and their loved ones based upon interests and needs.</a:t>
                      </a:r>
                    </a:p>
                  </a:txBody>
                  <a:tcPr marL="68580" marR="68580" marT="34290" marB="34290">
                    <a:solidFill>
                      <a:schemeClr val="bg1">
                        <a:lumMod val="85000"/>
                      </a:schemeClr>
                    </a:solidFill>
                  </a:tcPr>
                </a:tc>
                <a:extLst>
                  <a:ext uri="{0D108BD9-81ED-4DB2-BD59-A6C34878D82A}">
                    <a16:rowId xmlns:a16="http://schemas.microsoft.com/office/drawing/2014/main" val="3220468753"/>
                  </a:ext>
                </a:extLst>
              </a:tr>
              <a:tr h="535847">
                <a:tc>
                  <a:txBody>
                    <a:bodyPr/>
                    <a:lstStyle/>
                    <a:p>
                      <a:r>
                        <a:rPr lang="en-US" sz="1000" b="1">
                          <a:solidFill>
                            <a:schemeClr val="bg1"/>
                          </a:solidFill>
                          <a:latin typeface="Arial" panose="020B0604020202020204" pitchFamily="34" charset="0"/>
                          <a:cs typeface="Arial" panose="020B0604020202020204" pitchFamily="34" charset="0"/>
                          <a:hlinkClick r:id="rId11"/>
                        </a:rPr>
                        <a:t>Reserve Component Dual Payments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Provides an overview on drill pay, compensation eligibility, and options for handling dual payments.</a:t>
                      </a:r>
                    </a:p>
                  </a:txBody>
                  <a:tcPr marL="68580" marR="68580" marT="34290" marB="34290">
                    <a:solidFill>
                      <a:schemeClr val="bg1">
                        <a:lumMod val="85000"/>
                      </a:schemeClr>
                    </a:solidFill>
                  </a:tcPr>
                </a:tc>
                <a:extLst>
                  <a:ext uri="{0D108BD9-81ED-4DB2-BD59-A6C34878D82A}">
                    <a16:rowId xmlns:a16="http://schemas.microsoft.com/office/drawing/2014/main" val="1510664798"/>
                  </a:ext>
                </a:extLst>
              </a:tr>
              <a:tr h="616142">
                <a:tc>
                  <a:txBody>
                    <a:bodyPr/>
                    <a:lstStyle/>
                    <a:p>
                      <a:r>
                        <a:rPr lang="en-US" sz="1000" b="1">
                          <a:solidFill>
                            <a:schemeClr val="bg1"/>
                          </a:solidFill>
                          <a:latin typeface="Arial" panose="020B0604020202020204" pitchFamily="34" charset="0"/>
                          <a:cs typeface="Arial" panose="020B0604020202020204" pitchFamily="34" charset="0"/>
                          <a:hlinkClick r:id="rId12"/>
                        </a:rPr>
                        <a:t>Survivor and Casualty Assistance Resources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latin typeface="Arial" panose="020B0604020202020204" pitchFamily="34" charset="0"/>
                          <a:ea typeface="+mn-ea"/>
                          <a:cs typeface="Arial" panose="020B0604020202020204" pitchFamily="34" charset="0"/>
                        </a:rPr>
                        <a:t>Provides an overview on VA and Department of Defense survivor benefits and eligibility, and what to do in the event of a loss.</a:t>
                      </a:r>
                    </a:p>
                  </a:txBody>
                  <a:tcPr marL="68580" marR="68580" marT="34290" marB="34290">
                    <a:solidFill>
                      <a:schemeClr val="bg1">
                        <a:lumMod val="85000"/>
                      </a:schemeClr>
                    </a:solidFill>
                  </a:tcPr>
                </a:tc>
                <a:extLst>
                  <a:ext uri="{0D108BD9-81ED-4DB2-BD59-A6C34878D82A}">
                    <a16:rowId xmlns:a16="http://schemas.microsoft.com/office/drawing/2014/main" val="3836712770"/>
                  </a:ext>
                </a:extLst>
              </a:tr>
              <a:tr h="993530">
                <a:tc>
                  <a:txBody>
                    <a:bodyPr/>
                    <a:lstStyle/>
                    <a:p>
                      <a:r>
                        <a:rPr lang="en-US" sz="1000" b="1">
                          <a:solidFill>
                            <a:schemeClr val="bg1"/>
                          </a:solidFill>
                          <a:latin typeface="Arial" panose="020B0604020202020204" pitchFamily="34" charset="0"/>
                          <a:cs typeface="Arial" panose="020B0604020202020204" pitchFamily="34" charset="0"/>
                          <a:hlinkClick r:id="rId13"/>
                        </a:rPr>
                        <a:t>Community Integration Resources</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(60 minutes)</a:t>
                      </a:r>
                    </a:p>
                  </a:txBody>
                  <a:tcPr marL="68580" marR="68580" marT="34290" marB="34290">
                    <a:solidFill>
                      <a:srgbClr val="00206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0" i="0" kern="1200">
                          <a:solidFill>
                            <a:schemeClr val="dk1"/>
                          </a:solidFill>
                          <a:effectLst/>
                          <a:latin typeface="Arial" panose="020B0604020202020204" pitchFamily="34" charset="0"/>
                          <a:ea typeface="+mn-ea"/>
                          <a:cs typeface="Arial" panose="020B0604020202020204" pitchFamily="34" charset="0"/>
                        </a:rPr>
                        <a:t>Explores state, local and federal resources that help Service members connect with their community during the transition from active duty to civilian life. Participants will also gain experience with the tools needed to locate and vet online resources.</a:t>
                      </a:r>
                      <a:endParaRPr lang="en-US" sz="1000" kern="1200">
                        <a:solidFill>
                          <a:schemeClr val="dk1"/>
                        </a:solidFill>
                        <a:effectLst/>
                        <a:latin typeface="Arial" panose="020B0604020202020204" pitchFamily="34" charset="0"/>
                        <a:ea typeface="+mn-ea"/>
                        <a:cs typeface="Arial" panose="020B0604020202020204" pitchFamily="34" charset="0"/>
                      </a:endParaRPr>
                    </a:p>
                  </a:txBody>
                  <a:tcPr marL="68580" marR="68580" marT="34290" marB="34290">
                    <a:solidFill>
                      <a:schemeClr val="bg1">
                        <a:lumMod val="85000"/>
                      </a:schemeClr>
                    </a:solidFill>
                  </a:tcPr>
                </a:tc>
                <a:extLst>
                  <a:ext uri="{0D108BD9-81ED-4DB2-BD59-A6C34878D82A}">
                    <a16:rowId xmlns:a16="http://schemas.microsoft.com/office/drawing/2014/main" val="28871827"/>
                  </a:ext>
                </a:extLst>
              </a:tr>
              <a:tr h="685458">
                <a:tc>
                  <a:txBody>
                    <a:bodyPr/>
                    <a:lstStyle/>
                    <a:p>
                      <a:r>
                        <a:rPr lang="en-US" sz="1000" b="1">
                          <a:solidFill>
                            <a:schemeClr val="bg1"/>
                          </a:solidFill>
                          <a:latin typeface="Arial" panose="020B0604020202020204" pitchFamily="34" charset="0"/>
                          <a:cs typeface="Arial" panose="020B0604020202020204" pitchFamily="34" charset="0"/>
                          <a:hlinkClick r:id="rId14"/>
                        </a:rPr>
                        <a:t>Other than Honorable</a:t>
                      </a:r>
                      <a:r>
                        <a:rPr lang="en-US" sz="1000" b="1">
                          <a:solidFill>
                            <a:schemeClr val="bg1"/>
                          </a:solidFill>
                          <a:latin typeface="Arial" panose="020B0604020202020204" pitchFamily="34" charset="0"/>
                          <a:cs typeface="Arial" panose="020B0604020202020204" pitchFamily="34" charset="0"/>
                        </a:rPr>
                        <a:t> </a:t>
                      </a:r>
                    </a:p>
                    <a:p>
                      <a:r>
                        <a:rPr lang="en-US" sz="1000" b="1">
                          <a:solidFill>
                            <a:schemeClr val="bg1"/>
                          </a:solidFill>
                          <a:latin typeface="Arial" panose="020B0604020202020204" pitchFamily="34" charset="0"/>
                          <a:cs typeface="Arial" panose="020B0604020202020204" pitchFamily="34" charset="0"/>
                        </a:rPr>
                        <a:t>(45 minutes)</a:t>
                      </a:r>
                    </a:p>
                  </a:txBody>
                  <a:tcPr marL="68580" marR="68580" marT="34290" marB="34290">
                    <a:solidFill>
                      <a:srgbClr val="00206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Arial" panose="020B0604020202020204" pitchFamily="34" charset="0"/>
                          <a:ea typeface="+mn-ea"/>
                          <a:cs typeface="Arial" panose="020B0604020202020204" pitchFamily="34" charset="0"/>
                        </a:rPr>
                        <a:t>Provides an overview of VA benefits and services available for former Service members who separated with an Other Than Honorable (OTH) character of discharge.</a:t>
                      </a:r>
                    </a:p>
                  </a:txBody>
                  <a:tcPr marL="68580" marR="68580" marT="34290" marB="34290">
                    <a:solidFill>
                      <a:schemeClr val="bg1">
                        <a:lumMod val="85000"/>
                      </a:schemeClr>
                    </a:solidFill>
                  </a:tcPr>
                </a:tc>
                <a:extLst>
                  <a:ext uri="{0D108BD9-81ED-4DB2-BD59-A6C34878D82A}">
                    <a16:rowId xmlns:a16="http://schemas.microsoft.com/office/drawing/2014/main" val="2482320773"/>
                  </a:ext>
                </a:extLst>
              </a:tr>
            </a:tbl>
          </a:graphicData>
        </a:graphic>
      </p:graphicFrame>
      <p:sp>
        <p:nvSpPr>
          <p:cNvPr id="7" name="TextBox 6">
            <a:extLst>
              <a:ext uri="{FF2B5EF4-FFF2-40B4-BE49-F238E27FC236}">
                <a16:creationId xmlns:a16="http://schemas.microsoft.com/office/drawing/2014/main" id="{76EC28C5-9FE1-F3FD-9BAD-2FCCA18F2E4C}"/>
              </a:ext>
            </a:extLst>
          </p:cNvPr>
          <p:cNvSpPr txBox="1"/>
          <p:nvPr/>
        </p:nvSpPr>
        <p:spPr>
          <a:xfrm>
            <a:off x="160874" y="720604"/>
            <a:ext cx="8822251" cy="3693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kumimoji="0" lang="en-US" b="1" i="0" u="none" strike="noStrike" kern="1200" cap="none" spc="0" normalizeH="0" baseline="30000" noProof="0" dirty="0">
                <a:ln>
                  <a:noFill/>
                </a:ln>
                <a:solidFill>
                  <a:srgbClr val="000000"/>
                </a:solidFill>
                <a:effectLst/>
                <a:uLnTx/>
                <a:uFillTx/>
                <a:latin typeface="+mj-lt"/>
                <a:cs typeface="Arial" panose="020B0604020202020204" pitchFamily="34" charset="0"/>
              </a:rPr>
              <a:t>13 </a:t>
            </a:r>
            <a:r>
              <a:rPr kumimoji="0" lang="en-US" b="1" i="0" u="none" strike="noStrike" kern="1200" cap="none" spc="0" normalizeH="0" baseline="30000" noProof="0" dirty="0">
                <a:ln>
                  <a:noFill/>
                </a:ln>
                <a:effectLst/>
                <a:uLnTx/>
                <a:uFillTx/>
                <a:latin typeface="+mj-lt"/>
                <a:cs typeface="Arial" panose="020B0604020202020204" pitchFamily="34" charset="0"/>
              </a:rPr>
              <a:t>Military Life Cycle micro-learning </a:t>
            </a:r>
            <a:r>
              <a:rPr kumimoji="0" lang="en-US" b="1" i="0" u="none" strike="noStrike" kern="1200" cap="none" spc="0" normalizeH="0" baseline="30000" noProof="0" dirty="0">
                <a:ln>
                  <a:noFill/>
                </a:ln>
                <a:solidFill>
                  <a:srgbClr val="000000"/>
                </a:solidFill>
                <a:effectLst/>
                <a:uLnTx/>
                <a:uFillTx/>
                <a:latin typeface="+mj-lt"/>
                <a:cs typeface="Arial" panose="020B0604020202020204" pitchFamily="34" charset="0"/>
              </a:rPr>
              <a:t>modules</a:t>
            </a:r>
            <a:r>
              <a:rPr kumimoji="0" lang="en-US" b="0" i="0" u="none" strike="noStrike" kern="1200" cap="none" spc="0" normalizeH="0" baseline="30000" noProof="0" dirty="0">
                <a:ln>
                  <a:noFill/>
                </a:ln>
                <a:solidFill>
                  <a:srgbClr val="000000"/>
                </a:solidFill>
                <a:effectLst/>
                <a:uLnTx/>
                <a:uFillTx/>
                <a:latin typeface="+mj-lt"/>
                <a:cs typeface="Arial" panose="020B0604020202020204" pitchFamily="34" charset="0"/>
              </a:rPr>
              <a:t> focused on the topics most important to Service members and their families and caregivers.</a:t>
            </a:r>
            <a:endParaRPr lang="en-US" dirty="0">
              <a:latin typeface="+mj-lt"/>
              <a:cs typeface="Arial" panose="020B0604020202020204" pitchFamily="34" charset="0"/>
            </a:endParaRPr>
          </a:p>
        </p:txBody>
      </p:sp>
    </p:spTree>
    <p:extLst>
      <p:ext uri="{BB962C8B-B14F-4D97-AF65-F5344CB8AC3E}">
        <p14:creationId xmlns:p14="http://schemas.microsoft.com/office/powerpoint/2010/main" val="2058444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Women’s Health Transition Training</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5559136" cy="5172163"/>
          </a:xfrm>
        </p:spPr>
        <p:txBody>
          <a:bodyPr>
            <a:normAutofit fontScale="55000" lnSpcReduction="20000"/>
          </a:bodyPr>
          <a:lstStyle/>
          <a:p>
            <a:pPr>
              <a:lnSpc>
                <a:spcPct val="90000"/>
              </a:lnSpc>
              <a:tabLst>
                <a:tab pos="182880" algn="l"/>
                <a:tab pos="365760" algn="l"/>
                <a:tab pos="548640" algn="l"/>
                <a:tab pos="731520" algn="l"/>
              </a:tabLst>
            </a:pPr>
            <a:r>
              <a:rPr lang="en-US" sz="3600" dirty="0"/>
              <a:t>Women’s Health Transition Training is a non-mandatory complement to the VA Benefits and Services course that provides information on women health care services, eligibility, and how to enroll.</a:t>
            </a:r>
          </a:p>
          <a:p>
            <a:pPr>
              <a:lnSpc>
                <a:spcPct val="90000"/>
              </a:lnSpc>
              <a:tabLst>
                <a:tab pos="182880" algn="l"/>
                <a:tab pos="365760" algn="l"/>
                <a:tab pos="548640" algn="l"/>
                <a:tab pos="731520" algn="l"/>
              </a:tabLst>
            </a:pPr>
            <a:r>
              <a:rPr lang="en-US" sz="3600" dirty="0"/>
              <a:t>Servicewomen at any point in their transition journey, as well as women Veterans can access this e-Learning course anytime, anyplace.</a:t>
            </a:r>
          </a:p>
          <a:p>
            <a:pPr>
              <a:lnSpc>
                <a:spcPct val="90000"/>
              </a:lnSpc>
              <a:tabLst>
                <a:tab pos="182880" algn="l"/>
                <a:tab pos="365760" algn="l"/>
                <a:tab pos="548640" algn="l"/>
                <a:tab pos="731520" algn="l"/>
              </a:tabLst>
            </a:pPr>
            <a:r>
              <a:rPr lang="en-US" sz="3600" dirty="0"/>
              <a:t>Women’s Health Transition Training consists of five modules with in-depth information on:</a:t>
            </a:r>
          </a:p>
          <a:p>
            <a:pPr lvl="1"/>
            <a:r>
              <a:rPr lang="en-US" sz="2900" dirty="0"/>
              <a:t>Navigating the shift from active duty</a:t>
            </a:r>
          </a:p>
          <a:p>
            <a:pPr lvl="1"/>
            <a:r>
              <a:rPr lang="en-US" sz="2900" dirty="0"/>
              <a:t>Understanding how VA is structured</a:t>
            </a:r>
          </a:p>
          <a:p>
            <a:pPr lvl="1"/>
            <a:r>
              <a:rPr lang="en-US" sz="2900" dirty="0"/>
              <a:t>Available women’s health services</a:t>
            </a:r>
          </a:p>
          <a:p>
            <a:pPr lvl="1"/>
            <a:r>
              <a:rPr lang="en-US" sz="2900" dirty="0"/>
              <a:t>Enrolling in VA health care</a:t>
            </a:r>
          </a:p>
          <a:p>
            <a:pPr lvl="1"/>
            <a:r>
              <a:rPr lang="en-US" sz="2900" dirty="0"/>
              <a:t>Transition assistance resources</a:t>
            </a:r>
          </a:p>
          <a:p>
            <a:pPr>
              <a:lnSpc>
                <a:spcPct val="90000"/>
              </a:lnSpc>
              <a:tabLst>
                <a:tab pos="182880" algn="l"/>
                <a:tab pos="365760" algn="l"/>
                <a:tab pos="548640" algn="l"/>
                <a:tab pos="731520" algn="l"/>
              </a:tabLst>
            </a:pPr>
            <a:r>
              <a:rPr lang="en-US" sz="3600" dirty="0"/>
              <a:t>Participants can pause and resume as needed, enabling them to complete the course in multiple sittings.</a:t>
            </a:r>
          </a:p>
          <a:p>
            <a:pPr>
              <a:lnSpc>
                <a:spcPct val="90000"/>
              </a:lnSpc>
              <a:tabLst>
                <a:tab pos="182880" algn="l"/>
                <a:tab pos="365760" algn="l"/>
                <a:tab pos="548640" algn="l"/>
                <a:tab pos="731520" algn="l"/>
              </a:tabLst>
            </a:pPr>
            <a:r>
              <a:rPr lang="en-US" sz="3600" dirty="0"/>
              <a:t>Course is 2.5 hours long. Each module averages 30 minutes each. </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8</a:t>
            </a:fld>
            <a:endParaRPr lang="en-US">
              <a:solidFill>
                <a:prstClr val="white"/>
              </a:solidFill>
            </a:endParaRPr>
          </a:p>
        </p:txBody>
      </p:sp>
      <p:pic>
        <p:nvPicPr>
          <p:cNvPr id="5" name="Picture 4">
            <a:extLst>
              <a:ext uri="{FF2B5EF4-FFF2-40B4-BE49-F238E27FC236}">
                <a16:creationId xmlns:a16="http://schemas.microsoft.com/office/drawing/2014/main" id="{AB3D9F26-DEC1-D5E4-754F-A53147AC25AA}"/>
              </a:ext>
            </a:extLst>
          </p:cNvPr>
          <p:cNvPicPr>
            <a:picLocks noChangeAspect="1"/>
          </p:cNvPicPr>
          <p:nvPr/>
        </p:nvPicPr>
        <p:blipFill>
          <a:blip r:embed="rId2"/>
          <a:srcRect l="28525" t="9292" r="29275"/>
          <a:stretch/>
        </p:blipFill>
        <p:spPr>
          <a:xfrm>
            <a:off x="6306878" y="1891040"/>
            <a:ext cx="2379922" cy="3055137"/>
          </a:xfrm>
          <a:prstGeom prst="rect">
            <a:avLst/>
          </a:prstGeom>
        </p:spPr>
      </p:pic>
    </p:spTree>
    <p:extLst>
      <p:ext uri="{BB962C8B-B14F-4D97-AF65-F5344CB8AC3E}">
        <p14:creationId xmlns:p14="http://schemas.microsoft.com/office/powerpoint/2010/main" val="658495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VA Benefits Advisors</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3252356" y="949504"/>
            <a:ext cx="5434444" cy="5172163"/>
          </a:xfrm>
        </p:spPr>
        <p:txBody>
          <a:bodyPr>
            <a:normAutofit fontScale="55000" lnSpcReduction="20000"/>
          </a:bodyPr>
          <a:lstStyle/>
          <a:p>
            <a:pPr marL="0" indent="0">
              <a:buNone/>
            </a:pPr>
            <a:r>
              <a:rPr lang="en-US" dirty="0"/>
              <a:t>Key Role:</a:t>
            </a:r>
          </a:p>
          <a:p>
            <a:r>
              <a:rPr lang="en-US" dirty="0"/>
              <a:t>Deliver VA Benefits and Services courses</a:t>
            </a:r>
          </a:p>
          <a:p>
            <a:r>
              <a:rPr lang="en-US" dirty="0"/>
              <a:t>Conduct one-on-one assistance sessions with Service members and their families to explain VA benefits and services and connect them with resources</a:t>
            </a:r>
          </a:p>
          <a:p>
            <a:r>
              <a:rPr lang="en-US" dirty="0"/>
              <a:t>Provide pre-separation counseling support – as needed/requested by the military service</a:t>
            </a:r>
          </a:p>
          <a:p>
            <a:r>
              <a:rPr lang="en-US" dirty="0"/>
              <a:t>Support Department of Defense-facilitated Capstone events, to help transitioning Service members meet Career Readiness Standards and make an Individual Transition Plan</a:t>
            </a:r>
          </a:p>
          <a:p>
            <a:r>
              <a:rPr lang="en-US" dirty="0"/>
              <a:t>Conduct Military Life Cycle micro-learning modules to help Service members better understand benefits, services and resources </a:t>
            </a:r>
          </a:p>
          <a:p>
            <a:r>
              <a:rPr lang="en-US" dirty="0"/>
              <a:t>Participate in installation engagements  (events at the request of installation commanders or other designees such as new arrival events, Yellow Ribbon Reintegration Program, local resource fairs, career-preparedness activities, and spouse events).</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9</a:t>
            </a:fld>
            <a:endParaRPr lang="en-US">
              <a:solidFill>
                <a:prstClr val="white"/>
              </a:solidFill>
            </a:endParaRPr>
          </a:p>
        </p:txBody>
      </p:sp>
      <p:pic>
        <p:nvPicPr>
          <p:cNvPr id="3" name="Picture 2">
            <a:extLst>
              <a:ext uri="{FF2B5EF4-FFF2-40B4-BE49-F238E27FC236}">
                <a16:creationId xmlns:a16="http://schemas.microsoft.com/office/drawing/2014/main" id="{E442DD59-D02E-B9DD-8059-36F0D1C64B2D}"/>
              </a:ext>
            </a:extLst>
          </p:cNvPr>
          <p:cNvPicPr>
            <a:picLocks noChangeAspect="1"/>
          </p:cNvPicPr>
          <p:nvPr/>
        </p:nvPicPr>
        <p:blipFill>
          <a:blip r:embed="rId2"/>
          <a:stretch>
            <a:fillRect/>
          </a:stretch>
        </p:blipFill>
        <p:spPr>
          <a:xfrm>
            <a:off x="311729" y="1498528"/>
            <a:ext cx="2643047" cy="3405982"/>
          </a:xfrm>
          <a:prstGeom prst="rect">
            <a:avLst/>
          </a:prstGeom>
        </p:spPr>
      </p:pic>
    </p:spTree>
    <p:extLst>
      <p:ext uri="{BB962C8B-B14F-4D97-AF65-F5344CB8AC3E}">
        <p14:creationId xmlns:p14="http://schemas.microsoft.com/office/powerpoint/2010/main" val="355722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VA TAP Execution</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3574473" cy="5172163"/>
          </a:xfrm>
        </p:spPr>
        <p:txBody>
          <a:bodyPr>
            <a:normAutofit fontScale="55000" lnSpcReduction="20000"/>
          </a:bodyPr>
          <a:lstStyle/>
          <a:p>
            <a:pPr>
              <a:spcAft>
                <a:spcPts val="600"/>
              </a:spcAft>
            </a:pPr>
            <a:r>
              <a:rPr lang="en-US" sz="3200" dirty="0">
                <a:latin typeface="+mj-lt"/>
                <a:cs typeface="Arial" panose="020B0604020202020204" pitchFamily="34" charset="0"/>
              </a:rPr>
              <a:t>VA currently supports </a:t>
            </a:r>
            <a:r>
              <a:rPr lang="en-US" sz="3200" b="1" dirty="0">
                <a:latin typeface="+mj-lt"/>
                <a:cs typeface="Arial" panose="020B0604020202020204" pitchFamily="34" charset="0"/>
              </a:rPr>
              <a:t>more than 300 installations worldwide </a:t>
            </a:r>
            <a:r>
              <a:rPr lang="en-US" sz="3200" dirty="0">
                <a:latin typeface="+mj-lt"/>
                <a:cs typeface="Arial" panose="020B0604020202020204" pitchFamily="34" charset="0"/>
              </a:rPr>
              <a:t>organized into nine operational regions.</a:t>
            </a:r>
          </a:p>
          <a:p>
            <a:pPr>
              <a:spcAft>
                <a:spcPts val="600"/>
              </a:spcAft>
            </a:pPr>
            <a:r>
              <a:rPr lang="en-US" sz="3200" dirty="0">
                <a:effectLst/>
                <a:latin typeface="+mj-lt"/>
                <a:ea typeface="MS Mincho" panose="02020609040205080304" pitchFamily="49" charset="-128"/>
              </a:rPr>
              <a:t>The Contractor shall implement a support concept which utilizes a regional hub-and-spoke model with regional command and control centers under the direction of VA TAP, providing command and control capabilities.</a:t>
            </a:r>
          </a:p>
          <a:p>
            <a:pPr>
              <a:spcAft>
                <a:spcPts val="600"/>
              </a:spcAft>
            </a:pPr>
            <a:r>
              <a:rPr lang="en-US" sz="3200" dirty="0">
                <a:effectLst/>
                <a:latin typeface="+mj-lt"/>
                <a:ea typeface="MS Mincho" panose="02020609040205080304" pitchFamily="49" charset="-128"/>
              </a:rPr>
              <a:t>The Contractor provides physical and permanent onsite support at installations with a high- or medium-demand and provide VA-approved support at installations with low demand. </a:t>
            </a:r>
            <a:endParaRPr lang="en-US" sz="3200" dirty="0">
              <a:highlight>
                <a:srgbClr val="FF0000"/>
              </a:highlight>
              <a:latin typeface="+mj-lt"/>
              <a:cs typeface="Arial" panose="020B0604020202020204" pitchFamily="34" charset="0"/>
            </a:endParaRP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10</a:t>
            </a:fld>
            <a:endParaRPr lang="en-US">
              <a:solidFill>
                <a:prstClr val="white"/>
              </a:solidFill>
            </a:endParaRPr>
          </a:p>
        </p:txBody>
      </p:sp>
      <p:sp>
        <p:nvSpPr>
          <p:cNvPr id="8" name="TextBox 7">
            <a:extLst>
              <a:ext uri="{FF2B5EF4-FFF2-40B4-BE49-F238E27FC236}">
                <a16:creationId xmlns:a16="http://schemas.microsoft.com/office/drawing/2014/main" id="{98446468-D926-7D56-DD09-6E576E1FBA0A}"/>
              </a:ext>
            </a:extLst>
          </p:cNvPr>
          <p:cNvSpPr txBox="1"/>
          <p:nvPr/>
        </p:nvSpPr>
        <p:spPr>
          <a:xfrm>
            <a:off x="5798096" y="5728946"/>
            <a:ext cx="32111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dirty="0">
                <a:latin typeface="Arial" panose="020B0604020202020204" pitchFamily="34" charset="0"/>
                <a:ea typeface="Calibri"/>
                <a:cs typeface="Arial" panose="020B0604020202020204" pitchFamily="34" charset="0"/>
              </a:rPr>
              <a:t>Yellow dots represent permanent (hub) sites</a:t>
            </a:r>
            <a:endParaRPr lang="en-US" sz="1200" i="1" dirty="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64B1F2EA-B89E-DEB0-677A-AC64FF68E090}"/>
              </a:ext>
            </a:extLst>
          </p:cNvPr>
          <p:cNvGrpSpPr/>
          <p:nvPr/>
        </p:nvGrpSpPr>
        <p:grpSpPr>
          <a:xfrm>
            <a:off x="3642025" y="1093648"/>
            <a:ext cx="5441979" cy="3838279"/>
            <a:chOff x="3642025" y="1093648"/>
            <a:chExt cx="5441979" cy="3838279"/>
          </a:xfrm>
        </p:grpSpPr>
        <p:grpSp>
          <p:nvGrpSpPr>
            <p:cNvPr id="9" name="Group 8">
              <a:extLst>
                <a:ext uri="{FF2B5EF4-FFF2-40B4-BE49-F238E27FC236}">
                  <a16:creationId xmlns:a16="http://schemas.microsoft.com/office/drawing/2014/main" id="{20972B83-BF72-BBBC-8B3F-523FD64440B8}"/>
                </a:ext>
              </a:extLst>
            </p:cNvPr>
            <p:cNvGrpSpPr/>
            <p:nvPr/>
          </p:nvGrpSpPr>
          <p:grpSpPr>
            <a:xfrm>
              <a:off x="4142961" y="1093648"/>
              <a:ext cx="4747455" cy="3536406"/>
              <a:chOff x="4029178" y="1445341"/>
              <a:chExt cx="4747455" cy="3664839"/>
            </a:xfrm>
          </p:grpSpPr>
          <p:pic>
            <p:nvPicPr>
              <p:cNvPr id="10" name="Picture 9" descr="Map&#10;&#10;Description automatically generated">
                <a:extLst>
                  <a:ext uri="{FF2B5EF4-FFF2-40B4-BE49-F238E27FC236}">
                    <a16:creationId xmlns:a16="http://schemas.microsoft.com/office/drawing/2014/main" id="{C21CD2F1-C428-7D58-9C57-78EE5E7B3831}"/>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029178" y="1445341"/>
                <a:ext cx="4747455" cy="2606155"/>
              </a:xfrm>
              <a:prstGeom prst="rect">
                <a:avLst/>
              </a:prstGeom>
            </p:spPr>
          </p:pic>
          <p:pic>
            <p:nvPicPr>
              <p:cNvPr id="11" name="Picture 10" descr="Map&#10;&#10;Description automatically generated">
                <a:extLst>
                  <a:ext uri="{FF2B5EF4-FFF2-40B4-BE49-F238E27FC236}">
                    <a16:creationId xmlns:a16="http://schemas.microsoft.com/office/drawing/2014/main" id="{DB99C44D-507F-CC45-8419-E1110411827A}"/>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r="3756" b="16061"/>
              <a:stretch/>
            </p:blipFill>
            <p:spPr>
              <a:xfrm>
                <a:off x="4107545" y="4062809"/>
                <a:ext cx="1576768" cy="1047371"/>
              </a:xfrm>
              <a:prstGeom prst="rect">
                <a:avLst/>
              </a:prstGeom>
            </p:spPr>
          </p:pic>
        </p:grpSp>
        <p:pic>
          <p:nvPicPr>
            <p:cNvPr id="12" name="Picture 11" descr="Map&#10;&#10;Description automatically generated">
              <a:extLst>
                <a:ext uri="{FF2B5EF4-FFF2-40B4-BE49-F238E27FC236}">
                  <a16:creationId xmlns:a16="http://schemas.microsoft.com/office/drawing/2014/main" id="{4E9A10BB-218E-442E-4FA8-45EA4E925ED2}"/>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516442" y="3884556"/>
              <a:ext cx="1647831" cy="1047371"/>
            </a:xfrm>
            <a:prstGeom prst="rect">
              <a:avLst/>
            </a:prstGeom>
          </p:spPr>
        </p:pic>
        <p:sp>
          <p:nvSpPr>
            <p:cNvPr id="13" name="Rectangle 12">
              <a:extLst>
                <a:ext uri="{FF2B5EF4-FFF2-40B4-BE49-F238E27FC236}">
                  <a16:creationId xmlns:a16="http://schemas.microsoft.com/office/drawing/2014/main" id="{50D241AC-D50D-2EC1-B62B-2EDE3A6F7C70}"/>
                </a:ext>
              </a:extLst>
            </p:cNvPr>
            <p:cNvSpPr/>
            <p:nvPr/>
          </p:nvSpPr>
          <p:spPr>
            <a:xfrm>
              <a:off x="4043191" y="3203028"/>
              <a:ext cx="190976" cy="177597"/>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3FCFC9D4-C5E2-7170-992D-0EC947ABFEF5}"/>
                </a:ext>
              </a:extLst>
            </p:cNvPr>
            <p:cNvSpPr txBox="1"/>
            <p:nvPr/>
          </p:nvSpPr>
          <p:spPr>
            <a:xfrm>
              <a:off x="3642025" y="3223460"/>
              <a:ext cx="2008784"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u="sng">
                  <a:latin typeface="Times New Roman" panose="02020603050405020304" pitchFamily="18" charset="0"/>
                  <a:ea typeface="Calibri"/>
                  <a:cs typeface="Times New Roman" panose="02020603050405020304" pitchFamily="18" charset="0"/>
                </a:rPr>
                <a:t>6</a:t>
              </a:r>
            </a:p>
            <a:p>
              <a:pPr algn="ctr"/>
              <a:r>
                <a:rPr lang="en-US" sz="1100" b="1">
                  <a:ea typeface="Calibri"/>
                  <a:cs typeface="Calibri"/>
                </a:rPr>
                <a:t>Alaska and Hawaii </a:t>
              </a:r>
            </a:p>
          </p:txBody>
        </p:sp>
        <p:sp>
          <p:nvSpPr>
            <p:cNvPr id="15" name="TextBox 14">
              <a:extLst>
                <a:ext uri="{FF2B5EF4-FFF2-40B4-BE49-F238E27FC236}">
                  <a16:creationId xmlns:a16="http://schemas.microsoft.com/office/drawing/2014/main" id="{118B9F5E-CE46-096C-7347-8FEA4FDCFDFA}"/>
                </a:ext>
              </a:extLst>
            </p:cNvPr>
            <p:cNvSpPr txBox="1"/>
            <p:nvPr/>
          </p:nvSpPr>
          <p:spPr>
            <a:xfrm>
              <a:off x="6340804" y="3682424"/>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b="1">
                  <a:latin typeface="Arial" panose="020B0604020202020204" pitchFamily="34" charset="0"/>
                  <a:ea typeface="Calibri"/>
                  <a:cs typeface="Arial" panose="020B0604020202020204" pitchFamily="34" charset="0"/>
                </a:rPr>
                <a:t>Regions 8 and 9 are Western Area</a:t>
              </a:r>
              <a:endParaRPr lang="en-US" sz="1050" b="1">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05983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Supporting VA TAP Customers – FY24*</a:t>
            </a:r>
            <a:endParaRPr lang="en-US" dirty="0"/>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11</a:t>
            </a:fld>
            <a:endParaRPr lang="en-US">
              <a:solidFill>
                <a:prstClr val="white"/>
              </a:solidFill>
            </a:endParaRPr>
          </a:p>
        </p:txBody>
      </p:sp>
      <p:sp>
        <p:nvSpPr>
          <p:cNvPr id="3" name="TextBox 2">
            <a:extLst>
              <a:ext uri="{FF2B5EF4-FFF2-40B4-BE49-F238E27FC236}">
                <a16:creationId xmlns:a16="http://schemas.microsoft.com/office/drawing/2014/main" id="{2DA7DDCE-AEA2-87F5-61CE-CE4888E05165}"/>
              </a:ext>
            </a:extLst>
          </p:cNvPr>
          <p:cNvSpPr txBox="1"/>
          <p:nvPr/>
        </p:nvSpPr>
        <p:spPr>
          <a:xfrm>
            <a:off x="1223934" y="1043593"/>
            <a:ext cx="7397405"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cs typeface="Arial" panose="020B0604020202020204" pitchFamily="34" charset="0"/>
              </a:rPr>
              <a:t>6,039 VA Benefits and Services briefings (in-person and instructor led virtual)</a:t>
            </a:r>
          </a:p>
          <a:p>
            <a:pPr marL="285750" indent="-285750">
              <a:buFont typeface="Arial" panose="020B0604020202020204" pitchFamily="34" charset="0"/>
              <a:buChar char="•"/>
            </a:pPr>
            <a:r>
              <a:rPr lang="en-US" sz="1600" dirty="0">
                <a:latin typeface="+mj-lt"/>
                <a:cs typeface="Arial" panose="020B0604020202020204" pitchFamily="34" charset="0"/>
              </a:rPr>
              <a:t>153,107 attendees</a:t>
            </a:r>
          </a:p>
        </p:txBody>
      </p:sp>
      <p:grpSp>
        <p:nvGrpSpPr>
          <p:cNvPr id="5" name="Group 4">
            <a:extLst>
              <a:ext uri="{FF2B5EF4-FFF2-40B4-BE49-F238E27FC236}">
                <a16:creationId xmlns:a16="http://schemas.microsoft.com/office/drawing/2014/main" id="{F5B0694A-C133-AE93-B167-46B82B033DD3}"/>
              </a:ext>
            </a:extLst>
          </p:cNvPr>
          <p:cNvGrpSpPr/>
          <p:nvPr/>
        </p:nvGrpSpPr>
        <p:grpSpPr>
          <a:xfrm>
            <a:off x="394234" y="1919853"/>
            <a:ext cx="731520" cy="731520"/>
            <a:chOff x="410402" y="2001664"/>
            <a:chExt cx="731520" cy="731520"/>
          </a:xfrm>
        </p:grpSpPr>
        <p:sp>
          <p:nvSpPr>
            <p:cNvPr id="7" name="Oval 6">
              <a:extLst>
                <a:ext uri="{FF2B5EF4-FFF2-40B4-BE49-F238E27FC236}">
                  <a16:creationId xmlns:a16="http://schemas.microsoft.com/office/drawing/2014/main" id="{F6AF3270-5B8D-D82B-D0F2-8C0F65967D83}"/>
                </a:ext>
              </a:extLst>
            </p:cNvPr>
            <p:cNvSpPr/>
            <p:nvPr/>
          </p:nvSpPr>
          <p:spPr>
            <a:xfrm>
              <a:off x="410402" y="2001664"/>
              <a:ext cx="731520" cy="73152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Graphic 7" descr="Boardroom outline">
              <a:extLst>
                <a:ext uri="{FF2B5EF4-FFF2-40B4-BE49-F238E27FC236}">
                  <a16:creationId xmlns:a16="http://schemas.microsoft.com/office/drawing/2014/main" id="{010652B7-0D3A-B4F0-1AC0-242821C82E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2440" y="2033702"/>
              <a:ext cx="667444" cy="667444"/>
            </a:xfrm>
            <a:prstGeom prst="rect">
              <a:avLst/>
            </a:prstGeom>
          </p:spPr>
        </p:pic>
      </p:grpSp>
      <p:sp>
        <p:nvSpPr>
          <p:cNvPr id="9" name="TextBox 8">
            <a:extLst>
              <a:ext uri="{FF2B5EF4-FFF2-40B4-BE49-F238E27FC236}">
                <a16:creationId xmlns:a16="http://schemas.microsoft.com/office/drawing/2014/main" id="{E3FC3FE5-C589-1119-0AD7-926165CAEEC1}"/>
              </a:ext>
            </a:extLst>
          </p:cNvPr>
          <p:cNvSpPr txBox="1"/>
          <p:nvPr/>
        </p:nvSpPr>
        <p:spPr>
          <a:xfrm>
            <a:off x="1223934" y="1977298"/>
            <a:ext cx="3865944"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cs typeface="Arial" panose="020B0604020202020204" pitchFamily="34" charset="0"/>
              </a:rPr>
              <a:t>54,002 one-on-one appointments</a:t>
            </a:r>
          </a:p>
          <a:p>
            <a:pPr marL="285750" indent="-285750">
              <a:buFont typeface="Arial" panose="020B0604020202020204" pitchFamily="34" charset="0"/>
              <a:buChar char="•"/>
            </a:pPr>
            <a:r>
              <a:rPr lang="en-US" sz="1600" dirty="0">
                <a:latin typeface="+mj-lt"/>
                <a:cs typeface="Arial" panose="020B0604020202020204" pitchFamily="34" charset="0"/>
              </a:rPr>
              <a:t>57,294 attendees</a:t>
            </a:r>
          </a:p>
        </p:txBody>
      </p:sp>
      <p:grpSp>
        <p:nvGrpSpPr>
          <p:cNvPr id="10" name="Group 9">
            <a:extLst>
              <a:ext uri="{FF2B5EF4-FFF2-40B4-BE49-F238E27FC236}">
                <a16:creationId xmlns:a16="http://schemas.microsoft.com/office/drawing/2014/main" id="{6ECD1ADF-FB08-B003-371E-B71F41F747FA}"/>
              </a:ext>
            </a:extLst>
          </p:cNvPr>
          <p:cNvGrpSpPr/>
          <p:nvPr/>
        </p:nvGrpSpPr>
        <p:grpSpPr>
          <a:xfrm>
            <a:off x="394234" y="3834095"/>
            <a:ext cx="731520" cy="731520"/>
            <a:chOff x="459351" y="3854136"/>
            <a:chExt cx="715027" cy="731520"/>
          </a:xfrm>
        </p:grpSpPr>
        <p:sp>
          <p:nvSpPr>
            <p:cNvPr id="11" name="Oval 10">
              <a:extLst>
                <a:ext uri="{FF2B5EF4-FFF2-40B4-BE49-F238E27FC236}">
                  <a16:creationId xmlns:a16="http://schemas.microsoft.com/office/drawing/2014/main" id="{8452BBC0-90E7-8FBF-9860-2CBD6767493A}"/>
                </a:ext>
              </a:extLst>
            </p:cNvPr>
            <p:cNvSpPr/>
            <p:nvPr/>
          </p:nvSpPr>
          <p:spPr>
            <a:xfrm>
              <a:off x="459351" y="3854136"/>
              <a:ext cx="715027" cy="73152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Theatre outline">
              <a:extLst>
                <a:ext uri="{FF2B5EF4-FFF2-40B4-BE49-F238E27FC236}">
                  <a16:creationId xmlns:a16="http://schemas.microsoft.com/office/drawing/2014/main" id="{FB760485-C458-CE22-358C-98FA9FD4F1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3611" y="3854136"/>
              <a:ext cx="667444" cy="667444"/>
            </a:xfrm>
            <a:prstGeom prst="rect">
              <a:avLst/>
            </a:prstGeom>
          </p:spPr>
        </p:pic>
      </p:grpSp>
      <p:sp>
        <p:nvSpPr>
          <p:cNvPr id="13" name="TextBox 12">
            <a:extLst>
              <a:ext uri="{FF2B5EF4-FFF2-40B4-BE49-F238E27FC236}">
                <a16:creationId xmlns:a16="http://schemas.microsoft.com/office/drawing/2014/main" id="{233A27CA-BC8D-49DA-116D-2FE1875311F8}"/>
              </a:ext>
            </a:extLst>
          </p:cNvPr>
          <p:cNvSpPr txBox="1"/>
          <p:nvPr/>
        </p:nvSpPr>
        <p:spPr>
          <a:xfrm>
            <a:off x="1223934" y="2950346"/>
            <a:ext cx="7602814"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cs typeface="Arial" panose="020B0604020202020204" pitchFamily="34" charset="0"/>
              </a:rPr>
              <a:t>1,921 installation engagements (such as Yellow Ribbon, resource fairs, etc.)</a:t>
            </a:r>
          </a:p>
          <a:p>
            <a:pPr marL="285750" indent="-285750">
              <a:buFont typeface="Arial" panose="020B0604020202020204" pitchFamily="34" charset="0"/>
              <a:buChar char="•"/>
            </a:pPr>
            <a:r>
              <a:rPr lang="en-US" sz="1600" dirty="0">
                <a:latin typeface="+mj-lt"/>
                <a:cs typeface="Arial" panose="020B0604020202020204" pitchFamily="34" charset="0"/>
              </a:rPr>
              <a:t>67,475 attendees</a:t>
            </a:r>
          </a:p>
        </p:txBody>
      </p:sp>
      <p:grpSp>
        <p:nvGrpSpPr>
          <p:cNvPr id="14" name="Group 13">
            <a:extLst>
              <a:ext uri="{FF2B5EF4-FFF2-40B4-BE49-F238E27FC236}">
                <a16:creationId xmlns:a16="http://schemas.microsoft.com/office/drawing/2014/main" id="{FF0B7CCF-9393-14DF-03DA-4B9A39F2DE5C}"/>
              </a:ext>
            </a:extLst>
          </p:cNvPr>
          <p:cNvGrpSpPr/>
          <p:nvPr/>
        </p:nvGrpSpPr>
        <p:grpSpPr>
          <a:xfrm>
            <a:off x="394234" y="4791215"/>
            <a:ext cx="731520" cy="731520"/>
            <a:chOff x="304339" y="4791215"/>
            <a:chExt cx="731520" cy="731520"/>
          </a:xfrm>
        </p:grpSpPr>
        <p:sp>
          <p:nvSpPr>
            <p:cNvPr id="15" name="Oval 14">
              <a:extLst>
                <a:ext uri="{FF2B5EF4-FFF2-40B4-BE49-F238E27FC236}">
                  <a16:creationId xmlns:a16="http://schemas.microsoft.com/office/drawing/2014/main" id="{D1B2B913-9D53-E7FB-F56A-29D16F67FA52}"/>
                </a:ext>
              </a:extLst>
            </p:cNvPr>
            <p:cNvSpPr/>
            <p:nvPr/>
          </p:nvSpPr>
          <p:spPr>
            <a:xfrm>
              <a:off x="304339" y="4791215"/>
              <a:ext cx="731520" cy="73152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Graphic 15" descr="Graduation cap outline">
              <a:extLst>
                <a:ext uri="{FF2B5EF4-FFF2-40B4-BE49-F238E27FC236}">
                  <a16:creationId xmlns:a16="http://schemas.microsoft.com/office/drawing/2014/main" id="{FECD402F-3F11-4314-D820-F0474AEB8A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36377" y="4823253"/>
              <a:ext cx="667444" cy="667444"/>
            </a:xfrm>
            <a:prstGeom prst="rect">
              <a:avLst/>
            </a:prstGeom>
          </p:spPr>
        </p:pic>
      </p:grpSp>
      <p:grpSp>
        <p:nvGrpSpPr>
          <p:cNvPr id="17" name="Group 16">
            <a:extLst>
              <a:ext uri="{FF2B5EF4-FFF2-40B4-BE49-F238E27FC236}">
                <a16:creationId xmlns:a16="http://schemas.microsoft.com/office/drawing/2014/main" id="{E82B6822-BE10-6F63-DF8E-4431F3A1AC34}"/>
              </a:ext>
            </a:extLst>
          </p:cNvPr>
          <p:cNvGrpSpPr/>
          <p:nvPr/>
        </p:nvGrpSpPr>
        <p:grpSpPr>
          <a:xfrm>
            <a:off x="394234" y="2876974"/>
            <a:ext cx="731520" cy="731520"/>
            <a:chOff x="459351" y="2906083"/>
            <a:chExt cx="715027" cy="731520"/>
          </a:xfrm>
        </p:grpSpPr>
        <p:sp>
          <p:nvSpPr>
            <p:cNvPr id="18" name="Oval 17">
              <a:extLst>
                <a:ext uri="{FF2B5EF4-FFF2-40B4-BE49-F238E27FC236}">
                  <a16:creationId xmlns:a16="http://schemas.microsoft.com/office/drawing/2014/main" id="{62A62973-9384-F941-D4F7-072A6C2E9D8A}"/>
                </a:ext>
              </a:extLst>
            </p:cNvPr>
            <p:cNvSpPr/>
            <p:nvPr/>
          </p:nvSpPr>
          <p:spPr>
            <a:xfrm>
              <a:off x="459351" y="2906083"/>
              <a:ext cx="715027" cy="73152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9" name="Graphic 18" descr="Building with solid fill">
              <a:extLst>
                <a:ext uri="{FF2B5EF4-FFF2-40B4-BE49-F238E27FC236}">
                  <a16:creationId xmlns:a16="http://schemas.microsoft.com/office/drawing/2014/main" id="{77EF52EF-115D-804F-84E1-1810AE5D32E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502730" y="2942101"/>
              <a:ext cx="493607" cy="493607"/>
            </a:xfrm>
            <a:prstGeom prst="rect">
              <a:avLst/>
            </a:prstGeom>
          </p:spPr>
        </p:pic>
        <p:pic>
          <p:nvPicPr>
            <p:cNvPr id="20" name="Graphic 19" descr="Flag with solid fill">
              <a:extLst>
                <a:ext uri="{FF2B5EF4-FFF2-40B4-BE49-F238E27FC236}">
                  <a16:creationId xmlns:a16="http://schemas.microsoft.com/office/drawing/2014/main" id="{C82883B0-0EE2-371A-0A59-FCFDD24B58CC}"/>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843288" y="3124199"/>
              <a:ext cx="306097" cy="388827"/>
            </a:xfrm>
            <a:prstGeom prst="rect">
              <a:avLst/>
            </a:prstGeom>
          </p:spPr>
        </p:pic>
      </p:grpSp>
      <p:sp>
        <p:nvSpPr>
          <p:cNvPr id="21" name="TextBox 20">
            <a:extLst>
              <a:ext uri="{FF2B5EF4-FFF2-40B4-BE49-F238E27FC236}">
                <a16:creationId xmlns:a16="http://schemas.microsoft.com/office/drawing/2014/main" id="{359C03DD-7891-4328-4065-BD5E54D70385}"/>
              </a:ext>
            </a:extLst>
          </p:cNvPr>
          <p:cNvSpPr txBox="1"/>
          <p:nvPr/>
        </p:nvSpPr>
        <p:spPr>
          <a:xfrm>
            <a:off x="1223934" y="3919858"/>
            <a:ext cx="7108522" cy="584775"/>
          </a:xfrm>
          <a:prstGeom prst="rect">
            <a:avLst/>
          </a:prstGeom>
          <a:noFill/>
        </p:spPr>
        <p:txBody>
          <a:bodyPr wrap="square" rtlCol="0">
            <a:spAutoFit/>
          </a:bodyPr>
          <a:lstStyle/>
          <a:p>
            <a:pPr marL="285750" indent="-285750">
              <a:buFont typeface="Arial" panose="020B0604020202020204" pitchFamily="34" charset="0"/>
              <a:buChar char="•"/>
            </a:pPr>
            <a:r>
              <a:rPr lang="en-US" sz="1600">
                <a:latin typeface="+mj-lt"/>
                <a:cs typeface="Arial" panose="020B0604020202020204" pitchFamily="34" charset="0"/>
              </a:rPr>
              <a:t>3,833 in-person and virtual Military Life Cycle Modules</a:t>
            </a:r>
          </a:p>
          <a:p>
            <a:pPr marL="285750" indent="-285750">
              <a:buFont typeface="Arial" panose="020B0604020202020204" pitchFamily="34" charset="0"/>
              <a:buChar char="•"/>
            </a:pPr>
            <a:r>
              <a:rPr lang="en-US" sz="1600">
                <a:latin typeface="+mj-lt"/>
                <a:cs typeface="Arial" panose="020B0604020202020204" pitchFamily="34" charset="0"/>
              </a:rPr>
              <a:t>21,282 attendees</a:t>
            </a:r>
          </a:p>
        </p:txBody>
      </p:sp>
      <p:sp>
        <p:nvSpPr>
          <p:cNvPr id="22" name="TextBox 21">
            <a:extLst>
              <a:ext uri="{FF2B5EF4-FFF2-40B4-BE49-F238E27FC236}">
                <a16:creationId xmlns:a16="http://schemas.microsoft.com/office/drawing/2014/main" id="{6C4520D5-18C3-F3F6-BEAE-5F9D6067944D}"/>
              </a:ext>
            </a:extLst>
          </p:cNvPr>
          <p:cNvSpPr txBox="1"/>
          <p:nvPr/>
        </p:nvSpPr>
        <p:spPr>
          <a:xfrm>
            <a:off x="1223934" y="4863152"/>
            <a:ext cx="5968836"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cs typeface="Arial" panose="020B0604020202020204" pitchFamily="34" charset="0"/>
              </a:rPr>
              <a:t>Supported 680 Capstone Events</a:t>
            </a:r>
          </a:p>
          <a:p>
            <a:pPr marL="285750" indent="-285750">
              <a:buFont typeface="Arial" panose="020B0604020202020204" pitchFamily="34" charset="0"/>
              <a:buChar char="•"/>
            </a:pPr>
            <a:r>
              <a:rPr lang="en-US" sz="1600" dirty="0">
                <a:latin typeface="+mj-lt"/>
                <a:cs typeface="Arial" panose="020B0604020202020204" pitchFamily="34" charset="0"/>
              </a:rPr>
              <a:t>5,561 attendees</a:t>
            </a:r>
          </a:p>
        </p:txBody>
      </p:sp>
      <p:grpSp>
        <p:nvGrpSpPr>
          <p:cNvPr id="23" name="Group 22">
            <a:extLst>
              <a:ext uri="{FF2B5EF4-FFF2-40B4-BE49-F238E27FC236}">
                <a16:creationId xmlns:a16="http://schemas.microsoft.com/office/drawing/2014/main" id="{5F39B14B-CA1A-E6E3-D6B2-BB41A07A3D56}"/>
              </a:ext>
            </a:extLst>
          </p:cNvPr>
          <p:cNvGrpSpPr/>
          <p:nvPr/>
        </p:nvGrpSpPr>
        <p:grpSpPr>
          <a:xfrm>
            <a:off x="386646" y="962732"/>
            <a:ext cx="746697" cy="731520"/>
            <a:chOff x="154779" y="962732"/>
            <a:chExt cx="746697" cy="731520"/>
          </a:xfrm>
        </p:grpSpPr>
        <p:sp>
          <p:nvSpPr>
            <p:cNvPr id="24" name="Oval 23">
              <a:extLst>
                <a:ext uri="{FF2B5EF4-FFF2-40B4-BE49-F238E27FC236}">
                  <a16:creationId xmlns:a16="http://schemas.microsoft.com/office/drawing/2014/main" id="{7C85A70D-1730-94D1-21DB-36E919870BB0}"/>
                </a:ext>
              </a:extLst>
            </p:cNvPr>
            <p:cNvSpPr/>
            <p:nvPr/>
          </p:nvSpPr>
          <p:spPr>
            <a:xfrm>
              <a:off x="169956" y="962732"/>
              <a:ext cx="731520" cy="731520"/>
            </a:xfrm>
            <a:prstGeom prst="ellipse">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5" name="Picture 24" descr="A black and white logo&#10;&#10;Description automatically generated with medium confidence">
              <a:extLst>
                <a:ext uri="{FF2B5EF4-FFF2-40B4-BE49-F238E27FC236}">
                  <a16:creationId xmlns:a16="http://schemas.microsoft.com/office/drawing/2014/main" id="{E5224449-5AFA-C4FD-F599-0DD084E707D4}"/>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73897" t="2628"/>
            <a:stretch/>
          </p:blipFill>
          <p:spPr>
            <a:xfrm>
              <a:off x="154779" y="1088385"/>
              <a:ext cx="682840" cy="532812"/>
            </a:xfrm>
            <a:prstGeom prst="rect">
              <a:avLst/>
            </a:prstGeom>
          </p:spPr>
        </p:pic>
      </p:grpSp>
      <p:sp>
        <p:nvSpPr>
          <p:cNvPr id="26" name="TextBox 25">
            <a:extLst>
              <a:ext uri="{FF2B5EF4-FFF2-40B4-BE49-F238E27FC236}">
                <a16:creationId xmlns:a16="http://schemas.microsoft.com/office/drawing/2014/main" id="{4E45E638-8D04-5B5A-9531-CD04CC305CD7}"/>
              </a:ext>
            </a:extLst>
          </p:cNvPr>
          <p:cNvSpPr txBox="1"/>
          <p:nvPr/>
        </p:nvSpPr>
        <p:spPr>
          <a:xfrm>
            <a:off x="535245" y="5688542"/>
            <a:ext cx="7994766" cy="276999"/>
          </a:xfrm>
          <a:prstGeom prst="rect">
            <a:avLst/>
          </a:prstGeom>
          <a:noFill/>
        </p:spPr>
        <p:txBody>
          <a:bodyPr wrap="square" rtlCol="0">
            <a:spAutoFit/>
          </a:bodyPr>
          <a:lstStyle/>
          <a:p>
            <a:r>
              <a:rPr lang="en-US" sz="1200" dirty="0">
                <a:cs typeface="Arial" panose="020B0604020202020204" pitchFamily="34" charset="0"/>
              </a:rPr>
              <a:t>*Source: Fiscal Year 2024 Annual Benefits Report: </a:t>
            </a:r>
            <a:r>
              <a:rPr lang="en-US" sz="1200" dirty="0">
                <a:cs typeface="Arial" panose="020B0604020202020204" pitchFamily="34" charset="0"/>
                <a:hlinkClick r:id="rId13"/>
              </a:rPr>
              <a:t>https://www.benefits.va.gov/REPORTS/abr/docs/2024-abr.pdf#</a:t>
            </a:r>
            <a:endParaRPr lang="en-US" sz="1200" dirty="0">
              <a:cs typeface="Arial" panose="020B0604020202020204" pitchFamily="34" charset="0"/>
            </a:endParaRPr>
          </a:p>
        </p:txBody>
      </p:sp>
    </p:spTree>
    <p:extLst>
      <p:ext uri="{BB962C8B-B14F-4D97-AF65-F5344CB8AC3E}">
        <p14:creationId xmlns:p14="http://schemas.microsoft.com/office/powerpoint/2010/main" val="383411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Benefits Advisors Training</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normAutofit fontScale="70000" lnSpcReduction="20000"/>
          </a:bodyPr>
          <a:lstStyle/>
          <a:p>
            <a:pPr>
              <a:spcBef>
                <a:spcPts val="0"/>
              </a:spcBef>
              <a:buFont typeface="Arial" panose="020B0604020202020204" pitchFamily="34" charset="0"/>
              <a:buChar char="•"/>
            </a:pPr>
            <a:r>
              <a:rPr lang="en-US" sz="3200" b="1" dirty="0">
                <a:latin typeface="+mj-lt"/>
                <a:cs typeface="Arial" panose="020B0604020202020204" pitchFamily="34" charset="0"/>
              </a:rPr>
              <a:t>New Hire Training </a:t>
            </a:r>
            <a:r>
              <a:rPr lang="en-US" sz="3200" dirty="0">
                <a:latin typeface="+mj-lt"/>
                <a:cs typeface="Arial" panose="020B0604020202020204" pitchFamily="34" charset="0"/>
              </a:rPr>
              <a:t>– First Step to becoming a Benefits Advisors</a:t>
            </a:r>
            <a:br>
              <a:rPr lang="en-US" sz="3200" dirty="0">
                <a:latin typeface="+mj-lt"/>
                <a:cs typeface="Arial" panose="020B0604020202020204" pitchFamily="34" charset="0"/>
              </a:rPr>
            </a:br>
            <a:endParaRPr lang="en-US" sz="3200" dirty="0">
              <a:latin typeface="+mj-lt"/>
              <a:cs typeface="Arial" panose="020B0604020202020204" pitchFamily="34" charset="0"/>
            </a:endParaRPr>
          </a:p>
          <a:p>
            <a:pPr>
              <a:spcBef>
                <a:spcPts val="0"/>
              </a:spcBef>
              <a:buFont typeface="Arial" panose="020B0604020202020204" pitchFamily="34" charset="0"/>
              <a:buChar char="•"/>
            </a:pPr>
            <a:r>
              <a:rPr lang="en-US" sz="3200" b="1" dirty="0">
                <a:latin typeface="+mj-lt"/>
                <a:cs typeface="Arial" panose="020B0604020202020204" pitchFamily="34" charset="0"/>
              </a:rPr>
              <a:t>Virtual Delivery Training </a:t>
            </a:r>
            <a:r>
              <a:rPr lang="en-US" sz="3200" dirty="0">
                <a:latin typeface="+mj-lt"/>
                <a:cs typeface="Arial" panose="020B0604020202020204" pitchFamily="34" charset="0"/>
              </a:rPr>
              <a:t>– Designed to replicate on-site VA Benefits and Services course delivery in a virtual environment</a:t>
            </a:r>
            <a:br>
              <a:rPr lang="en-US" sz="3200" dirty="0">
                <a:latin typeface="+mj-lt"/>
                <a:cs typeface="Arial" panose="020B0604020202020204" pitchFamily="34" charset="0"/>
              </a:rPr>
            </a:br>
            <a:endParaRPr lang="en-US" sz="3200" b="1" dirty="0">
              <a:latin typeface="+mj-lt"/>
              <a:cs typeface="Arial" panose="020B0604020202020204" pitchFamily="34" charset="0"/>
            </a:endParaRPr>
          </a:p>
          <a:p>
            <a:pPr>
              <a:spcBef>
                <a:spcPts val="0"/>
              </a:spcBef>
              <a:buFont typeface="Arial" panose="020B0604020202020204" pitchFamily="34" charset="0"/>
              <a:buChar char="•"/>
            </a:pPr>
            <a:r>
              <a:rPr lang="en-US" sz="3200" b="1" dirty="0">
                <a:latin typeface="+mj-lt"/>
                <a:cs typeface="Arial" panose="020B0604020202020204" pitchFamily="34" charset="0"/>
              </a:rPr>
              <a:t>Refresher Training </a:t>
            </a:r>
            <a:r>
              <a:rPr lang="en-US" sz="3200" dirty="0">
                <a:latin typeface="+mj-lt"/>
                <a:cs typeface="Arial" panose="020B0604020202020204" pitchFamily="34" charset="0"/>
              </a:rPr>
              <a:t>– Provides recall and reinforcement to previously acquired knowledge and skills</a:t>
            </a:r>
            <a:br>
              <a:rPr lang="en-US" sz="3200" dirty="0">
                <a:latin typeface="+mj-lt"/>
                <a:cs typeface="Arial" panose="020B0604020202020204" pitchFamily="34" charset="0"/>
              </a:rPr>
            </a:br>
            <a:endParaRPr lang="en-US" sz="3200" dirty="0">
              <a:latin typeface="+mj-lt"/>
              <a:cs typeface="Arial" panose="020B0604020202020204" pitchFamily="34" charset="0"/>
            </a:endParaRPr>
          </a:p>
          <a:p>
            <a:pPr>
              <a:spcBef>
                <a:spcPts val="0"/>
              </a:spcBef>
              <a:buFont typeface="Arial" panose="020B0604020202020204" pitchFamily="34" charset="0"/>
              <a:buChar char="•"/>
            </a:pPr>
            <a:r>
              <a:rPr lang="en-US" sz="3200" b="1" dirty="0">
                <a:latin typeface="+mj-lt"/>
                <a:cs typeface="Arial" panose="020B0604020202020204" pitchFamily="34" charset="0"/>
              </a:rPr>
              <a:t>Master Advisor Training – </a:t>
            </a:r>
            <a:r>
              <a:rPr lang="en-US" sz="3200" dirty="0">
                <a:latin typeface="+mj-lt"/>
                <a:cs typeface="Arial" panose="020B0604020202020204" pitchFamily="34" charset="0"/>
              </a:rPr>
              <a:t>Develops</a:t>
            </a:r>
            <a:r>
              <a:rPr lang="en-US" sz="3200" b="1" dirty="0">
                <a:latin typeface="+mj-lt"/>
                <a:cs typeface="Arial" panose="020B0604020202020204" pitchFamily="34" charset="0"/>
              </a:rPr>
              <a:t> </a:t>
            </a:r>
            <a:r>
              <a:rPr lang="en-US" sz="3200" dirty="0">
                <a:latin typeface="+mj-lt"/>
                <a:cs typeface="Arial" panose="020B0604020202020204" pitchFamily="34" charset="0"/>
              </a:rPr>
              <a:t>Master Advisors to execute the Benefits Advisor Training. They must possess facilitator or trainer certification. Must attend New Hire Training and Master Advisor Training. </a:t>
            </a:r>
            <a:br>
              <a:rPr lang="en-US" sz="3200" dirty="0">
                <a:latin typeface="+mj-lt"/>
                <a:cs typeface="Arial" panose="020B0604020202020204" pitchFamily="34" charset="0"/>
              </a:rPr>
            </a:br>
            <a:endParaRPr lang="en-US" sz="3200" dirty="0">
              <a:latin typeface="+mj-lt"/>
              <a:cs typeface="Arial" panose="020B0604020202020204" pitchFamily="34" charset="0"/>
            </a:endParaRPr>
          </a:p>
          <a:p>
            <a:pPr>
              <a:spcBef>
                <a:spcPts val="0"/>
              </a:spcBef>
              <a:buFont typeface="Arial" panose="020B0604020202020204" pitchFamily="34" charset="0"/>
              <a:buChar char="•"/>
            </a:pPr>
            <a:r>
              <a:rPr lang="en-US" sz="3200" b="1" dirty="0">
                <a:latin typeface="+mj-lt"/>
                <a:cs typeface="Arial" panose="020B0604020202020204" pitchFamily="34" charset="0"/>
              </a:rPr>
              <a:t>Other government-provided trainings – </a:t>
            </a:r>
            <a:r>
              <a:rPr lang="en-US" sz="3200" dirty="0">
                <a:latin typeface="+mj-lt"/>
                <a:cs typeface="Arial" panose="020B0604020202020204" pitchFamily="34" charset="0"/>
              </a:rPr>
              <a:t>Government provides other trainings, as mandated by policy/legislation. </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12</a:t>
            </a:fld>
            <a:endParaRPr lang="en-US">
              <a:solidFill>
                <a:prstClr val="white"/>
              </a:solidFill>
            </a:endParaRPr>
          </a:p>
        </p:txBody>
      </p:sp>
    </p:spTree>
    <p:extLst>
      <p:ext uri="{BB962C8B-B14F-4D97-AF65-F5344CB8AC3E}">
        <p14:creationId xmlns:p14="http://schemas.microsoft.com/office/powerpoint/2010/main" val="234158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Curriculum Development</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normAutofit fontScale="92500"/>
          </a:bodyPr>
          <a:lstStyle/>
          <a:p>
            <a:r>
              <a:rPr lang="en-US" dirty="0"/>
              <a:t>Contractor will support the Curriculum Design, Development, Revision and Support Package as defined in the PWS for the following:</a:t>
            </a:r>
          </a:p>
          <a:p>
            <a:pPr marL="742950" lvl="2" indent="-342900"/>
            <a:r>
              <a:rPr lang="en-US" sz="2800" dirty="0"/>
              <a:t>VA Benefits and Services Curriculum</a:t>
            </a:r>
          </a:p>
          <a:p>
            <a:pPr marL="742950" lvl="2" indent="-342900"/>
            <a:r>
              <a:rPr lang="en-US" sz="2800" dirty="0"/>
              <a:t>Women's Health Transition Training Curriculum</a:t>
            </a:r>
          </a:p>
          <a:p>
            <a:pPr marL="742950" lvl="2" indent="-342900"/>
            <a:r>
              <a:rPr lang="en-US" sz="2800" dirty="0"/>
              <a:t>Military Life Cycle Curriculum</a:t>
            </a:r>
          </a:p>
          <a:p>
            <a:pPr marL="742950" lvl="2" indent="-342900"/>
            <a:r>
              <a:rPr lang="en-US" sz="2800" dirty="0"/>
              <a:t>New Hire Training Curriculum Development</a:t>
            </a:r>
          </a:p>
          <a:p>
            <a:pPr marL="742950" lvl="2" indent="-342900"/>
            <a:r>
              <a:rPr lang="en-US" sz="2800" dirty="0"/>
              <a:t>Benefits Advisor Refresher Training and Virtual Delivery Curriculum Development</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13</a:t>
            </a:fld>
            <a:endParaRPr lang="en-US">
              <a:solidFill>
                <a:prstClr val="white"/>
              </a:solidFill>
            </a:endParaRPr>
          </a:p>
        </p:txBody>
      </p:sp>
    </p:spTree>
    <p:extLst>
      <p:ext uri="{BB962C8B-B14F-4D97-AF65-F5344CB8AC3E}">
        <p14:creationId xmlns:p14="http://schemas.microsoft.com/office/powerpoint/2010/main" val="1316492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CF7B-ABB2-7C64-C394-373B5338224C}"/>
              </a:ext>
            </a:extLst>
          </p:cNvPr>
          <p:cNvSpPr>
            <a:spLocks noGrp="1"/>
          </p:cNvSpPr>
          <p:nvPr>
            <p:ph type="title" idx="4294967295"/>
          </p:nvPr>
        </p:nvSpPr>
        <p:spPr>
          <a:xfrm>
            <a:off x="457200" y="0"/>
            <a:ext cx="8229600" cy="731520"/>
          </a:xfrm>
        </p:spPr>
        <p:txBody>
          <a:bodyPr>
            <a:normAutofit fontScale="90000"/>
          </a:bodyPr>
          <a:lstStyle/>
          <a:p>
            <a:r>
              <a:rPr lang="en-US" dirty="0">
                <a:solidFill>
                  <a:schemeClr val="bg1"/>
                </a:solidFill>
              </a:rPr>
              <a:t>Questions and Answers</a:t>
            </a:r>
            <a:endParaRPr lang="en-US" dirty="0"/>
          </a:p>
        </p:txBody>
      </p:sp>
      <p:sp>
        <p:nvSpPr>
          <p:cNvPr id="4" name="Content Placeholder 3">
            <a:extLst>
              <a:ext uri="{FF2B5EF4-FFF2-40B4-BE49-F238E27FC236}">
                <a16:creationId xmlns:a16="http://schemas.microsoft.com/office/drawing/2014/main" id="{36393F2C-1240-4279-BF1B-286CEC703914}"/>
              </a:ext>
            </a:extLst>
          </p:cNvPr>
          <p:cNvSpPr>
            <a:spLocks noGrp="1"/>
          </p:cNvSpPr>
          <p:nvPr>
            <p:ph idx="1"/>
          </p:nvPr>
        </p:nvSpPr>
        <p:spPr>
          <a:xfrm>
            <a:off x="457200" y="949504"/>
            <a:ext cx="8229600" cy="4525963"/>
          </a:xfrm>
        </p:spPr>
        <p:txBody>
          <a:bodyPr/>
          <a:lstStyle/>
          <a:p>
            <a:r>
              <a:rPr lang="en-US" dirty="0"/>
              <a:t>See attachment provided</a:t>
            </a:r>
          </a:p>
        </p:txBody>
      </p:sp>
      <p:sp>
        <p:nvSpPr>
          <p:cNvPr id="2" name="Slide Number Placeholder 1" descr="Bright blue banner with the Choose VA logo and the US Department of Veterans Affairs logo running along the bottom of the slide which also includes the page number">
            <a:extLst>
              <a:ext uri="{FF2B5EF4-FFF2-40B4-BE49-F238E27FC236}">
                <a16:creationId xmlns:a16="http://schemas.microsoft.com/office/drawing/2014/main" id="{19483811-CE1A-44EF-9A37-46D614CA35E0}"/>
              </a:ext>
            </a:extLst>
          </p:cNvPr>
          <p:cNvSpPr>
            <a:spLocks noGrp="1"/>
          </p:cNvSpPr>
          <p:nvPr>
            <p:ph type="sldNum" sz="quarter" idx="10"/>
          </p:nvPr>
        </p:nvSpPr>
        <p:spPr>
          <a:xfrm>
            <a:off x="8877300" y="6121667"/>
            <a:ext cx="266700" cy="731520"/>
          </a:xfrm>
        </p:spPr>
        <p:txBody>
          <a:bodyPr/>
          <a:lstStyle/>
          <a:p>
            <a:pPr defTabSz="457200"/>
            <a:fld id="{D983F1FA-211D-3044-9E35-958DFBC26156}" type="slidenum">
              <a:rPr lang="en-US" smtClean="0">
                <a:solidFill>
                  <a:prstClr val="white"/>
                </a:solidFill>
              </a:rPr>
              <a:pPr defTabSz="457200"/>
              <a:t>14</a:t>
            </a:fld>
            <a:endParaRPr lang="en-US">
              <a:solidFill>
                <a:prstClr val="white"/>
              </a:solidFill>
            </a:endParaRPr>
          </a:p>
        </p:txBody>
      </p:sp>
    </p:spTree>
    <p:extLst>
      <p:ext uri="{BB962C8B-B14F-4D97-AF65-F5344CB8AC3E}">
        <p14:creationId xmlns:p14="http://schemas.microsoft.com/office/powerpoint/2010/main" val="13365778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0004&quot;&gt;&lt;property id=&quot;20148&quot; value=&quot;5&quot;/&gt;&lt;property id=&quot;20300&quot; value=&quot;Slide 1&quot;/&gt;&lt;property id=&quot;20307&quot; value=&quot;257&quot;/&gt;&lt;/object&gt;&lt;/object&gt;&lt;object type=&quot;8&quot; unique_id=&quot;10038&quot;&gt;&lt;/object&gt;&lt;/object&gt;&lt;/database&gt;"/>
  <p:tag name="SECTOMILLISECCONVERTED" val="1"/>
</p:tagLst>
</file>

<file path=ppt/theme/theme1.xml><?xml version="1.0" encoding="utf-8"?>
<a:theme xmlns:a="http://schemas.openxmlformats.org/drawingml/2006/main" name="10_Office Theme">
  <a:themeElements>
    <a:clrScheme name="Custom 1">
      <a:dk1>
        <a:srgbClr val="000000"/>
      </a:dk1>
      <a:lt1>
        <a:sysClr val="window" lastClr="FFFFFF"/>
      </a:lt1>
      <a:dk2>
        <a:srgbClr val="003F72"/>
      </a:dk2>
      <a:lt2>
        <a:srgbClr val="EEECE1"/>
      </a:lt2>
      <a:accent1>
        <a:srgbClr val="FFFFFF"/>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WikiEditForm</Display>
  <Edit>WikiEditForm</Edit>
  <New>WikiEditForm</New>
</FormTemplates>
</file>

<file path=customXml/item2.xml><?xml version="1.0" encoding="utf-8"?>
<p:properties xmlns:p="http://schemas.microsoft.com/office/2006/metadata/properties" xmlns:xsi="http://www.w3.org/2001/XMLSchema-instance" xmlns:pc="http://schemas.microsoft.com/office/infopath/2007/PartnerControls">
  <documentManagement>
    <WikiField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Wiki Page" ma:contentTypeID="0x01010800BE34BDCC4AA68F43AD60CB06E5D69106" ma:contentTypeVersion="0" ma:contentTypeDescription="Create a new wiki page." ma:contentTypeScope="" ma:versionID="cf9f2b1ae3d753bf4868841d77fc063f">
  <xsd:schema xmlns:xsd="http://www.w3.org/2001/XMLSchema" xmlns:xs="http://www.w3.org/2001/XMLSchema" xmlns:p="http://schemas.microsoft.com/office/2006/metadata/properties" xmlns:ns1="http://schemas.microsoft.com/sharepoint/v3" targetNamespace="http://schemas.microsoft.com/office/2006/metadata/properties" ma:root="true" ma:fieldsID="09f003db0dd5f41166429b883948d673" ns1:_="">
    <xsd:import namespace="http://schemas.microsoft.com/sharepoint/v3"/>
    <xsd:element name="properties">
      <xsd:complexType>
        <xsd:sequence>
          <xsd:element name="documentManagement">
            <xsd:complexType>
              <xsd:all>
                <xsd:element ref="ns1:Wiki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WikiField" ma:index="7" nillable="true" ma:displayName="Wiki Content" ma:internalName="WikiField">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1CEFF0-6D89-42E7-B0A9-4352C3A40010}">
  <ds:schemaRefs>
    <ds:schemaRef ds:uri="http://schemas.microsoft.com/sharepoint/v3/contenttype/forms"/>
  </ds:schemaRefs>
</ds:datastoreItem>
</file>

<file path=customXml/itemProps2.xml><?xml version="1.0" encoding="utf-8"?>
<ds:datastoreItem xmlns:ds="http://schemas.openxmlformats.org/officeDocument/2006/customXml" ds:itemID="{C993FA49-FC48-493C-94A2-B5BE0B839CF0}">
  <ds:schemaRefs>
    <ds:schemaRef ds:uri="http://schemas.microsoft.com/office/2006/metadata/properties"/>
    <ds:schemaRef ds:uri="http://schemas.microsoft.com/sharepoint/v3"/>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 ds:uri="http://purl.org/dc/terms/"/>
  </ds:schemaRefs>
</ds:datastoreItem>
</file>

<file path=customXml/itemProps3.xml><?xml version="1.0" encoding="utf-8"?>
<ds:datastoreItem xmlns:ds="http://schemas.openxmlformats.org/officeDocument/2006/customXml" ds:itemID="{3E305874-2372-4324-B8A3-A786D1A92AD6}">
  <ds:schemaRefs>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2282</TotalTime>
  <Words>1542</Words>
  <Application>Microsoft Office PowerPoint</Application>
  <PresentationFormat>On-screen Show (4:3)</PresentationFormat>
  <Paragraphs>158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Myriad Pro</vt:lpstr>
      <vt:lpstr>Roboto</vt:lpstr>
      <vt:lpstr>Times New Roman</vt:lpstr>
      <vt:lpstr>10_Office Theme</vt:lpstr>
      <vt:lpstr>U.S. Department of Veterans Affairs</vt:lpstr>
      <vt:lpstr>Agenda </vt:lpstr>
      <vt:lpstr>Overview </vt:lpstr>
      <vt:lpstr>Scope of Work</vt:lpstr>
      <vt:lpstr>VA Benefits and Services Briefing</vt:lpstr>
      <vt:lpstr>Curriculum Delivery Modalities</vt:lpstr>
      <vt:lpstr>Military Life Cycle Modules</vt:lpstr>
      <vt:lpstr>Women’s Health Transition Training</vt:lpstr>
      <vt:lpstr>VA Benefits Advisors</vt:lpstr>
      <vt:lpstr>VA TAP Execution</vt:lpstr>
      <vt:lpstr>Supporting VA TAP Customers – FY24*</vt:lpstr>
      <vt:lpstr>Benefits Advisors Training</vt:lpstr>
      <vt:lpstr>Curriculum Development</vt:lpstr>
      <vt:lpstr>Questions and Answers</vt:lpstr>
    </vt:vector>
  </TitlesOfParts>
  <Company>Department of Veteran Affairs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External VA Template</dc:title>
  <dc:creator>Department of Veterans Affairs</dc:creator>
  <cp:lastModifiedBy>Zais, Christina C., VBAVACO</cp:lastModifiedBy>
  <cp:revision>290</cp:revision>
  <cp:lastPrinted>2018-01-09T18:11:21Z</cp:lastPrinted>
  <dcterms:created xsi:type="dcterms:W3CDTF">2017-12-21T16:13:31Z</dcterms:created>
  <dcterms:modified xsi:type="dcterms:W3CDTF">2025-04-11T20:25:52Z</dcterms:modified>
  <cp:category>Power Point Slide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0x01010800BE34BDCC4AA68F43AD60CB06E5D69106</vt:lpwstr>
  </property>
  <property fmtid="{D5CDD505-2E9C-101B-9397-08002B2CF9AE}" pid="3" name="_ReviewCycleID">
    <vt:i4>323709581</vt:i4>
  </property>
  <property fmtid="{D5CDD505-2E9C-101B-9397-08002B2CF9AE}" pid="4" name="_NewReviewCycle">
    <vt:lpwstr/>
  </property>
</Properties>
</file>