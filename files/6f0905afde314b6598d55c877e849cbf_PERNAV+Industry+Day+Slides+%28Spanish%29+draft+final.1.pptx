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5.xml" ContentType="application/vnd.openxmlformats-officedocument.theme+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6.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Lst>
  <p:notesMasterIdLst>
    <p:notesMasterId r:id="rId48"/>
  </p:notesMasterIdLst>
  <p:handoutMasterIdLst>
    <p:handoutMasterId r:id="rId49"/>
  </p:handoutMasterIdLst>
  <p:sldIdLst>
    <p:sldId id="274" r:id="rId11"/>
    <p:sldId id="287" r:id="rId12"/>
    <p:sldId id="6598" r:id="rId13"/>
    <p:sldId id="5507" r:id="rId14"/>
    <p:sldId id="317" r:id="rId15"/>
    <p:sldId id="258" r:id="rId16"/>
    <p:sldId id="292" r:id="rId17"/>
    <p:sldId id="293" r:id="rId18"/>
    <p:sldId id="294" r:id="rId19"/>
    <p:sldId id="295" r:id="rId20"/>
    <p:sldId id="296" r:id="rId21"/>
    <p:sldId id="297" r:id="rId22"/>
    <p:sldId id="278" r:id="rId23"/>
    <p:sldId id="5003" r:id="rId24"/>
    <p:sldId id="6616" r:id="rId25"/>
    <p:sldId id="6600" r:id="rId26"/>
    <p:sldId id="6618" r:id="rId27"/>
    <p:sldId id="6601" r:id="rId28"/>
    <p:sldId id="5004" r:id="rId29"/>
    <p:sldId id="6603" r:id="rId30"/>
    <p:sldId id="6606" r:id="rId31"/>
    <p:sldId id="5005" r:id="rId32"/>
    <p:sldId id="5006" r:id="rId33"/>
    <p:sldId id="5007" r:id="rId34"/>
    <p:sldId id="6602" r:id="rId35"/>
    <p:sldId id="6604" r:id="rId36"/>
    <p:sldId id="6605" r:id="rId37"/>
    <p:sldId id="6617" r:id="rId38"/>
    <p:sldId id="6607" r:id="rId39"/>
    <p:sldId id="6608" r:id="rId40"/>
    <p:sldId id="6609" r:id="rId41"/>
    <p:sldId id="6610" r:id="rId42"/>
    <p:sldId id="6611" r:id="rId43"/>
    <p:sldId id="6612" r:id="rId44"/>
    <p:sldId id="6613" r:id="rId45"/>
    <p:sldId id="6614" r:id="rId46"/>
    <p:sldId id="6615" r:id="rId47"/>
  </p:sldIdLst>
  <p:sldSz cx="12192000" cy="6858000"/>
  <p:notesSz cx="7023100" cy="9309100"/>
  <p:defaultTextStyle>
    <a:defPPr>
      <a:defRPr lang="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FFFFF"/>
    <a:srgbClr val="E4E4E4"/>
    <a:srgbClr val="4D4D4D"/>
    <a:srgbClr val="DEDEDE"/>
    <a:srgbClr val="A29A92"/>
    <a:srgbClr val="00863D"/>
    <a:srgbClr val="00B050"/>
    <a:srgbClr val="C8C8C8"/>
    <a:srgbClr val="FF66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27" autoAdjust="0"/>
    <p:restoredTop sz="96357" autoAdjust="0"/>
  </p:normalViewPr>
  <p:slideViewPr>
    <p:cSldViewPr snapToGrid="0">
      <p:cViewPr>
        <p:scale>
          <a:sx n="63" d="100"/>
          <a:sy n="63" d="100"/>
        </p:scale>
        <p:origin x="716" y="52"/>
      </p:cViewPr>
      <p:guideLst/>
    </p:cSldViewPr>
  </p:slideViewPr>
  <p:notesTextViewPr>
    <p:cViewPr>
      <p:scale>
        <a:sx n="1" d="1"/>
        <a:sy n="1" d="1"/>
      </p:scale>
      <p:origin x="0" y="0"/>
    </p:cViewPr>
  </p:notesTextViewPr>
  <p:sorterViewPr>
    <p:cViewPr>
      <p:scale>
        <a:sx n="100" d="100"/>
        <a:sy n="100" d="100"/>
      </p:scale>
      <p:origin x="0" y="-5486"/>
    </p:cViewPr>
  </p:sorter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7072"/>
          </a:xfrm>
          <a:prstGeom prst="rect">
            <a:avLst/>
          </a:prstGeom>
        </p:spPr>
        <p:txBody>
          <a:bodyPr vert="horz" lIns="93324" tIns="46662" rIns="93324" bIns="46662" rtlCol="0"/>
          <a:lstStyle>
            <a:lvl1pPr algn="r">
              <a:defRPr sz="1200"/>
            </a:lvl1pPr>
          </a:lstStyle>
          <a:p>
            <a:fld id="{52CF3383-DF08-4C90-8557-22EF3027DD43}" type="datetimeFigureOut">
              <a:rPr lang="en-US" smtClean="0"/>
              <a:t>5/7/2025</a:t>
            </a:fld>
            <a:endParaRPr lang="en-US"/>
          </a:p>
        </p:txBody>
      </p:sp>
      <p:sp>
        <p:nvSpPr>
          <p:cNvPr id="4" name="Footer Placeholder 3"/>
          <p:cNvSpPr>
            <a:spLocks noGrp="1"/>
          </p:cNvSpPr>
          <p:nvPr>
            <p:ph type="ftr" sz="quarter" idx="2"/>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D7D16557-6E8E-4D95-8DF3-2DE1590C714A}" type="datetimeFigureOut">
              <a:rPr lang="en-US" smtClean="0"/>
              <a:t>5/7/2025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8" name="Picture 7" descr="A picture containing text&#10;&#10;Description automatically generated">
            <a:extLst>
              <a:ext uri="{FF2B5EF4-FFF2-40B4-BE49-F238E27FC236}">
                <a16:creationId xmlns:a16="http://schemas.microsoft.com/office/drawing/2014/main" id="{B52CA88B-F278-0804-2C75-F7C55AD34C3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6B1FB983-3737-2701-4DD9-F43022ED32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6EE69868-1FE0-B964-A206-4C0F333A924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1A9501D2-C168-7B8F-999B-292E269DCFD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966BA7AC-8849-CFEA-0A9E-66C398EFBF4A}"/>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3F3F69EF-5214-81F2-8D96-C7C7CCCAF1C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9E3B760C-551A-157C-0BB7-A15B9685CFF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790D0847-2248-4AB0-056B-DB19479B2F6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09F906BB-5B6D-167B-CEB2-555B2A6F33C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E493B1B0-DF6E-0428-EB43-55E52C2E199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ACE7BC05-CBC4-01BC-3051-4157C01B9CD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9FCFC2E2-33B3-8BAE-3588-CDEDB2A6880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DF4B9351-9AD5-4E21-ABCA-0B975FFF963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023FA402-301C-C967-3EA0-510A37AA7A3B}"/>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8E83443D-1AD1-C3E3-BC61-B4B390735178}"/>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3671130F-2E3C-F17C-8392-BF344960A8B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E50A0CC3-0883-A5EF-98C4-FBFF86B812D3}"/>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1104329D-841F-322F-B4FD-50C3753B429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BC588FE8-0901-4037-1E8D-D0F5B2B5416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A5BABB77-B12F-CBB8-747F-18ED075A64D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DD2DD55B-BFD5-4CD1-262D-A97B8E2CBDF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6" name="Picture 5" descr="A picture containing text&#10;&#10;Description automatically generated">
            <a:extLst>
              <a:ext uri="{FF2B5EF4-FFF2-40B4-BE49-F238E27FC236}">
                <a16:creationId xmlns:a16="http://schemas.microsoft.com/office/drawing/2014/main" id="{D5313449-BD74-1284-FB9A-6F672926DD0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587A808D-60A0-8D4E-3813-06475C2FCB0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D0237BC8-B60F-FCD2-5F43-0C404EADE0E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93436"/>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100" b="1" i="0">
                <a:solidFill>
                  <a:srgbClr val="FFC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821555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9409BB-CD30-4097-927B-06021F7328B4}"/>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EC759E00-A94A-4859-8180-D8F2F137281B}"/>
              </a:ext>
            </a:extLst>
          </p:cNvPr>
          <p:cNvSpPr>
            <a:spLocks noGrp="1"/>
          </p:cNvSpPr>
          <p:nvPr>
            <p:ph type="dt" sz="half" idx="10"/>
          </p:nvPr>
        </p:nvSpPr>
        <p:spPr/>
        <p:txBody>
          <a:bodyPr/>
          <a:lstStyle/>
          <a:p>
            <a:fld id="{86BFDF87-924C-4D65-8D86-11EFE18CF7BD}" type="datetime4">
              <a:rPr lang="es-PE" smtClean="0"/>
              <a:t>7 de Mayo de 2025</a:t>
            </a:fld>
            <a:endParaRPr lang="es-PE"/>
          </a:p>
        </p:txBody>
      </p:sp>
      <p:sp>
        <p:nvSpPr>
          <p:cNvPr id="4" name="Marcador de pie de página 3">
            <a:extLst>
              <a:ext uri="{FF2B5EF4-FFF2-40B4-BE49-F238E27FC236}">
                <a16:creationId xmlns:a16="http://schemas.microsoft.com/office/drawing/2014/main" id="{87496A1D-8111-4095-B1FD-B92097248E29}"/>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92358D79-C35C-4D0F-AC73-9326B957839D}"/>
              </a:ext>
            </a:extLst>
          </p:cNvPr>
          <p:cNvSpPr>
            <a:spLocks noGrp="1"/>
          </p:cNvSpPr>
          <p:nvPr>
            <p:ph type="sldNum" sz="quarter" idx="12"/>
          </p:nvPr>
        </p:nvSpPr>
        <p:spPr/>
        <p:txBody>
          <a:bodyPr/>
          <a:lstStyle/>
          <a:p>
            <a:fld id="{427E9C28-01D8-4E57-8F18-8E9AF72529E1}" type="slidenum">
              <a:rPr lang="es-PE" smtClean="0"/>
              <a:t>‹#›</a:t>
            </a:fld>
            <a:endParaRPr lang="es-PE"/>
          </a:p>
        </p:txBody>
      </p:sp>
    </p:spTree>
    <p:extLst>
      <p:ext uri="{BB962C8B-B14F-4D97-AF65-F5344CB8AC3E}">
        <p14:creationId xmlns:p14="http://schemas.microsoft.com/office/powerpoint/2010/main" val="674721543"/>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03EF026-3C6D-DD4C-DB9B-1BB5E88785B6}"/>
              </a:ext>
            </a:extLst>
          </p:cNvPr>
          <p:cNvSpPr>
            <a:spLocks noGrp="1"/>
          </p:cNvSpPr>
          <p:nvPr>
            <p:ph type="dt" sz="half" idx="10"/>
          </p:nvPr>
        </p:nvSpPr>
        <p:spPr/>
        <p:txBody>
          <a:bodyPr/>
          <a:lstStyle/>
          <a:p>
            <a:fld id="{18CCFD4E-418E-49AD-87B6-E24AF27BC59B}" type="datetimeFigureOut">
              <a:rPr lang="es-PE" smtClean="0"/>
              <a:t>7/05/2025</a:t>
            </a:fld>
            <a:endParaRPr lang="es-PE"/>
          </a:p>
        </p:txBody>
      </p:sp>
      <p:sp>
        <p:nvSpPr>
          <p:cNvPr id="3" name="Marcador de pie de página 2">
            <a:extLst>
              <a:ext uri="{FF2B5EF4-FFF2-40B4-BE49-F238E27FC236}">
                <a16:creationId xmlns:a16="http://schemas.microsoft.com/office/drawing/2014/main" id="{C912EC08-F6BF-EA1E-F087-4157879AAA08}"/>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BA2E45BC-8C93-BA57-89E2-A3CCB90F314A}"/>
              </a:ext>
            </a:extLst>
          </p:cNvPr>
          <p:cNvSpPr>
            <a:spLocks noGrp="1"/>
          </p:cNvSpPr>
          <p:nvPr>
            <p:ph type="sldNum" sz="quarter" idx="12"/>
          </p:nvPr>
        </p:nvSpPr>
        <p:spPr/>
        <p:txBody>
          <a:bodyPr/>
          <a:lstStyle/>
          <a:p>
            <a:fld id="{52DC90DD-239A-458D-B662-12A2B7A265CE}" type="slidenum">
              <a:rPr lang="es-PE" smtClean="0"/>
              <a:t>‹#›</a:t>
            </a:fld>
            <a:endParaRPr lang="es-PE"/>
          </a:p>
        </p:txBody>
      </p:sp>
    </p:spTree>
    <p:extLst>
      <p:ext uri="{BB962C8B-B14F-4D97-AF65-F5344CB8AC3E}">
        <p14:creationId xmlns:p14="http://schemas.microsoft.com/office/powerpoint/2010/main" val="13193998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8" name="Picture 7" descr="A picture containing text&#10;&#10;Description automatically generated">
            <a:extLst>
              <a:ext uri="{FF2B5EF4-FFF2-40B4-BE49-F238E27FC236}">
                <a16:creationId xmlns:a16="http://schemas.microsoft.com/office/drawing/2014/main" id="{0A528D2D-4A4D-F97A-D677-AC453EC5439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18358085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8" name="Picture 7" descr="A picture containing text&#10;&#10;Description automatically generated">
            <a:extLst>
              <a:ext uri="{FF2B5EF4-FFF2-40B4-BE49-F238E27FC236}">
                <a16:creationId xmlns:a16="http://schemas.microsoft.com/office/drawing/2014/main" id="{3A457AD4-2095-3867-221D-70BE6368CA9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89772597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9" name="Picture 8" descr="A picture containing text&#10;&#10;Description automatically generated">
            <a:extLst>
              <a:ext uri="{FF2B5EF4-FFF2-40B4-BE49-F238E27FC236}">
                <a16:creationId xmlns:a16="http://schemas.microsoft.com/office/drawing/2014/main" id="{BEFDFFDD-B6A4-7C36-236F-C8DBE76015C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14510271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66CEE0C2-A2EC-37F8-0FA2-8F6DEE6E6BC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75087945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23F52549-A7A2-E579-5C4F-ADDE0FF257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0644205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38909C0C-2362-ABC6-14C8-F645259347F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104130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B41DD984-307D-6B65-2EC3-F89F5D49C29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0FF3DB10-B452-8842-9F2D-874A9A01C93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17509264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AE0F3131-90A2-FA14-46C5-A3E0AE1D26B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4B9358F3-C91B-BAA8-A416-1790F475F52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15E5515B-7B2D-64A4-F895-5FD24D26EFD9}"/>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C31B2169-6EB9-0A49-F5E2-D1F27F255023}"/>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F4E34A3B-9CCF-08F7-6C86-A697F8C5C6E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A4F571CD-A66A-DAB7-F02C-FE01298A142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E6C9BA8D-46F9-F05A-42C6-7CBE7CDA20C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5072710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327AC6EC-2F2B-A3E4-430A-803829E5509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C8D93FF2-5777-4C38-8099-77E0E8AF0CE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1C9058F6-5220-6556-559F-C21E1D90B5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6D73CDD9-EDBA-C0D2-35EF-FE0BA5A3220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818652AA-FE2A-0539-B355-5FE7E3A248B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6D974C97-2663-9CEF-62F3-79D2C7EF4D6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34" Type="http://schemas.openxmlformats.org/officeDocument/2006/relationships/image" Target="../media/image5.png"/><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image" Target="../media/image2.png"/><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slideLayout" Target="../slideLayouts/slideLayout8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image" Target="../media/image1.png"/><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theme" Target="../theme/theme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theme" Target="../theme/theme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image" Target="../media/image5.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 Type="http://schemas.openxmlformats.org/officeDocument/2006/relationships/slideLayout" Target="../slideLayouts/slideLayout115.xml"/><Relationship Id="rId21" Type="http://schemas.openxmlformats.org/officeDocument/2006/relationships/slideLayout" Target="../slideLayouts/slideLayout133.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0" Type="http://schemas.openxmlformats.org/officeDocument/2006/relationships/slideLayout" Target="../slideLayouts/slideLayout132.xml"/><Relationship Id="rId29" Type="http://schemas.openxmlformats.org/officeDocument/2006/relationships/image" Target="../media/image1.png"/><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theme" Target="../theme/theme5.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26" Type="http://schemas.openxmlformats.org/officeDocument/2006/relationships/slideLayout" Target="../slideLayouts/slideLayout165.xml"/><Relationship Id="rId3" Type="http://schemas.openxmlformats.org/officeDocument/2006/relationships/slideLayout" Target="../slideLayouts/slideLayout142.xml"/><Relationship Id="rId21" Type="http://schemas.openxmlformats.org/officeDocument/2006/relationships/slideLayout" Target="../slideLayouts/slideLayout160.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5" Type="http://schemas.openxmlformats.org/officeDocument/2006/relationships/slideLayout" Target="../slideLayouts/slideLayout164.xml"/><Relationship Id="rId2" Type="http://schemas.openxmlformats.org/officeDocument/2006/relationships/slideLayout" Target="../slideLayouts/slideLayout141.xml"/><Relationship Id="rId16" Type="http://schemas.openxmlformats.org/officeDocument/2006/relationships/slideLayout" Target="../slideLayouts/slideLayout155.xml"/><Relationship Id="rId20" Type="http://schemas.openxmlformats.org/officeDocument/2006/relationships/slideLayout" Target="../slideLayouts/slideLayout159.xml"/><Relationship Id="rId29" Type="http://schemas.openxmlformats.org/officeDocument/2006/relationships/image" Target="../media/image1.png"/><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24" Type="http://schemas.openxmlformats.org/officeDocument/2006/relationships/slideLayout" Target="../slideLayouts/slideLayout163.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23" Type="http://schemas.openxmlformats.org/officeDocument/2006/relationships/slideLayout" Target="../slideLayouts/slideLayout162.xml"/><Relationship Id="rId28" Type="http://schemas.openxmlformats.org/officeDocument/2006/relationships/theme" Target="../theme/theme6.xml"/><Relationship Id="rId10" Type="http://schemas.openxmlformats.org/officeDocument/2006/relationships/slideLayout" Target="../slideLayouts/slideLayout149.xml"/><Relationship Id="rId19" Type="http://schemas.openxmlformats.org/officeDocument/2006/relationships/slideLayout" Target="../slideLayouts/slideLayout158.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30"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8.xml"/><Relationship Id="rId1" Type="http://schemas.openxmlformats.org/officeDocument/2006/relationships/slideLayout" Target="../slideLayouts/slideLayout167.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2"/>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3"/>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4"/>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 id="2147484198" r:id="rId28"/>
    <p:sldLayoutId id="2147484199" r:id="rId29"/>
    <p:sldLayoutId id="2147484200" r:id="rId30"/>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descr="A picture containing icon&#10;&#10;Description automatically generated">
            <a:extLst>
              <a:ext uri="{FF2B5EF4-FFF2-40B4-BE49-F238E27FC236}">
                <a16:creationId xmlns:a16="http://schemas.microsoft.com/office/drawing/2014/main" id="{8DE6348B-DEF4-FBB3-A87A-F5A9102DCF20}"/>
              </a:ext>
            </a:extLst>
          </p:cNvPr>
          <p:cNvPicPr>
            <a:picLocks noChangeAspect="1"/>
          </p:cNvPicPr>
          <p:nvPr userDrawn="1"/>
        </p:nvPicPr>
        <p:blipFill>
          <a:blip r:embed="rId30"/>
          <a:stretch>
            <a:fillRect/>
          </a:stretch>
        </p:blipFill>
        <p:spPr>
          <a:xfrm>
            <a:off x="190500" y="86740"/>
            <a:ext cx="1972638" cy="877824"/>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9" name="Picture 8" descr="A picture containing icon&#10;&#10;Description automatically generated">
            <a:extLst>
              <a:ext uri="{FF2B5EF4-FFF2-40B4-BE49-F238E27FC236}">
                <a16:creationId xmlns:a16="http://schemas.microsoft.com/office/drawing/2014/main" id="{8506E2F7-B97E-E420-81D5-4C7D829D1CFA}"/>
              </a:ext>
            </a:extLst>
          </p:cNvPr>
          <p:cNvPicPr>
            <a:picLocks noChangeAspect="1"/>
          </p:cNvPicPr>
          <p:nvPr userDrawn="1"/>
        </p:nvPicPr>
        <p:blipFill>
          <a:blip r:embed="rId30"/>
          <a:stretch>
            <a:fillRect/>
          </a:stretch>
        </p:blipFill>
        <p:spPr>
          <a:xfrm>
            <a:off x="190500" y="86740"/>
            <a:ext cx="1972638" cy="877824"/>
          </a:xfrm>
          <a:prstGeom prst="rect">
            <a:avLst/>
          </a:prstGeom>
        </p:spPr>
      </p:pic>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4.xml"/><Relationship Id="rId4"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8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3" Type="http://schemas.openxmlformats.org/officeDocument/2006/relationships/hyperlink" Target="https://piee.be.mil/" TargetMode="External"/><Relationship Id="rId2" Type="http://schemas.openxmlformats.org/officeDocument/2006/relationships/hyperlink" Target="https://sam.gov/" TargetMode="External"/><Relationship Id="rId1" Type="http://schemas.openxmlformats.org/officeDocument/2006/relationships/slideLayout" Target="../slideLayouts/slideLayout56.xml"/><Relationship Id="rId6" Type="http://schemas.openxmlformats.org/officeDocument/2006/relationships/hyperlink" Target="https://piee.eb.mil/xhtml/unauth/help/helpvendors.xhtml" TargetMode="External"/><Relationship Id="rId5" Type="http://schemas.openxmlformats.org/officeDocument/2006/relationships/hyperlink" Target="https://www.fsd.gov/sys_attachment.do?sys_id=c3fbd4771be83898d3ab404fe54bcb19" TargetMode="External"/><Relationship Id="rId4" Type="http://schemas.openxmlformats.org/officeDocument/2006/relationships/hyperlink" Target="https://eportal.nspa.nato.int/Codification/CageTool/request-new-cag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hyperlink" Target="https://www.projnet.org/" TargetMode="External"/><Relationship Id="rId1" Type="http://schemas.openxmlformats.org/officeDocument/2006/relationships/slideLayout" Target="../slideLayouts/slideLayout56.xml"/><Relationship Id="rId4" Type="http://schemas.openxmlformats.org/officeDocument/2006/relationships/hyperlink" Target="https://piee.eb.mi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dol.gov/agencies/owcp/dlhwc/lsdba" TargetMode="External"/><Relationship Id="rId2" Type="http://schemas.openxmlformats.org/officeDocument/2006/relationships/hyperlink" Target="https://www.acquisition.gov/far/52.228-15" TargetMode="External"/><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hyperlink" Target="http://www.publications.usace.army.mil/Portals/76/Publications/EngineerManuals/EM_385-1-1.pdf" TargetMode="Externa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4.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hyperlink" Target="https://www.publications.usace.army.mil/Portals/76/Publications/EngineerPamphlets/EP_715-1-7.pdf" TargetMode="External"/><Relationship Id="rId2" Type="http://schemas.openxmlformats.org/officeDocument/2006/relationships/hyperlink" Target="https://www.acquisition.gov/far/subpart-36.6" TargetMode="External"/><Relationship Id="rId1" Type="http://schemas.openxmlformats.org/officeDocument/2006/relationships/slideLayout" Target="../slideLayouts/slideLayout56.xml"/><Relationship Id="rId4" Type="http://schemas.openxmlformats.org/officeDocument/2006/relationships/hyperlink" Target="https://www.naics.com/search/"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s://www.naics.com/search/" TargetMode="External"/><Relationship Id="rId1"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hyperlink" Target="https://www.naics.com/search/" TargetMode="External"/><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3" Type="http://schemas.openxmlformats.org/officeDocument/2006/relationships/hyperlink" Target="https://www.naics.com/search/" TargetMode="External"/><Relationship Id="rId2" Type="http://schemas.openxmlformats.org/officeDocument/2006/relationships/image" Target="../media/image42.jpg"/><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6.xml.rels><?xml version="1.0" encoding="UTF-8" standalone="yes"?>
<Relationships xmlns="http://schemas.openxmlformats.org/package/2006/relationships"><Relationship Id="rId3" Type="http://schemas.openxmlformats.org/officeDocument/2006/relationships/hyperlink" Target="https://piee.eb.mil/" TargetMode="External"/><Relationship Id="rId2" Type="http://schemas.openxmlformats.org/officeDocument/2006/relationships/hyperlink" Target="https://piee.eb.mil/xhtml/unauth/home/login.xhtml" TargetMode="External"/><Relationship Id="rId1" Type="http://schemas.openxmlformats.org/officeDocument/2006/relationships/slideLayout" Target="../slideLayouts/slideLayout56.xml"/><Relationship Id="rId4" Type="http://schemas.openxmlformats.org/officeDocument/2006/relationships/hyperlink" Target="https://www.projnet.or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a:xfrm>
            <a:off x="266700" y="260931"/>
            <a:ext cx="6329001" cy="3007055"/>
          </a:xfrm>
        </p:spPr>
        <p:txBody>
          <a:bodyPr/>
          <a:lstStyle/>
          <a:p>
            <a:r>
              <a:rPr lang="es" sz="2800" dirty="0"/>
              <a:t>Oportunidades de construcción del Cuerpo de Ingenieros del Ejército de EE. UU. en apoyo a la Marina de Guerra del Perú en el Puerto del Callao</a:t>
            </a:r>
          </a:p>
        </p:txBody>
      </p:sp>
      <p:sp>
        <p:nvSpPr>
          <p:cNvPr id="7" name="Picture Placeholder 6">
            <a:extLst>
              <a:ext uri="{FF2B5EF4-FFF2-40B4-BE49-F238E27FC236}">
                <a16:creationId xmlns:a16="http://schemas.microsoft.com/office/drawing/2014/main" id="{2F31E74A-A6B4-2E28-2C57-4182308E7C0C}"/>
              </a:ext>
            </a:extLst>
          </p:cNvPr>
          <p:cNvSpPr>
            <a:spLocks noGrp="1"/>
          </p:cNvSpPr>
          <p:nvPr>
            <p:ph type="pic" sz="quarter" idx="15"/>
          </p:nvPr>
        </p:nvSpPr>
        <p:spPr/>
        <p:txBody>
          <a:bodyPr/>
          <a:lstStyle/>
          <a:p>
            <a:endParaRPr lang="en-US"/>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700" y="3343630"/>
            <a:ext cx="6329001" cy="2023708"/>
          </a:xfrm>
        </p:spPr>
        <p:txBody>
          <a:bodyPr/>
          <a:lstStyle/>
          <a:p>
            <a:r>
              <a:rPr lang="es" dirty="0"/>
              <a:t>Día de la Industria</a:t>
            </a:r>
          </a:p>
          <a:p>
            <a:r>
              <a:rPr lang="es" dirty="0"/>
              <a:t>8 Mayo 2025</a:t>
            </a:r>
          </a:p>
        </p:txBody>
      </p:sp>
      <p:sp>
        <p:nvSpPr>
          <p:cNvPr id="8" name="Picture Placeholder 7">
            <a:extLst>
              <a:ext uri="{FF2B5EF4-FFF2-40B4-BE49-F238E27FC236}">
                <a16:creationId xmlns:a16="http://schemas.microsoft.com/office/drawing/2014/main" id="{A7836D14-2EC2-59AA-6E2E-0D6A5A8510E0}"/>
              </a:ext>
            </a:extLst>
          </p:cNvPr>
          <p:cNvSpPr>
            <a:spLocks noGrp="1"/>
          </p:cNvSpPr>
          <p:nvPr>
            <p:ph type="pic" sz="quarter" idx="16"/>
          </p:nvPr>
        </p:nvSpPr>
        <p:spPr/>
        <p:txBody>
          <a:bodyPr/>
          <a:lstStyle/>
          <a:p>
            <a:endParaRPr lang="en-US"/>
          </a:p>
        </p:txBody>
      </p:sp>
      <p:pic>
        <p:nvPicPr>
          <p:cNvPr id="10" name="Picture Placeholder 6">
            <a:extLst>
              <a:ext uri="{FF2B5EF4-FFF2-40B4-BE49-F238E27FC236}">
                <a16:creationId xmlns:a16="http://schemas.microsoft.com/office/drawing/2014/main" id="{F9280A7F-EB2C-C722-E5AD-BC11F8179B10}"/>
              </a:ext>
            </a:extLst>
          </p:cNvPr>
          <p:cNvPicPr>
            <a:picLocks noChangeAspect="1"/>
          </p:cNvPicPr>
          <p:nvPr/>
        </p:nvPicPr>
        <p:blipFill>
          <a:blip r:embed="rId2"/>
          <a:srcRect t="368" b="368"/>
          <a:stretch/>
        </p:blipFill>
        <p:spPr bwMode="auto">
          <a:xfrm>
            <a:off x="6750657" y="262499"/>
            <a:ext cx="5176211" cy="3081131"/>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pic>
        <p:nvPicPr>
          <p:cNvPr id="11" name="Picture Placeholder 7">
            <a:extLst>
              <a:ext uri="{FF2B5EF4-FFF2-40B4-BE49-F238E27FC236}">
                <a16:creationId xmlns:a16="http://schemas.microsoft.com/office/drawing/2014/main" id="{59733DC9-C6C1-B464-D93E-21728877937A}"/>
              </a:ext>
            </a:extLst>
          </p:cNvPr>
          <p:cNvPicPr>
            <a:picLocks noChangeAspect="1"/>
          </p:cNvPicPr>
          <p:nvPr/>
        </p:nvPicPr>
        <p:blipFill>
          <a:blip r:embed="rId3"/>
          <a:srcRect t="15142" b="15142"/>
          <a:stretch/>
        </p:blipFill>
        <p:spPr bwMode="auto">
          <a:xfrm>
            <a:off x="8610600" y="3505886"/>
            <a:ext cx="3314700" cy="3081131"/>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pic>
        <p:nvPicPr>
          <p:cNvPr id="12" name="Picture Placeholder 8">
            <a:extLst>
              <a:ext uri="{FF2B5EF4-FFF2-40B4-BE49-F238E27FC236}">
                <a16:creationId xmlns:a16="http://schemas.microsoft.com/office/drawing/2014/main" id="{01AD1E0C-10A1-C79C-454D-2108450194E4}"/>
              </a:ext>
            </a:extLst>
          </p:cNvPr>
          <p:cNvPicPr>
            <a:picLocks noChangeAspect="1"/>
          </p:cNvPicPr>
          <p:nvPr/>
        </p:nvPicPr>
        <p:blipFill>
          <a:blip r:embed="rId4"/>
          <a:srcRect l="4489" r="4489"/>
          <a:stretch/>
        </p:blipFill>
        <p:spPr bwMode="auto">
          <a:xfrm>
            <a:off x="5142512" y="3509022"/>
            <a:ext cx="3314700" cy="3093720"/>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766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a:xfrm>
            <a:off x="1166326" y="128981"/>
            <a:ext cx="10168853" cy="832920"/>
          </a:xfrm>
        </p:spPr>
        <p:txBody>
          <a:bodyPr/>
          <a:lstStyle/>
          <a:p>
            <a:r>
              <a:rPr lang="es" dirty="0"/>
              <a:t>Propósito de LA presentación</a:t>
            </a:r>
          </a:p>
        </p:txBody>
      </p:sp>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129085"/>
            <a:ext cx="11658600" cy="5500315"/>
          </a:xfrm>
        </p:spPr>
        <p:txBody>
          <a:bodyPr/>
          <a:lstStyle/>
          <a:p>
            <a:r>
              <a:rPr lang="es" sz="2000" dirty="0"/>
              <a:t>Familiarizar a los Contratistas con la Oficina de Proyectos Especiales de la Marina de Guerra del Perú y el Distrito Mobile, el Cuerpo de Ingenieros del Ejército de los Estados Unidos (USACE), y su misión de ingeniería y construcción en apoyo a la Marina de Guerra del Perú en el Puerto del Callao.</a:t>
            </a:r>
          </a:p>
          <a:p>
            <a:endParaRPr lang="en-US" sz="2000" dirty="0"/>
          </a:p>
          <a:p>
            <a:r>
              <a:rPr lang="es" sz="2000" dirty="0"/>
              <a:t>Discutir el propósito de las licitaciones planificadas y los contratos resultantes.</a:t>
            </a:r>
          </a:p>
          <a:p>
            <a:endParaRPr lang="en-US" sz="2000" dirty="0"/>
          </a:p>
          <a:p>
            <a:r>
              <a:rPr lang="es" sz="2000" dirty="0"/>
              <a:t>Familiarizar a los contratistas con los plazos y requisitos de presentación para las licitaciones planificadas.</a:t>
            </a:r>
          </a:p>
          <a:p>
            <a:endParaRPr lang="en-US" sz="2000" dirty="0"/>
          </a:p>
          <a:p>
            <a:r>
              <a:rPr lang="es" sz="2000" dirty="0"/>
              <a:t>Solicitar retroalimentación de la industria sobre las convocatorias propuestas y los requisitos técnicos.</a:t>
            </a:r>
          </a:p>
          <a:p>
            <a:endParaRPr lang="en-US" sz="2000" dirty="0"/>
          </a:p>
          <a:p>
            <a:r>
              <a:rPr lang="es" sz="2000" dirty="0">
                <a:solidFill>
                  <a:srgbClr val="FF0000"/>
                </a:solidFill>
              </a:rPr>
              <a:t>Descargo de responsabilidad: Esta conferencia previa a la propuesta es sólo para fines informativos.</a:t>
            </a:r>
          </a:p>
          <a:p>
            <a:endParaRPr lang="en-US" sz="2000" dirty="0"/>
          </a:p>
          <a:p>
            <a:r>
              <a:rPr lang="es" sz="2000" dirty="0"/>
              <a:t>Las observaciones o explicaciones presentadas durante esta conferencia (o en las notas de la conferencia) no modificarán los términos y condiciones de la convocatoria. Se recomienda a los oferentes leer atentamente los requisitos de la convocatoria y cumplirlos. Los intercambios verbales entre los oferentes y el Gobierno no serán vinculantes a menos que se incorporen los cambios mediante una enmienda escrita.</a:t>
            </a:r>
          </a:p>
          <a:p>
            <a:endParaRPr lang="en-US" sz="2000" dirty="0"/>
          </a:p>
        </p:txBody>
      </p:sp>
    </p:spTree>
    <p:extLst>
      <p:ext uri="{BB962C8B-B14F-4D97-AF65-F5344CB8AC3E}">
        <p14:creationId xmlns:p14="http://schemas.microsoft.com/office/powerpoint/2010/main" val="363236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C9EFF77C-26F1-C74A-8BA9-C8C70DF28E10}"/>
              </a:ext>
            </a:extLst>
          </p:cNvPr>
          <p:cNvSpPr/>
          <p:nvPr/>
        </p:nvSpPr>
        <p:spPr>
          <a:xfrm>
            <a:off x="10035251" y="2882096"/>
            <a:ext cx="1458410" cy="3070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Imagen 5" descr="Interfaz de usuario gráfica, Aplicación, Word&#10;&#10;Descripción generada automáticamente">
            <a:extLst>
              <a:ext uri="{FF2B5EF4-FFF2-40B4-BE49-F238E27FC236}">
                <a16:creationId xmlns:a16="http://schemas.microsoft.com/office/drawing/2014/main" id="{8DA73A49-2DA2-3C4B-8F87-0C02E268C51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05032" y="1295316"/>
            <a:ext cx="3249281" cy="3390176"/>
          </a:xfrm>
          <a:prstGeom prst="rect">
            <a:avLst/>
          </a:prstGeom>
          <a:ln>
            <a:solidFill>
              <a:schemeClr val="tx1"/>
            </a:solidFill>
          </a:ln>
        </p:spPr>
      </p:pic>
      <p:sp>
        <p:nvSpPr>
          <p:cNvPr id="10" name="Flecha derecha 9">
            <a:extLst>
              <a:ext uri="{FF2B5EF4-FFF2-40B4-BE49-F238E27FC236}">
                <a16:creationId xmlns:a16="http://schemas.microsoft.com/office/drawing/2014/main" id="{815C6E37-D9AF-814A-BDB1-791FEF2FD04C}"/>
              </a:ext>
            </a:extLst>
          </p:cNvPr>
          <p:cNvSpPr/>
          <p:nvPr/>
        </p:nvSpPr>
        <p:spPr>
          <a:xfrm>
            <a:off x="4758807" y="2762686"/>
            <a:ext cx="935775" cy="1018251"/>
          </a:xfrm>
          <a:prstGeom prst="rightArrow">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Imagen 12">
            <a:extLst>
              <a:ext uri="{FF2B5EF4-FFF2-40B4-BE49-F238E27FC236}">
                <a16:creationId xmlns:a16="http://schemas.microsoft.com/office/drawing/2014/main" id="{C4B69CF5-CC8B-EF4F-96D3-9DDD4B58E982}"/>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914447" y="1166913"/>
            <a:ext cx="5718753" cy="4820637"/>
          </a:xfrm>
          <a:prstGeom prst="rect">
            <a:avLst/>
          </a:prstGeom>
        </p:spPr>
      </p:pic>
      <p:sp>
        <p:nvSpPr>
          <p:cNvPr id="2" name="CuadroTexto 1">
            <a:extLst>
              <a:ext uri="{FF2B5EF4-FFF2-40B4-BE49-F238E27FC236}">
                <a16:creationId xmlns:a16="http://schemas.microsoft.com/office/drawing/2014/main" id="{8C5149EA-D0F5-204D-A49B-16E3C363C49E}"/>
              </a:ext>
            </a:extLst>
          </p:cNvPr>
          <p:cNvSpPr txBox="1"/>
          <p:nvPr/>
        </p:nvSpPr>
        <p:spPr>
          <a:xfrm>
            <a:off x="707532" y="6056313"/>
            <a:ext cx="11484468"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 </a:t>
            </a:r>
            <a:r>
              <a:rPr kumimoji="0" lang="en-US" sz="1400" b="0" i="1" u="none" strike="noStrike" kern="1200" cap="none" spc="0" normalizeH="0" baseline="0" noProof="0" dirty="0">
                <a:ln>
                  <a:noFill/>
                </a:ln>
                <a:solidFill>
                  <a:prstClr val="black"/>
                </a:solidFill>
                <a:effectLst/>
                <a:uLnTx/>
                <a:uFillTx/>
                <a:latin typeface="Helvetica" pitchFamily="2" charset="0"/>
                <a:ea typeface="+mn-ea"/>
                <a:cs typeface="+mn-cs"/>
              </a:rPr>
              <a:t>The potential development of the TPC is a long-term project with a 30 year horizon from 2019-2048.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  Actualmente se encuentra en ampliacion de Fase 1 - Terminal Muelle Sur (DPW</a:t>
            </a:r>
            <a:r>
              <a:rPr kumimoji="0" lang="es-PE" sz="1400" b="0" i="0" u="none" strike="noStrike" kern="1200" cap="none" spc="0" normalizeH="0" baseline="0" noProof="0" dirty="0">
                <a:ln>
                  <a:noFill/>
                </a:ln>
                <a:solidFill>
                  <a:prstClr val="black"/>
                </a:solidFill>
                <a:effectLst/>
                <a:uLnTx/>
                <a:uFillTx/>
                <a:latin typeface="Helvetica" pitchFamily="2" charset="0"/>
                <a:ea typeface="+mn-ea"/>
                <a:cs typeface="+mn-cs"/>
              </a:rPr>
              <a:t> </a:t>
            </a: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Callao) y el Terminal Norte Multipropósito (APMT Callao)</a:t>
            </a:r>
            <a:endParaRPr kumimoji="0" lang="es-PE" sz="14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4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20" name="CuadroTexto 19"/>
          <p:cNvSpPr txBox="1"/>
          <p:nvPr/>
        </p:nvSpPr>
        <p:spPr>
          <a:xfrm>
            <a:off x="805032" y="4834528"/>
            <a:ext cx="4407963" cy="738664"/>
          </a:xfrm>
          <a:prstGeom prst="rect">
            <a:avLst/>
          </a:prstGeom>
          <a:noFill/>
          <a:ln>
            <a:solidFill>
              <a:srgbClr val="002060"/>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PE" sz="1400" b="1" i="0" u="none" strike="noStrike" kern="1200" cap="none" spc="0" normalizeH="0" baseline="0" noProof="0" dirty="0">
                <a:ln>
                  <a:noFill/>
                </a:ln>
                <a:solidFill>
                  <a:prstClr val="black"/>
                </a:solidFill>
                <a:effectLst/>
                <a:uLnTx/>
                <a:uFillTx/>
                <a:latin typeface="Calibri" panose="020F0502020204030204"/>
                <a:ea typeface="+mn-ea"/>
                <a:cs typeface="+mn-cs"/>
              </a:rPr>
              <a:t>APN - Plan Maestro Terminal Portuario del Callao.</a:t>
            </a:r>
            <a:r>
              <a:rPr kumimoji="0" lang="es-PE"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Se aprobó la versión actualizada con Resolución de Acuerdo de Directorio   N°0070-2020-APN-DIR</a:t>
            </a:r>
            <a:endParaRPr kumimoji="0" lang="es-PE"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ítulo 2">
            <a:extLst>
              <a:ext uri="{FF2B5EF4-FFF2-40B4-BE49-F238E27FC236}">
                <a16:creationId xmlns:a16="http://schemas.microsoft.com/office/drawing/2014/main" id="{54567355-B3B5-F452-9225-739DFC0A7F0B}"/>
              </a:ext>
            </a:extLst>
          </p:cNvPr>
          <p:cNvSpPr>
            <a:spLocks noGrp="1"/>
          </p:cNvSpPr>
          <p:nvPr>
            <p:ph type="title"/>
          </p:nvPr>
        </p:nvSpPr>
        <p:spPr>
          <a:xfrm>
            <a:off x="838200" y="154540"/>
            <a:ext cx="10515600" cy="424732"/>
          </a:xfrm>
        </p:spPr>
        <p:txBody>
          <a:bodyPr/>
          <a:lstStyle/>
          <a:p>
            <a:r>
              <a:rPr lang="es-MX" dirty="0">
                <a:latin typeface="Thaoma"/>
                <a:ea typeface="+mn-ea"/>
                <a:cs typeface="+mn-cs"/>
              </a:rPr>
              <a:t>PLAN MAESTRO DEL TERMINAL PORTUARIO DEL CALLAO</a:t>
            </a:r>
            <a:endParaRPr lang="es-PE" dirty="0">
              <a:latin typeface="Thaoma"/>
              <a:ea typeface="+mn-ea"/>
              <a:cs typeface="+mn-cs"/>
            </a:endParaRPr>
          </a:p>
        </p:txBody>
      </p:sp>
    </p:spTree>
    <p:extLst>
      <p:ext uri="{BB962C8B-B14F-4D97-AF65-F5344CB8AC3E}">
        <p14:creationId xmlns:p14="http://schemas.microsoft.com/office/powerpoint/2010/main" val="26598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rma libre 35">
            <a:extLst>
              <a:ext uri="{FF2B5EF4-FFF2-40B4-BE49-F238E27FC236}">
                <a16:creationId xmlns:a16="http://schemas.microsoft.com/office/drawing/2014/main" id="{0D351713-AD61-4610-9B83-EC78915FC2BE}"/>
              </a:ext>
            </a:extLst>
          </p:cNvPr>
          <p:cNvSpPr/>
          <p:nvPr/>
        </p:nvSpPr>
        <p:spPr>
          <a:xfrm>
            <a:off x="4757684" y="5333559"/>
            <a:ext cx="1346200" cy="1524000"/>
          </a:xfrm>
          <a:custGeom>
            <a:avLst/>
            <a:gdLst>
              <a:gd name="connsiteX0" fmla="*/ 698500 w 1346200"/>
              <a:gd name="connsiteY0" fmla="*/ 101600 h 1524000"/>
              <a:gd name="connsiteX1" fmla="*/ 609600 w 1346200"/>
              <a:gd name="connsiteY1" fmla="*/ 0 h 1524000"/>
              <a:gd name="connsiteX2" fmla="*/ 0 w 1346200"/>
              <a:gd name="connsiteY2" fmla="*/ 603250 h 1524000"/>
              <a:gd name="connsiteX3" fmla="*/ 996950 w 1346200"/>
              <a:gd name="connsiteY3" fmla="*/ 1524000 h 1524000"/>
              <a:gd name="connsiteX4" fmla="*/ 1346200 w 1346200"/>
              <a:gd name="connsiteY4" fmla="*/ 1231900 h 1524000"/>
              <a:gd name="connsiteX5" fmla="*/ 444500 w 1346200"/>
              <a:gd name="connsiteY5" fmla="*/ 387350 h 1524000"/>
              <a:gd name="connsiteX6" fmla="*/ 698500 w 1346200"/>
              <a:gd name="connsiteY6" fmla="*/ 101600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6200" h="1524000">
                <a:moveTo>
                  <a:pt x="698500" y="101600"/>
                </a:moveTo>
                <a:lnTo>
                  <a:pt x="609600" y="0"/>
                </a:lnTo>
                <a:lnTo>
                  <a:pt x="0" y="603250"/>
                </a:lnTo>
                <a:lnTo>
                  <a:pt x="996950" y="1524000"/>
                </a:lnTo>
                <a:lnTo>
                  <a:pt x="1346200" y="1231900"/>
                </a:lnTo>
                <a:lnTo>
                  <a:pt x="444500" y="387350"/>
                </a:lnTo>
                <a:lnTo>
                  <a:pt x="698500" y="101600"/>
                </a:lnTo>
                <a:close/>
              </a:path>
            </a:pathLst>
          </a:custGeom>
          <a:solidFill>
            <a:schemeClr val="accent1">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Rectángulo 4">
            <a:extLst>
              <a:ext uri="{FF2B5EF4-FFF2-40B4-BE49-F238E27FC236}">
                <a16:creationId xmlns:a16="http://schemas.microsoft.com/office/drawing/2014/main" id="{3263C9DF-8D1B-E447-A9F7-08AB4A662DFD}"/>
              </a:ext>
            </a:extLst>
          </p:cNvPr>
          <p:cNvSpPr/>
          <p:nvPr/>
        </p:nvSpPr>
        <p:spPr>
          <a:xfrm>
            <a:off x="10087731" y="3627033"/>
            <a:ext cx="2089618" cy="9449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6" name="Grupo 5">
            <a:extLst>
              <a:ext uri="{FF2B5EF4-FFF2-40B4-BE49-F238E27FC236}">
                <a16:creationId xmlns:a16="http://schemas.microsoft.com/office/drawing/2014/main" id="{2E5CAB15-4963-8344-8683-0939532546D4}"/>
              </a:ext>
            </a:extLst>
          </p:cNvPr>
          <p:cNvGrpSpPr/>
          <p:nvPr/>
        </p:nvGrpSpPr>
        <p:grpSpPr>
          <a:xfrm>
            <a:off x="4865437" y="5737841"/>
            <a:ext cx="2243960" cy="1119717"/>
            <a:chOff x="3826313" y="5723987"/>
            <a:chExt cx="2243960" cy="1113130"/>
          </a:xfrm>
        </p:grpSpPr>
        <p:sp>
          <p:nvSpPr>
            <p:cNvPr id="24" name="Forma libre 16">
              <a:extLst>
                <a:ext uri="{FF2B5EF4-FFF2-40B4-BE49-F238E27FC236}">
                  <a16:creationId xmlns:a16="http://schemas.microsoft.com/office/drawing/2014/main" id="{CF9E4062-FCF8-47CF-A623-A4C06DBE64A6}"/>
                </a:ext>
              </a:extLst>
            </p:cNvPr>
            <p:cNvSpPr/>
            <p:nvPr/>
          </p:nvSpPr>
          <p:spPr>
            <a:xfrm>
              <a:off x="4449388" y="5723987"/>
              <a:ext cx="1517650" cy="1066800"/>
            </a:xfrm>
            <a:custGeom>
              <a:avLst/>
              <a:gdLst>
                <a:gd name="connsiteX0" fmla="*/ 266700 w 1517650"/>
                <a:gd name="connsiteY0" fmla="*/ 0 h 1066800"/>
                <a:gd name="connsiteX1" fmla="*/ 0 w 1517650"/>
                <a:gd name="connsiteY1" fmla="*/ 260350 h 1066800"/>
                <a:gd name="connsiteX2" fmla="*/ 717550 w 1517650"/>
                <a:gd name="connsiteY2" fmla="*/ 901700 h 1066800"/>
                <a:gd name="connsiteX3" fmla="*/ 869950 w 1517650"/>
                <a:gd name="connsiteY3" fmla="*/ 1066800 h 1066800"/>
                <a:gd name="connsiteX4" fmla="*/ 1130300 w 1517650"/>
                <a:gd name="connsiteY4" fmla="*/ 927100 h 1066800"/>
                <a:gd name="connsiteX5" fmla="*/ 1371600 w 1517650"/>
                <a:gd name="connsiteY5" fmla="*/ 654050 h 1066800"/>
                <a:gd name="connsiteX6" fmla="*/ 1517650 w 1517650"/>
                <a:gd name="connsiteY6" fmla="*/ 400050 h 1066800"/>
                <a:gd name="connsiteX7" fmla="*/ 1225550 w 1517650"/>
                <a:gd name="connsiteY7" fmla="*/ 203200 h 1066800"/>
                <a:gd name="connsiteX8" fmla="*/ 889000 w 1517650"/>
                <a:gd name="connsiteY8" fmla="*/ 577850 h 1066800"/>
                <a:gd name="connsiteX9" fmla="*/ 266700 w 1517650"/>
                <a:gd name="connsiteY9" fmla="*/ 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7650" h="1066800">
                  <a:moveTo>
                    <a:pt x="266700" y="0"/>
                  </a:moveTo>
                  <a:lnTo>
                    <a:pt x="0" y="260350"/>
                  </a:lnTo>
                  <a:lnTo>
                    <a:pt x="717550" y="901700"/>
                  </a:lnTo>
                  <a:lnTo>
                    <a:pt x="869950" y="1066800"/>
                  </a:lnTo>
                  <a:lnTo>
                    <a:pt x="1130300" y="927100"/>
                  </a:lnTo>
                  <a:lnTo>
                    <a:pt x="1371600" y="654050"/>
                  </a:lnTo>
                  <a:lnTo>
                    <a:pt x="1517650" y="400050"/>
                  </a:lnTo>
                  <a:lnTo>
                    <a:pt x="1225550" y="203200"/>
                  </a:lnTo>
                  <a:lnTo>
                    <a:pt x="889000" y="577850"/>
                  </a:lnTo>
                  <a:lnTo>
                    <a:pt x="266700" y="0"/>
                  </a:lnTo>
                  <a:close/>
                </a:path>
              </a:pathLst>
            </a:custGeom>
            <a:solidFill>
              <a:srgbClr val="F8CBAD">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8" name="Rectángulo 57">
              <a:extLst>
                <a:ext uri="{FF2B5EF4-FFF2-40B4-BE49-F238E27FC236}">
                  <a16:creationId xmlns:a16="http://schemas.microsoft.com/office/drawing/2014/main" id="{C0819039-8D7D-CD43-8A05-D28F678027E2}"/>
                </a:ext>
              </a:extLst>
            </p:cNvPr>
            <p:cNvSpPr/>
            <p:nvPr/>
          </p:nvSpPr>
          <p:spPr>
            <a:xfrm>
              <a:off x="3826313" y="6242166"/>
              <a:ext cx="2243960" cy="594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3" name="Imagen 2">
            <a:extLst>
              <a:ext uri="{FF2B5EF4-FFF2-40B4-BE49-F238E27FC236}">
                <a16:creationId xmlns:a16="http://schemas.microsoft.com/office/drawing/2014/main" id="{F55C792A-377A-ED46-97BE-F2F9FD9FC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3523"/>
            <a:ext cx="12177348" cy="6810953"/>
          </a:xfrm>
          <a:prstGeom prst="rect">
            <a:avLst/>
          </a:prstGeom>
        </p:spPr>
      </p:pic>
      <p:sp>
        <p:nvSpPr>
          <p:cNvPr id="59" name="CuadroTexto 58">
            <a:extLst>
              <a:ext uri="{FF2B5EF4-FFF2-40B4-BE49-F238E27FC236}">
                <a16:creationId xmlns:a16="http://schemas.microsoft.com/office/drawing/2014/main" id="{B2DFD6D3-738F-414C-92D6-3BF07A551EB6}"/>
              </a:ext>
            </a:extLst>
          </p:cNvPr>
          <p:cNvSpPr txBox="1"/>
          <p:nvPr/>
        </p:nvSpPr>
        <p:spPr>
          <a:xfrm>
            <a:off x="1012527" y="405412"/>
            <a:ext cx="2421812" cy="1015663"/>
          </a:xfrm>
          <a:prstGeom prst="rect">
            <a:avLst/>
          </a:prstGeom>
          <a:noFill/>
        </p:spPr>
        <p:txBody>
          <a:bodyPr wrap="square" rtlCol="0">
            <a:spAutoFit/>
          </a:bodyPr>
          <a:lstStyle/>
          <a:p>
            <a:pPr algn="ctr"/>
            <a:r>
              <a:rPr lang="es-ES" sz="1200" b="1" dirty="0">
                <a:solidFill>
                  <a:schemeClr val="bg1"/>
                </a:solidFill>
              </a:rPr>
              <a:t>PROYECCION MGP</a:t>
            </a:r>
          </a:p>
          <a:p>
            <a:pPr algn="ctr"/>
            <a:endParaRPr lang="es-ES" sz="1200" b="1" dirty="0">
              <a:solidFill>
                <a:schemeClr val="bg1"/>
              </a:solidFill>
            </a:endParaRPr>
          </a:p>
          <a:p>
            <a:pPr algn="ctr"/>
            <a:r>
              <a:rPr lang="es-ES" sz="1200" b="1" dirty="0">
                <a:solidFill>
                  <a:schemeClr val="bg1"/>
                </a:solidFill>
              </a:rPr>
              <a:t>PROYECCION MTC</a:t>
            </a:r>
          </a:p>
          <a:p>
            <a:pPr algn="ctr"/>
            <a:endParaRPr lang="es-ES" sz="1200" b="1" dirty="0">
              <a:solidFill>
                <a:schemeClr val="bg1"/>
              </a:solidFill>
            </a:endParaRPr>
          </a:p>
          <a:p>
            <a:pPr algn="ctr"/>
            <a:r>
              <a:rPr lang="es-ES" sz="1200" b="1" dirty="0">
                <a:solidFill>
                  <a:schemeClr val="bg1"/>
                </a:solidFill>
              </a:rPr>
              <a:t>PROYECCION APN</a:t>
            </a:r>
          </a:p>
        </p:txBody>
      </p:sp>
      <p:sp>
        <p:nvSpPr>
          <p:cNvPr id="2" name="Rectángulo 1">
            <a:extLst>
              <a:ext uri="{FF2B5EF4-FFF2-40B4-BE49-F238E27FC236}">
                <a16:creationId xmlns:a16="http://schemas.microsoft.com/office/drawing/2014/main" id="{1A2F894C-B025-0F4B-9DBC-10040723C378}"/>
              </a:ext>
            </a:extLst>
          </p:cNvPr>
          <p:cNvSpPr/>
          <p:nvPr/>
        </p:nvSpPr>
        <p:spPr>
          <a:xfrm>
            <a:off x="398401" y="470504"/>
            <a:ext cx="692629" cy="198189"/>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Rectángulo 60">
            <a:extLst>
              <a:ext uri="{FF2B5EF4-FFF2-40B4-BE49-F238E27FC236}">
                <a16:creationId xmlns:a16="http://schemas.microsoft.com/office/drawing/2014/main" id="{A8ED0D98-9DC6-684E-B99D-6A2DD7E3D9ED}"/>
              </a:ext>
            </a:extLst>
          </p:cNvPr>
          <p:cNvSpPr/>
          <p:nvPr/>
        </p:nvSpPr>
        <p:spPr>
          <a:xfrm>
            <a:off x="410663" y="787722"/>
            <a:ext cx="692629" cy="198189"/>
          </a:xfrm>
          <a:prstGeom prst="rect">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Rectángulo 61">
            <a:extLst>
              <a:ext uri="{FF2B5EF4-FFF2-40B4-BE49-F238E27FC236}">
                <a16:creationId xmlns:a16="http://schemas.microsoft.com/office/drawing/2014/main" id="{7A33EF4F-C359-F34C-91D1-B4278EE3EB6D}"/>
              </a:ext>
            </a:extLst>
          </p:cNvPr>
          <p:cNvSpPr/>
          <p:nvPr/>
        </p:nvSpPr>
        <p:spPr>
          <a:xfrm>
            <a:off x="410663" y="1150285"/>
            <a:ext cx="692629" cy="198189"/>
          </a:xfrm>
          <a:prstGeom prst="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0" name="CuadroTexto 69">
            <a:extLst>
              <a:ext uri="{FF2B5EF4-FFF2-40B4-BE49-F238E27FC236}">
                <a16:creationId xmlns:a16="http://schemas.microsoft.com/office/drawing/2014/main" id="{67FF55A6-F6D5-3D4F-97AC-0114390C9355}"/>
              </a:ext>
            </a:extLst>
          </p:cNvPr>
          <p:cNvSpPr txBox="1"/>
          <p:nvPr/>
        </p:nvSpPr>
        <p:spPr>
          <a:xfrm>
            <a:off x="1012527" y="1528225"/>
            <a:ext cx="2421812" cy="367984"/>
          </a:xfrm>
          <a:prstGeom prst="rect">
            <a:avLst/>
          </a:prstGeom>
          <a:noFill/>
        </p:spPr>
        <p:txBody>
          <a:bodyPr wrap="square" rtlCol="0">
            <a:spAutoFit/>
          </a:bodyPr>
          <a:lstStyle/>
          <a:p>
            <a:pPr algn="ctr"/>
            <a:r>
              <a:rPr lang="es-ES" sz="1200" b="1" dirty="0">
                <a:solidFill>
                  <a:schemeClr val="bg1"/>
                </a:solidFill>
              </a:rPr>
              <a:t>ARSENAL NAVAL</a:t>
            </a:r>
          </a:p>
        </p:txBody>
      </p:sp>
      <p:sp>
        <p:nvSpPr>
          <p:cNvPr id="71" name="Rectángulo 70">
            <a:extLst>
              <a:ext uri="{FF2B5EF4-FFF2-40B4-BE49-F238E27FC236}">
                <a16:creationId xmlns:a16="http://schemas.microsoft.com/office/drawing/2014/main" id="{7A3114F2-EBDB-BA45-B0C9-0BC766139D71}"/>
              </a:ext>
            </a:extLst>
          </p:cNvPr>
          <p:cNvSpPr/>
          <p:nvPr/>
        </p:nvSpPr>
        <p:spPr>
          <a:xfrm>
            <a:off x="398401" y="1593318"/>
            <a:ext cx="692629" cy="198189"/>
          </a:xfrm>
          <a:prstGeom prst="rect">
            <a:avLst/>
          </a:prstGeom>
          <a:solidFill>
            <a:srgbClr val="FFFF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2" name="Rectángulo 71">
            <a:extLst>
              <a:ext uri="{FF2B5EF4-FFF2-40B4-BE49-F238E27FC236}">
                <a16:creationId xmlns:a16="http://schemas.microsoft.com/office/drawing/2014/main" id="{1F5984FD-9E8C-2645-838F-58DBA52030F5}"/>
              </a:ext>
            </a:extLst>
          </p:cNvPr>
          <p:cNvSpPr/>
          <p:nvPr/>
        </p:nvSpPr>
        <p:spPr>
          <a:xfrm rot="20675895">
            <a:off x="9083452" y="2765962"/>
            <a:ext cx="181582" cy="1513432"/>
          </a:xfrm>
          <a:custGeom>
            <a:avLst/>
            <a:gdLst>
              <a:gd name="connsiteX0" fmla="*/ 0 w 154814"/>
              <a:gd name="connsiteY0" fmla="*/ 0 h 1060394"/>
              <a:gd name="connsiteX1" fmla="*/ 154814 w 154814"/>
              <a:gd name="connsiteY1" fmla="*/ 0 h 1060394"/>
              <a:gd name="connsiteX2" fmla="*/ 154814 w 154814"/>
              <a:gd name="connsiteY2" fmla="*/ 1060394 h 1060394"/>
              <a:gd name="connsiteX3" fmla="*/ 0 w 154814"/>
              <a:gd name="connsiteY3" fmla="*/ 1060394 h 1060394"/>
              <a:gd name="connsiteX4" fmla="*/ 0 w 154814"/>
              <a:gd name="connsiteY4" fmla="*/ 0 h 1060394"/>
              <a:gd name="connsiteX0" fmla="*/ 8994 w 154814"/>
              <a:gd name="connsiteY0" fmla="*/ 0 h 1113059"/>
              <a:gd name="connsiteX1" fmla="*/ 154814 w 154814"/>
              <a:gd name="connsiteY1" fmla="*/ 52665 h 1113059"/>
              <a:gd name="connsiteX2" fmla="*/ 154814 w 154814"/>
              <a:gd name="connsiteY2" fmla="*/ 1113059 h 1113059"/>
              <a:gd name="connsiteX3" fmla="*/ 0 w 154814"/>
              <a:gd name="connsiteY3" fmla="*/ 1113059 h 1113059"/>
              <a:gd name="connsiteX4" fmla="*/ 8994 w 154814"/>
              <a:gd name="connsiteY4" fmla="*/ 0 h 1113059"/>
              <a:gd name="connsiteX0" fmla="*/ 8994 w 155181"/>
              <a:gd name="connsiteY0" fmla="*/ 0 h 1113059"/>
              <a:gd name="connsiteX1" fmla="*/ 155181 w 155181"/>
              <a:gd name="connsiteY1" fmla="*/ 91365 h 1113059"/>
              <a:gd name="connsiteX2" fmla="*/ 154814 w 155181"/>
              <a:gd name="connsiteY2" fmla="*/ 1113059 h 1113059"/>
              <a:gd name="connsiteX3" fmla="*/ 0 w 155181"/>
              <a:gd name="connsiteY3" fmla="*/ 1113059 h 1113059"/>
              <a:gd name="connsiteX4" fmla="*/ 8994 w 155181"/>
              <a:gd name="connsiteY4" fmla="*/ 0 h 1113059"/>
              <a:gd name="connsiteX0" fmla="*/ 8994 w 165954"/>
              <a:gd name="connsiteY0" fmla="*/ 0 h 1132669"/>
              <a:gd name="connsiteX1" fmla="*/ 155181 w 165954"/>
              <a:gd name="connsiteY1" fmla="*/ 91365 h 1132669"/>
              <a:gd name="connsiteX2" fmla="*/ 165953 w 165954"/>
              <a:gd name="connsiteY2" fmla="*/ 1132669 h 1132669"/>
              <a:gd name="connsiteX3" fmla="*/ 0 w 165954"/>
              <a:gd name="connsiteY3" fmla="*/ 1113059 h 1132669"/>
              <a:gd name="connsiteX4" fmla="*/ 8994 w 165954"/>
              <a:gd name="connsiteY4" fmla="*/ 0 h 1132669"/>
              <a:gd name="connsiteX0" fmla="*/ 8994 w 155181"/>
              <a:gd name="connsiteY0" fmla="*/ 0 h 1125609"/>
              <a:gd name="connsiteX1" fmla="*/ 155181 w 155181"/>
              <a:gd name="connsiteY1" fmla="*/ 91365 h 1125609"/>
              <a:gd name="connsiteX2" fmla="*/ 140327 w 155181"/>
              <a:gd name="connsiteY2" fmla="*/ 1125609 h 1125609"/>
              <a:gd name="connsiteX3" fmla="*/ 0 w 155181"/>
              <a:gd name="connsiteY3" fmla="*/ 1113059 h 1125609"/>
              <a:gd name="connsiteX4" fmla="*/ 8994 w 155181"/>
              <a:gd name="connsiteY4" fmla="*/ 0 h 1125609"/>
              <a:gd name="connsiteX0" fmla="*/ 8994 w 140327"/>
              <a:gd name="connsiteY0" fmla="*/ 0 h 1125609"/>
              <a:gd name="connsiteX1" fmla="*/ 127254 w 140327"/>
              <a:gd name="connsiteY1" fmla="*/ 72642 h 1125609"/>
              <a:gd name="connsiteX2" fmla="*/ 140327 w 140327"/>
              <a:gd name="connsiteY2" fmla="*/ 1125609 h 1125609"/>
              <a:gd name="connsiteX3" fmla="*/ 0 w 140327"/>
              <a:gd name="connsiteY3" fmla="*/ 1113059 h 1125609"/>
              <a:gd name="connsiteX4" fmla="*/ 8994 w 140327"/>
              <a:gd name="connsiteY4" fmla="*/ 0 h 1125609"/>
              <a:gd name="connsiteX0" fmla="*/ 8994 w 127254"/>
              <a:gd name="connsiteY0" fmla="*/ 0 h 1131102"/>
              <a:gd name="connsiteX1" fmla="*/ 127254 w 127254"/>
              <a:gd name="connsiteY1" fmla="*/ 72642 h 1131102"/>
              <a:gd name="connsiteX2" fmla="*/ 100214 w 127254"/>
              <a:gd name="connsiteY2" fmla="*/ 1131102 h 1131102"/>
              <a:gd name="connsiteX3" fmla="*/ 0 w 127254"/>
              <a:gd name="connsiteY3" fmla="*/ 1113059 h 1131102"/>
              <a:gd name="connsiteX4" fmla="*/ 8994 w 127254"/>
              <a:gd name="connsiteY4" fmla="*/ 0 h 1131102"/>
              <a:gd name="connsiteX0" fmla="*/ 8994 w 108164"/>
              <a:gd name="connsiteY0" fmla="*/ 0 h 1131102"/>
              <a:gd name="connsiteX1" fmla="*/ 108164 w 108164"/>
              <a:gd name="connsiteY1" fmla="*/ 61870 h 1131102"/>
              <a:gd name="connsiteX2" fmla="*/ 100214 w 108164"/>
              <a:gd name="connsiteY2" fmla="*/ 1131102 h 1131102"/>
              <a:gd name="connsiteX3" fmla="*/ 0 w 108164"/>
              <a:gd name="connsiteY3" fmla="*/ 1113059 h 1131102"/>
              <a:gd name="connsiteX4" fmla="*/ 8994 w 108164"/>
              <a:gd name="connsiteY4" fmla="*/ 0 h 1131102"/>
              <a:gd name="connsiteX0" fmla="*/ 8994 w 122128"/>
              <a:gd name="connsiteY0" fmla="*/ 0 h 1131102"/>
              <a:gd name="connsiteX1" fmla="*/ 122128 w 122128"/>
              <a:gd name="connsiteY1" fmla="*/ 71231 h 1131102"/>
              <a:gd name="connsiteX2" fmla="*/ 100214 w 122128"/>
              <a:gd name="connsiteY2" fmla="*/ 1131102 h 1131102"/>
              <a:gd name="connsiteX3" fmla="*/ 0 w 122128"/>
              <a:gd name="connsiteY3" fmla="*/ 1113059 h 1131102"/>
              <a:gd name="connsiteX4" fmla="*/ 8994 w 122128"/>
              <a:gd name="connsiteY4" fmla="*/ 0 h 1131102"/>
              <a:gd name="connsiteX0" fmla="*/ 8994 w 110581"/>
              <a:gd name="connsiteY0" fmla="*/ 0 h 1131102"/>
              <a:gd name="connsiteX1" fmla="*/ 110581 w 110581"/>
              <a:gd name="connsiteY1" fmla="*/ 57906 h 1131102"/>
              <a:gd name="connsiteX2" fmla="*/ 100214 w 110581"/>
              <a:gd name="connsiteY2" fmla="*/ 1131102 h 1131102"/>
              <a:gd name="connsiteX3" fmla="*/ 0 w 110581"/>
              <a:gd name="connsiteY3" fmla="*/ 1113059 h 1131102"/>
              <a:gd name="connsiteX4" fmla="*/ 8994 w 110581"/>
              <a:gd name="connsiteY4" fmla="*/ 0 h 1131102"/>
              <a:gd name="connsiteX0" fmla="*/ 8994 w 125543"/>
              <a:gd name="connsiteY0" fmla="*/ 0 h 1131102"/>
              <a:gd name="connsiteX1" fmla="*/ 125543 w 125543"/>
              <a:gd name="connsiteY1" fmla="*/ 77244 h 1131102"/>
              <a:gd name="connsiteX2" fmla="*/ 100214 w 125543"/>
              <a:gd name="connsiteY2" fmla="*/ 1131102 h 1131102"/>
              <a:gd name="connsiteX3" fmla="*/ 0 w 125543"/>
              <a:gd name="connsiteY3" fmla="*/ 1113059 h 1131102"/>
              <a:gd name="connsiteX4" fmla="*/ 8994 w 125543"/>
              <a:gd name="connsiteY4" fmla="*/ 0 h 1131102"/>
              <a:gd name="connsiteX0" fmla="*/ 16305 w 125543"/>
              <a:gd name="connsiteY0" fmla="*/ 0 h 1139232"/>
              <a:gd name="connsiteX1" fmla="*/ 125543 w 125543"/>
              <a:gd name="connsiteY1" fmla="*/ 85374 h 1139232"/>
              <a:gd name="connsiteX2" fmla="*/ 100214 w 125543"/>
              <a:gd name="connsiteY2" fmla="*/ 1139232 h 1139232"/>
              <a:gd name="connsiteX3" fmla="*/ 0 w 125543"/>
              <a:gd name="connsiteY3" fmla="*/ 1121189 h 1139232"/>
              <a:gd name="connsiteX4" fmla="*/ 16305 w 125543"/>
              <a:gd name="connsiteY4" fmla="*/ 0 h 1139232"/>
              <a:gd name="connsiteX0" fmla="*/ 16305 w 127223"/>
              <a:gd name="connsiteY0" fmla="*/ 0 h 1139232"/>
              <a:gd name="connsiteX1" fmla="*/ 127223 w 127223"/>
              <a:gd name="connsiteY1" fmla="*/ 61887 h 1139232"/>
              <a:gd name="connsiteX2" fmla="*/ 100214 w 127223"/>
              <a:gd name="connsiteY2" fmla="*/ 1139232 h 1139232"/>
              <a:gd name="connsiteX3" fmla="*/ 0 w 127223"/>
              <a:gd name="connsiteY3" fmla="*/ 1121189 h 1139232"/>
              <a:gd name="connsiteX4" fmla="*/ 16305 w 127223"/>
              <a:gd name="connsiteY4" fmla="*/ 0 h 113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223" h="1139232">
                <a:moveTo>
                  <a:pt x="16305" y="0"/>
                </a:moveTo>
                <a:lnTo>
                  <a:pt x="127223" y="61887"/>
                </a:lnTo>
                <a:cubicBezTo>
                  <a:pt x="127101" y="402452"/>
                  <a:pt x="100336" y="798667"/>
                  <a:pt x="100214" y="1139232"/>
                </a:cubicBezTo>
                <a:lnTo>
                  <a:pt x="0" y="1121189"/>
                </a:lnTo>
                <a:lnTo>
                  <a:pt x="16305"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Forma libre 3">
            <a:extLst>
              <a:ext uri="{FF2B5EF4-FFF2-40B4-BE49-F238E27FC236}">
                <a16:creationId xmlns:a16="http://schemas.microsoft.com/office/drawing/2014/main" id="{FD3C779E-2B59-DB46-9877-02D85D952E48}"/>
              </a:ext>
            </a:extLst>
          </p:cNvPr>
          <p:cNvSpPr/>
          <p:nvPr/>
        </p:nvSpPr>
        <p:spPr>
          <a:xfrm>
            <a:off x="8022453" y="2553199"/>
            <a:ext cx="3071592" cy="871183"/>
          </a:xfrm>
          <a:custGeom>
            <a:avLst/>
            <a:gdLst>
              <a:gd name="connsiteX0" fmla="*/ 0 w 2212109"/>
              <a:gd name="connsiteY0" fmla="*/ 0 h 692727"/>
              <a:gd name="connsiteX1" fmla="*/ 1270000 w 2212109"/>
              <a:gd name="connsiteY1" fmla="*/ 341746 h 692727"/>
              <a:gd name="connsiteX2" fmla="*/ 2212109 w 2212109"/>
              <a:gd name="connsiteY2" fmla="*/ 669637 h 692727"/>
              <a:gd name="connsiteX3" fmla="*/ 2207491 w 2212109"/>
              <a:gd name="connsiteY3" fmla="*/ 692727 h 692727"/>
              <a:gd name="connsiteX4" fmla="*/ 660400 w 2212109"/>
              <a:gd name="connsiteY4" fmla="*/ 217055 h 692727"/>
              <a:gd name="connsiteX5" fmla="*/ 101600 w 2212109"/>
              <a:gd name="connsiteY5" fmla="*/ 101600 h 692727"/>
              <a:gd name="connsiteX6" fmla="*/ 50800 w 2212109"/>
              <a:gd name="connsiteY6" fmla="*/ 13855 h 692727"/>
              <a:gd name="connsiteX7" fmla="*/ 0 w 2212109"/>
              <a:gd name="connsiteY7" fmla="*/ 0 h 692727"/>
              <a:gd name="connsiteX0" fmla="*/ 0 w 2212109"/>
              <a:gd name="connsiteY0" fmla="*/ 0 h 692727"/>
              <a:gd name="connsiteX1" fmla="*/ 1270000 w 2212109"/>
              <a:gd name="connsiteY1" fmla="*/ 341746 h 692727"/>
              <a:gd name="connsiteX2" fmla="*/ 2212109 w 2212109"/>
              <a:gd name="connsiteY2" fmla="*/ 669637 h 692727"/>
              <a:gd name="connsiteX3" fmla="*/ 2207491 w 2212109"/>
              <a:gd name="connsiteY3" fmla="*/ 692727 h 692727"/>
              <a:gd name="connsiteX4" fmla="*/ 660400 w 2212109"/>
              <a:gd name="connsiteY4" fmla="*/ 217055 h 692727"/>
              <a:gd name="connsiteX5" fmla="*/ 101600 w 2212109"/>
              <a:gd name="connsiteY5" fmla="*/ 101600 h 692727"/>
              <a:gd name="connsiteX6" fmla="*/ 0 w 2212109"/>
              <a:gd name="connsiteY6" fmla="*/ 0 h 692727"/>
              <a:gd name="connsiteX0" fmla="*/ 9236 w 2221345"/>
              <a:gd name="connsiteY0" fmla="*/ 0 h 692727"/>
              <a:gd name="connsiteX1" fmla="*/ 1279236 w 2221345"/>
              <a:gd name="connsiteY1" fmla="*/ 341746 h 692727"/>
              <a:gd name="connsiteX2" fmla="*/ 2221345 w 2221345"/>
              <a:gd name="connsiteY2" fmla="*/ 669637 h 692727"/>
              <a:gd name="connsiteX3" fmla="*/ 2216727 w 2221345"/>
              <a:gd name="connsiteY3" fmla="*/ 692727 h 692727"/>
              <a:gd name="connsiteX4" fmla="*/ 669636 w 2221345"/>
              <a:gd name="connsiteY4" fmla="*/ 217055 h 692727"/>
              <a:gd name="connsiteX5" fmla="*/ 0 w 2221345"/>
              <a:gd name="connsiteY5" fmla="*/ 46182 h 692727"/>
              <a:gd name="connsiteX6" fmla="*/ 9236 w 2221345"/>
              <a:gd name="connsiteY6" fmla="*/ 0 h 692727"/>
              <a:gd name="connsiteX0" fmla="*/ 23091 w 2221345"/>
              <a:gd name="connsiteY0" fmla="*/ 0 h 674254"/>
              <a:gd name="connsiteX1" fmla="*/ 1279236 w 2221345"/>
              <a:gd name="connsiteY1" fmla="*/ 323273 h 674254"/>
              <a:gd name="connsiteX2" fmla="*/ 2221345 w 2221345"/>
              <a:gd name="connsiteY2" fmla="*/ 651164 h 674254"/>
              <a:gd name="connsiteX3" fmla="*/ 2216727 w 2221345"/>
              <a:gd name="connsiteY3" fmla="*/ 674254 h 674254"/>
              <a:gd name="connsiteX4" fmla="*/ 669636 w 2221345"/>
              <a:gd name="connsiteY4" fmla="*/ 198582 h 674254"/>
              <a:gd name="connsiteX5" fmla="*/ 0 w 2221345"/>
              <a:gd name="connsiteY5" fmla="*/ 27709 h 674254"/>
              <a:gd name="connsiteX6" fmla="*/ 23091 w 2221345"/>
              <a:gd name="connsiteY6" fmla="*/ 0 h 674254"/>
              <a:gd name="connsiteX0" fmla="*/ 23091 w 2221345"/>
              <a:gd name="connsiteY0" fmla="*/ 0 h 674254"/>
              <a:gd name="connsiteX1" fmla="*/ 1283854 w 2221345"/>
              <a:gd name="connsiteY1" fmla="*/ 332509 h 674254"/>
              <a:gd name="connsiteX2" fmla="*/ 2221345 w 2221345"/>
              <a:gd name="connsiteY2" fmla="*/ 651164 h 674254"/>
              <a:gd name="connsiteX3" fmla="*/ 2216727 w 2221345"/>
              <a:gd name="connsiteY3" fmla="*/ 674254 h 674254"/>
              <a:gd name="connsiteX4" fmla="*/ 669636 w 2221345"/>
              <a:gd name="connsiteY4" fmla="*/ 198582 h 674254"/>
              <a:gd name="connsiteX5" fmla="*/ 0 w 2221345"/>
              <a:gd name="connsiteY5" fmla="*/ 27709 h 674254"/>
              <a:gd name="connsiteX6" fmla="*/ 23091 w 2221345"/>
              <a:gd name="connsiteY6" fmla="*/ 0 h 674254"/>
              <a:gd name="connsiteX0" fmla="*/ 23091 w 2221345"/>
              <a:gd name="connsiteY0" fmla="*/ 0 h 674254"/>
              <a:gd name="connsiteX1" fmla="*/ 1283854 w 2221345"/>
              <a:gd name="connsiteY1" fmla="*/ 332509 h 674254"/>
              <a:gd name="connsiteX2" fmla="*/ 2221345 w 2221345"/>
              <a:gd name="connsiteY2" fmla="*/ 651164 h 674254"/>
              <a:gd name="connsiteX3" fmla="*/ 2216727 w 2221345"/>
              <a:gd name="connsiteY3" fmla="*/ 674254 h 674254"/>
              <a:gd name="connsiteX4" fmla="*/ 1260763 w 2221345"/>
              <a:gd name="connsiteY4" fmla="*/ 355600 h 674254"/>
              <a:gd name="connsiteX5" fmla="*/ 0 w 2221345"/>
              <a:gd name="connsiteY5" fmla="*/ 27709 h 674254"/>
              <a:gd name="connsiteX6" fmla="*/ 23091 w 2221345"/>
              <a:gd name="connsiteY6" fmla="*/ 0 h 674254"/>
              <a:gd name="connsiteX0" fmla="*/ 83127 w 2221345"/>
              <a:gd name="connsiteY0" fmla="*/ 0 h 655781"/>
              <a:gd name="connsiteX1" fmla="*/ 1283854 w 2221345"/>
              <a:gd name="connsiteY1" fmla="*/ 314036 h 655781"/>
              <a:gd name="connsiteX2" fmla="*/ 2221345 w 2221345"/>
              <a:gd name="connsiteY2" fmla="*/ 632691 h 655781"/>
              <a:gd name="connsiteX3" fmla="*/ 2216727 w 2221345"/>
              <a:gd name="connsiteY3" fmla="*/ 655781 h 655781"/>
              <a:gd name="connsiteX4" fmla="*/ 1260763 w 2221345"/>
              <a:gd name="connsiteY4" fmla="*/ 337127 h 655781"/>
              <a:gd name="connsiteX5" fmla="*/ 0 w 2221345"/>
              <a:gd name="connsiteY5" fmla="*/ 9236 h 655781"/>
              <a:gd name="connsiteX6" fmla="*/ 83127 w 2221345"/>
              <a:gd name="connsiteY6" fmla="*/ 0 h 655781"/>
              <a:gd name="connsiteX0" fmla="*/ 18473 w 2156691"/>
              <a:gd name="connsiteY0" fmla="*/ 0 h 655781"/>
              <a:gd name="connsiteX1" fmla="*/ 1219200 w 2156691"/>
              <a:gd name="connsiteY1" fmla="*/ 314036 h 655781"/>
              <a:gd name="connsiteX2" fmla="*/ 2156691 w 2156691"/>
              <a:gd name="connsiteY2" fmla="*/ 632691 h 655781"/>
              <a:gd name="connsiteX3" fmla="*/ 2152073 w 2156691"/>
              <a:gd name="connsiteY3" fmla="*/ 655781 h 655781"/>
              <a:gd name="connsiteX4" fmla="*/ 1196109 w 2156691"/>
              <a:gd name="connsiteY4" fmla="*/ 337127 h 655781"/>
              <a:gd name="connsiteX5" fmla="*/ 0 w 2156691"/>
              <a:gd name="connsiteY5" fmla="*/ 27709 h 655781"/>
              <a:gd name="connsiteX6" fmla="*/ 18473 w 2156691"/>
              <a:gd name="connsiteY6" fmla="*/ 0 h 655781"/>
              <a:gd name="connsiteX0" fmla="*/ 18473 w 2152073"/>
              <a:gd name="connsiteY0" fmla="*/ 0 h 655781"/>
              <a:gd name="connsiteX1" fmla="*/ 1219200 w 2152073"/>
              <a:gd name="connsiteY1" fmla="*/ 314036 h 655781"/>
              <a:gd name="connsiteX2" fmla="*/ 2152073 w 2152073"/>
              <a:gd name="connsiteY2" fmla="*/ 628073 h 655781"/>
              <a:gd name="connsiteX3" fmla="*/ 2152073 w 2152073"/>
              <a:gd name="connsiteY3" fmla="*/ 655781 h 655781"/>
              <a:gd name="connsiteX4" fmla="*/ 1196109 w 2152073"/>
              <a:gd name="connsiteY4" fmla="*/ 337127 h 655781"/>
              <a:gd name="connsiteX5" fmla="*/ 0 w 2152073"/>
              <a:gd name="connsiteY5" fmla="*/ 27709 h 655781"/>
              <a:gd name="connsiteX6" fmla="*/ 18473 w 2152073"/>
              <a:gd name="connsiteY6" fmla="*/ 0 h 65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2073" h="655781">
                <a:moveTo>
                  <a:pt x="18473" y="0"/>
                </a:moveTo>
                <a:lnTo>
                  <a:pt x="1219200" y="314036"/>
                </a:lnTo>
                <a:lnTo>
                  <a:pt x="2152073" y="628073"/>
                </a:lnTo>
                <a:lnTo>
                  <a:pt x="2152073" y="655781"/>
                </a:lnTo>
                <a:lnTo>
                  <a:pt x="1196109" y="337127"/>
                </a:lnTo>
                <a:lnTo>
                  <a:pt x="0" y="27709"/>
                </a:lnTo>
                <a:lnTo>
                  <a:pt x="18473"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Forma libre 7">
            <a:extLst>
              <a:ext uri="{FF2B5EF4-FFF2-40B4-BE49-F238E27FC236}">
                <a16:creationId xmlns:a16="http://schemas.microsoft.com/office/drawing/2014/main" id="{BD951CC1-7FBB-6348-A1E1-94425FF3E1EE}"/>
              </a:ext>
            </a:extLst>
          </p:cNvPr>
          <p:cNvSpPr/>
          <p:nvPr/>
        </p:nvSpPr>
        <p:spPr>
          <a:xfrm>
            <a:off x="8075185" y="3025600"/>
            <a:ext cx="3045226" cy="466267"/>
          </a:xfrm>
          <a:custGeom>
            <a:avLst/>
            <a:gdLst>
              <a:gd name="connsiteX0" fmla="*/ 0 w 2133600"/>
              <a:gd name="connsiteY0" fmla="*/ 281709 h 350981"/>
              <a:gd name="connsiteX1" fmla="*/ 628073 w 2133600"/>
              <a:gd name="connsiteY1" fmla="*/ 55418 h 350981"/>
              <a:gd name="connsiteX2" fmla="*/ 1186873 w 2133600"/>
              <a:gd name="connsiteY2" fmla="*/ 0 h 350981"/>
              <a:gd name="connsiteX3" fmla="*/ 2133600 w 2133600"/>
              <a:gd name="connsiteY3" fmla="*/ 350981 h 350981"/>
            </a:gdLst>
            <a:ahLst/>
            <a:cxnLst>
              <a:cxn ang="0">
                <a:pos x="connsiteX0" y="connsiteY0"/>
              </a:cxn>
              <a:cxn ang="0">
                <a:pos x="connsiteX1" y="connsiteY1"/>
              </a:cxn>
              <a:cxn ang="0">
                <a:pos x="connsiteX2" y="connsiteY2"/>
              </a:cxn>
              <a:cxn ang="0">
                <a:pos x="connsiteX3" y="connsiteY3"/>
              </a:cxn>
            </a:cxnLst>
            <a:rect l="l" t="t" r="r" b="b"/>
            <a:pathLst>
              <a:path w="2133600" h="350981">
                <a:moveTo>
                  <a:pt x="0" y="281709"/>
                </a:moveTo>
                <a:lnTo>
                  <a:pt x="628073" y="55418"/>
                </a:lnTo>
                <a:lnTo>
                  <a:pt x="1186873" y="0"/>
                </a:lnTo>
                <a:lnTo>
                  <a:pt x="2133600" y="350981"/>
                </a:lnTo>
              </a:path>
            </a:pathLst>
          </a:cu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s-ES_tradnl"/>
          </a:p>
        </p:txBody>
      </p:sp>
      <p:sp>
        <p:nvSpPr>
          <p:cNvPr id="11" name="CuadroTexto 10">
            <a:extLst>
              <a:ext uri="{FF2B5EF4-FFF2-40B4-BE49-F238E27FC236}">
                <a16:creationId xmlns:a16="http://schemas.microsoft.com/office/drawing/2014/main" id="{14A8F48B-2511-4DA4-8AE0-CA2B549E6075}"/>
              </a:ext>
            </a:extLst>
          </p:cNvPr>
          <p:cNvSpPr txBox="1"/>
          <p:nvPr/>
        </p:nvSpPr>
        <p:spPr>
          <a:xfrm>
            <a:off x="7767307" y="3022530"/>
            <a:ext cx="439585" cy="369332"/>
          </a:xfrm>
          <a:prstGeom prst="rect">
            <a:avLst/>
          </a:prstGeom>
          <a:noFill/>
        </p:spPr>
        <p:txBody>
          <a:bodyPr wrap="square" rtlCol="0">
            <a:spAutoFit/>
          </a:bodyPr>
          <a:lstStyle/>
          <a:p>
            <a:endParaRPr lang="es-PE" dirty="0"/>
          </a:p>
        </p:txBody>
      </p:sp>
      <p:sp>
        <p:nvSpPr>
          <p:cNvPr id="10" name="Rectángulo 9">
            <a:extLst>
              <a:ext uri="{FF2B5EF4-FFF2-40B4-BE49-F238E27FC236}">
                <a16:creationId xmlns:a16="http://schemas.microsoft.com/office/drawing/2014/main" id="{9C1A3993-86E9-4696-BDF0-84B1861E4D0D}"/>
              </a:ext>
            </a:extLst>
          </p:cNvPr>
          <p:cNvSpPr/>
          <p:nvPr/>
        </p:nvSpPr>
        <p:spPr>
          <a:xfrm rot="1993776">
            <a:off x="1926667" y="2834678"/>
            <a:ext cx="110601" cy="1450688"/>
          </a:xfrm>
          <a:prstGeom prst="rect">
            <a:avLst/>
          </a:prstGeom>
          <a:solidFill>
            <a:srgbClr val="00B0F0">
              <a:alpha val="3882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grpSp>
        <p:nvGrpSpPr>
          <p:cNvPr id="7" name="Grupo 6">
            <a:extLst>
              <a:ext uri="{FF2B5EF4-FFF2-40B4-BE49-F238E27FC236}">
                <a16:creationId xmlns:a16="http://schemas.microsoft.com/office/drawing/2014/main" id="{8867F7BA-BE75-EA44-B494-039B7B2F17AB}"/>
              </a:ext>
            </a:extLst>
          </p:cNvPr>
          <p:cNvGrpSpPr/>
          <p:nvPr/>
        </p:nvGrpSpPr>
        <p:grpSpPr>
          <a:xfrm>
            <a:off x="2216303" y="293249"/>
            <a:ext cx="9921453" cy="6452959"/>
            <a:chOff x="4445434" y="1814127"/>
            <a:chExt cx="9921453" cy="6452959"/>
          </a:xfrm>
        </p:grpSpPr>
        <p:sp>
          <p:nvSpPr>
            <p:cNvPr id="30" name="Forma libre 22">
              <a:extLst>
                <a:ext uri="{FF2B5EF4-FFF2-40B4-BE49-F238E27FC236}">
                  <a16:creationId xmlns:a16="http://schemas.microsoft.com/office/drawing/2014/main" id="{E03785D5-FA13-49F4-972B-FA5FAA8923AB}"/>
                </a:ext>
              </a:extLst>
            </p:cNvPr>
            <p:cNvSpPr/>
            <p:nvPr/>
          </p:nvSpPr>
          <p:spPr>
            <a:xfrm rot="21257051">
              <a:off x="10156242" y="4042472"/>
              <a:ext cx="1032715" cy="824409"/>
            </a:xfrm>
            <a:custGeom>
              <a:avLst/>
              <a:gdLst>
                <a:gd name="connsiteX0" fmla="*/ 66675 w 769144"/>
                <a:gd name="connsiteY0" fmla="*/ 0 h 814388"/>
                <a:gd name="connsiteX1" fmla="*/ 0 w 769144"/>
                <a:gd name="connsiteY1" fmla="*/ 228600 h 814388"/>
                <a:gd name="connsiteX2" fmla="*/ 47625 w 769144"/>
                <a:gd name="connsiteY2" fmla="*/ 483394 h 814388"/>
                <a:gd name="connsiteX3" fmla="*/ 85725 w 769144"/>
                <a:gd name="connsiteY3" fmla="*/ 635794 h 814388"/>
                <a:gd name="connsiteX4" fmla="*/ 178594 w 769144"/>
                <a:gd name="connsiteY4" fmla="*/ 604838 h 814388"/>
                <a:gd name="connsiteX5" fmla="*/ 285750 w 769144"/>
                <a:gd name="connsiteY5" fmla="*/ 814388 h 814388"/>
                <a:gd name="connsiteX6" fmla="*/ 514350 w 769144"/>
                <a:gd name="connsiteY6" fmla="*/ 716757 h 814388"/>
                <a:gd name="connsiteX7" fmla="*/ 769144 w 769144"/>
                <a:gd name="connsiteY7" fmla="*/ 659607 h 814388"/>
                <a:gd name="connsiteX8" fmla="*/ 716757 w 769144"/>
                <a:gd name="connsiteY8" fmla="*/ 250032 h 814388"/>
                <a:gd name="connsiteX9" fmla="*/ 66675 w 769144"/>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514350 w 750317"/>
                <a:gd name="connsiteY6" fmla="*/ 716757 h 814388"/>
                <a:gd name="connsiteX7" fmla="*/ 750317 w 750317"/>
                <a:gd name="connsiteY7" fmla="*/ 467404 h 814388"/>
                <a:gd name="connsiteX8" fmla="*/ 716757 w 750317"/>
                <a:gd name="connsiteY8" fmla="*/ 250032 h 814388"/>
                <a:gd name="connsiteX9" fmla="*/ 66675 w 750317"/>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495525 w 750317"/>
                <a:gd name="connsiteY6" fmla="*/ 524554 h 814388"/>
                <a:gd name="connsiteX7" fmla="*/ 750317 w 750317"/>
                <a:gd name="connsiteY7" fmla="*/ 467404 h 814388"/>
                <a:gd name="connsiteX8" fmla="*/ 716757 w 750317"/>
                <a:gd name="connsiteY8" fmla="*/ 250032 h 814388"/>
                <a:gd name="connsiteX9" fmla="*/ 66675 w 750317"/>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750317 w 750317"/>
                <a:gd name="connsiteY6" fmla="*/ 467404 h 814388"/>
                <a:gd name="connsiteX7" fmla="*/ 716757 w 750317"/>
                <a:gd name="connsiteY7" fmla="*/ 250032 h 814388"/>
                <a:gd name="connsiteX8" fmla="*/ 66675 w 750317"/>
                <a:gd name="connsiteY8" fmla="*/ 0 h 814388"/>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178594 w 750317"/>
                <a:gd name="connsiteY4" fmla="*/ 604838 h 635794"/>
                <a:gd name="connsiteX5" fmla="*/ 750317 w 750317"/>
                <a:gd name="connsiteY5" fmla="*/ 467404 h 635794"/>
                <a:gd name="connsiteX6" fmla="*/ 716757 w 750317"/>
                <a:gd name="connsiteY6" fmla="*/ 250032 h 635794"/>
                <a:gd name="connsiteX7" fmla="*/ 66675 w 750317"/>
                <a:gd name="connsiteY7" fmla="*/ 0 h 635794"/>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412832 w 750317"/>
                <a:gd name="connsiteY4" fmla="*/ 524605 h 635794"/>
                <a:gd name="connsiteX5" fmla="*/ 750317 w 750317"/>
                <a:gd name="connsiteY5" fmla="*/ 467404 h 635794"/>
                <a:gd name="connsiteX6" fmla="*/ 716757 w 750317"/>
                <a:gd name="connsiteY6" fmla="*/ 250032 h 635794"/>
                <a:gd name="connsiteX7" fmla="*/ 66675 w 750317"/>
                <a:gd name="connsiteY7" fmla="*/ 0 h 635794"/>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382969 w 750317"/>
                <a:gd name="connsiteY4" fmla="*/ 540467 h 635794"/>
                <a:gd name="connsiteX5" fmla="*/ 750317 w 750317"/>
                <a:gd name="connsiteY5" fmla="*/ 467404 h 635794"/>
                <a:gd name="connsiteX6" fmla="*/ 716757 w 750317"/>
                <a:gd name="connsiteY6" fmla="*/ 250032 h 635794"/>
                <a:gd name="connsiteX7" fmla="*/ 66675 w 750317"/>
                <a:gd name="connsiteY7" fmla="*/ 0 h 635794"/>
                <a:gd name="connsiteX0" fmla="*/ 112409 w 750317"/>
                <a:gd name="connsiteY0" fmla="*/ 0 h 601731"/>
                <a:gd name="connsiteX1" fmla="*/ 0 w 750317"/>
                <a:gd name="connsiteY1" fmla="*/ 194537 h 601731"/>
                <a:gd name="connsiteX2" fmla="*/ 47625 w 750317"/>
                <a:gd name="connsiteY2" fmla="*/ 449331 h 601731"/>
                <a:gd name="connsiteX3" fmla="*/ 85725 w 750317"/>
                <a:gd name="connsiteY3" fmla="*/ 601731 h 601731"/>
                <a:gd name="connsiteX4" fmla="*/ 382969 w 750317"/>
                <a:gd name="connsiteY4" fmla="*/ 506404 h 601731"/>
                <a:gd name="connsiteX5" fmla="*/ 750317 w 750317"/>
                <a:gd name="connsiteY5" fmla="*/ 433341 h 601731"/>
                <a:gd name="connsiteX6" fmla="*/ 716757 w 750317"/>
                <a:gd name="connsiteY6" fmla="*/ 215969 h 601731"/>
                <a:gd name="connsiteX7" fmla="*/ 112409 w 750317"/>
                <a:gd name="connsiteY7" fmla="*/ 0 h 601731"/>
                <a:gd name="connsiteX0" fmla="*/ 85651 w 723559"/>
                <a:gd name="connsiteY0" fmla="*/ 0 h 601731"/>
                <a:gd name="connsiteX1" fmla="*/ 0 w 723559"/>
                <a:gd name="connsiteY1" fmla="*/ 221788 h 601731"/>
                <a:gd name="connsiteX2" fmla="*/ 20867 w 723559"/>
                <a:gd name="connsiteY2" fmla="*/ 449331 h 601731"/>
                <a:gd name="connsiteX3" fmla="*/ 58967 w 723559"/>
                <a:gd name="connsiteY3" fmla="*/ 601731 h 601731"/>
                <a:gd name="connsiteX4" fmla="*/ 356211 w 723559"/>
                <a:gd name="connsiteY4" fmla="*/ 506404 h 601731"/>
                <a:gd name="connsiteX5" fmla="*/ 723559 w 723559"/>
                <a:gd name="connsiteY5" fmla="*/ 433341 h 601731"/>
                <a:gd name="connsiteX6" fmla="*/ 689999 w 723559"/>
                <a:gd name="connsiteY6" fmla="*/ 215969 h 601731"/>
                <a:gd name="connsiteX7" fmla="*/ 85651 w 723559"/>
                <a:gd name="connsiteY7" fmla="*/ 0 h 601731"/>
                <a:gd name="connsiteX0" fmla="*/ 85651 w 723559"/>
                <a:gd name="connsiteY0" fmla="*/ 0 h 601731"/>
                <a:gd name="connsiteX1" fmla="*/ 0 w 723559"/>
                <a:gd name="connsiteY1" fmla="*/ 221788 h 601731"/>
                <a:gd name="connsiteX2" fmla="*/ 25732 w 723559"/>
                <a:gd name="connsiteY2" fmla="*/ 449818 h 601731"/>
                <a:gd name="connsiteX3" fmla="*/ 58967 w 723559"/>
                <a:gd name="connsiteY3" fmla="*/ 601731 h 601731"/>
                <a:gd name="connsiteX4" fmla="*/ 356211 w 723559"/>
                <a:gd name="connsiteY4" fmla="*/ 506404 h 601731"/>
                <a:gd name="connsiteX5" fmla="*/ 723559 w 723559"/>
                <a:gd name="connsiteY5" fmla="*/ 433341 h 601731"/>
                <a:gd name="connsiteX6" fmla="*/ 689999 w 723559"/>
                <a:gd name="connsiteY6" fmla="*/ 215969 h 601731"/>
                <a:gd name="connsiteX7" fmla="*/ 85651 w 723559"/>
                <a:gd name="connsiteY7" fmla="*/ 0 h 601731"/>
                <a:gd name="connsiteX0" fmla="*/ 82895 w 723559"/>
                <a:gd name="connsiteY0" fmla="*/ 0 h 620572"/>
                <a:gd name="connsiteX1" fmla="*/ 0 w 723559"/>
                <a:gd name="connsiteY1" fmla="*/ 240629 h 620572"/>
                <a:gd name="connsiteX2" fmla="*/ 25732 w 723559"/>
                <a:gd name="connsiteY2" fmla="*/ 468659 h 620572"/>
                <a:gd name="connsiteX3" fmla="*/ 58967 w 723559"/>
                <a:gd name="connsiteY3" fmla="*/ 620572 h 620572"/>
                <a:gd name="connsiteX4" fmla="*/ 356211 w 723559"/>
                <a:gd name="connsiteY4" fmla="*/ 525245 h 620572"/>
                <a:gd name="connsiteX5" fmla="*/ 723559 w 723559"/>
                <a:gd name="connsiteY5" fmla="*/ 452182 h 620572"/>
                <a:gd name="connsiteX6" fmla="*/ 689999 w 723559"/>
                <a:gd name="connsiteY6" fmla="*/ 234810 h 620572"/>
                <a:gd name="connsiteX7" fmla="*/ 82895 w 723559"/>
                <a:gd name="connsiteY7" fmla="*/ 0 h 620572"/>
                <a:gd name="connsiteX0" fmla="*/ 82895 w 723559"/>
                <a:gd name="connsiteY0" fmla="*/ 0 h 620572"/>
                <a:gd name="connsiteX1" fmla="*/ 0 w 723559"/>
                <a:gd name="connsiteY1" fmla="*/ 240629 h 620572"/>
                <a:gd name="connsiteX2" fmla="*/ 25732 w 723559"/>
                <a:gd name="connsiteY2" fmla="*/ 468659 h 620572"/>
                <a:gd name="connsiteX3" fmla="*/ 58967 w 723559"/>
                <a:gd name="connsiteY3" fmla="*/ 620572 h 620572"/>
                <a:gd name="connsiteX4" fmla="*/ 356211 w 723559"/>
                <a:gd name="connsiteY4" fmla="*/ 525245 h 620572"/>
                <a:gd name="connsiteX5" fmla="*/ 723559 w 723559"/>
                <a:gd name="connsiteY5" fmla="*/ 452182 h 620572"/>
                <a:gd name="connsiteX6" fmla="*/ 681729 w 723559"/>
                <a:gd name="connsiteY6" fmla="*/ 224700 h 620572"/>
                <a:gd name="connsiteX7" fmla="*/ 82895 w 723559"/>
                <a:gd name="connsiteY7" fmla="*/ 0 h 620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3559" h="620572">
                  <a:moveTo>
                    <a:pt x="82895" y="0"/>
                  </a:moveTo>
                  <a:lnTo>
                    <a:pt x="0" y="240629"/>
                  </a:lnTo>
                  <a:lnTo>
                    <a:pt x="25732" y="468659"/>
                  </a:lnTo>
                  <a:lnTo>
                    <a:pt x="58967" y="620572"/>
                  </a:lnTo>
                  <a:lnTo>
                    <a:pt x="356211" y="525245"/>
                  </a:lnTo>
                  <a:lnTo>
                    <a:pt x="723559" y="452182"/>
                  </a:lnTo>
                  <a:lnTo>
                    <a:pt x="681729" y="224700"/>
                  </a:lnTo>
                  <a:lnTo>
                    <a:pt x="82895" y="0"/>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Forma libre 7">
              <a:extLst>
                <a:ext uri="{FF2B5EF4-FFF2-40B4-BE49-F238E27FC236}">
                  <a16:creationId xmlns:a16="http://schemas.microsoft.com/office/drawing/2014/main" id="{BCD2B0FC-3308-4893-AE50-BD70D8F06C11}"/>
                </a:ext>
              </a:extLst>
            </p:cNvPr>
            <p:cNvSpPr/>
            <p:nvPr/>
          </p:nvSpPr>
          <p:spPr>
            <a:xfrm rot="21257051">
              <a:off x="9465798" y="1814127"/>
              <a:ext cx="3698381" cy="3070618"/>
            </a:xfrm>
            <a:custGeom>
              <a:avLst/>
              <a:gdLst>
                <a:gd name="connsiteX0" fmla="*/ 361950 w 2571750"/>
                <a:gd name="connsiteY0" fmla="*/ 0 h 2311400"/>
                <a:gd name="connsiteX1" fmla="*/ 355600 w 2571750"/>
                <a:gd name="connsiteY1" fmla="*/ 120650 h 2311400"/>
                <a:gd name="connsiteX2" fmla="*/ 127000 w 2571750"/>
                <a:gd name="connsiteY2" fmla="*/ 927100 h 2311400"/>
                <a:gd name="connsiteX3" fmla="*/ 50800 w 2571750"/>
                <a:gd name="connsiteY3" fmla="*/ 958850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61950 w 2571750"/>
                <a:gd name="connsiteY0" fmla="*/ 0 h 2311400"/>
                <a:gd name="connsiteX1" fmla="*/ 355600 w 2571750"/>
                <a:gd name="connsiteY1" fmla="*/ 120650 h 2311400"/>
                <a:gd name="connsiteX2" fmla="*/ 101786 w 2571750"/>
                <a:gd name="connsiteY2" fmla="*/ 856862 h 2311400"/>
                <a:gd name="connsiteX3" fmla="*/ 50800 w 2571750"/>
                <a:gd name="connsiteY3" fmla="*/ 958850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61950 w 2571750"/>
                <a:gd name="connsiteY0" fmla="*/ 0 h 2311400"/>
                <a:gd name="connsiteX1" fmla="*/ 355600 w 2571750"/>
                <a:gd name="connsiteY1" fmla="*/ 120650 h 2311400"/>
                <a:gd name="connsiteX2" fmla="*/ 101786 w 2571750"/>
                <a:gd name="connsiteY2" fmla="*/ 856862 h 2311400"/>
                <a:gd name="connsiteX3" fmla="*/ 22071 w 2571750"/>
                <a:gd name="connsiteY3" fmla="*/ 923731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80109 w 2589909"/>
                <a:gd name="connsiteY0" fmla="*/ 0 h 2311400"/>
                <a:gd name="connsiteX1" fmla="*/ 373759 w 2589909"/>
                <a:gd name="connsiteY1" fmla="*/ 120650 h 2311400"/>
                <a:gd name="connsiteX2" fmla="*/ 119945 w 2589909"/>
                <a:gd name="connsiteY2" fmla="*/ 856862 h 2311400"/>
                <a:gd name="connsiteX3" fmla="*/ 40230 w 2589909"/>
                <a:gd name="connsiteY3" fmla="*/ 923731 h 2311400"/>
                <a:gd name="connsiteX4" fmla="*/ 18159 w 2589909"/>
                <a:gd name="connsiteY4" fmla="*/ 1028700 h 2311400"/>
                <a:gd name="connsiteX5" fmla="*/ 0 w 2589909"/>
                <a:gd name="connsiteY5" fmla="*/ 1136396 h 2311400"/>
                <a:gd name="connsiteX6" fmla="*/ 43559 w 2589909"/>
                <a:gd name="connsiteY6" fmla="*/ 1206500 h 2311400"/>
                <a:gd name="connsiteX7" fmla="*/ 88009 w 2589909"/>
                <a:gd name="connsiteY7" fmla="*/ 1289050 h 2311400"/>
                <a:gd name="connsiteX8" fmla="*/ 2545459 w 2589909"/>
                <a:gd name="connsiteY8" fmla="*/ 2311400 h 2311400"/>
                <a:gd name="connsiteX9" fmla="*/ 2551809 w 2589909"/>
                <a:gd name="connsiteY9" fmla="*/ 2228850 h 2311400"/>
                <a:gd name="connsiteX10" fmla="*/ 2532759 w 2589909"/>
                <a:gd name="connsiteY10" fmla="*/ 2006600 h 2311400"/>
                <a:gd name="connsiteX11" fmla="*/ 2520059 w 2589909"/>
                <a:gd name="connsiteY11" fmla="*/ 1835150 h 2311400"/>
                <a:gd name="connsiteX12" fmla="*/ 2520059 w 2589909"/>
                <a:gd name="connsiteY12" fmla="*/ 1708150 h 2311400"/>
                <a:gd name="connsiteX13" fmla="*/ 2577209 w 2589909"/>
                <a:gd name="connsiteY13" fmla="*/ 1600200 h 2311400"/>
                <a:gd name="connsiteX14" fmla="*/ 2589909 w 2589909"/>
                <a:gd name="connsiteY14" fmla="*/ 1435100 h 2311400"/>
                <a:gd name="connsiteX15" fmla="*/ 2577209 w 2589909"/>
                <a:gd name="connsiteY15" fmla="*/ 1174750 h 2311400"/>
                <a:gd name="connsiteX16" fmla="*/ 380109 w 2589909"/>
                <a:gd name="connsiteY16" fmla="*/ 0 h 2311400"/>
                <a:gd name="connsiteX0" fmla="*/ 381425 w 2591225"/>
                <a:gd name="connsiteY0" fmla="*/ 0 h 2311400"/>
                <a:gd name="connsiteX1" fmla="*/ 375075 w 2591225"/>
                <a:gd name="connsiteY1" fmla="*/ 120650 h 2311400"/>
                <a:gd name="connsiteX2" fmla="*/ 121261 w 2591225"/>
                <a:gd name="connsiteY2" fmla="*/ 856862 h 2311400"/>
                <a:gd name="connsiteX3" fmla="*/ 41546 w 2591225"/>
                <a:gd name="connsiteY3" fmla="*/ 923731 h 2311400"/>
                <a:gd name="connsiteX4" fmla="*/ 0 w 2591225"/>
                <a:gd name="connsiteY4" fmla="*/ 1029975 h 2311400"/>
                <a:gd name="connsiteX5" fmla="*/ 1316 w 2591225"/>
                <a:gd name="connsiteY5" fmla="*/ 1136396 h 2311400"/>
                <a:gd name="connsiteX6" fmla="*/ 44875 w 2591225"/>
                <a:gd name="connsiteY6" fmla="*/ 1206500 h 2311400"/>
                <a:gd name="connsiteX7" fmla="*/ 89325 w 2591225"/>
                <a:gd name="connsiteY7" fmla="*/ 1289050 h 2311400"/>
                <a:gd name="connsiteX8" fmla="*/ 2546775 w 2591225"/>
                <a:gd name="connsiteY8" fmla="*/ 2311400 h 2311400"/>
                <a:gd name="connsiteX9" fmla="*/ 2553125 w 2591225"/>
                <a:gd name="connsiteY9" fmla="*/ 2228850 h 2311400"/>
                <a:gd name="connsiteX10" fmla="*/ 2534075 w 2591225"/>
                <a:gd name="connsiteY10" fmla="*/ 2006600 h 2311400"/>
                <a:gd name="connsiteX11" fmla="*/ 2521375 w 2591225"/>
                <a:gd name="connsiteY11" fmla="*/ 1835150 h 2311400"/>
                <a:gd name="connsiteX12" fmla="*/ 2521375 w 2591225"/>
                <a:gd name="connsiteY12" fmla="*/ 1708150 h 2311400"/>
                <a:gd name="connsiteX13" fmla="*/ 2578525 w 2591225"/>
                <a:gd name="connsiteY13" fmla="*/ 1600200 h 2311400"/>
                <a:gd name="connsiteX14" fmla="*/ 2591225 w 2591225"/>
                <a:gd name="connsiteY14" fmla="*/ 1435100 h 2311400"/>
                <a:gd name="connsiteX15" fmla="*/ 2578525 w 2591225"/>
                <a:gd name="connsiteY15" fmla="*/ 1174750 h 2311400"/>
                <a:gd name="connsiteX16" fmla="*/ 381425 w 2591225"/>
                <a:gd name="connsiteY16"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91225" h="2311400">
                  <a:moveTo>
                    <a:pt x="381425" y="0"/>
                  </a:moveTo>
                  <a:lnTo>
                    <a:pt x="375075" y="120650"/>
                  </a:lnTo>
                  <a:lnTo>
                    <a:pt x="121261" y="856862"/>
                  </a:lnTo>
                  <a:lnTo>
                    <a:pt x="41546" y="923731"/>
                  </a:lnTo>
                  <a:lnTo>
                    <a:pt x="0" y="1029975"/>
                  </a:lnTo>
                  <a:cubicBezTo>
                    <a:pt x="439" y="1065449"/>
                    <a:pt x="877" y="1100922"/>
                    <a:pt x="1316" y="1136396"/>
                  </a:cubicBezTo>
                  <a:lnTo>
                    <a:pt x="44875" y="1206500"/>
                  </a:lnTo>
                  <a:lnTo>
                    <a:pt x="89325" y="1289050"/>
                  </a:lnTo>
                  <a:lnTo>
                    <a:pt x="2546775" y="2311400"/>
                  </a:lnTo>
                  <a:lnTo>
                    <a:pt x="2553125" y="2228850"/>
                  </a:lnTo>
                  <a:lnTo>
                    <a:pt x="2534075" y="2006600"/>
                  </a:lnTo>
                  <a:lnTo>
                    <a:pt x="2521375" y="1835150"/>
                  </a:lnTo>
                  <a:lnTo>
                    <a:pt x="2521375" y="1708150"/>
                  </a:lnTo>
                  <a:lnTo>
                    <a:pt x="2578525" y="1600200"/>
                  </a:lnTo>
                  <a:lnTo>
                    <a:pt x="2591225" y="1435100"/>
                  </a:lnTo>
                  <a:lnTo>
                    <a:pt x="2578525" y="1174750"/>
                  </a:lnTo>
                  <a:lnTo>
                    <a:pt x="381425"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dirty="0"/>
            </a:p>
          </p:txBody>
        </p:sp>
        <p:sp>
          <p:nvSpPr>
            <p:cNvPr id="16" name="CuadroTexto 15">
              <a:extLst>
                <a:ext uri="{FF2B5EF4-FFF2-40B4-BE49-F238E27FC236}">
                  <a16:creationId xmlns:a16="http://schemas.microsoft.com/office/drawing/2014/main" id="{D1CBD908-8EF0-4FD9-95DC-4CD4765CAA48}"/>
                </a:ext>
              </a:extLst>
            </p:cNvPr>
            <p:cNvSpPr txBox="1"/>
            <p:nvPr/>
          </p:nvSpPr>
          <p:spPr>
            <a:xfrm>
              <a:off x="10737138" y="3165501"/>
              <a:ext cx="1295607" cy="400110"/>
            </a:xfrm>
            <a:prstGeom prst="rect">
              <a:avLst/>
            </a:prstGeom>
            <a:solidFill>
              <a:schemeClr val="accent5">
                <a:lumMod val="60000"/>
                <a:lumOff val="40000"/>
                <a:alpha val="61000"/>
              </a:schemeClr>
            </a:solidFill>
            <a:ln>
              <a:noFill/>
            </a:ln>
          </p:spPr>
          <p:txBody>
            <a:bodyPr wrap="square" rtlCol="0" anchor="ctr" anchorCtr="0">
              <a:spAutoFit/>
            </a:bodyPr>
            <a:lstStyle/>
            <a:p>
              <a:pPr algn="ctr"/>
              <a:r>
                <a:rPr lang="es-PE" sz="1000" b="1" dirty="0">
                  <a:solidFill>
                    <a:schemeClr val="tx2"/>
                  </a:solidFill>
                </a:rPr>
                <a:t>Base Naval </a:t>
              </a:r>
            </a:p>
            <a:p>
              <a:pPr algn="ctr"/>
              <a:r>
                <a:rPr lang="es-PE" sz="1000" b="1" dirty="0">
                  <a:solidFill>
                    <a:schemeClr val="tx2"/>
                  </a:solidFill>
                </a:rPr>
                <a:t>zona Norte </a:t>
              </a:r>
            </a:p>
          </p:txBody>
        </p:sp>
        <p:sp>
          <p:nvSpPr>
            <p:cNvPr id="17" name="CuadroTexto 16">
              <a:extLst>
                <a:ext uri="{FF2B5EF4-FFF2-40B4-BE49-F238E27FC236}">
                  <a16:creationId xmlns:a16="http://schemas.microsoft.com/office/drawing/2014/main" id="{2F7765ED-2082-4553-B486-6B9F4E05D572}"/>
                </a:ext>
              </a:extLst>
            </p:cNvPr>
            <p:cNvSpPr txBox="1"/>
            <p:nvPr/>
          </p:nvSpPr>
          <p:spPr>
            <a:xfrm>
              <a:off x="13072079" y="2231143"/>
              <a:ext cx="1294808" cy="766633"/>
            </a:xfrm>
            <a:prstGeom prst="rect">
              <a:avLst/>
            </a:prstGeom>
            <a:solidFill>
              <a:srgbClr val="F08270">
                <a:alpha val="52000"/>
              </a:srgbClr>
            </a:solidFill>
            <a:ln>
              <a:noFill/>
            </a:ln>
          </p:spPr>
          <p:txBody>
            <a:bodyPr wrap="square" rtlCol="0" anchor="ctr" anchorCtr="0">
              <a:spAutoFit/>
            </a:bodyPr>
            <a:lstStyle/>
            <a:p>
              <a:pPr algn="ctr"/>
              <a:r>
                <a:rPr lang="es-PE" sz="1050" b="1" dirty="0">
                  <a:solidFill>
                    <a:schemeClr val="bg1"/>
                  </a:solidFill>
                </a:rPr>
                <a:t>Aeropuerto</a:t>
              </a:r>
            </a:p>
            <a:p>
              <a:pPr algn="ctr"/>
              <a:r>
                <a:rPr lang="en-US" sz="1050" b="1" dirty="0">
                  <a:solidFill>
                    <a:schemeClr val="bg1"/>
                  </a:solidFill>
                </a:rPr>
                <a:t>Jorge Chavez</a:t>
              </a:r>
              <a:endParaRPr lang="es-PE" sz="1050" b="1" dirty="0">
                <a:solidFill>
                  <a:schemeClr val="bg1"/>
                </a:solidFill>
              </a:endParaRPr>
            </a:p>
          </p:txBody>
        </p:sp>
        <p:sp>
          <p:nvSpPr>
            <p:cNvPr id="19" name="CuadroTexto 18">
              <a:extLst>
                <a:ext uri="{FF2B5EF4-FFF2-40B4-BE49-F238E27FC236}">
                  <a16:creationId xmlns:a16="http://schemas.microsoft.com/office/drawing/2014/main" id="{37D332FD-3722-4E15-99CE-26DC7EB6149D}"/>
                </a:ext>
              </a:extLst>
            </p:cNvPr>
            <p:cNvSpPr txBox="1"/>
            <p:nvPr/>
          </p:nvSpPr>
          <p:spPr>
            <a:xfrm rot="994766">
              <a:off x="13043067" y="4738927"/>
              <a:ext cx="1213056" cy="347540"/>
            </a:xfrm>
            <a:prstGeom prst="rect">
              <a:avLst/>
            </a:prstGeom>
            <a:noFill/>
          </p:spPr>
          <p:txBody>
            <a:bodyPr wrap="none" rtlCol="0">
              <a:spAutoFit/>
            </a:bodyPr>
            <a:lstStyle/>
            <a:p>
              <a:r>
                <a:rPr lang="en-US" sz="1100" dirty="0">
                  <a:solidFill>
                    <a:schemeClr val="bg1"/>
                  </a:solidFill>
                </a:rPr>
                <a:t>Río Rímac</a:t>
              </a:r>
              <a:endParaRPr lang="es-PE" sz="1100" dirty="0">
                <a:solidFill>
                  <a:schemeClr val="bg1"/>
                </a:solidFill>
              </a:endParaRPr>
            </a:p>
          </p:txBody>
        </p:sp>
        <p:sp>
          <p:nvSpPr>
            <p:cNvPr id="20" name="CuadroTexto 19">
              <a:extLst>
                <a:ext uri="{FF2B5EF4-FFF2-40B4-BE49-F238E27FC236}">
                  <a16:creationId xmlns:a16="http://schemas.microsoft.com/office/drawing/2014/main" id="{D74CAFA9-D541-4D00-B82A-B07546F72797}"/>
                </a:ext>
              </a:extLst>
            </p:cNvPr>
            <p:cNvSpPr txBox="1"/>
            <p:nvPr/>
          </p:nvSpPr>
          <p:spPr>
            <a:xfrm rot="5057051">
              <a:off x="12571789" y="3686410"/>
              <a:ext cx="1627392" cy="362407"/>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 N. Gambetta</a:t>
              </a:r>
              <a:endParaRPr lang="en-US" sz="1050" b="1" dirty="0">
                <a:solidFill>
                  <a:schemeClr val="bg1"/>
                </a:solidFill>
              </a:endParaRPr>
            </a:p>
          </p:txBody>
        </p:sp>
        <p:sp>
          <p:nvSpPr>
            <p:cNvPr id="21" name="CuadroTexto 20">
              <a:extLst>
                <a:ext uri="{FF2B5EF4-FFF2-40B4-BE49-F238E27FC236}">
                  <a16:creationId xmlns:a16="http://schemas.microsoft.com/office/drawing/2014/main" id="{8357D77F-EFA1-4524-9110-7C234862DA72}"/>
                </a:ext>
              </a:extLst>
            </p:cNvPr>
            <p:cNvSpPr txBox="1"/>
            <p:nvPr/>
          </p:nvSpPr>
          <p:spPr>
            <a:xfrm rot="20451396">
              <a:off x="12077837" y="6432374"/>
              <a:ext cx="1302284" cy="337319"/>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 Atalaya</a:t>
              </a:r>
              <a:endParaRPr lang="en-US" sz="1050" b="1" dirty="0">
                <a:solidFill>
                  <a:schemeClr val="bg1"/>
                </a:solidFill>
              </a:endParaRPr>
            </a:p>
          </p:txBody>
        </p:sp>
        <p:sp>
          <p:nvSpPr>
            <p:cNvPr id="22" name="CuadroTexto 21">
              <a:extLst>
                <a:ext uri="{FF2B5EF4-FFF2-40B4-BE49-F238E27FC236}">
                  <a16:creationId xmlns:a16="http://schemas.microsoft.com/office/drawing/2014/main" id="{2D44D679-DDC1-4B77-AA13-F853389DDEBF}"/>
                </a:ext>
              </a:extLst>
            </p:cNvPr>
            <p:cNvSpPr txBox="1"/>
            <p:nvPr/>
          </p:nvSpPr>
          <p:spPr>
            <a:xfrm rot="4718626">
              <a:off x="11016195" y="6141131"/>
              <a:ext cx="1488972" cy="362407"/>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.Calm. Mora</a:t>
              </a:r>
              <a:endParaRPr lang="en-US" sz="1050" b="1" dirty="0">
                <a:solidFill>
                  <a:schemeClr val="bg1"/>
                </a:solidFill>
              </a:endParaRPr>
            </a:p>
          </p:txBody>
        </p:sp>
        <p:sp>
          <p:nvSpPr>
            <p:cNvPr id="23" name="CuadroTexto 22">
              <a:extLst>
                <a:ext uri="{FF2B5EF4-FFF2-40B4-BE49-F238E27FC236}">
                  <a16:creationId xmlns:a16="http://schemas.microsoft.com/office/drawing/2014/main" id="{75369C23-4B23-469C-B15C-2741B923340E}"/>
                </a:ext>
              </a:extLst>
            </p:cNvPr>
            <p:cNvSpPr txBox="1"/>
            <p:nvPr/>
          </p:nvSpPr>
          <p:spPr>
            <a:xfrm rot="18213366">
              <a:off x="10047851" y="7106376"/>
              <a:ext cx="827803" cy="439281"/>
            </a:xfrm>
            <a:prstGeom prst="rect">
              <a:avLst/>
            </a:prstGeom>
            <a:solidFill>
              <a:schemeClr val="accent6">
                <a:lumMod val="40000"/>
                <a:lumOff val="60000"/>
                <a:alpha val="72000"/>
              </a:schemeClr>
            </a:solidFill>
            <a:ln>
              <a:noFill/>
            </a:ln>
          </p:spPr>
          <p:txBody>
            <a:bodyPr wrap="square" rtlCol="0" anchor="ctr" anchorCtr="0">
              <a:spAutoFit/>
            </a:bodyPr>
            <a:lstStyle/>
            <a:p>
              <a:pPr algn="ctr"/>
              <a:r>
                <a:rPr lang="es-ES" sz="700" b="1" dirty="0"/>
                <a:t>APM TERMINALS</a:t>
              </a:r>
              <a:endParaRPr lang="es-PE" sz="700" b="1" dirty="0"/>
            </a:p>
          </p:txBody>
        </p:sp>
        <p:sp>
          <p:nvSpPr>
            <p:cNvPr id="25" name="CuadroTexto 24">
              <a:extLst>
                <a:ext uri="{FF2B5EF4-FFF2-40B4-BE49-F238E27FC236}">
                  <a16:creationId xmlns:a16="http://schemas.microsoft.com/office/drawing/2014/main" id="{DC726EA2-4D4D-4CDE-A7B5-AD22293D7B00}"/>
                </a:ext>
              </a:extLst>
            </p:cNvPr>
            <p:cNvSpPr txBox="1"/>
            <p:nvPr/>
          </p:nvSpPr>
          <p:spPr>
            <a:xfrm>
              <a:off x="7974282" y="7980876"/>
              <a:ext cx="1086557" cy="286210"/>
            </a:xfrm>
            <a:prstGeom prst="rect">
              <a:avLst/>
            </a:prstGeom>
            <a:solidFill>
              <a:srgbClr val="FBB88F">
                <a:alpha val="78000"/>
              </a:srgbClr>
            </a:solidFill>
            <a:ln>
              <a:noFill/>
            </a:ln>
          </p:spPr>
          <p:txBody>
            <a:bodyPr wrap="square" rtlCol="0" anchor="ctr" anchorCtr="0">
              <a:spAutoFit/>
            </a:bodyPr>
            <a:lstStyle/>
            <a:p>
              <a:pPr algn="ctr"/>
              <a:r>
                <a:rPr lang="es-ES" sz="800" b="1" dirty="0">
                  <a:solidFill>
                    <a:schemeClr val="bg1"/>
                  </a:solidFill>
                </a:rPr>
                <a:t>DP WORLD</a:t>
              </a:r>
              <a:endParaRPr lang="es-PE" sz="800" b="1" dirty="0">
                <a:solidFill>
                  <a:schemeClr val="bg1"/>
                </a:solidFill>
              </a:endParaRPr>
            </a:p>
          </p:txBody>
        </p:sp>
        <p:sp>
          <p:nvSpPr>
            <p:cNvPr id="27" name="Forma libre 19">
              <a:extLst>
                <a:ext uri="{FF2B5EF4-FFF2-40B4-BE49-F238E27FC236}">
                  <a16:creationId xmlns:a16="http://schemas.microsoft.com/office/drawing/2014/main" id="{FFF2DDB6-FE8E-40E1-AC5B-954F29FE0D10}"/>
                </a:ext>
              </a:extLst>
            </p:cNvPr>
            <p:cNvSpPr/>
            <p:nvPr/>
          </p:nvSpPr>
          <p:spPr>
            <a:xfrm rot="21257051">
              <a:off x="9549970" y="6008729"/>
              <a:ext cx="2245260" cy="2090810"/>
            </a:xfrm>
            <a:custGeom>
              <a:avLst/>
              <a:gdLst>
                <a:gd name="connsiteX0" fmla="*/ 242684 w 1573114"/>
                <a:gd name="connsiteY0" fmla="*/ 0 h 1594783"/>
                <a:gd name="connsiteX1" fmla="*/ 34669 w 1573114"/>
                <a:gd name="connsiteY1" fmla="*/ 156011 h 1594783"/>
                <a:gd name="connsiteX2" fmla="*/ 338024 w 1573114"/>
                <a:gd name="connsiteY2" fmla="*/ 554707 h 1594783"/>
                <a:gd name="connsiteX3" fmla="*/ 325023 w 1573114"/>
                <a:gd name="connsiteY3" fmla="*/ 628379 h 1594783"/>
                <a:gd name="connsiteX4" fmla="*/ 104007 w 1573114"/>
                <a:gd name="connsiteY4" fmla="*/ 598044 h 1594783"/>
                <a:gd name="connsiteX5" fmla="*/ 104007 w 1573114"/>
                <a:gd name="connsiteY5" fmla="*/ 628379 h 1594783"/>
                <a:gd name="connsiteX6" fmla="*/ 320690 w 1573114"/>
                <a:gd name="connsiteY6" fmla="*/ 667382 h 1594783"/>
                <a:gd name="connsiteX7" fmla="*/ 290354 w 1573114"/>
                <a:gd name="connsiteY7" fmla="*/ 793058 h 1594783"/>
                <a:gd name="connsiteX8" fmla="*/ 195014 w 1573114"/>
                <a:gd name="connsiteY8" fmla="*/ 793058 h 1594783"/>
                <a:gd name="connsiteX9" fmla="*/ 60671 w 1573114"/>
                <a:gd name="connsiteY9" fmla="*/ 758389 h 1594783"/>
                <a:gd name="connsiteX10" fmla="*/ 52003 w 1573114"/>
                <a:gd name="connsiteY10" fmla="*/ 858063 h 1594783"/>
                <a:gd name="connsiteX11" fmla="*/ 281687 w 1573114"/>
                <a:gd name="connsiteY11" fmla="*/ 897065 h 1594783"/>
                <a:gd name="connsiteX12" fmla="*/ 264352 w 1573114"/>
                <a:gd name="connsiteY12" fmla="*/ 1014074 h 1594783"/>
                <a:gd name="connsiteX13" fmla="*/ 30335 w 1573114"/>
                <a:gd name="connsiteY13" fmla="*/ 983738 h 1594783"/>
                <a:gd name="connsiteX14" fmla="*/ 13001 w 1573114"/>
                <a:gd name="connsiteY14" fmla="*/ 1079079 h 1594783"/>
                <a:gd name="connsiteX15" fmla="*/ 234017 w 1573114"/>
                <a:gd name="connsiteY15" fmla="*/ 1113748 h 1594783"/>
                <a:gd name="connsiteX16" fmla="*/ 225349 w 1573114"/>
                <a:gd name="connsiteY16" fmla="*/ 1230756 h 1594783"/>
                <a:gd name="connsiteX17" fmla="*/ 0 w 1573114"/>
                <a:gd name="connsiteY17" fmla="*/ 1204755 h 1594783"/>
                <a:gd name="connsiteX18" fmla="*/ 0 w 1573114"/>
                <a:gd name="connsiteY18" fmla="*/ 1252425 h 1594783"/>
                <a:gd name="connsiteX19" fmla="*/ 225349 w 1573114"/>
                <a:gd name="connsiteY19" fmla="*/ 1287094 h 1594783"/>
                <a:gd name="connsiteX20" fmla="*/ 160345 w 1573114"/>
                <a:gd name="connsiteY20" fmla="*/ 1417103 h 1594783"/>
                <a:gd name="connsiteX21" fmla="*/ 463700 w 1573114"/>
                <a:gd name="connsiteY21" fmla="*/ 1594783 h 1594783"/>
                <a:gd name="connsiteX22" fmla="*/ 927401 w 1573114"/>
                <a:gd name="connsiteY22" fmla="*/ 1057410 h 1594783"/>
                <a:gd name="connsiteX23" fmla="*/ 1096413 w 1573114"/>
                <a:gd name="connsiteY23" fmla="*/ 949069 h 1594783"/>
                <a:gd name="connsiteX24" fmla="*/ 1573114 w 1573114"/>
                <a:gd name="connsiteY24" fmla="*/ 788724 h 1594783"/>
                <a:gd name="connsiteX25" fmla="*/ 1564447 w 1573114"/>
                <a:gd name="connsiteY25" fmla="*/ 684717 h 1594783"/>
                <a:gd name="connsiteX26" fmla="*/ 936068 w 1573114"/>
                <a:gd name="connsiteY26" fmla="*/ 780057 h 1594783"/>
                <a:gd name="connsiteX27" fmla="*/ 849395 w 1573114"/>
                <a:gd name="connsiteY27" fmla="*/ 680383 h 1594783"/>
                <a:gd name="connsiteX28" fmla="*/ 736720 w 1573114"/>
                <a:gd name="connsiteY28" fmla="*/ 650047 h 1594783"/>
                <a:gd name="connsiteX29" fmla="*/ 641380 w 1573114"/>
                <a:gd name="connsiteY29" fmla="*/ 628379 h 1594783"/>
                <a:gd name="connsiteX30" fmla="*/ 242684 w 1573114"/>
                <a:gd name="connsiteY30" fmla="*/ 0 h 1594783"/>
                <a:gd name="connsiteX0" fmla="*/ 208059 w 1573114"/>
                <a:gd name="connsiteY0" fmla="*/ 0 h 1573852"/>
                <a:gd name="connsiteX1" fmla="*/ 34669 w 1573114"/>
                <a:gd name="connsiteY1" fmla="*/ 135080 h 1573852"/>
                <a:gd name="connsiteX2" fmla="*/ 338024 w 1573114"/>
                <a:gd name="connsiteY2" fmla="*/ 533776 h 1573852"/>
                <a:gd name="connsiteX3" fmla="*/ 325023 w 1573114"/>
                <a:gd name="connsiteY3" fmla="*/ 607448 h 1573852"/>
                <a:gd name="connsiteX4" fmla="*/ 104007 w 1573114"/>
                <a:gd name="connsiteY4" fmla="*/ 577113 h 1573852"/>
                <a:gd name="connsiteX5" fmla="*/ 104007 w 1573114"/>
                <a:gd name="connsiteY5" fmla="*/ 607448 h 1573852"/>
                <a:gd name="connsiteX6" fmla="*/ 320690 w 1573114"/>
                <a:gd name="connsiteY6" fmla="*/ 646451 h 1573852"/>
                <a:gd name="connsiteX7" fmla="*/ 290354 w 1573114"/>
                <a:gd name="connsiteY7" fmla="*/ 772127 h 1573852"/>
                <a:gd name="connsiteX8" fmla="*/ 195014 w 1573114"/>
                <a:gd name="connsiteY8" fmla="*/ 772127 h 1573852"/>
                <a:gd name="connsiteX9" fmla="*/ 60671 w 1573114"/>
                <a:gd name="connsiteY9" fmla="*/ 737458 h 1573852"/>
                <a:gd name="connsiteX10" fmla="*/ 52003 w 1573114"/>
                <a:gd name="connsiteY10" fmla="*/ 837132 h 1573852"/>
                <a:gd name="connsiteX11" fmla="*/ 281687 w 1573114"/>
                <a:gd name="connsiteY11" fmla="*/ 876134 h 1573852"/>
                <a:gd name="connsiteX12" fmla="*/ 264352 w 1573114"/>
                <a:gd name="connsiteY12" fmla="*/ 993143 h 1573852"/>
                <a:gd name="connsiteX13" fmla="*/ 30335 w 1573114"/>
                <a:gd name="connsiteY13" fmla="*/ 962807 h 1573852"/>
                <a:gd name="connsiteX14" fmla="*/ 13001 w 1573114"/>
                <a:gd name="connsiteY14" fmla="*/ 1058148 h 1573852"/>
                <a:gd name="connsiteX15" fmla="*/ 234017 w 1573114"/>
                <a:gd name="connsiteY15" fmla="*/ 1092817 h 1573852"/>
                <a:gd name="connsiteX16" fmla="*/ 225349 w 1573114"/>
                <a:gd name="connsiteY16" fmla="*/ 1209825 h 1573852"/>
                <a:gd name="connsiteX17" fmla="*/ 0 w 1573114"/>
                <a:gd name="connsiteY17" fmla="*/ 1183824 h 1573852"/>
                <a:gd name="connsiteX18" fmla="*/ 0 w 1573114"/>
                <a:gd name="connsiteY18" fmla="*/ 1231494 h 1573852"/>
                <a:gd name="connsiteX19" fmla="*/ 225349 w 1573114"/>
                <a:gd name="connsiteY19" fmla="*/ 1266163 h 1573852"/>
                <a:gd name="connsiteX20" fmla="*/ 160345 w 1573114"/>
                <a:gd name="connsiteY20" fmla="*/ 1396172 h 1573852"/>
                <a:gd name="connsiteX21" fmla="*/ 463700 w 1573114"/>
                <a:gd name="connsiteY21" fmla="*/ 1573852 h 1573852"/>
                <a:gd name="connsiteX22" fmla="*/ 927401 w 1573114"/>
                <a:gd name="connsiteY22" fmla="*/ 1036479 h 1573852"/>
                <a:gd name="connsiteX23" fmla="*/ 1096413 w 1573114"/>
                <a:gd name="connsiteY23" fmla="*/ 928138 h 1573852"/>
                <a:gd name="connsiteX24" fmla="*/ 1573114 w 1573114"/>
                <a:gd name="connsiteY24" fmla="*/ 767793 h 1573852"/>
                <a:gd name="connsiteX25" fmla="*/ 1564447 w 1573114"/>
                <a:gd name="connsiteY25" fmla="*/ 663786 h 1573852"/>
                <a:gd name="connsiteX26" fmla="*/ 936068 w 1573114"/>
                <a:gd name="connsiteY26" fmla="*/ 759126 h 1573852"/>
                <a:gd name="connsiteX27" fmla="*/ 849395 w 1573114"/>
                <a:gd name="connsiteY27" fmla="*/ 659452 h 1573852"/>
                <a:gd name="connsiteX28" fmla="*/ 736720 w 1573114"/>
                <a:gd name="connsiteY28" fmla="*/ 629116 h 1573852"/>
                <a:gd name="connsiteX29" fmla="*/ 641380 w 1573114"/>
                <a:gd name="connsiteY29" fmla="*/ 607448 h 1573852"/>
                <a:gd name="connsiteX30" fmla="*/ 208059 w 1573114"/>
                <a:gd name="connsiteY30" fmla="*/ 0 h 157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73114" h="1573852">
                  <a:moveTo>
                    <a:pt x="208059" y="0"/>
                  </a:moveTo>
                  <a:lnTo>
                    <a:pt x="34669" y="135080"/>
                  </a:lnTo>
                  <a:lnTo>
                    <a:pt x="338024" y="533776"/>
                  </a:lnTo>
                  <a:lnTo>
                    <a:pt x="325023" y="607448"/>
                  </a:lnTo>
                  <a:lnTo>
                    <a:pt x="104007" y="577113"/>
                  </a:lnTo>
                  <a:lnTo>
                    <a:pt x="104007" y="607448"/>
                  </a:lnTo>
                  <a:lnTo>
                    <a:pt x="320690" y="646451"/>
                  </a:lnTo>
                  <a:lnTo>
                    <a:pt x="290354" y="772127"/>
                  </a:lnTo>
                  <a:lnTo>
                    <a:pt x="195014" y="772127"/>
                  </a:lnTo>
                  <a:lnTo>
                    <a:pt x="60671" y="737458"/>
                  </a:lnTo>
                  <a:lnTo>
                    <a:pt x="52003" y="837132"/>
                  </a:lnTo>
                  <a:lnTo>
                    <a:pt x="281687" y="876134"/>
                  </a:lnTo>
                  <a:lnTo>
                    <a:pt x="264352" y="993143"/>
                  </a:lnTo>
                  <a:lnTo>
                    <a:pt x="30335" y="962807"/>
                  </a:lnTo>
                  <a:lnTo>
                    <a:pt x="13001" y="1058148"/>
                  </a:lnTo>
                  <a:lnTo>
                    <a:pt x="234017" y="1092817"/>
                  </a:lnTo>
                  <a:lnTo>
                    <a:pt x="225349" y="1209825"/>
                  </a:lnTo>
                  <a:lnTo>
                    <a:pt x="0" y="1183824"/>
                  </a:lnTo>
                  <a:lnTo>
                    <a:pt x="0" y="1231494"/>
                  </a:lnTo>
                  <a:lnTo>
                    <a:pt x="225349" y="1266163"/>
                  </a:lnTo>
                  <a:lnTo>
                    <a:pt x="160345" y="1396172"/>
                  </a:lnTo>
                  <a:lnTo>
                    <a:pt x="463700" y="1573852"/>
                  </a:lnTo>
                  <a:lnTo>
                    <a:pt x="927401" y="1036479"/>
                  </a:lnTo>
                  <a:lnTo>
                    <a:pt x="1096413" y="928138"/>
                  </a:lnTo>
                  <a:lnTo>
                    <a:pt x="1573114" y="767793"/>
                  </a:lnTo>
                  <a:lnTo>
                    <a:pt x="1564447" y="663786"/>
                  </a:lnTo>
                  <a:lnTo>
                    <a:pt x="936068" y="759126"/>
                  </a:lnTo>
                  <a:lnTo>
                    <a:pt x="849395" y="659452"/>
                  </a:lnTo>
                  <a:lnTo>
                    <a:pt x="736720" y="629116"/>
                  </a:lnTo>
                  <a:lnTo>
                    <a:pt x="641380" y="607448"/>
                  </a:lnTo>
                  <a:lnTo>
                    <a:pt x="208059" y="0"/>
                  </a:lnTo>
                  <a:close/>
                </a:path>
              </a:pathLst>
            </a:custGeom>
            <a:solidFill>
              <a:srgbClr val="C5E0B4">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Forma libre 18">
              <a:extLst>
                <a:ext uri="{FF2B5EF4-FFF2-40B4-BE49-F238E27FC236}">
                  <a16:creationId xmlns:a16="http://schemas.microsoft.com/office/drawing/2014/main" id="{D5567F82-CC57-4F22-8959-AD9EE5648DC5}"/>
                </a:ext>
              </a:extLst>
            </p:cNvPr>
            <p:cNvSpPr/>
            <p:nvPr/>
          </p:nvSpPr>
          <p:spPr>
            <a:xfrm rot="21257051">
              <a:off x="9787833" y="6081131"/>
              <a:ext cx="0" cy="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8" name="Forma libre 20">
              <a:extLst>
                <a:ext uri="{FF2B5EF4-FFF2-40B4-BE49-F238E27FC236}">
                  <a16:creationId xmlns:a16="http://schemas.microsoft.com/office/drawing/2014/main" id="{FEF5920C-ECA2-45B7-A1D2-5B9B8DE71227}"/>
                </a:ext>
              </a:extLst>
            </p:cNvPr>
            <p:cNvSpPr/>
            <p:nvPr/>
          </p:nvSpPr>
          <p:spPr>
            <a:xfrm rot="21198789">
              <a:off x="5934582" y="3318590"/>
              <a:ext cx="4344583" cy="1929922"/>
            </a:xfrm>
            <a:custGeom>
              <a:avLst/>
              <a:gdLst>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4368800 w 5528733"/>
                <a:gd name="connsiteY22" fmla="*/ 2286000 h 2590800"/>
                <a:gd name="connsiteX23" fmla="*/ 5469466 w 5528733"/>
                <a:gd name="connsiteY23" fmla="*/ 2167467 h 2590800"/>
                <a:gd name="connsiteX24" fmla="*/ 5393266 w 5528733"/>
                <a:gd name="connsiteY24" fmla="*/ 1727200 h 2590800"/>
                <a:gd name="connsiteX25" fmla="*/ 5528733 w 5528733"/>
                <a:gd name="connsiteY25" fmla="*/ 1278467 h 2590800"/>
                <a:gd name="connsiteX26" fmla="*/ 3877733 w 5528733"/>
                <a:gd name="connsiteY26" fmla="*/ 601134 h 2590800"/>
                <a:gd name="connsiteX27" fmla="*/ 1430866 w 5528733"/>
                <a:gd name="connsiteY27"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5469466 w 5528733"/>
                <a:gd name="connsiteY22" fmla="*/ 2167467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5481793 w 5528733"/>
                <a:gd name="connsiteY22" fmla="*/ 2210789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534964 w 5528733"/>
                <a:gd name="connsiteY21" fmla="*/ 2416245 h 2590800"/>
                <a:gd name="connsiteX22" fmla="*/ 5481793 w 5528733"/>
                <a:gd name="connsiteY22" fmla="*/ 2210789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606029"/>
                <a:gd name="connsiteY0" fmla="*/ 0 h 2590800"/>
                <a:gd name="connsiteX1" fmla="*/ 389466 w 5606029"/>
                <a:gd name="connsiteY1" fmla="*/ 1024467 h 2590800"/>
                <a:gd name="connsiteX2" fmla="*/ 431800 w 5606029"/>
                <a:gd name="connsiteY2" fmla="*/ 1066800 h 2590800"/>
                <a:gd name="connsiteX3" fmla="*/ 482600 w 5606029"/>
                <a:gd name="connsiteY3" fmla="*/ 1007534 h 2590800"/>
                <a:gd name="connsiteX4" fmla="*/ 1456266 w 5606029"/>
                <a:gd name="connsiteY4" fmla="*/ 76200 h 2590800"/>
                <a:gd name="connsiteX5" fmla="*/ 3835400 w 5606029"/>
                <a:gd name="connsiteY5" fmla="*/ 694267 h 2590800"/>
                <a:gd name="connsiteX6" fmla="*/ 3708400 w 5606029"/>
                <a:gd name="connsiteY6" fmla="*/ 1193800 h 2590800"/>
                <a:gd name="connsiteX7" fmla="*/ 2336800 w 5606029"/>
                <a:gd name="connsiteY7" fmla="*/ 863600 h 2590800"/>
                <a:gd name="connsiteX8" fmla="*/ 2311400 w 5606029"/>
                <a:gd name="connsiteY8" fmla="*/ 922867 h 2590800"/>
                <a:gd name="connsiteX9" fmla="*/ 3683000 w 5606029"/>
                <a:gd name="connsiteY9" fmla="*/ 1286934 h 2590800"/>
                <a:gd name="connsiteX10" fmla="*/ 3759200 w 5606029"/>
                <a:gd name="connsiteY10" fmla="*/ 1286934 h 2590800"/>
                <a:gd name="connsiteX11" fmla="*/ 3589866 w 5606029"/>
                <a:gd name="connsiteY11" fmla="*/ 1862667 h 2590800"/>
                <a:gd name="connsiteX12" fmla="*/ 2167466 w 5606029"/>
                <a:gd name="connsiteY12" fmla="*/ 1473200 h 2590800"/>
                <a:gd name="connsiteX13" fmla="*/ 2159000 w 5606029"/>
                <a:gd name="connsiteY13" fmla="*/ 1566334 h 2590800"/>
                <a:gd name="connsiteX14" fmla="*/ 3572933 w 5606029"/>
                <a:gd name="connsiteY14" fmla="*/ 1913467 h 2590800"/>
                <a:gd name="connsiteX15" fmla="*/ 3462866 w 5606029"/>
                <a:gd name="connsiteY15" fmla="*/ 2286000 h 2590800"/>
                <a:gd name="connsiteX16" fmla="*/ 1032933 w 5606029"/>
                <a:gd name="connsiteY16" fmla="*/ 1642534 h 2590800"/>
                <a:gd name="connsiteX17" fmla="*/ 999066 w 5606029"/>
                <a:gd name="connsiteY17" fmla="*/ 1744134 h 2590800"/>
                <a:gd name="connsiteX18" fmla="*/ 8466 w 5606029"/>
                <a:gd name="connsiteY18" fmla="*/ 1473200 h 2590800"/>
                <a:gd name="connsiteX19" fmla="*/ 0 w 5606029"/>
                <a:gd name="connsiteY19" fmla="*/ 1557867 h 2590800"/>
                <a:gd name="connsiteX20" fmla="*/ 4055533 w 5606029"/>
                <a:gd name="connsiteY20" fmla="*/ 2590800 h 2590800"/>
                <a:gd name="connsiteX21" fmla="*/ 4534964 w 5606029"/>
                <a:gd name="connsiteY21" fmla="*/ 2416245 h 2590800"/>
                <a:gd name="connsiteX22" fmla="*/ 5481793 w 5606029"/>
                <a:gd name="connsiteY22" fmla="*/ 2210789 h 2590800"/>
                <a:gd name="connsiteX23" fmla="*/ 5393266 w 5606029"/>
                <a:gd name="connsiteY23" fmla="*/ 1727200 h 2590800"/>
                <a:gd name="connsiteX24" fmla="*/ 5606030 w 5606029"/>
                <a:gd name="connsiteY24" fmla="*/ 1331261 h 2590800"/>
                <a:gd name="connsiteX25" fmla="*/ 3877733 w 5606029"/>
                <a:gd name="connsiteY25" fmla="*/ 601134 h 2590800"/>
                <a:gd name="connsiteX26" fmla="*/ 1430866 w 5606029"/>
                <a:gd name="connsiteY26" fmla="*/ 0 h 2590800"/>
                <a:gd name="connsiteX0" fmla="*/ 1430866 w 5606031"/>
                <a:gd name="connsiteY0" fmla="*/ 0 h 2590800"/>
                <a:gd name="connsiteX1" fmla="*/ 389466 w 5606031"/>
                <a:gd name="connsiteY1" fmla="*/ 1024467 h 2590800"/>
                <a:gd name="connsiteX2" fmla="*/ 431800 w 5606031"/>
                <a:gd name="connsiteY2" fmla="*/ 1066800 h 2590800"/>
                <a:gd name="connsiteX3" fmla="*/ 482600 w 5606031"/>
                <a:gd name="connsiteY3" fmla="*/ 1007534 h 2590800"/>
                <a:gd name="connsiteX4" fmla="*/ 1456266 w 5606031"/>
                <a:gd name="connsiteY4" fmla="*/ 76200 h 2590800"/>
                <a:gd name="connsiteX5" fmla="*/ 3835400 w 5606031"/>
                <a:gd name="connsiteY5" fmla="*/ 694267 h 2590800"/>
                <a:gd name="connsiteX6" fmla="*/ 3708400 w 5606031"/>
                <a:gd name="connsiteY6" fmla="*/ 1193800 h 2590800"/>
                <a:gd name="connsiteX7" fmla="*/ 2336800 w 5606031"/>
                <a:gd name="connsiteY7" fmla="*/ 863600 h 2590800"/>
                <a:gd name="connsiteX8" fmla="*/ 2311400 w 5606031"/>
                <a:gd name="connsiteY8" fmla="*/ 922867 h 2590800"/>
                <a:gd name="connsiteX9" fmla="*/ 3683000 w 5606031"/>
                <a:gd name="connsiteY9" fmla="*/ 1286934 h 2590800"/>
                <a:gd name="connsiteX10" fmla="*/ 3759200 w 5606031"/>
                <a:gd name="connsiteY10" fmla="*/ 1286934 h 2590800"/>
                <a:gd name="connsiteX11" fmla="*/ 3589866 w 5606031"/>
                <a:gd name="connsiteY11" fmla="*/ 1862667 h 2590800"/>
                <a:gd name="connsiteX12" fmla="*/ 2167466 w 5606031"/>
                <a:gd name="connsiteY12" fmla="*/ 1473200 h 2590800"/>
                <a:gd name="connsiteX13" fmla="*/ 2159000 w 5606031"/>
                <a:gd name="connsiteY13" fmla="*/ 1566334 h 2590800"/>
                <a:gd name="connsiteX14" fmla="*/ 3572933 w 5606031"/>
                <a:gd name="connsiteY14" fmla="*/ 1913467 h 2590800"/>
                <a:gd name="connsiteX15" fmla="*/ 3462866 w 5606031"/>
                <a:gd name="connsiteY15" fmla="*/ 2286000 h 2590800"/>
                <a:gd name="connsiteX16" fmla="*/ 1032933 w 5606031"/>
                <a:gd name="connsiteY16" fmla="*/ 1642534 h 2590800"/>
                <a:gd name="connsiteX17" fmla="*/ 999066 w 5606031"/>
                <a:gd name="connsiteY17" fmla="*/ 1744134 h 2590800"/>
                <a:gd name="connsiteX18" fmla="*/ 8466 w 5606031"/>
                <a:gd name="connsiteY18" fmla="*/ 1473200 h 2590800"/>
                <a:gd name="connsiteX19" fmla="*/ 0 w 5606031"/>
                <a:gd name="connsiteY19" fmla="*/ 1557867 h 2590800"/>
                <a:gd name="connsiteX20" fmla="*/ 4055533 w 5606031"/>
                <a:gd name="connsiteY20" fmla="*/ 2590800 h 2590800"/>
                <a:gd name="connsiteX21" fmla="*/ 4534964 w 5606031"/>
                <a:gd name="connsiteY21" fmla="*/ 2416245 h 2590800"/>
                <a:gd name="connsiteX22" fmla="*/ 5481793 w 5606031"/>
                <a:gd name="connsiteY22" fmla="*/ 2210789 h 2590800"/>
                <a:gd name="connsiteX23" fmla="*/ 5437045 w 5606031"/>
                <a:gd name="connsiteY23" fmla="*/ 1749749 h 2590800"/>
                <a:gd name="connsiteX24" fmla="*/ 5606030 w 5606031"/>
                <a:gd name="connsiteY24" fmla="*/ 1331261 h 2590800"/>
                <a:gd name="connsiteX25" fmla="*/ 3877733 w 5606031"/>
                <a:gd name="connsiteY25" fmla="*/ 601134 h 2590800"/>
                <a:gd name="connsiteX26" fmla="*/ 1430866 w 5606031"/>
                <a:gd name="connsiteY26" fmla="*/ 0 h 2590800"/>
                <a:gd name="connsiteX0" fmla="*/ 1430866 w 5623328"/>
                <a:gd name="connsiteY0" fmla="*/ 0 h 2590800"/>
                <a:gd name="connsiteX1" fmla="*/ 389466 w 5623328"/>
                <a:gd name="connsiteY1" fmla="*/ 1024467 h 2590800"/>
                <a:gd name="connsiteX2" fmla="*/ 431800 w 5623328"/>
                <a:gd name="connsiteY2" fmla="*/ 1066800 h 2590800"/>
                <a:gd name="connsiteX3" fmla="*/ 482600 w 5623328"/>
                <a:gd name="connsiteY3" fmla="*/ 1007534 h 2590800"/>
                <a:gd name="connsiteX4" fmla="*/ 1456266 w 5623328"/>
                <a:gd name="connsiteY4" fmla="*/ 76200 h 2590800"/>
                <a:gd name="connsiteX5" fmla="*/ 3835400 w 5623328"/>
                <a:gd name="connsiteY5" fmla="*/ 694267 h 2590800"/>
                <a:gd name="connsiteX6" fmla="*/ 3708400 w 5623328"/>
                <a:gd name="connsiteY6" fmla="*/ 1193800 h 2590800"/>
                <a:gd name="connsiteX7" fmla="*/ 2336800 w 5623328"/>
                <a:gd name="connsiteY7" fmla="*/ 863600 h 2590800"/>
                <a:gd name="connsiteX8" fmla="*/ 2311400 w 5623328"/>
                <a:gd name="connsiteY8" fmla="*/ 922867 h 2590800"/>
                <a:gd name="connsiteX9" fmla="*/ 3683000 w 5623328"/>
                <a:gd name="connsiteY9" fmla="*/ 1286934 h 2590800"/>
                <a:gd name="connsiteX10" fmla="*/ 3759200 w 5623328"/>
                <a:gd name="connsiteY10" fmla="*/ 1286934 h 2590800"/>
                <a:gd name="connsiteX11" fmla="*/ 3589866 w 5623328"/>
                <a:gd name="connsiteY11" fmla="*/ 1862667 h 2590800"/>
                <a:gd name="connsiteX12" fmla="*/ 2167466 w 5623328"/>
                <a:gd name="connsiteY12" fmla="*/ 1473200 h 2590800"/>
                <a:gd name="connsiteX13" fmla="*/ 2159000 w 5623328"/>
                <a:gd name="connsiteY13" fmla="*/ 1566334 h 2590800"/>
                <a:gd name="connsiteX14" fmla="*/ 3572933 w 5623328"/>
                <a:gd name="connsiteY14" fmla="*/ 1913467 h 2590800"/>
                <a:gd name="connsiteX15" fmla="*/ 3462866 w 5623328"/>
                <a:gd name="connsiteY15" fmla="*/ 2286000 h 2590800"/>
                <a:gd name="connsiteX16" fmla="*/ 1032933 w 5623328"/>
                <a:gd name="connsiteY16" fmla="*/ 1642534 h 2590800"/>
                <a:gd name="connsiteX17" fmla="*/ 999066 w 5623328"/>
                <a:gd name="connsiteY17" fmla="*/ 1744134 h 2590800"/>
                <a:gd name="connsiteX18" fmla="*/ 8466 w 5623328"/>
                <a:gd name="connsiteY18" fmla="*/ 1473200 h 2590800"/>
                <a:gd name="connsiteX19" fmla="*/ 0 w 5623328"/>
                <a:gd name="connsiteY19" fmla="*/ 1557867 h 2590800"/>
                <a:gd name="connsiteX20" fmla="*/ 4055533 w 5623328"/>
                <a:gd name="connsiteY20" fmla="*/ 2590800 h 2590800"/>
                <a:gd name="connsiteX21" fmla="*/ 4534964 w 5623328"/>
                <a:gd name="connsiteY21" fmla="*/ 2416245 h 2590800"/>
                <a:gd name="connsiteX22" fmla="*/ 5481793 w 5623328"/>
                <a:gd name="connsiteY22" fmla="*/ 2210789 h 2590800"/>
                <a:gd name="connsiteX23" fmla="*/ 5437045 w 5623328"/>
                <a:gd name="connsiteY23" fmla="*/ 1749749 h 2590800"/>
                <a:gd name="connsiteX24" fmla="*/ 5623328 w 5623328"/>
                <a:gd name="connsiteY24" fmla="*/ 1342027 h 2590800"/>
                <a:gd name="connsiteX25" fmla="*/ 3877733 w 5623328"/>
                <a:gd name="connsiteY25" fmla="*/ 601134 h 2590800"/>
                <a:gd name="connsiteX26" fmla="*/ 1430866 w 5623328"/>
                <a:gd name="connsiteY26" fmla="*/ 0 h 2590800"/>
                <a:gd name="connsiteX0" fmla="*/ 1504495 w 5696957"/>
                <a:gd name="connsiteY0" fmla="*/ 0 h 2590800"/>
                <a:gd name="connsiteX1" fmla="*/ 463095 w 5696957"/>
                <a:gd name="connsiteY1" fmla="*/ 1024467 h 2590800"/>
                <a:gd name="connsiteX2" fmla="*/ 505429 w 5696957"/>
                <a:gd name="connsiteY2" fmla="*/ 1066800 h 2590800"/>
                <a:gd name="connsiteX3" fmla="*/ 556229 w 5696957"/>
                <a:gd name="connsiteY3" fmla="*/ 1007534 h 2590800"/>
                <a:gd name="connsiteX4" fmla="*/ 1529895 w 5696957"/>
                <a:gd name="connsiteY4" fmla="*/ 76200 h 2590800"/>
                <a:gd name="connsiteX5" fmla="*/ 3909029 w 5696957"/>
                <a:gd name="connsiteY5" fmla="*/ 694267 h 2590800"/>
                <a:gd name="connsiteX6" fmla="*/ 3782029 w 5696957"/>
                <a:gd name="connsiteY6" fmla="*/ 1193800 h 2590800"/>
                <a:gd name="connsiteX7" fmla="*/ 2410429 w 5696957"/>
                <a:gd name="connsiteY7" fmla="*/ 863600 h 2590800"/>
                <a:gd name="connsiteX8" fmla="*/ 2385029 w 5696957"/>
                <a:gd name="connsiteY8" fmla="*/ 922867 h 2590800"/>
                <a:gd name="connsiteX9" fmla="*/ 3756629 w 5696957"/>
                <a:gd name="connsiteY9" fmla="*/ 1286934 h 2590800"/>
                <a:gd name="connsiteX10" fmla="*/ 3832829 w 5696957"/>
                <a:gd name="connsiteY10" fmla="*/ 1286934 h 2590800"/>
                <a:gd name="connsiteX11" fmla="*/ 3663495 w 5696957"/>
                <a:gd name="connsiteY11" fmla="*/ 1862667 h 2590800"/>
                <a:gd name="connsiteX12" fmla="*/ 2241095 w 5696957"/>
                <a:gd name="connsiteY12" fmla="*/ 1473200 h 2590800"/>
                <a:gd name="connsiteX13" fmla="*/ 2232629 w 5696957"/>
                <a:gd name="connsiteY13" fmla="*/ 1566334 h 2590800"/>
                <a:gd name="connsiteX14" fmla="*/ 3646562 w 5696957"/>
                <a:gd name="connsiteY14" fmla="*/ 1913467 h 2590800"/>
                <a:gd name="connsiteX15" fmla="*/ 3536495 w 5696957"/>
                <a:gd name="connsiteY15" fmla="*/ 2286000 h 2590800"/>
                <a:gd name="connsiteX16" fmla="*/ 1106562 w 5696957"/>
                <a:gd name="connsiteY16" fmla="*/ 1642534 h 2590800"/>
                <a:gd name="connsiteX17" fmla="*/ 1072695 w 5696957"/>
                <a:gd name="connsiteY17" fmla="*/ 1744134 h 2590800"/>
                <a:gd name="connsiteX18" fmla="*/ 82095 w 5696957"/>
                <a:gd name="connsiteY18" fmla="*/ 1473200 h 2590800"/>
                <a:gd name="connsiteX19" fmla="*/ 0 w 5696957"/>
                <a:gd name="connsiteY19" fmla="*/ 1596365 h 2590800"/>
                <a:gd name="connsiteX20" fmla="*/ 4129162 w 5696957"/>
                <a:gd name="connsiteY20" fmla="*/ 2590800 h 2590800"/>
                <a:gd name="connsiteX21" fmla="*/ 4608593 w 5696957"/>
                <a:gd name="connsiteY21" fmla="*/ 2416245 h 2590800"/>
                <a:gd name="connsiteX22" fmla="*/ 5555422 w 5696957"/>
                <a:gd name="connsiteY22" fmla="*/ 2210789 h 2590800"/>
                <a:gd name="connsiteX23" fmla="*/ 5510674 w 5696957"/>
                <a:gd name="connsiteY23" fmla="*/ 1749749 h 2590800"/>
                <a:gd name="connsiteX24" fmla="*/ 5696957 w 5696957"/>
                <a:gd name="connsiteY24" fmla="*/ 1342027 h 2590800"/>
                <a:gd name="connsiteX25" fmla="*/ 3951362 w 5696957"/>
                <a:gd name="connsiteY25" fmla="*/ 601134 h 2590800"/>
                <a:gd name="connsiteX26" fmla="*/ 1504495 w 5696957"/>
                <a:gd name="connsiteY26" fmla="*/ 0 h 2590800"/>
                <a:gd name="connsiteX0" fmla="*/ 1504495 w 5696957"/>
                <a:gd name="connsiteY0" fmla="*/ 0 h 2590800"/>
                <a:gd name="connsiteX1" fmla="*/ 463095 w 5696957"/>
                <a:gd name="connsiteY1" fmla="*/ 1024467 h 2590800"/>
                <a:gd name="connsiteX2" fmla="*/ 505429 w 5696957"/>
                <a:gd name="connsiteY2" fmla="*/ 1066800 h 2590800"/>
                <a:gd name="connsiteX3" fmla="*/ 556229 w 5696957"/>
                <a:gd name="connsiteY3" fmla="*/ 1007534 h 2590800"/>
                <a:gd name="connsiteX4" fmla="*/ 1529895 w 5696957"/>
                <a:gd name="connsiteY4" fmla="*/ 76200 h 2590800"/>
                <a:gd name="connsiteX5" fmla="*/ 3909029 w 5696957"/>
                <a:gd name="connsiteY5" fmla="*/ 694267 h 2590800"/>
                <a:gd name="connsiteX6" fmla="*/ 3782029 w 5696957"/>
                <a:gd name="connsiteY6" fmla="*/ 1193800 h 2590800"/>
                <a:gd name="connsiteX7" fmla="*/ 2410429 w 5696957"/>
                <a:gd name="connsiteY7" fmla="*/ 863600 h 2590800"/>
                <a:gd name="connsiteX8" fmla="*/ 2385029 w 5696957"/>
                <a:gd name="connsiteY8" fmla="*/ 922867 h 2590800"/>
                <a:gd name="connsiteX9" fmla="*/ 3756629 w 5696957"/>
                <a:gd name="connsiteY9" fmla="*/ 1286934 h 2590800"/>
                <a:gd name="connsiteX10" fmla="*/ 3832829 w 5696957"/>
                <a:gd name="connsiteY10" fmla="*/ 1286934 h 2590800"/>
                <a:gd name="connsiteX11" fmla="*/ 3663495 w 5696957"/>
                <a:gd name="connsiteY11" fmla="*/ 1862667 h 2590800"/>
                <a:gd name="connsiteX12" fmla="*/ 2241095 w 5696957"/>
                <a:gd name="connsiteY12" fmla="*/ 1473200 h 2590800"/>
                <a:gd name="connsiteX13" fmla="*/ 2232629 w 5696957"/>
                <a:gd name="connsiteY13" fmla="*/ 1566334 h 2590800"/>
                <a:gd name="connsiteX14" fmla="*/ 3646562 w 5696957"/>
                <a:gd name="connsiteY14" fmla="*/ 1913467 h 2590800"/>
                <a:gd name="connsiteX15" fmla="*/ 3536495 w 5696957"/>
                <a:gd name="connsiteY15" fmla="*/ 2286000 h 2590800"/>
                <a:gd name="connsiteX16" fmla="*/ 1106562 w 5696957"/>
                <a:gd name="connsiteY16" fmla="*/ 1642534 h 2590800"/>
                <a:gd name="connsiteX17" fmla="*/ 1072695 w 5696957"/>
                <a:gd name="connsiteY17" fmla="*/ 1744134 h 2590800"/>
                <a:gd name="connsiteX18" fmla="*/ 19310 w 5696957"/>
                <a:gd name="connsiteY18" fmla="*/ 1503566 h 2590800"/>
                <a:gd name="connsiteX19" fmla="*/ 0 w 5696957"/>
                <a:gd name="connsiteY19" fmla="*/ 1596365 h 2590800"/>
                <a:gd name="connsiteX20" fmla="*/ 4129162 w 5696957"/>
                <a:gd name="connsiteY20" fmla="*/ 2590800 h 2590800"/>
                <a:gd name="connsiteX21" fmla="*/ 4608593 w 5696957"/>
                <a:gd name="connsiteY21" fmla="*/ 2416245 h 2590800"/>
                <a:gd name="connsiteX22" fmla="*/ 5555422 w 5696957"/>
                <a:gd name="connsiteY22" fmla="*/ 2210789 h 2590800"/>
                <a:gd name="connsiteX23" fmla="*/ 5510674 w 5696957"/>
                <a:gd name="connsiteY23" fmla="*/ 1749749 h 2590800"/>
                <a:gd name="connsiteX24" fmla="*/ 5696957 w 5696957"/>
                <a:gd name="connsiteY24" fmla="*/ 1342027 h 2590800"/>
                <a:gd name="connsiteX25" fmla="*/ 3951362 w 5696957"/>
                <a:gd name="connsiteY25" fmla="*/ 601134 h 2590800"/>
                <a:gd name="connsiteX26" fmla="*/ 1504495 w 5696957"/>
                <a:gd name="connsiteY26" fmla="*/ 0 h 2590800"/>
                <a:gd name="connsiteX0" fmla="*/ 1504495 w 5696957"/>
                <a:gd name="connsiteY0" fmla="*/ 0 h 2608143"/>
                <a:gd name="connsiteX1" fmla="*/ 463095 w 5696957"/>
                <a:gd name="connsiteY1" fmla="*/ 1024467 h 2608143"/>
                <a:gd name="connsiteX2" fmla="*/ 505429 w 5696957"/>
                <a:gd name="connsiteY2" fmla="*/ 1066800 h 2608143"/>
                <a:gd name="connsiteX3" fmla="*/ 556229 w 5696957"/>
                <a:gd name="connsiteY3" fmla="*/ 1007534 h 2608143"/>
                <a:gd name="connsiteX4" fmla="*/ 1529895 w 5696957"/>
                <a:gd name="connsiteY4" fmla="*/ 76200 h 2608143"/>
                <a:gd name="connsiteX5" fmla="*/ 3909029 w 5696957"/>
                <a:gd name="connsiteY5" fmla="*/ 694267 h 2608143"/>
                <a:gd name="connsiteX6" fmla="*/ 3782029 w 5696957"/>
                <a:gd name="connsiteY6" fmla="*/ 1193800 h 2608143"/>
                <a:gd name="connsiteX7" fmla="*/ 2410429 w 5696957"/>
                <a:gd name="connsiteY7" fmla="*/ 863600 h 2608143"/>
                <a:gd name="connsiteX8" fmla="*/ 2385029 w 5696957"/>
                <a:gd name="connsiteY8" fmla="*/ 922867 h 2608143"/>
                <a:gd name="connsiteX9" fmla="*/ 3756629 w 5696957"/>
                <a:gd name="connsiteY9" fmla="*/ 1286934 h 2608143"/>
                <a:gd name="connsiteX10" fmla="*/ 3832829 w 5696957"/>
                <a:gd name="connsiteY10" fmla="*/ 1286934 h 2608143"/>
                <a:gd name="connsiteX11" fmla="*/ 3663495 w 5696957"/>
                <a:gd name="connsiteY11" fmla="*/ 1862667 h 2608143"/>
                <a:gd name="connsiteX12" fmla="*/ 2241095 w 5696957"/>
                <a:gd name="connsiteY12" fmla="*/ 1473200 h 2608143"/>
                <a:gd name="connsiteX13" fmla="*/ 2232629 w 5696957"/>
                <a:gd name="connsiteY13" fmla="*/ 1566334 h 2608143"/>
                <a:gd name="connsiteX14" fmla="*/ 3646562 w 5696957"/>
                <a:gd name="connsiteY14" fmla="*/ 1913467 h 2608143"/>
                <a:gd name="connsiteX15" fmla="*/ 3536495 w 5696957"/>
                <a:gd name="connsiteY15" fmla="*/ 2286000 h 2608143"/>
                <a:gd name="connsiteX16" fmla="*/ 1106562 w 5696957"/>
                <a:gd name="connsiteY16" fmla="*/ 1642534 h 2608143"/>
                <a:gd name="connsiteX17" fmla="*/ 1072695 w 5696957"/>
                <a:gd name="connsiteY17" fmla="*/ 1744134 h 2608143"/>
                <a:gd name="connsiteX18" fmla="*/ 19310 w 5696957"/>
                <a:gd name="connsiteY18" fmla="*/ 1503566 h 2608143"/>
                <a:gd name="connsiteX19" fmla="*/ 0 w 5696957"/>
                <a:gd name="connsiteY19" fmla="*/ 1596365 h 2608143"/>
                <a:gd name="connsiteX20" fmla="*/ 4117182 w 5696957"/>
                <a:gd name="connsiteY20" fmla="*/ 2608142 h 2608143"/>
                <a:gd name="connsiteX21" fmla="*/ 4608593 w 5696957"/>
                <a:gd name="connsiteY21" fmla="*/ 2416245 h 2608143"/>
                <a:gd name="connsiteX22" fmla="*/ 5555422 w 5696957"/>
                <a:gd name="connsiteY22" fmla="*/ 2210789 h 2608143"/>
                <a:gd name="connsiteX23" fmla="*/ 5510674 w 5696957"/>
                <a:gd name="connsiteY23" fmla="*/ 1749749 h 2608143"/>
                <a:gd name="connsiteX24" fmla="*/ 5696957 w 5696957"/>
                <a:gd name="connsiteY24" fmla="*/ 1342027 h 2608143"/>
                <a:gd name="connsiteX25" fmla="*/ 3951362 w 5696957"/>
                <a:gd name="connsiteY25" fmla="*/ 601134 h 2608143"/>
                <a:gd name="connsiteX26" fmla="*/ 1504495 w 5696957"/>
                <a:gd name="connsiteY26" fmla="*/ 0 h 2608143"/>
                <a:gd name="connsiteX0" fmla="*/ 1504495 w 5696957"/>
                <a:gd name="connsiteY0" fmla="*/ 0 h 2608141"/>
                <a:gd name="connsiteX1" fmla="*/ 463095 w 5696957"/>
                <a:gd name="connsiteY1" fmla="*/ 1024467 h 2608141"/>
                <a:gd name="connsiteX2" fmla="*/ 505429 w 5696957"/>
                <a:gd name="connsiteY2" fmla="*/ 1066800 h 2608141"/>
                <a:gd name="connsiteX3" fmla="*/ 556229 w 5696957"/>
                <a:gd name="connsiteY3" fmla="*/ 1007534 h 2608141"/>
                <a:gd name="connsiteX4" fmla="*/ 1529895 w 5696957"/>
                <a:gd name="connsiteY4" fmla="*/ 76200 h 2608141"/>
                <a:gd name="connsiteX5" fmla="*/ 3909029 w 5696957"/>
                <a:gd name="connsiteY5" fmla="*/ 694267 h 2608141"/>
                <a:gd name="connsiteX6" fmla="*/ 3782029 w 5696957"/>
                <a:gd name="connsiteY6" fmla="*/ 1193800 h 2608141"/>
                <a:gd name="connsiteX7" fmla="*/ 2410429 w 5696957"/>
                <a:gd name="connsiteY7" fmla="*/ 863600 h 2608141"/>
                <a:gd name="connsiteX8" fmla="*/ 2385029 w 5696957"/>
                <a:gd name="connsiteY8" fmla="*/ 922867 h 2608141"/>
                <a:gd name="connsiteX9" fmla="*/ 3756629 w 5696957"/>
                <a:gd name="connsiteY9" fmla="*/ 1286934 h 2608141"/>
                <a:gd name="connsiteX10" fmla="*/ 3832829 w 5696957"/>
                <a:gd name="connsiteY10" fmla="*/ 1286934 h 2608141"/>
                <a:gd name="connsiteX11" fmla="*/ 3663495 w 5696957"/>
                <a:gd name="connsiteY11" fmla="*/ 1862667 h 2608141"/>
                <a:gd name="connsiteX12" fmla="*/ 2241095 w 5696957"/>
                <a:gd name="connsiteY12" fmla="*/ 1473200 h 2608141"/>
                <a:gd name="connsiteX13" fmla="*/ 2232629 w 5696957"/>
                <a:gd name="connsiteY13" fmla="*/ 1566334 h 2608141"/>
                <a:gd name="connsiteX14" fmla="*/ 3646562 w 5696957"/>
                <a:gd name="connsiteY14" fmla="*/ 1913467 h 2608141"/>
                <a:gd name="connsiteX15" fmla="*/ 3536495 w 5696957"/>
                <a:gd name="connsiteY15" fmla="*/ 2286000 h 2608141"/>
                <a:gd name="connsiteX16" fmla="*/ 1106562 w 5696957"/>
                <a:gd name="connsiteY16" fmla="*/ 1642534 h 2608141"/>
                <a:gd name="connsiteX17" fmla="*/ 1072695 w 5696957"/>
                <a:gd name="connsiteY17" fmla="*/ 1744134 h 2608141"/>
                <a:gd name="connsiteX18" fmla="*/ 61545 w 5696957"/>
                <a:gd name="connsiteY18" fmla="*/ 1480251 h 2608141"/>
                <a:gd name="connsiteX19" fmla="*/ 0 w 5696957"/>
                <a:gd name="connsiteY19" fmla="*/ 1596365 h 2608141"/>
                <a:gd name="connsiteX20" fmla="*/ 4117182 w 5696957"/>
                <a:gd name="connsiteY20" fmla="*/ 2608142 h 2608141"/>
                <a:gd name="connsiteX21" fmla="*/ 4608593 w 5696957"/>
                <a:gd name="connsiteY21" fmla="*/ 2416245 h 2608141"/>
                <a:gd name="connsiteX22" fmla="*/ 5555422 w 5696957"/>
                <a:gd name="connsiteY22" fmla="*/ 2210789 h 2608141"/>
                <a:gd name="connsiteX23" fmla="*/ 5510674 w 5696957"/>
                <a:gd name="connsiteY23" fmla="*/ 1749749 h 2608141"/>
                <a:gd name="connsiteX24" fmla="*/ 5696957 w 5696957"/>
                <a:gd name="connsiteY24" fmla="*/ 1342027 h 2608141"/>
                <a:gd name="connsiteX25" fmla="*/ 3951362 w 5696957"/>
                <a:gd name="connsiteY25" fmla="*/ 601134 h 2608141"/>
                <a:gd name="connsiteX26" fmla="*/ 1504495 w 5696957"/>
                <a:gd name="connsiteY26" fmla="*/ 0 h 2608141"/>
                <a:gd name="connsiteX0" fmla="*/ 1506339 w 5698801"/>
                <a:gd name="connsiteY0" fmla="*/ 0 h 2608143"/>
                <a:gd name="connsiteX1" fmla="*/ 464939 w 5698801"/>
                <a:gd name="connsiteY1" fmla="*/ 1024467 h 2608143"/>
                <a:gd name="connsiteX2" fmla="*/ 507273 w 5698801"/>
                <a:gd name="connsiteY2" fmla="*/ 1066800 h 2608143"/>
                <a:gd name="connsiteX3" fmla="*/ 558073 w 5698801"/>
                <a:gd name="connsiteY3" fmla="*/ 1007534 h 2608143"/>
                <a:gd name="connsiteX4" fmla="*/ 1531739 w 5698801"/>
                <a:gd name="connsiteY4" fmla="*/ 76200 h 2608143"/>
                <a:gd name="connsiteX5" fmla="*/ 3910873 w 5698801"/>
                <a:gd name="connsiteY5" fmla="*/ 694267 h 2608143"/>
                <a:gd name="connsiteX6" fmla="*/ 3783873 w 5698801"/>
                <a:gd name="connsiteY6" fmla="*/ 1193800 h 2608143"/>
                <a:gd name="connsiteX7" fmla="*/ 2412273 w 5698801"/>
                <a:gd name="connsiteY7" fmla="*/ 863600 h 2608143"/>
                <a:gd name="connsiteX8" fmla="*/ 2386873 w 5698801"/>
                <a:gd name="connsiteY8" fmla="*/ 922867 h 2608143"/>
                <a:gd name="connsiteX9" fmla="*/ 3758473 w 5698801"/>
                <a:gd name="connsiteY9" fmla="*/ 1286934 h 2608143"/>
                <a:gd name="connsiteX10" fmla="*/ 3834673 w 5698801"/>
                <a:gd name="connsiteY10" fmla="*/ 1286934 h 2608143"/>
                <a:gd name="connsiteX11" fmla="*/ 3665339 w 5698801"/>
                <a:gd name="connsiteY11" fmla="*/ 1862667 h 2608143"/>
                <a:gd name="connsiteX12" fmla="*/ 2242939 w 5698801"/>
                <a:gd name="connsiteY12" fmla="*/ 1473200 h 2608143"/>
                <a:gd name="connsiteX13" fmla="*/ 2234473 w 5698801"/>
                <a:gd name="connsiteY13" fmla="*/ 1566334 h 2608143"/>
                <a:gd name="connsiteX14" fmla="*/ 3648406 w 5698801"/>
                <a:gd name="connsiteY14" fmla="*/ 1913467 h 2608143"/>
                <a:gd name="connsiteX15" fmla="*/ 3538339 w 5698801"/>
                <a:gd name="connsiteY15" fmla="*/ 2286000 h 2608143"/>
                <a:gd name="connsiteX16" fmla="*/ 1108406 w 5698801"/>
                <a:gd name="connsiteY16" fmla="*/ 1642534 h 2608143"/>
                <a:gd name="connsiteX17" fmla="*/ 1074539 w 5698801"/>
                <a:gd name="connsiteY17" fmla="*/ 1744134 h 2608143"/>
                <a:gd name="connsiteX18" fmla="*/ 0 w 5698801"/>
                <a:gd name="connsiteY18" fmla="*/ 1435843 h 2608143"/>
                <a:gd name="connsiteX19" fmla="*/ 1844 w 5698801"/>
                <a:gd name="connsiteY19" fmla="*/ 1596365 h 2608143"/>
                <a:gd name="connsiteX20" fmla="*/ 4119026 w 5698801"/>
                <a:gd name="connsiteY20" fmla="*/ 2608142 h 2608143"/>
                <a:gd name="connsiteX21" fmla="*/ 4610437 w 5698801"/>
                <a:gd name="connsiteY21" fmla="*/ 2416245 h 2608143"/>
                <a:gd name="connsiteX22" fmla="*/ 5557266 w 5698801"/>
                <a:gd name="connsiteY22" fmla="*/ 2210789 h 2608143"/>
                <a:gd name="connsiteX23" fmla="*/ 5512518 w 5698801"/>
                <a:gd name="connsiteY23" fmla="*/ 1749749 h 2608143"/>
                <a:gd name="connsiteX24" fmla="*/ 5698801 w 5698801"/>
                <a:gd name="connsiteY24" fmla="*/ 1342027 h 2608143"/>
                <a:gd name="connsiteX25" fmla="*/ 3953206 w 5698801"/>
                <a:gd name="connsiteY25" fmla="*/ 601134 h 2608143"/>
                <a:gd name="connsiteX26" fmla="*/ 1506339 w 5698801"/>
                <a:gd name="connsiteY26" fmla="*/ 0 h 2608143"/>
                <a:gd name="connsiteX0" fmla="*/ 1571300 w 5763762"/>
                <a:gd name="connsiteY0" fmla="*/ 0 h 2608141"/>
                <a:gd name="connsiteX1" fmla="*/ 529900 w 5763762"/>
                <a:gd name="connsiteY1" fmla="*/ 1024467 h 2608141"/>
                <a:gd name="connsiteX2" fmla="*/ 572234 w 5763762"/>
                <a:gd name="connsiteY2" fmla="*/ 1066800 h 2608141"/>
                <a:gd name="connsiteX3" fmla="*/ 623034 w 5763762"/>
                <a:gd name="connsiteY3" fmla="*/ 1007534 h 2608141"/>
                <a:gd name="connsiteX4" fmla="*/ 1596700 w 5763762"/>
                <a:gd name="connsiteY4" fmla="*/ 76200 h 2608141"/>
                <a:gd name="connsiteX5" fmla="*/ 3975834 w 5763762"/>
                <a:gd name="connsiteY5" fmla="*/ 694267 h 2608141"/>
                <a:gd name="connsiteX6" fmla="*/ 3848834 w 5763762"/>
                <a:gd name="connsiteY6" fmla="*/ 1193800 h 2608141"/>
                <a:gd name="connsiteX7" fmla="*/ 2477234 w 5763762"/>
                <a:gd name="connsiteY7" fmla="*/ 863600 h 2608141"/>
                <a:gd name="connsiteX8" fmla="*/ 2451834 w 5763762"/>
                <a:gd name="connsiteY8" fmla="*/ 922867 h 2608141"/>
                <a:gd name="connsiteX9" fmla="*/ 3823434 w 5763762"/>
                <a:gd name="connsiteY9" fmla="*/ 1286934 h 2608141"/>
                <a:gd name="connsiteX10" fmla="*/ 3899634 w 5763762"/>
                <a:gd name="connsiteY10" fmla="*/ 1286934 h 2608141"/>
                <a:gd name="connsiteX11" fmla="*/ 3730300 w 5763762"/>
                <a:gd name="connsiteY11" fmla="*/ 1862667 h 2608141"/>
                <a:gd name="connsiteX12" fmla="*/ 2307900 w 5763762"/>
                <a:gd name="connsiteY12" fmla="*/ 1473200 h 2608141"/>
                <a:gd name="connsiteX13" fmla="*/ 2299434 w 5763762"/>
                <a:gd name="connsiteY13" fmla="*/ 1566334 h 2608141"/>
                <a:gd name="connsiteX14" fmla="*/ 3713367 w 5763762"/>
                <a:gd name="connsiteY14" fmla="*/ 1913467 h 2608141"/>
                <a:gd name="connsiteX15" fmla="*/ 3603300 w 5763762"/>
                <a:gd name="connsiteY15" fmla="*/ 2286000 h 2608141"/>
                <a:gd name="connsiteX16" fmla="*/ 1173367 w 5763762"/>
                <a:gd name="connsiteY16" fmla="*/ 1642534 h 2608141"/>
                <a:gd name="connsiteX17" fmla="*/ 1139500 w 5763762"/>
                <a:gd name="connsiteY17" fmla="*/ 1744134 h 2608141"/>
                <a:gd name="connsiteX18" fmla="*/ 64961 w 5763762"/>
                <a:gd name="connsiteY18" fmla="*/ 1435843 h 2608141"/>
                <a:gd name="connsiteX19" fmla="*/ 4 w 5763762"/>
                <a:gd name="connsiteY19" fmla="*/ 1579591 h 2608141"/>
                <a:gd name="connsiteX20" fmla="*/ 4183987 w 5763762"/>
                <a:gd name="connsiteY20" fmla="*/ 2608142 h 2608141"/>
                <a:gd name="connsiteX21" fmla="*/ 4675398 w 5763762"/>
                <a:gd name="connsiteY21" fmla="*/ 2416245 h 2608141"/>
                <a:gd name="connsiteX22" fmla="*/ 5622227 w 5763762"/>
                <a:gd name="connsiteY22" fmla="*/ 2210789 h 2608141"/>
                <a:gd name="connsiteX23" fmla="*/ 5577479 w 5763762"/>
                <a:gd name="connsiteY23" fmla="*/ 1749749 h 2608141"/>
                <a:gd name="connsiteX24" fmla="*/ 5763762 w 5763762"/>
                <a:gd name="connsiteY24" fmla="*/ 1342027 h 2608141"/>
                <a:gd name="connsiteX25" fmla="*/ 4018167 w 5763762"/>
                <a:gd name="connsiteY25" fmla="*/ 601134 h 2608141"/>
                <a:gd name="connsiteX26" fmla="*/ 1571300 w 5763762"/>
                <a:gd name="connsiteY26" fmla="*/ 0 h 2608141"/>
                <a:gd name="connsiteX0" fmla="*/ 1571300 w 5763762"/>
                <a:gd name="connsiteY0" fmla="*/ 0 h 2608143"/>
                <a:gd name="connsiteX1" fmla="*/ 529900 w 5763762"/>
                <a:gd name="connsiteY1" fmla="*/ 1024467 h 2608143"/>
                <a:gd name="connsiteX2" fmla="*/ 572234 w 5763762"/>
                <a:gd name="connsiteY2" fmla="*/ 1066800 h 2608143"/>
                <a:gd name="connsiteX3" fmla="*/ 623034 w 5763762"/>
                <a:gd name="connsiteY3" fmla="*/ 1007534 h 2608143"/>
                <a:gd name="connsiteX4" fmla="*/ 1596700 w 5763762"/>
                <a:gd name="connsiteY4" fmla="*/ 76200 h 2608143"/>
                <a:gd name="connsiteX5" fmla="*/ 3975834 w 5763762"/>
                <a:gd name="connsiteY5" fmla="*/ 694267 h 2608143"/>
                <a:gd name="connsiteX6" fmla="*/ 3848834 w 5763762"/>
                <a:gd name="connsiteY6" fmla="*/ 1193800 h 2608143"/>
                <a:gd name="connsiteX7" fmla="*/ 2477234 w 5763762"/>
                <a:gd name="connsiteY7" fmla="*/ 863600 h 2608143"/>
                <a:gd name="connsiteX8" fmla="*/ 2451834 w 5763762"/>
                <a:gd name="connsiteY8" fmla="*/ 922867 h 2608143"/>
                <a:gd name="connsiteX9" fmla="*/ 3823434 w 5763762"/>
                <a:gd name="connsiteY9" fmla="*/ 1286934 h 2608143"/>
                <a:gd name="connsiteX10" fmla="*/ 3899634 w 5763762"/>
                <a:gd name="connsiteY10" fmla="*/ 1286934 h 2608143"/>
                <a:gd name="connsiteX11" fmla="*/ 3730300 w 5763762"/>
                <a:gd name="connsiteY11" fmla="*/ 1862667 h 2608143"/>
                <a:gd name="connsiteX12" fmla="*/ 2307900 w 5763762"/>
                <a:gd name="connsiteY12" fmla="*/ 1473200 h 2608143"/>
                <a:gd name="connsiteX13" fmla="*/ 2299434 w 5763762"/>
                <a:gd name="connsiteY13" fmla="*/ 1566334 h 2608143"/>
                <a:gd name="connsiteX14" fmla="*/ 3713367 w 5763762"/>
                <a:gd name="connsiteY14" fmla="*/ 1913467 h 2608143"/>
                <a:gd name="connsiteX15" fmla="*/ 3603300 w 5763762"/>
                <a:gd name="connsiteY15" fmla="*/ 2286000 h 2608143"/>
                <a:gd name="connsiteX16" fmla="*/ 1173367 w 5763762"/>
                <a:gd name="connsiteY16" fmla="*/ 1642534 h 2608143"/>
                <a:gd name="connsiteX17" fmla="*/ 1141776 w 5763762"/>
                <a:gd name="connsiteY17" fmla="*/ 1725712 h 2608143"/>
                <a:gd name="connsiteX18" fmla="*/ 64961 w 5763762"/>
                <a:gd name="connsiteY18" fmla="*/ 1435843 h 2608143"/>
                <a:gd name="connsiteX19" fmla="*/ 4 w 5763762"/>
                <a:gd name="connsiteY19" fmla="*/ 1579591 h 2608143"/>
                <a:gd name="connsiteX20" fmla="*/ 4183987 w 5763762"/>
                <a:gd name="connsiteY20" fmla="*/ 2608142 h 2608143"/>
                <a:gd name="connsiteX21" fmla="*/ 4675398 w 5763762"/>
                <a:gd name="connsiteY21" fmla="*/ 2416245 h 2608143"/>
                <a:gd name="connsiteX22" fmla="*/ 5622227 w 5763762"/>
                <a:gd name="connsiteY22" fmla="*/ 2210789 h 2608143"/>
                <a:gd name="connsiteX23" fmla="*/ 5577479 w 5763762"/>
                <a:gd name="connsiteY23" fmla="*/ 1749749 h 2608143"/>
                <a:gd name="connsiteX24" fmla="*/ 5763762 w 5763762"/>
                <a:gd name="connsiteY24" fmla="*/ 1342027 h 2608143"/>
                <a:gd name="connsiteX25" fmla="*/ 4018167 w 5763762"/>
                <a:gd name="connsiteY25" fmla="*/ 601134 h 2608143"/>
                <a:gd name="connsiteX26" fmla="*/ 1571300 w 5763762"/>
                <a:gd name="connsiteY26" fmla="*/ 0 h 2608143"/>
                <a:gd name="connsiteX0" fmla="*/ 1541050 w 5733512"/>
                <a:gd name="connsiteY0" fmla="*/ 0 h 2608141"/>
                <a:gd name="connsiteX1" fmla="*/ 499650 w 5733512"/>
                <a:gd name="connsiteY1" fmla="*/ 1024467 h 2608141"/>
                <a:gd name="connsiteX2" fmla="*/ 541984 w 5733512"/>
                <a:gd name="connsiteY2" fmla="*/ 1066800 h 2608141"/>
                <a:gd name="connsiteX3" fmla="*/ 592784 w 5733512"/>
                <a:gd name="connsiteY3" fmla="*/ 1007534 h 2608141"/>
                <a:gd name="connsiteX4" fmla="*/ 1566450 w 5733512"/>
                <a:gd name="connsiteY4" fmla="*/ 76200 h 2608141"/>
                <a:gd name="connsiteX5" fmla="*/ 3945584 w 5733512"/>
                <a:gd name="connsiteY5" fmla="*/ 694267 h 2608141"/>
                <a:gd name="connsiteX6" fmla="*/ 3818584 w 5733512"/>
                <a:gd name="connsiteY6" fmla="*/ 1193800 h 2608141"/>
                <a:gd name="connsiteX7" fmla="*/ 2446984 w 5733512"/>
                <a:gd name="connsiteY7" fmla="*/ 863600 h 2608141"/>
                <a:gd name="connsiteX8" fmla="*/ 2421584 w 5733512"/>
                <a:gd name="connsiteY8" fmla="*/ 922867 h 2608141"/>
                <a:gd name="connsiteX9" fmla="*/ 3793184 w 5733512"/>
                <a:gd name="connsiteY9" fmla="*/ 1286934 h 2608141"/>
                <a:gd name="connsiteX10" fmla="*/ 3869384 w 5733512"/>
                <a:gd name="connsiteY10" fmla="*/ 1286934 h 2608141"/>
                <a:gd name="connsiteX11" fmla="*/ 3700050 w 5733512"/>
                <a:gd name="connsiteY11" fmla="*/ 1862667 h 2608141"/>
                <a:gd name="connsiteX12" fmla="*/ 2277650 w 5733512"/>
                <a:gd name="connsiteY12" fmla="*/ 1473200 h 2608141"/>
                <a:gd name="connsiteX13" fmla="*/ 2269184 w 5733512"/>
                <a:gd name="connsiteY13" fmla="*/ 1566334 h 2608141"/>
                <a:gd name="connsiteX14" fmla="*/ 3683117 w 5733512"/>
                <a:gd name="connsiteY14" fmla="*/ 1913467 h 2608141"/>
                <a:gd name="connsiteX15" fmla="*/ 3573050 w 5733512"/>
                <a:gd name="connsiteY15" fmla="*/ 2286000 h 2608141"/>
                <a:gd name="connsiteX16" fmla="*/ 1143117 w 5733512"/>
                <a:gd name="connsiteY16" fmla="*/ 1642534 h 2608141"/>
                <a:gd name="connsiteX17" fmla="*/ 1111526 w 5733512"/>
                <a:gd name="connsiteY17" fmla="*/ 1725712 h 2608141"/>
                <a:gd name="connsiteX18" fmla="*/ 34711 w 5733512"/>
                <a:gd name="connsiteY18" fmla="*/ 1435843 h 2608141"/>
                <a:gd name="connsiteX19" fmla="*/ 9 w 5733512"/>
                <a:gd name="connsiteY19" fmla="*/ 1573618 h 2608141"/>
                <a:gd name="connsiteX20" fmla="*/ 4153737 w 5733512"/>
                <a:gd name="connsiteY20" fmla="*/ 2608142 h 2608141"/>
                <a:gd name="connsiteX21" fmla="*/ 4645148 w 5733512"/>
                <a:gd name="connsiteY21" fmla="*/ 2416245 h 2608141"/>
                <a:gd name="connsiteX22" fmla="*/ 5591977 w 5733512"/>
                <a:gd name="connsiteY22" fmla="*/ 2210789 h 2608141"/>
                <a:gd name="connsiteX23" fmla="*/ 5547229 w 5733512"/>
                <a:gd name="connsiteY23" fmla="*/ 1749749 h 2608141"/>
                <a:gd name="connsiteX24" fmla="*/ 5733512 w 5733512"/>
                <a:gd name="connsiteY24" fmla="*/ 1342027 h 2608141"/>
                <a:gd name="connsiteX25" fmla="*/ 3987917 w 5733512"/>
                <a:gd name="connsiteY25" fmla="*/ 601134 h 2608141"/>
                <a:gd name="connsiteX26" fmla="*/ 1541050 w 5733512"/>
                <a:gd name="connsiteY26" fmla="*/ 0 h 2608141"/>
                <a:gd name="connsiteX0" fmla="*/ 1541048 w 5757984"/>
                <a:gd name="connsiteY0" fmla="*/ 0 h 2608143"/>
                <a:gd name="connsiteX1" fmla="*/ 499648 w 5757984"/>
                <a:gd name="connsiteY1" fmla="*/ 1024467 h 2608143"/>
                <a:gd name="connsiteX2" fmla="*/ 541982 w 5757984"/>
                <a:gd name="connsiteY2" fmla="*/ 1066800 h 2608143"/>
                <a:gd name="connsiteX3" fmla="*/ 592782 w 5757984"/>
                <a:gd name="connsiteY3" fmla="*/ 1007534 h 2608143"/>
                <a:gd name="connsiteX4" fmla="*/ 1566448 w 5757984"/>
                <a:gd name="connsiteY4" fmla="*/ 76200 h 2608143"/>
                <a:gd name="connsiteX5" fmla="*/ 3945582 w 5757984"/>
                <a:gd name="connsiteY5" fmla="*/ 694267 h 2608143"/>
                <a:gd name="connsiteX6" fmla="*/ 3818582 w 5757984"/>
                <a:gd name="connsiteY6" fmla="*/ 1193800 h 2608143"/>
                <a:gd name="connsiteX7" fmla="*/ 2446982 w 5757984"/>
                <a:gd name="connsiteY7" fmla="*/ 863600 h 2608143"/>
                <a:gd name="connsiteX8" fmla="*/ 2421582 w 5757984"/>
                <a:gd name="connsiteY8" fmla="*/ 922867 h 2608143"/>
                <a:gd name="connsiteX9" fmla="*/ 3793182 w 5757984"/>
                <a:gd name="connsiteY9" fmla="*/ 1286934 h 2608143"/>
                <a:gd name="connsiteX10" fmla="*/ 3869382 w 5757984"/>
                <a:gd name="connsiteY10" fmla="*/ 1286934 h 2608143"/>
                <a:gd name="connsiteX11" fmla="*/ 3700048 w 5757984"/>
                <a:gd name="connsiteY11" fmla="*/ 1862667 h 2608143"/>
                <a:gd name="connsiteX12" fmla="*/ 2277648 w 5757984"/>
                <a:gd name="connsiteY12" fmla="*/ 1473200 h 2608143"/>
                <a:gd name="connsiteX13" fmla="*/ 2269182 w 5757984"/>
                <a:gd name="connsiteY13" fmla="*/ 1566334 h 2608143"/>
                <a:gd name="connsiteX14" fmla="*/ 3683115 w 5757984"/>
                <a:gd name="connsiteY14" fmla="*/ 1913467 h 2608143"/>
                <a:gd name="connsiteX15" fmla="*/ 3573048 w 5757984"/>
                <a:gd name="connsiteY15" fmla="*/ 2286000 h 2608143"/>
                <a:gd name="connsiteX16" fmla="*/ 1143115 w 5757984"/>
                <a:gd name="connsiteY16" fmla="*/ 1642534 h 2608143"/>
                <a:gd name="connsiteX17" fmla="*/ 1111524 w 5757984"/>
                <a:gd name="connsiteY17" fmla="*/ 1725712 h 2608143"/>
                <a:gd name="connsiteX18" fmla="*/ 34709 w 5757984"/>
                <a:gd name="connsiteY18" fmla="*/ 1435843 h 2608143"/>
                <a:gd name="connsiteX19" fmla="*/ 7 w 5757984"/>
                <a:gd name="connsiteY19" fmla="*/ 1573618 h 2608143"/>
                <a:gd name="connsiteX20" fmla="*/ 4153735 w 5757984"/>
                <a:gd name="connsiteY20" fmla="*/ 2608142 h 2608143"/>
                <a:gd name="connsiteX21" fmla="*/ 4645146 w 5757984"/>
                <a:gd name="connsiteY21" fmla="*/ 2416245 h 2608143"/>
                <a:gd name="connsiteX22" fmla="*/ 5591975 w 5757984"/>
                <a:gd name="connsiteY22" fmla="*/ 2210789 h 2608143"/>
                <a:gd name="connsiteX23" fmla="*/ 5547227 w 5757984"/>
                <a:gd name="connsiteY23" fmla="*/ 1749749 h 2608143"/>
                <a:gd name="connsiteX24" fmla="*/ 5757984 w 5757984"/>
                <a:gd name="connsiteY24" fmla="*/ 1286312 h 2608143"/>
                <a:gd name="connsiteX25" fmla="*/ 3987915 w 5757984"/>
                <a:gd name="connsiteY25" fmla="*/ 601134 h 2608143"/>
                <a:gd name="connsiteX26" fmla="*/ 1541048 w 5757984"/>
                <a:gd name="connsiteY26" fmla="*/ 0 h 260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57984" h="2608143">
                  <a:moveTo>
                    <a:pt x="1541048" y="0"/>
                  </a:moveTo>
                  <a:lnTo>
                    <a:pt x="499648" y="1024467"/>
                  </a:lnTo>
                  <a:lnTo>
                    <a:pt x="541982" y="1066800"/>
                  </a:lnTo>
                  <a:lnTo>
                    <a:pt x="592782" y="1007534"/>
                  </a:lnTo>
                  <a:lnTo>
                    <a:pt x="1566448" y="76200"/>
                  </a:lnTo>
                  <a:lnTo>
                    <a:pt x="3945582" y="694267"/>
                  </a:lnTo>
                  <a:lnTo>
                    <a:pt x="3818582" y="1193800"/>
                  </a:lnTo>
                  <a:lnTo>
                    <a:pt x="2446982" y="863600"/>
                  </a:lnTo>
                  <a:lnTo>
                    <a:pt x="2421582" y="922867"/>
                  </a:lnTo>
                  <a:lnTo>
                    <a:pt x="3793182" y="1286934"/>
                  </a:lnTo>
                  <a:lnTo>
                    <a:pt x="3869382" y="1286934"/>
                  </a:lnTo>
                  <a:lnTo>
                    <a:pt x="3700048" y="1862667"/>
                  </a:lnTo>
                  <a:lnTo>
                    <a:pt x="2277648" y="1473200"/>
                  </a:lnTo>
                  <a:lnTo>
                    <a:pt x="2269182" y="1566334"/>
                  </a:lnTo>
                  <a:lnTo>
                    <a:pt x="3683115" y="1913467"/>
                  </a:lnTo>
                  <a:lnTo>
                    <a:pt x="3573048" y="2286000"/>
                  </a:lnTo>
                  <a:lnTo>
                    <a:pt x="1143115" y="1642534"/>
                  </a:lnTo>
                  <a:lnTo>
                    <a:pt x="1111524" y="1725712"/>
                  </a:lnTo>
                  <a:lnTo>
                    <a:pt x="34709" y="1435843"/>
                  </a:lnTo>
                  <a:cubicBezTo>
                    <a:pt x="35324" y="1489350"/>
                    <a:pt x="-608" y="1520111"/>
                    <a:pt x="7" y="1573618"/>
                  </a:cubicBezTo>
                  <a:lnTo>
                    <a:pt x="4153735" y="2608142"/>
                  </a:lnTo>
                  <a:lnTo>
                    <a:pt x="4645146" y="2416245"/>
                  </a:lnTo>
                  <a:lnTo>
                    <a:pt x="5591975" y="2210789"/>
                  </a:lnTo>
                  <a:lnTo>
                    <a:pt x="5547227" y="1749749"/>
                  </a:lnTo>
                  <a:lnTo>
                    <a:pt x="5757984" y="1286312"/>
                  </a:lnTo>
                  <a:lnTo>
                    <a:pt x="3987915" y="601134"/>
                  </a:lnTo>
                  <a:lnTo>
                    <a:pt x="1541048"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1" name="Forma libre 23">
              <a:extLst>
                <a:ext uri="{FF2B5EF4-FFF2-40B4-BE49-F238E27FC236}">
                  <a16:creationId xmlns:a16="http://schemas.microsoft.com/office/drawing/2014/main" id="{752CE316-C5A1-458E-BD68-EACB65347751}"/>
                </a:ext>
              </a:extLst>
            </p:cNvPr>
            <p:cNvSpPr/>
            <p:nvPr/>
          </p:nvSpPr>
          <p:spPr>
            <a:xfrm rot="21257051">
              <a:off x="9249820" y="4744918"/>
              <a:ext cx="1046869" cy="552124"/>
            </a:xfrm>
            <a:custGeom>
              <a:avLst/>
              <a:gdLst>
                <a:gd name="connsiteX0" fmla="*/ 694358 w 941294"/>
                <a:gd name="connsiteY0" fmla="*/ 0 h 449865"/>
                <a:gd name="connsiteX1" fmla="*/ 733476 w 941294"/>
                <a:gd name="connsiteY1" fmla="*/ 156475 h 449865"/>
                <a:gd name="connsiteX2" fmla="*/ 831273 w 941294"/>
                <a:gd name="connsiteY2" fmla="*/ 119801 h 449865"/>
                <a:gd name="connsiteX3" fmla="*/ 941294 w 941294"/>
                <a:gd name="connsiteY3" fmla="*/ 332509 h 449865"/>
                <a:gd name="connsiteX4" fmla="*/ 633235 w 941294"/>
                <a:gd name="connsiteY4" fmla="*/ 215153 h 449865"/>
                <a:gd name="connsiteX5" fmla="*/ 92907 w 941294"/>
                <a:gd name="connsiteY5" fmla="*/ 449865 h 449865"/>
                <a:gd name="connsiteX6" fmla="*/ 0 w 941294"/>
                <a:gd name="connsiteY6" fmla="*/ 281166 h 449865"/>
                <a:gd name="connsiteX7" fmla="*/ 36674 w 941294"/>
                <a:gd name="connsiteY7" fmla="*/ 256717 h 449865"/>
                <a:gd name="connsiteX8" fmla="*/ 26894 w 941294"/>
                <a:gd name="connsiteY8" fmla="*/ 220043 h 449865"/>
                <a:gd name="connsiteX9" fmla="*/ 178479 w 941294"/>
                <a:gd name="connsiteY9" fmla="*/ 156475 h 449865"/>
                <a:gd name="connsiteX10" fmla="*/ 124691 w 941294"/>
                <a:gd name="connsiteY10" fmla="*/ 75793 h 449865"/>
                <a:gd name="connsiteX11" fmla="*/ 149140 w 941294"/>
                <a:gd name="connsiteY11" fmla="*/ 75793 h 449865"/>
                <a:gd name="connsiteX12" fmla="*/ 694358 w 941294"/>
                <a:gd name="connsiteY12" fmla="*/ 0 h 449865"/>
                <a:gd name="connsiteX0" fmla="*/ 694358 w 831273"/>
                <a:gd name="connsiteY0" fmla="*/ 0 h 449865"/>
                <a:gd name="connsiteX1" fmla="*/ 733476 w 831273"/>
                <a:gd name="connsiteY1" fmla="*/ 156475 h 449865"/>
                <a:gd name="connsiteX2" fmla="*/ 831273 w 831273"/>
                <a:gd name="connsiteY2" fmla="*/ 119801 h 449865"/>
                <a:gd name="connsiteX3" fmla="*/ 633235 w 831273"/>
                <a:gd name="connsiteY3" fmla="*/ 215153 h 449865"/>
                <a:gd name="connsiteX4" fmla="*/ 92907 w 831273"/>
                <a:gd name="connsiteY4" fmla="*/ 449865 h 449865"/>
                <a:gd name="connsiteX5" fmla="*/ 0 w 831273"/>
                <a:gd name="connsiteY5" fmla="*/ 281166 h 449865"/>
                <a:gd name="connsiteX6" fmla="*/ 36674 w 831273"/>
                <a:gd name="connsiteY6" fmla="*/ 256717 h 449865"/>
                <a:gd name="connsiteX7" fmla="*/ 26894 w 831273"/>
                <a:gd name="connsiteY7" fmla="*/ 220043 h 449865"/>
                <a:gd name="connsiteX8" fmla="*/ 178479 w 831273"/>
                <a:gd name="connsiteY8" fmla="*/ 156475 h 449865"/>
                <a:gd name="connsiteX9" fmla="*/ 124691 w 831273"/>
                <a:gd name="connsiteY9" fmla="*/ 75793 h 449865"/>
                <a:gd name="connsiteX10" fmla="*/ 149140 w 831273"/>
                <a:gd name="connsiteY10" fmla="*/ 75793 h 449865"/>
                <a:gd name="connsiteX11" fmla="*/ 694358 w 831273"/>
                <a:gd name="connsiteY11"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124691 w 733476"/>
                <a:gd name="connsiteY8" fmla="*/ 75793 h 449865"/>
                <a:gd name="connsiteX9" fmla="*/ 149140 w 733476"/>
                <a:gd name="connsiteY9" fmla="*/ 75793 h 449865"/>
                <a:gd name="connsiteX10" fmla="*/ 694358 w 733476"/>
                <a:gd name="connsiteY10"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124691 w 733476"/>
                <a:gd name="connsiteY8" fmla="*/ 75793 h 449865"/>
                <a:gd name="connsiteX9" fmla="*/ 694358 w 733476"/>
                <a:gd name="connsiteY9"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694358 w 733476"/>
                <a:gd name="connsiteY8" fmla="*/ 0 h 449865"/>
                <a:gd name="connsiteX0" fmla="*/ 694358 w 733476"/>
                <a:gd name="connsiteY0" fmla="*/ 0 h 415610"/>
                <a:gd name="connsiteX1" fmla="*/ 733476 w 733476"/>
                <a:gd name="connsiteY1" fmla="*/ 156475 h 415610"/>
                <a:gd name="connsiteX2" fmla="*/ 633235 w 733476"/>
                <a:gd name="connsiteY2" fmla="*/ 215153 h 415610"/>
                <a:gd name="connsiteX3" fmla="*/ 74713 w 733476"/>
                <a:gd name="connsiteY3" fmla="*/ 415610 h 415610"/>
                <a:gd name="connsiteX4" fmla="*/ 0 w 733476"/>
                <a:gd name="connsiteY4" fmla="*/ 281166 h 415610"/>
                <a:gd name="connsiteX5" fmla="*/ 36674 w 733476"/>
                <a:gd name="connsiteY5" fmla="*/ 256717 h 415610"/>
                <a:gd name="connsiteX6" fmla="*/ 26894 w 733476"/>
                <a:gd name="connsiteY6" fmla="*/ 220043 h 415610"/>
                <a:gd name="connsiteX7" fmla="*/ 178479 w 733476"/>
                <a:gd name="connsiteY7" fmla="*/ 156475 h 415610"/>
                <a:gd name="connsiteX8" fmla="*/ 694358 w 733476"/>
                <a:gd name="connsiteY8" fmla="*/ 0 h 41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3476" h="415610">
                  <a:moveTo>
                    <a:pt x="694358" y="0"/>
                  </a:moveTo>
                  <a:lnTo>
                    <a:pt x="733476" y="156475"/>
                  </a:lnTo>
                  <a:lnTo>
                    <a:pt x="633235" y="215153"/>
                  </a:lnTo>
                  <a:lnTo>
                    <a:pt x="74713" y="415610"/>
                  </a:lnTo>
                  <a:lnTo>
                    <a:pt x="0" y="281166"/>
                  </a:lnTo>
                  <a:lnTo>
                    <a:pt x="36674" y="256717"/>
                  </a:lnTo>
                  <a:lnTo>
                    <a:pt x="26894" y="220043"/>
                  </a:lnTo>
                  <a:lnTo>
                    <a:pt x="178479" y="156475"/>
                  </a:lnTo>
                  <a:lnTo>
                    <a:pt x="694358" y="0"/>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2" name="Forma libre 24">
              <a:extLst>
                <a:ext uri="{FF2B5EF4-FFF2-40B4-BE49-F238E27FC236}">
                  <a16:creationId xmlns:a16="http://schemas.microsoft.com/office/drawing/2014/main" id="{4997868E-9CA2-43FB-A529-BA3D52ABC94C}"/>
                </a:ext>
              </a:extLst>
            </p:cNvPr>
            <p:cNvSpPr/>
            <p:nvPr/>
          </p:nvSpPr>
          <p:spPr>
            <a:xfrm rot="21257051">
              <a:off x="11368788" y="4243776"/>
              <a:ext cx="1946253" cy="1419994"/>
            </a:xfrm>
            <a:custGeom>
              <a:avLst/>
              <a:gdLst>
                <a:gd name="connsiteX0" fmla="*/ 0 w 1416844"/>
                <a:gd name="connsiteY0" fmla="*/ 0 h 1102519"/>
                <a:gd name="connsiteX1" fmla="*/ 145256 w 1416844"/>
                <a:gd name="connsiteY1" fmla="*/ 1102519 h 1102519"/>
                <a:gd name="connsiteX2" fmla="*/ 819150 w 1416844"/>
                <a:gd name="connsiteY2" fmla="*/ 992981 h 1102519"/>
                <a:gd name="connsiteX3" fmla="*/ 752475 w 1416844"/>
                <a:gd name="connsiteY3" fmla="*/ 526256 h 1102519"/>
                <a:gd name="connsiteX4" fmla="*/ 897731 w 1416844"/>
                <a:gd name="connsiteY4" fmla="*/ 588169 h 1102519"/>
                <a:gd name="connsiteX5" fmla="*/ 976312 w 1416844"/>
                <a:gd name="connsiteY5" fmla="*/ 385762 h 1102519"/>
                <a:gd name="connsiteX6" fmla="*/ 1416844 w 1416844"/>
                <a:gd name="connsiteY6" fmla="*/ 566737 h 1102519"/>
                <a:gd name="connsiteX7" fmla="*/ 0 w 1416844"/>
                <a:gd name="connsiteY7" fmla="*/ 0 h 1102519"/>
                <a:gd name="connsiteX0" fmla="*/ 0 w 1333519"/>
                <a:gd name="connsiteY0" fmla="*/ 0 h 1071432"/>
                <a:gd name="connsiteX1" fmla="*/ 61931 w 1333519"/>
                <a:gd name="connsiteY1" fmla="*/ 1071432 h 1071432"/>
                <a:gd name="connsiteX2" fmla="*/ 735825 w 1333519"/>
                <a:gd name="connsiteY2" fmla="*/ 961894 h 1071432"/>
                <a:gd name="connsiteX3" fmla="*/ 669150 w 1333519"/>
                <a:gd name="connsiteY3" fmla="*/ 495169 h 1071432"/>
                <a:gd name="connsiteX4" fmla="*/ 814406 w 1333519"/>
                <a:gd name="connsiteY4" fmla="*/ 557082 h 1071432"/>
                <a:gd name="connsiteX5" fmla="*/ 892987 w 1333519"/>
                <a:gd name="connsiteY5" fmla="*/ 354675 h 1071432"/>
                <a:gd name="connsiteX6" fmla="*/ 1333519 w 1333519"/>
                <a:gd name="connsiteY6" fmla="*/ 535650 h 1071432"/>
                <a:gd name="connsiteX7" fmla="*/ 0 w 1333519"/>
                <a:gd name="connsiteY7" fmla="*/ 0 h 107143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4406 w 1333519"/>
                <a:gd name="connsiteY4" fmla="*/ 557082 h 1064682"/>
                <a:gd name="connsiteX5" fmla="*/ 892987 w 1333519"/>
                <a:gd name="connsiteY5" fmla="*/ 354675 h 1064682"/>
                <a:gd name="connsiteX6" fmla="*/ 1333519 w 1333519"/>
                <a:gd name="connsiteY6" fmla="*/ 535650 h 1064682"/>
                <a:gd name="connsiteX7" fmla="*/ 0 w 1333519"/>
                <a:gd name="connsiteY7" fmla="*/ 0 h 106468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9166 w 1333519"/>
                <a:gd name="connsiteY4" fmla="*/ 562901 h 1064682"/>
                <a:gd name="connsiteX5" fmla="*/ 892987 w 1333519"/>
                <a:gd name="connsiteY5" fmla="*/ 354675 h 1064682"/>
                <a:gd name="connsiteX6" fmla="*/ 1333519 w 1333519"/>
                <a:gd name="connsiteY6" fmla="*/ 535650 h 1064682"/>
                <a:gd name="connsiteX7" fmla="*/ 0 w 1333519"/>
                <a:gd name="connsiteY7" fmla="*/ 0 h 106468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9166 w 1333519"/>
                <a:gd name="connsiteY4" fmla="*/ 562901 h 1064682"/>
                <a:gd name="connsiteX5" fmla="*/ 885578 w 1333519"/>
                <a:gd name="connsiteY5" fmla="*/ 375304 h 1064682"/>
                <a:gd name="connsiteX6" fmla="*/ 1333519 w 1333519"/>
                <a:gd name="connsiteY6" fmla="*/ 535650 h 1064682"/>
                <a:gd name="connsiteX7" fmla="*/ 0 w 1333519"/>
                <a:gd name="connsiteY7" fmla="*/ 0 h 1064682"/>
                <a:gd name="connsiteX0" fmla="*/ 0 w 1341299"/>
                <a:gd name="connsiteY0" fmla="*/ 0 h 1064682"/>
                <a:gd name="connsiteX1" fmla="*/ 130846 w 1341299"/>
                <a:gd name="connsiteY1" fmla="*/ 1064682 h 1064682"/>
                <a:gd name="connsiteX2" fmla="*/ 735825 w 1341299"/>
                <a:gd name="connsiteY2" fmla="*/ 961894 h 1064682"/>
                <a:gd name="connsiteX3" fmla="*/ 669150 w 1341299"/>
                <a:gd name="connsiteY3" fmla="*/ 495169 h 1064682"/>
                <a:gd name="connsiteX4" fmla="*/ 819166 w 1341299"/>
                <a:gd name="connsiteY4" fmla="*/ 562901 h 1064682"/>
                <a:gd name="connsiteX5" fmla="*/ 885578 w 1341299"/>
                <a:gd name="connsiteY5" fmla="*/ 375304 h 1064682"/>
                <a:gd name="connsiteX6" fmla="*/ 1333519 w 1341299"/>
                <a:gd name="connsiteY6" fmla="*/ 535650 h 1064682"/>
                <a:gd name="connsiteX7" fmla="*/ 1341299 w 1341299"/>
                <a:gd name="connsiteY7" fmla="*/ 530428 h 1064682"/>
                <a:gd name="connsiteX8" fmla="*/ 0 w 1341299"/>
                <a:gd name="connsiteY8" fmla="*/ 0 h 1064682"/>
                <a:gd name="connsiteX0" fmla="*/ 0 w 1357173"/>
                <a:gd name="connsiteY0" fmla="*/ 0 h 1064682"/>
                <a:gd name="connsiteX1" fmla="*/ 130846 w 1357173"/>
                <a:gd name="connsiteY1" fmla="*/ 1064682 h 1064682"/>
                <a:gd name="connsiteX2" fmla="*/ 735825 w 1357173"/>
                <a:gd name="connsiteY2" fmla="*/ 961894 h 1064682"/>
                <a:gd name="connsiteX3" fmla="*/ 669150 w 1357173"/>
                <a:gd name="connsiteY3" fmla="*/ 495169 h 1064682"/>
                <a:gd name="connsiteX4" fmla="*/ 819166 w 1357173"/>
                <a:gd name="connsiteY4" fmla="*/ 562901 h 1064682"/>
                <a:gd name="connsiteX5" fmla="*/ 885578 w 1357173"/>
                <a:gd name="connsiteY5" fmla="*/ 375304 h 1064682"/>
                <a:gd name="connsiteX6" fmla="*/ 1333519 w 1357173"/>
                <a:gd name="connsiteY6" fmla="*/ 535650 h 1064682"/>
                <a:gd name="connsiteX7" fmla="*/ 1357173 w 1357173"/>
                <a:gd name="connsiteY7" fmla="*/ 478589 h 1064682"/>
                <a:gd name="connsiteX8" fmla="*/ 0 w 1357173"/>
                <a:gd name="connsiteY8" fmla="*/ 0 h 1064682"/>
                <a:gd name="connsiteX0" fmla="*/ 0 w 1357173"/>
                <a:gd name="connsiteY0" fmla="*/ 0 h 1064682"/>
                <a:gd name="connsiteX1" fmla="*/ 130846 w 1357173"/>
                <a:gd name="connsiteY1" fmla="*/ 1064682 h 1064682"/>
                <a:gd name="connsiteX2" fmla="*/ 735825 w 1357173"/>
                <a:gd name="connsiteY2" fmla="*/ 961894 h 1064682"/>
                <a:gd name="connsiteX3" fmla="*/ 669150 w 1357173"/>
                <a:gd name="connsiteY3" fmla="*/ 495169 h 1064682"/>
                <a:gd name="connsiteX4" fmla="*/ 819166 w 1357173"/>
                <a:gd name="connsiteY4" fmla="*/ 562901 h 1064682"/>
                <a:gd name="connsiteX5" fmla="*/ 885578 w 1357173"/>
                <a:gd name="connsiteY5" fmla="*/ 375304 h 1064682"/>
                <a:gd name="connsiteX6" fmla="*/ 1346741 w 1357173"/>
                <a:gd name="connsiteY6" fmla="*/ 563688 h 1064682"/>
                <a:gd name="connsiteX7" fmla="*/ 1357173 w 1357173"/>
                <a:gd name="connsiteY7" fmla="*/ 478589 h 1064682"/>
                <a:gd name="connsiteX8" fmla="*/ 0 w 1357173"/>
                <a:gd name="connsiteY8" fmla="*/ 0 h 1064682"/>
                <a:gd name="connsiteX0" fmla="*/ 0 w 1346741"/>
                <a:gd name="connsiteY0" fmla="*/ 0 h 1064682"/>
                <a:gd name="connsiteX1" fmla="*/ 130846 w 1346741"/>
                <a:gd name="connsiteY1" fmla="*/ 1064682 h 1064682"/>
                <a:gd name="connsiteX2" fmla="*/ 735825 w 1346741"/>
                <a:gd name="connsiteY2" fmla="*/ 961894 h 1064682"/>
                <a:gd name="connsiteX3" fmla="*/ 669150 w 1346741"/>
                <a:gd name="connsiteY3" fmla="*/ 495169 h 1064682"/>
                <a:gd name="connsiteX4" fmla="*/ 819166 w 1346741"/>
                <a:gd name="connsiteY4" fmla="*/ 562901 h 1064682"/>
                <a:gd name="connsiteX5" fmla="*/ 885578 w 1346741"/>
                <a:gd name="connsiteY5" fmla="*/ 375304 h 1064682"/>
                <a:gd name="connsiteX6" fmla="*/ 1346741 w 1346741"/>
                <a:gd name="connsiteY6" fmla="*/ 563688 h 1064682"/>
                <a:gd name="connsiteX7" fmla="*/ 1342888 w 1346741"/>
                <a:gd name="connsiteY7" fmla="*/ 514559 h 1064682"/>
                <a:gd name="connsiteX8" fmla="*/ 0 w 1346741"/>
                <a:gd name="connsiteY8" fmla="*/ 0 h 1064682"/>
                <a:gd name="connsiteX0" fmla="*/ 0 w 1361929"/>
                <a:gd name="connsiteY0" fmla="*/ 0 h 1064682"/>
                <a:gd name="connsiteX1" fmla="*/ 130846 w 1361929"/>
                <a:gd name="connsiteY1" fmla="*/ 1064682 h 1064682"/>
                <a:gd name="connsiteX2" fmla="*/ 735825 w 1361929"/>
                <a:gd name="connsiteY2" fmla="*/ 961894 h 1064682"/>
                <a:gd name="connsiteX3" fmla="*/ 669150 w 1361929"/>
                <a:gd name="connsiteY3" fmla="*/ 495169 h 1064682"/>
                <a:gd name="connsiteX4" fmla="*/ 819166 w 1361929"/>
                <a:gd name="connsiteY4" fmla="*/ 562901 h 1064682"/>
                <a:gd name="connsiteX5" fmla="*/ 885578 w 1361929"/>
                <a:gd name="connsiteY5" fmla="*/ 375304 h 1064682"/>
                <a:gd name="connsiteX6" fmla="*/ 1346741 w 1361929"/>
                <a:gd name="connsiteY6" fmla="*/ 563688 h 1064682"/>
                <a:gd name="connsiteX7" fmla="*/ 1361929 w 1361929"/>
                <a:gd name="connsiteY7" fmla="*/ 537837 h 1064682"/>
                <a:gd name="connsiteX8" fmla="*/ 0 w 1361929"/>
                <a:gd name="connsiteY8" fmla="*/ 0 h 1064682"/>
                <a:gd name="connsiteX0" fmla="*/ 5391 w 1367320"/>
                <a:gd name="connsiteY0" fmla="*/ 4215 h 1068897"/>
                <a:gd name="connsiteX1" fmla="*/ 0 w 1367320"/>
                <a:gd name="connsiteY1" fmla="*/ 0 h 1068897"/>
                <a:gd name="connsiteX2" fmla="*/ 136237 w 1367320"/>
                <a:gd name="connsiteY2" fmla="*/ 1068897 h 1068897"/>
                <a:gd name="connsiteX3" fmla="*/ 741216 w 1367320"/>
                <a:gd name="connsiteY3" fmla="*/ 966109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5391 w 1367320"/>
                <a:gd name="connsiteY9" fmla="*/ 4215 h 1068897"/>
                <a:gd name="connsiteX0" fmla="*/ 360134 w 1367320"/>
                <a:gd name="connsiteY0" fmla="*/ 123264 h 1068897"/>
                <a:gd name="connsiteX1" fmla="*/ 0 w 1367320"/>
                <a:gd name="connsiteY1" fmla="*/ 0 h 1068897"/>
                <a:gd name="connsiteX2" fmla="*/ 136237 w 1367320"/>
                <a:gd name="connsiteY2" fmla="*/ 1068897 h 1068897"/>
                <a:gd name="connsiteX3" fmla="*/ 741216 w 1367320"/>
                <a:gd name="connsiteY3" fmla="*/ 966109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360134 w 1367320"/>
                <a:gd name="connsiteY9" fmla="*/ 123264 h 1068897"/>
                <a:gd name="connsiteX0" fmla="*/ 360134 w 1367320"/>
                <a:gd name="connsiteY0" fmla="*/ 123264 h 1068897"/>
                <a:gd name="connsiteX1" fmla="*/ 0 w 1367320"/>
                <a:gd name="connsiteY1" fmla="*/ 0 h 1068897"/>
                <a:gd name="connsiteX2" fmla="*/ 136237 w 1367320"/>
                <a:gd name="connsiteY2" fmla="*/ 1068897 h 1068897"/>
                <a:gd name="connsiteX3" fmla="*/ 749027 w 1367320"/>
                <a:gd name="connsiteY3" fmla="*/ 980817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360134 w 1367320"/>
                <a:gd name="connsiteY9" fmla="*/ 123264 h 1068897"/>
                <a:gd name="connsiteX0" fmla="*/ 360134 w 1367775"/>
                <a:gd name="connsiteY0" fmla="*/ 123264 h 1068897"/>
                <a:gd name="connsiteX1" fmla="*/ 0 w 1367775"/>
                <a:gd name="connsiteY1" fmla="*/ 0 h 1068897"/>
                <a:gd name="connsiteX2" fmla="*/ 136237 w 1367775"/>
                <a:gd name="connsiteY2" fmla="*/ 1068897 h 1068897"/>
                <a:gd name="connsiteX3" fmla="*/ 749027 w 1367775"/>
                <a:gd name="connsiteY3" fmla="*/ 980817 h 1068897"/>
                <a:gd name="connsiteX4" fmla="*/ 674541 w 1367775"/>
                <a:gd name="connsiteY4" fmla="*/ 499384 h 1068897"/>
                <a:gd name="connsiteX5" fmla="*/ 824557 w 1367775"/>
                <a:gd name="connsiteY5" fmla="*/ 567116 h 1068897"/>
                <a:gd name="connsiteX6" fmla="*/ 890969 w 1367775"/>
                <a:gd name="connsiteY6" fmla="*/ 379519 h 1068897"/>
                <a:gd name="connsiteX7" fmla="*/ 1352132 w 1367775"/>
                <a:gd name="connsiteY7" fmla="*/ 567903 h 1068897"/>
                <a:gd name="connsiteX8" fmla="*/ 1367775 w 1367775"/>
                <a:gd name="connsiteY8" fmla="*/ 583869 h 1068897"/>
                <a:gd name="connsiteX9" fmla="*/ 360134 w 1367775"/>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969 w 1467037"/>
                <a:gd name="connsiteY6" fmla="*/ 379519 h 1068897"/>
                <a:gd name="connsiteX7" fmla="*/ 1352132 w 1467037"/>
                <a:gd name="connsiteY7" fmla="*/ 567903 h 1068897"/>
                <a:gd name="connsiteX8" fmla="*/ 1467037 w 1467037"/>
                <a:gd name="connsiteY8" fmla="*/ 519545 h 1068897"/>
                <a:gd name="connsiteX9" fmla="*/ 360134 w 1467037"/>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969 w 1467037"/>
                <a:gd name="connsiteY6" fmla="*/ 379519 h 1068897"/>
                <a:gd name="connsiteX7" fmla="*/ 1363618 w 1467037"/>
                <a:gd name="connsiteY7" fmla="*/ 592259 h 1068897"/>
                <a:gd name="connsiteX8" fmla="*/ 1467037 w 1467037"/>
                <a:gd name="connsiteY8" fmla="*/ 519545 h 1068897"/>
                <a:gd name="connsiteX9" fmla="*/ 360134 w 1467037"/>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509 w 1467037"/>
                <a:gd name="connsiteY6" fmla="*/ 384114 h 1068897"/>
                <a:gd name="connsiteX7" fmla="*/ 1363618 w 1467037"/>
                <a:gd name="connsiteY7" fmla="*/ 592259 h 1068897"/>
                <a:gd name="connsiteX8" fmla="*/ 1467037 w 1467037"/>
                <a:gd name="connsiteY8" fmla="*/ 519545 h 1068897"/>
                <a:gd name="connsiteX9" fmla="*/ 360134 w 1467037"/>
                <a:gd name="connsiteY9" fmla="*/ 123264 h 1068897"/>
                <a:gd name="connsiteX0" fmla="*/ 360134 w 1363618"/>
                <a:gd name="connsiteY0" fmla="*/ 123264 h 1068897"/>
                <a:gd name="connsiteX1" fmla="*/ 0 w 1363618"/>
                <a:gd name="connsiteY1" fmla="*/ 0 h 1068897"/>
                <a:gd name="connsiteX2" fmla="*/ 136237 w 1363618"/>
                <a:gd name="connsiteY2" fmla="*/ 1068897 h 1068897"/>
                <a:gd name="connsiteX3" fmla="*/ 749027 w 1363618"/>
                <a:gd name="connsiteY3" fmla="*/ 980817 h 1068897"/>
                <a:gd name="connsiteX4" fmla="*/ 674541 w 1363618"/>
                <a:gd name="connsiteY4" fmla="*/ 499384 h 1068897"/>
                <a:gd name="connsiteX5" fmla="*/ 824557 w 1363618"/>
                <a:gd name="connsiteY5" fmla="*/ 567116 h 1068897"/>
                <a:gd name="connsiteX6" fmla="*/ 890509 w 1363618"/>
                <a:gd name="connsiteY6" fmla="*/ 384114 h 1068897"/>
                <a:gd name="connsiteX7" fmla="*/ 1363618 w 1363618"/>
                <a:gd name="connsiteY7" fmla="*/ 592259 h 1068897"/>
                <a:gd name="connsiteX8" fmla="*/ 1355368 w 1363618"/>
                <a:gd name="connsiteY8" fmla="*/ 568704 h 1068897"/>
                <a:gd name="connsiteX9" fmla="*/ 360134 w 1363618"/>
                <a:gd name="connsiteY9" fmla="*/ 123264 h 106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3618" h="1068897">
                  <a:moveTo>
                    <a:pt x="360134" y="123264"/>
                  </a:moveTo>
                  <a:lnTo>
                    <a:pt x="0" y="0"/>
                  </a:lnTo>
                  <a:lnTo>
                    <a:pt x="136237" y="1068897"/>
                  </a:lnTo>
                  <a:lnTo>
                    <a:pt x="749027" y="980817"/>
                  </a:lnTo>
                  <a:lnTo>
                    <a:pt x="674541" y="499384"/>
                  </a:lnTo>
                  <a:lnTo>
                    <a:pt x="824557" y="567116"/>
                  </a:lnTo>
                  <a:lnTo>
                    <a:pt x="890509" y="384114"/>
                  </a:lnTo>
                  <a:lnTo>
                    <a:pt x="1363618" y="592259"/>
                  </a:lnTo>
                  <a:lnTo>
                    <a:pt x="1355368" y="568704"/>
                  </a:lnTo>
                  <a:lnTo>
                    <a:pt x="360134" y="123264"/>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Forma libre 25">
              <a:extLst>
                <a:ext uri="{FF2B5EF4-FFF2-40B4-BE49-F238E27FC236}">
                  <a16:creationId xmlns:a16="http://schemas.microsoft.com/office/drawing/2014/main" id="{20CFAD82-D68F-4879-B944-77824E368EDA}"/>
                </a:ext>
              </a:extLst>
            </p:cNvPr>
            <p:cNvSpPr/>
            <p:nvPr/>
          </p:nvSpPr>
          <p:spPr>
            <a:xfrm rot="21257051">
              <a:off x="10065743" y="4643155"/>
              <a:ext cx="1407057" cy="1677810"/>
            </a:xfrm>
            <a:custGeom>
              <a:avLst/>
              <a:gdLst>
                <a:gd name="connsiteX0" fmla="*/ 892968 w 985837"/>
                <a:gd name="connsiteY0" fmla="*/ 0 h 1076325"/>
                <a:gd name="connsiteX1" fmla="*/ 635793 w 985837"/>
                <a:gd name="connsiteY1" fmla="*/ 52388 h 1076325"/>
                <a:gd name="connsiteX2" fmla="*/ 402431 w 985837"/>
                <a:gd name="connsiteY2" fmla="*/ 164306 h 1076325"/>
                <a:gd name="connsiteX3" fmla="*/ 385762 w 985837"/>
                <a:gd name="connsiteY3" fmla="*/ 292894 h 1076325"/>
                <a:gd name="connsiteX4" fmla="*/ 0 w 985837"/>
                <a:gd name="connsiteY4" fmla="*/ 457200 h 1076325"/>
                <a:gd name="connsiteX5" fmla="*/ 35718 w 985837"/>
                <a:gd name="connsiteY5" fmla="*/ 481013 h 1076325"/>
                <a:gd name="connsiteX6" fmla="*/ 59531 w 985837"/>
                <a:gd name="connsiteY6" fmla="*/ 471488 h 1076325"/>
                <a:gd name="connsiteX7" fmla="*/ 66675 w 985837"/>
                <a:gd name="connsiteY7" fmla="*/ 466725 h 1076325"/>
                <a:gd name="connsiteX8" fmla="*/ 76200 w 985837"/>
                <a:gd name="connsiteY8" fmla="*/ 461963 h 1076325"/>
                <a:gd name="connsiteX9" fmla="*/ 392906 w 985837"/>
                <a:gd name="connsiteY9" fmla="*/ 326231 h 1076325"/>
                <a:gd name="connsiteX10" fmla="*/ 409575 w 985837"/>
                <a:gd name="connsiteY10" fmla="*/ 390525 h 1076325"/>
                <a:gd name="connsiteX11" fmla="*/ 145256 w 985837"/>
                <a:gd name="connsiteY11" fmla="*/ 497681 h 1076325"/>
                <a:gd name="connsiteX12" fmla="*/ 164306 w 985837"/>
                <a:gd name="connsiteY12" fmla="*/ 523875 h 1076325"/>
                <a:gd name="connsiteX13" fmla="*/ 421481 w 985837"/>
                <a:gd name="connsiteY13" fmla="*/ 426244 h 1076325"/>
                <a:gd name="connsiteX14" fmla="*/ 428625 w 985837"/>
                <a:gd name="connsiteY14" fmla="*/ 459581 h 1076325"/>
                <a:gd name="connsiteX15" fmla="*/ 404812 w 985837"/>
                <a:gd name="connsiteY15" fmla="*/ 476250 h 1076325"/>
                <a:gd name="connsiteX16" fmla="*/ 411956 w 985837"/>
                <a:gd name="connsiteY16" fmla="*/ 564356 h 1076325"/>
                <a:gd name="connsiteX17" fmla="*/ 404812 w 985837"/>
                <a:gd name="connsiteY17" fmla="*/ 623888 h 1076325"/>
                <a:gd name="connsiteX18" fmla="*/ 102393 w 985837"/>
                <a:gd name="connsiteY18" fmla="*/ 769144 h 1076325"/>
                <a:gd name="connsiteX19" fmla="*/ 121443 w 985837"/>
                <a:gd name="connsiteY19" fmla="*/ 785813 h 1076325"/>
                <a:gd name="connsiteX20" fmla="*/ 314325 w 985837"/>
                <a:gd name="connsiteY20" fmla="*/ 702469 h 1076325"/>
                <a:gd name="connsiteX21" fmla="*/ 342900 w 985837"/>
                <a:gd name="connsiteY21" fmla="*/ 792956 h 1076325"/>
                <a:gd name="connsiteX22" fmla="*/ 209550 w 985837"/>
                <a:gd name="connsiteY22" fmla="*/ 850106 h 1076325"/>
                <a:gd name="connsiteX23" fmla="*/ 235743 w 985837"/>
                <a:gd name="connsiteY23" fmla="*/ 895350 h 1076325"/>
                <a:gd name="connsiteX24" fmla="*/ 378618 w 985837"/>
                <a:gd name="connsiteY24" fmla="*/ 840581 h 1076325"/>
                <a:gd name="connsiteX25" fmla="*/ 390525 w 985837"/>
                <a:gd name="connsiteY25" fmla="*/ 878681 h 1076325"/>
                <a:gd name="connsiteX26" fmla="*/ 369093 w 985837"/>
                <a:gd name="connsiteY26" fmla="*/ 904875 h 1076325"/>
                <a:gd name="connsiteX27" fmla="*/ 311943 w 985837"/>
                <a:gd name="connsiteY27" fmla="*/ 919163 h 1076325"/>
                <a:gd name="connsiteX28" fmla="*/ 278606 w 985837"/>
                <a:gd name="connsiteY28" fmla="*/ 1000125 h 1076325"/>
                <a:gd name="connsiteX29" fmla="*/ 302418 w 985837"/>
                <a:gd name="connsiteY29" fmla="*/ 1038225 h 1076325"/>
                <a:gd name="connsiteX30" fmla="*/ 314325 w 985837"/>
                <a:gd name="connsiteY30" fmla="*/ 1076325 h 1076325"/>
                <a:gd name="connsiteX31" fmla="*/ 361950 w 985837"/>
                <a:gd name="connsiteY31" fmla="*/ 1076325 h 1076325"/>
                <a:gd name="connsiteX32" fmla="*/ 511968 w 985837"/>
                <a:gd name="connsiteY32" fmla="*/ 1064419 h 1076325"/>
                <a:gd name="connsiteX33" fmla="*/ 511968 w 985837"/>
                <a:gd name="connsiteY33" fmla="*/ 1033463 h 1076325"/>
                <a:gd name="connsiteX34" fmla="*/ 626268 w 985837"/>
                <a:gd name="connsiteY34" fmla="*/ 1019175 h 1076325"/>
                <a:gd name="connsiteX35" fmla="*/ 602456 w 985837"/>
                <a:gd name="connsiteY35" fmla="*/ 752475 h 1076325"/>
                <a:gd name="connsiteX36" fmla="*/ 985837 w 985837"/>
                <a:gd name="connsiteY36" fmla="*/ 692944 h 1076325"/>
                <a:gd name="connsiteX37" fmla="*/ 892968 w 985837"/>
                <a:gd name="connsiteY37" fmla="*/ 0 h 1076325"/>
                <a:gd name="connsiteX0" fmla="*/ 862654 w 985837"/>
                <a:gd name="connsiteY0" fmla="*/ 0 h 1244303"/>
                <a:gd name="connsiteX1" fmla="*/ 635793 w 985837"/>
                <a:gd name="connsiteY1" fmla="*/ 220366 h 1244303"/>
                <a:gd name="connsiteX2" fmla="*/ 402431 w 985837"/>
                <a:gd name="connsiteY2" fmla="*/ 332284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402431 w 985837"/>
                <a:gd name="connsiteY2" fmla="*/ 332284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318071 w 985837"/>
                <a:gd name="connsiteY4" fmla="*/ 237072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202799 w 985837"/>
                <a:gd name="connsiteY4" fmla="*/ 494156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202799 w 985837"/>
                <a:gd name="connsiteY4" fmla="*/ 494156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33929 w 985837"/>
                <a:gd name="connsiteY5" fmla="*/ 314061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68912 w 985837"/>
                <a:gd name="connsiteY5" fmla="*/ 435379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626944 w 985837"/>
                <a:gd name="connsiteY1" fmla="*/ 26261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618545 w 985837"/>
                <a:gd name="connsiteY1" fmla="*/ 15995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4522 w 985837"/>
                <a:gd name="connsiteY0" fmla="*/ 0 h 1262967"/>
                <a:gd name="connsiteX1" fmla="*/ 618545 w 985837"/>
                <a:gd name="connsiteY1" fmla="*/ 34659 h 1262967"/>
                <a:gd name="connsiteX2" fmla="*/ 243806 w 985837"/>
                <a:gd name="connsiteY2" fmla="*/ 146564 h 1262967"/>
                <a:gd name="connsiteX3" fmla="*/ 103960 w 985837"/>
                <a:gd name="connsiteY3" fmla="*/ 234547 h 1262967"/>
                <a:gd name="connsiteX4" fmla="*/ 329730 w 985837"/>
                <a:gd name="connsiteY4" fmla="*/ 327593 h 1262967"/>
                <a:gd name="connsiteX5" fmla="*/ 370308 w 985837"/>
                <a:gd name="connsiteY5" fmla="*/ 487170 h 1262967"/>
                <a:gd name="connsiteX6" fmla="*/ 0 w 985837"/>
                <a:gd name="connsiteY6" fmla="*/ 643842 h 1262967"/>
                <a:gd name="connsiteX7" fmla="*/ 35718 w 985837"/>
                <a:gd name="connsiteY7" fmla="*/ 667655 h 1262967"/>
                <a:gd name="connsiteX8" fmla="*/ 59531 w 985837"/>
                <a:gd name="connsiteY8" fmla="*/ 658130 h 1262967"/>
                <a:gd name="connsiteX9" fmla="*/ 66675 w 985837"/>
                <a:gd name="connsiteY9" fmla="*/ 653367 h 1262967"/>
                <a:gd name="connsiteX10" fmla="*/ 76200 w 985837"/>
                <a:gd name="connsiteY10" fmla="*/ 648605 h 1262967"/>
                <a:gd name="connsiteX11" fmla="*/ 392906 w 985837"/>
                <a:gd name="connsiteY11" fmla="*/ 512873 h 1262967"/>
                <a:gd name="connsiteX12" fmla="*/ 409575 w 985837"/>
                <a:gd name="connsiteY12" fmla="*/ 577167 h 1262967"/>
                <a:gd name="connsiteX13" fmla="*/ 145256 w 985837"/>
                <a:gd name="connsiteY13" fmla="*/ 684323 h 1262967"/>
                <a:gd name="connsiteX14" fmla="*/ 164306 w 985837"/>
                <a:gd name="connsiteY14" fmla="*/ 710517 h 1262967"/>
                <a:gd name="connsiteX15" fmla="*/ 421481 w 985837"/>
                <a:gd name="connsiteY15" fmla="*/ 612886 h 1262967"/>
                <a:gd name="connsiteX16" fmla="*/ 428625 w 985837"/>
                <a:gd name="connsiteY16" fmla="*/ 646223 h 1262967"/>
                <a:gd name="connsiteX17" fmla="*/ 404812 w 985837"/>
                <a:gd name="connsiteY17" fmla="*/ 662892 h 1262967"/>
                <a:gd name="connsiteX18" fmla="*/ 411956 w 985837"/>
                <a:gd name="connsiteY18" fmla="*/ 750998 h 1262967"/>
                <a:gd name="connsiteX19" fmla="*/ 404812 w 985837"/>
                <a:gd name="connsiteY19" fmla="*/ 810530 h 1262967"/>
                <a:gd name="connsiteX20" fmla="*/ 102393 w 985837"/>
                <a:gd name="connsiteY20" fmla="*/ 955786 h 1262967"/>
                <a:gd name="connsiteX21" fmla="*/ 121443 w 985837"/>
                <a:gd name="connsiteY21" fmla="*/ 972455 h 1262967"/>
                <a:gd name="connsiteX22" fmla="*/ 314325 w 985837"/>
                <a:gd name="connsiteY22" fmla="*/ 889111 h 1262967"/>
                <a:gd name="connsiteX23" fmla="*/ 342900 w 985837"/>
                <a:gd name="connsiteY23" fmla="*/ 979598 h 1262967"/>
                <a:gd name="connsiteX24" fmla="*/ 209550 w 985837"/>
                <a:gd name="connsiteY24" fmla="*/ 1036748 h 1262967"/>
                <a:gd name="connsiteX25" fmla="*/ 235743 w 985837"/>
                <a:gd name="connsiteY25" fmla="*/ 1081992 h 1262967"/>
                <a:gd name="connsiteX26" fmla="*/ 378618 w 985837"/>
                <a:gd name="connsiteY26" fmla="*/ 1027223 h 1262967"/>
                <a:gd name="connsiteX27" fmla="*/ 390525 w 985837"/>
                <a:gd name="connsiteY27" fmla="*/ 1065323 h 1262967"/>
                <a:gd name="connsiteX28" fmla="*/ 369093 w 985837"/>
                <a:gd name="connsiteY28" fmla="*/ 1091517 h 1262967"/>
                <a:gd name="connsiteX29" fmla="*/ 311943 w 985837"/>
                <a:gd name="connsiteY29" fmla="*/ 1105805 h 1262967"/>
                <a:gd name="connsiteX30" fmla="*/ 278606 w 985837"/>
                <a:gd name="connsiteY30" fmla="*/ 1186767 h 1262967"/>
                <a:gd name="connsiteX31" fmla="*/ 302418 w 985837"/>
                <a:gd name="connsiteY31" fmla="*/ 1224867 h 1262967"/>
                <a:gd name="connsiteX32" fmla="*/ 314325 w 985837"/>
                <a:gd name="connsiteY32" fmla="*/ 1262967 h 1262967"/>
                <a:gd name="connsiteX33" fmla="*/ 361950 w 985837"/>
                <a:gd name="connsiteY33" fmla="*/ 1262967 h 1262967"/>
                <a:gd name="connsiteX34" fmla="*/ 511968 w 985837"/>
                <a:gd name="connsiteY34" fmla="*/ 1251061 h 1262967"/>
                <a:gd name="connsiteX35" fmla="*/ 511968 w 985837"/>
                <a:gd name="connsiteY35" fmla="*/ 1220105 h 1262967"/>
                <a:gd name="connsiteX36" fmla="*/ 626268 w 985837"/>
                <a:gd name="connsiteY36" fmla="*/ 1205817 h 1262967"/>
                <a:gd name="connsiteX37" fmla="*/ 602456 w 985837"/>
                <a:gd name="connsiteY37" fmla="*/ 939117 h 1262967"/>
                <a:gd name="connsiteX38" fmla="*/ 985837 w 985837"/>
                <a:gd name="connsiteY38" fmla="*/ 879586 h 1262967"/>
                <a:gd name="connsiteX39" fmla="*/ 864522 w 985837"/>
                <a:gd name="connsiteY39" fmla="*/ 0 h 1262967"/>
                <a:gd name="connsiteX0" fmla="*/ 864522 w 985837"/>
                <a:gd name="connsiteY0" fmla="*/ 0 h 1262967"/>
                <a:gd name="connsiteX1" fmla="*/ 618545 w 985837"/>
                <a:gd name="connsiteY1" fmla="*/ 34659 h 1262967"/>
                <a:gd name="connsiteX2" fmla="*/ 243806 w 985837"/>
                <a:gd name="connsiteY2" fmla="*/ 146564 h 1262967"/>
                <a:gd name="connsiteX3" fmla="*/ 67966 w 985837"/>
                <a:gd name="connsiteY3" fmla="*/ 241043 h 1262967"/>
                <a:gd name="connsiteX4" fmla="*/ 329730 w 985837"/>
                <a:gd name="connsiteY4" fmla="*/ 327593 h 1262967"/>
                <a:gd name="connsiteX5" fmla="*/ 370308 w 985837"/>
                <a:gd name="connsiteY5" fmla="*/ 487170 h 1262967"/>
                <a:gd name="connsiteX6" fmla="*/ 0 w 985837"/>
                <a:gd name="connsiteY6" fmla="*/ 643842 h 1262967"/>
                <a:gd name="connsiteX7" fmla="*/ 35718 w 985837"/>
                <a:gd name="connsiteY7" fmla="*/ 667655 h 1262967"/>
                <a:gd name="connsiteX8" fmla="*/ 59531 w 985837"/>
                <a:gd name="connsiteY8" fmla="*/ 658130 h 1262967"/>
                <a:gd name="connsiteX9" fmla="*/ 66675 w 985837"/>
                <a:gd name="connsiteY9" fmla="*/ 653367 h 1262967"/>
                <a:gd name="connsiteX10" fmla="*/ 76200 w 985837"/>
                <a:gd name="connsiteY10" fmla="*/ 648605 h 1262967"/>
                <a:gd name="connsiteX11" fmla="*/ 392906 w 985837"/>
                <a:gd name="connsiteY11" fmla="*/ 512873 h 1262967"/>
                <a:gd name="connsiteX12" fmla="*/ 409575 w 985837"/>
                <a:gd name="connsiteY12" fmla="*/ 577167 h 1262967"/>
                <a:gd name="connsiteX13" fmla="*/ 145256 w 985837"/>
                <a:gd name="connsiteY13" fmla="*/ 684323 h 1262967"/>
                <a:gd name="connsiteX14" fmla="*/ 164306 w 985837"/>
                <a:gd name="connsiteY14" fmla="*/ 710517 h 1262967"/>
                <a:gd name="connsiteX15" fmla="*/ 421481 w 985837"/>
                <a:gd name="connsiteY15" fmla="*/ 612886 h 1262967"/>
                <a:gd name="connsiteX16" fmla="*/ 428625 w 985837"/>
                <a:gd name="connsiteY16" fmla="*/ 646223 h 1262967"/>
                <a:gd name="connsiteX17" fmla="*/ 404812 w 985837"/>
                <a:gd name="connsiteY17" fmla="*/ 662892 h 1262967"/>
                <a:gd name="connsiteX18" fmla="*/ 411956 w 985837"/>
                <a:gd name="connsiteY18" fmla="*/ 750998 h 1262967"/>
                <a:gd name="connsiteX19" fmla="*/ 404812 w 985837"/>
                <a:gd name="connsiteY19" fmla="*/ 810530 h 1262967"/>
                <a:gd name="connsiteX20" fmla="*/ 102393 w 985837"/>
                <a:gd name="connsiteY20" fmla="*/ 955786 h 1262967"/>
                <a:gd name="connsiteX21" fmla="*/ 121443 w 985837"/>
                <a:gd name="connsiteY21" fmla="*/ 972455 h 1262967"/>
                <a:gd name="connsiteX22" fmla="*/ 314325 w 985837"/>
                <a:gd name="connsiteY22" fmla="*/ 889111 h 1262967"/>
                <a:gd name="connsiteX23" fmla="*/ 342900 w 985837"/>
                <a:gd name="connsiteY23" fmla="*/ 979598 h 1262967"/>
                <a:gd name="connsiteX24" fmla="*/ 209550 w 985837"/>
                <a:gd name="connsiteY24" fmla="*/ 1036748 h 1262967"/>
                <a:gd name="connsiteX25" fmla="*/ 235743 w 985837"/>
                <a:gd name="connsiteY25" fmla="*/ 1081992 h 1262967"/>
                <a:gd name="connsiteX26" fmla="*/ 378618 w 985837"/>
                <a:gd name="connsiteY26" fmla="*/ 1027223 h 1262967"/>
                <a:gd name="connsiteX27" fmla="*/ 390525 w 985837"/>
                <a:gd name="connsiteY27" fmla="*/ 1065323 h 1262967"/>
                <a:gd name="connsiteX28" fmla="*/ 369093 w 985837"/>
                <a:gd name="connsiteY28" fmla="*/ 1091517 h 1262967"/>
                <a:gd name="connsiteX29" fmla="*/ 311943 w 985837"/>
                <a:gd name="connsiteY29" fmla="*/ 1105805 h 1262967"/>
                <a:gd name="connsiteX30" fmla="*/ 278606 w 985837"/>
                <a:gd name="connsiteY30" fmla="*/ 1186767 h 1262967"/>
                <a:gd name="connsiteX31" fmla="*/ 302418 w 985837"/>
                <a:gd name="connsiteY31" fmla="*/ 1224867 h 1262967"/>
                <a:gd name="connsiteX32" fmla="*/ 314325 w 985837"/>
                <a:gd name="connsiteY32" fmla="*/ 1262967 h 1262967"/>
                <a:gd name="connsiteX33" fmla="*/ 361950 w 985837"/>
                <a:gd name="connsiteY33" fmla="*/ 1262967 h 1262967"/>
                <a:gd name="connsiteX34" fmla="*/ 511968 w 985837"/>
                <a:gd name="connsiteY34" fmla="*/ 1251061 h 1262967"/>
                <a:gd name="connsiteX35" fmla="*/ 511968 w 985837"/>
                <a:gd name="connsiteY35" fmla="*/ 1220105 h 1262967"/>
                <a:gd name="connsiteX36" fmla="*/ 626268 w 985837"/>
                <a:gd name="connsiteY36" fmla="*/ 1205817 h 1262967"/>
                <a:gd name="connsiteX37" fmla="*/ 602456 w 985837"/>
                <a:gd name="connsiteY37" fmla="*/ 939117 h 1262967"/>
                <a:gd name="connsiteX38" fmla="*/ 985837 w 985837"/>
                <a:gd name="connsiteY38" fmla="*/ 879586 h 1262967"/>
                <a:gd name="connsiteX39" fmla="*/ 864522 w 985837"/>
                <a:gd name="connsiteY39" fmla="*/ 0 h 126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85837" h="1262967">
                  <a:moveTo>
                    <a:pt x="864522" y="0"/>
                  </a:moveTo>
                  <a:lnTo>
                    <a:pt x="618545" y="34659"/>
                  </a:lnTo>
                  <a:lnTo>
                    <a:pt x="243806" y="146564"/>
                  </a:lnTo>
                  <a:lnTo>
                    <a:pt x="67966" y="241043"/>
                  </a:lnTo>
                  <a:lnTo>
                    <a:pt x="329730" y="327593"/>
                  </a:lnTo>
                  <a:lnTo>
                    <a:pt x="370308" y="487170"/>
                  </a:lnTo>
                  <a:lnTo>
                    <a:pt x="0" y="643842"/>
                  </a:lnTo>
                  <a:lnTo>
                    <a:pt x="35718" y="667655"/>
                  </a:lnTo>
                  <a:cubicBezTo>
                    <a:pt x="43656" y="664480"/>
                    <a:pt x="51769" y="661713"/>
                    <a:pt x="59531" y="658130"/>
                  </a:cubicBezTo>
                  <a:cubicBezTo>
                    <a:pt x="62130" y="656931"/>
                    <a:pt x="64190" y="654787"/>
                    <a:pt x="66675" y="653367"/>
                  </a:cubicBezTo>
                  <a:cubicBezTo>
                    <a:pt x="69757" y="651606"/>
                    <a:pt x="76200" y="648605"/>
                    <a:pt x="76200" y="648605"/>
                  </a:cubicBezTo>
                  <a:lnTo>
                    <a:pt x="392906" y="512873"/>
                  </a:lnTo>
                  <a:lnTo>
                    <a:pt x="409575" y="577167"/>
                  </a:lnTo>
                  <a:lnTo>
                    <a:pt x="145256" y="684323"/>
                  </a:lnTo>
                  <a:lnTo>
                    <a:pt x="164306" y="710517"/>
                  </a:lnTo>
                  <a:lnTo>
                    <a:pt x="421481" y="612886"/>
                  </a:lnTo>
                  <a:lnTo>
                    <a:pt x="428625" y="646223"/>
                  </a:lnTo>
                  <a:lnTo>
                    <a:pt x="404812" y="662892"/>
                  </a:lnTo>
                  <a:lnTo>
                    <a:pt x="411956" y="750998"/>
                  </a:lnTo>
                  <a:lnTo>
                    <a:pt x="404812" y="810530"/>
                  </a:lnTo>
                  <a:lnTo>
                    <a:pt x="102393" y="955786"/>
                  </a:lnTo>
                  <a:lnTo>
                    <a:pt x="121443" y="972455"/>
                  </a:lnTo>
                  <a:lnTo>
                    <a:pt x="314325" y="889111"/>
                  </a:lnTo>
                  <a:lnTo>
                    <a:pt x="342900" y="979598"/>
                  </a:lnTo>
                  <a:lnTo>
                    <a:pt x="209550" y="1036748"/>
                  </a:lnTo>
                  <a:lnTo>
                    <a:pt x="235743" y="1081992"/>
                  </a:lnTo>
                  <a:lnTo>
                    <a:pt x="378618" y="1027223"/>
                  </a:lnTo>
                  <a:lnTo>
                    <a:pt x="390525" y="1065323"/>
                  </a:lnTo>
                  <a:lnTo>
                    <a:pt x="369093" y="1091517"/>
                  </a:lnTo>
                  <a:lnTo>
                    <a:pt x="311943" y="1105805"/>
                  </a:lnTo>
                  <a:lnTo>
                    <a:pt x="278606" y="1186767"/>
                  </a:lnTo>
                  <a:lnTo>
                    <a:pt x="302418" y="1224867"/>
                  </a:lnTo>
                  <a:lnTo>
                    <a:pt x="314325" y="1262967"/>
                  </a:lnTo>
                  <a:lnTo>
                    <a:pt x="361950" y="1262967"/>
                  </a:lnTo>
                  <a:lnTo>
                    <a:pt x="511968" y="1251061"/>
                  </a:lnTo>
                  <a:lnTo>
                    <a:pt x="511968" y="1220105"/>
                  </a:lnTo>
                  <a:lnTo>
                    <a:pt x="626268" y="1205817"/>
                  </a:lnTo>
                  <a:lnTo>
                    <a:pt x="602456" y="939117"/>
                  </a:lnTo>
                  <a:lnTo>
                    <a:pt x="985837" y="879586"/>
                  </a:lnTo>
                  <a:lnTo>
                    <a:pt x="864522" y="0"/>
                  </a:lnTo>
                  <a:close/>
                </a:path>
              </a:pathLst>
            </a:cu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PE" sz="800" b="1" dirty="0">
                <a:solidFill>
                  <a:schemeClr val="tx1"/>
                </a:solidFill>
              </a:endParaRPr>
            </a:p>
          </p:txBody>
        </p:sp>
        <p:sp>
          <p:nvSpPr>
            <p:cNvPr id="34" name="CuadroTexto 33">
              <a:extLst>
                <a:ext uri="{FF2B5EF4-FFF2-40B4-BE49-F238E27FC236}">
                  <a16:creationId xmlns:a16="http://schemas.microsoft.com/office/drawing/2014/main" id="{2B07B080-3B86-49D5-9A0A-D1000A6B334A}"/>
                </a:ext>
              </a:extLst>
            </p:cNvPr>
            <p:cNvSpPr txBox="1"/>
            <p:nvPr/>
          </p:nvSpPr>
          <p:spPr>
            <a:xfrm>
              <a:off x="11477955" y="4796009"/>
              <a:ext cx="923740" cy="338554"/>
            </a:xfrm>
            <a:prstGeom prst="rect">
              <a:avLst/>
            </a:prstGeom>
            <a:noFill/>
            <a:ln>
              <a:noFill/>
            </a:ln>
          </p:spPr>
          <p:txBody>
            <a:bodyPr wrap="square" rtlCol="0">
              <a:spAutoFit/>
            </a:bodyPr>
            <a:lstStyle>
              <a:defPPr>
                <a:defRPr lang="es-PE"/>
              </a:defPPr>
              <a:lvl1pPr>
                <a:defRPr sz="2000" b="1">
                  <a:solidFill>
                    <a:srgbClr val="FF0000"/>
                  </a:solidFill>
                </a:defRPr>
              </a:lvl1pPr>
            </a:lstStyle>
            <a:p>
              <a:r>
                <a:rPr lang="en-US" sz="800" dirty="0">
                  <a:solidFill>
                    <a:schemeClr val="tx2"/>
                  </a:solidFill>
                </a:rPr>
                <a:t>ANTEPUERTO</a:t>
              </a:r>
              <a:br>
                <a:rPr lang="en-US" sz="800" dirty="0">
                  <a:solidFill>
                    <a:schemeClr val="tx2"/>
                  </a:solidFill>
                </a:rPr>
              </a:br>
              <a:r>
                <a:rPr lang="en-US" sz="800" dirty="0">
                  <a:solidFill>
                    <a:schemeClr val="tx2"/>
                  </a:solidFill>
                </a:rPr>
                <a:t>ha: 35.26</a:t>
              </a:r>
            </a:p>
          </p:txBody>
        </p:sp>
        <p:sp>
          <p:nvSpPr>
            <p:cNvPr id="35" name="Rectángulo 34">
              <a:extLst>
                <a:ext uri="{FF2B5EF4-FFF2-40B4-BE49-F238E27FC236}">
                  <a16:creationId xmlns:a16="http://schemas.microsoft.com/office/drawing/2014/main" id="{1B97E7F3-AD40-420D-A44B-44C89FBFD658}"/>
                </a:ext>
              </a:extLst>
            </p:cNvPr>
            <p:cNvSpPr/>
            <p:nvPr/>
          </p:nvSpPr>
          <p:spPr>
            <a:xfrm>
              <a:off x="10598219" y="5036675"/>
              <a:ext cx="796601" cy="338554"/>
            </a:xfrm>
            <a:prstGeom prst="rect">
              <a:avLst/>
            </a:prstGeom>
          </p:spPr>
          <p:txBody>
            <a:bodyPr wrap="square">
              <a:spAutoFit/>
            </a:bodyPr>
            <a:lstStyle/>
            <a:p>
              <a:pPr algn="ctr"/>
              <a:r>
                <a:rPr lang="es-ES" sz="800" b="1" dirty="0"/>
                <a:t>ARSENAL NAVAL</a:t>
              </a:r>
              <a:endParaRPr lang="es-PE" sz="800" b="1" dirty="0"/>
            </a:p>
          </p:txBody>
        </p:sp>
        <p:sp>
          <p:nvSpPr>
            <p:cNvPr id="37" name="Forma libre 29">
              <a:extLst>
                <a:ext uri="{FF2B5EF4-FFF2-40B4-BE49-F238E27FC236}">
                  <a16:creationId xmlns:a16="http://schemas.microsoft.com/office/drawing/2014/main" id="{F124693A-ACA5-4328-A2E6-A4505FD962F2}"/>
                </a:ext>
              </a:extLst>
            </p:cNvPr>
            <p:cNvSpPr/>
            <p:nvPr/>
          </p:nvSpPr>
          <p:spPr>
            <a:xfrm rot="21257051">
              <a:off x="4445434" y="4249990"/>
              <a:ext cx="4898808" cy="2071926"/>
            </a:xfrm>
            <a:custGeom>
              <a:avLst/>
              <a:gdLst>
                <a:gd name="connsiteX0" fmla="*/ 2743200 w 3476625"/>
                <a:gd name="connsiteY0" fmla="*/ 1466850 h 1466850"/>
                <a:gd name="connsiteX1" fmla="*/ 2795588 w 3476625"/>
                <a:gd name="connsiteY1" fmla="*/ 1238250 h 1466850"/>
                <a:gd name="connsiteX2" fmla="*/ 2976563 w 3476625"/>
                <a:gd name="connsiteY2" fmla="*/ 1309688 h 1466850"/>
                <a:gd name="connsiteX3" fmla="*/ 3181350 w 3476625"/>
                <a:gd name="connsiteY3" fmla="*/ 1028700 h 1466850"/>
                <a:gd name="connsiteX4" fmla="*/ 3476625 w 3476625"/>
                <a:gd name="connsiteY4" fmla="*/ 871538 h 1466850"/>
                <a:gd name="connsiteX5" fmla="*/ 3409950 w 3476625"/>
                <a:gd name="connsiteY5" fmla="*/ 733425 h 1466850"/>
                <a:gd name="connsiteX6" fmla="*/ 3224213 w 3476625"/>
                <a:gd name="connsiteY6" fmla="*/ 790575 h 1466850"/>
                <a:gd name="connsiteX7" fmla="*/ 166688 w 3476625"/>
                <a:gd name="connsiteY7" fmla="*/ 0 h 1466850"/>
                <a:gd name="connsiteX8" fmla="*/ 0 w 3476625"/>
                <a:gd name="connsiteY8" fmla="*/ 738188 h 1466850"/>
                <a:gd name="connsiteX9" fmla="*/ 2743200 w 3476625"/>
                <a:gd name="connsiteY9" fmla="*/ 1466850 h 146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76625" h="1466850">
                  <a:moveTo>
                    <a:pt x="2743200" y="1466850"/>
                  </a:moveTo>
                  <a:lnTo>
                    <a:pt x="2795588" y="1238250"/>
                  </a:lnTo>
                  <a:lnTo>
                    <a:pt x="2976563" y="1309688"/>
                  </a:lnTo>
                  <a:lnTo>
                    <a:pt x="3181350" y="1028700"/>
                  </a:lnTo>
                  <a:lnTo>
                    <a:pt x="3476625" y="871538"/>
                  </a:lnTo>
                  <a:lnTo>
                    <a:pt x="3409950" y="733425"/>
                  </a:lnTo>
                  <a:lnTo>
                    <a:pt x="3224213" y="790575"/>
                  </a:lnTo>
                  <a:lnTo>
                    <a:pt x="166688" y="0"/>
                  </a:lnTo>
                  <a:lnTo>
                    <a:pt x="0" y="738188"/>
                  </a:lnTo>
                  <a:lnTo>
                    <a:pt x="2743200" y="1466850"/>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ln>
                  <a:solidFill>
                    <a:srgbClr val="0000FF"/>
                  </a:solidFill>
                </a:ln>
                <a:solidFill>
                  <a:srgbClr val="0000FF"/>
                </a:solidFill>
              </a:endParaRPr>
            </a:p>
          </p:txBody>
        </p:sp>
        <p:sp>
          <p:nvSpPr>
            <p:cNvPr id="40" name="Forma libre 32">
              <a:extLst>
                <a:ext uri="{FF2B5EF4-FFF2-40B4-BE49-F238E27FC236}">
                  <a16:creationId xmlns:a16="http://schemas.microsoft.com/office/drawing/2014/main" id="{12D758DB-A91A-4B38-93C1-0FAC36ADC59D}"/>
                </a:ext>
              </a:extLst>
            </p:cNvPr>
            <p:cNvSpPr/>
            <p:nvPr/>
          </p:nvSpPr>
          <p:spPr>
            <a:xfrm rot="21257051">
              <a:off x="7468838" y="7236527"/>
              <a:ext cx="723260" cy="695776"/>
            </a:xfrm>
            <a:custGeom>
              <a:avLst/>
              <a:gdLst>
                <a:gd name="connsiteX0" fmla="*/ 290512 w 561975"/>
                <a:gd name="connsiteY0" fmla="*/ 576262 h 576262"/>
                <a:gd name="connsiteX1" fmla="*/ 290512 w 561975"/>
                <a:gd name="connsiteY1" fmla="*/ 576262 h 576262"/>
                <a:gd name="connsiteX2" fmla="*/ 561975 w 561975"/>
                <a:gd name="connsiteY2" fmla="*/ 319087 h 576262"/>
                <a:gd name="connsiteX3" fmla="*/ 266700 w 561975"/>
                <a:gd name="connsiteY3" fmla="*/ 0 h 576262"/>
                <a:gd name="connsiteX4" fmla="*/ 0 w 561975"/>
                <a:gd name="connsiteY4" fmla="*/ 276225 h 576262"/>
                <a:gd name="connsiteX5" fmla="*/ 290512 w 561975"/>
                <a:gd name="connsiteY5" fmla="*/ 576262 h 576262"/>
                <a:gd name="connsiteX0" fmla="*/ 298782 w 570245"/>
                <a:gd name="connsiteY0" fmla="*/ 576262 h 576262"/>
                <a:gd name="connsiteX1" fmla="*/ 298782 w 570245"/>
                <a:gd name="connsiteY1" fmla="*/ 576262 h 576262"/>
                <a:gd name="connsiteX2" fmla="*/ 570245 w 570245"/>
                <a:gd name="connsiteY2" fmla="*/ 319087 h 576262"/>
                <a:gd name="connsiteX3" fmla="*/ 274970 w 570245"/>
                <a:gd name="connsiteY3" fmla="*/ 0 h 576262"/>
                <a:gd name="connsiteX4" fmla="*/ 0 w 570245"/>
                <a:gd name="connsiteY4" fmla="*/ 260655 h 576262"/>
                <a:gd name="connsiteX5" fmla="*/ 298782 w 570245"/>
                <a:gd name="connsiteY5" fmla="*/ 576262 h 576262"/>
                <a:gd name="connsiteX0" fmla="*/ 283698 w 570245"/>
                <a:gd name="connsiteY0" fmla="*/ 579666 h 579666"/>
                <a:gd name="connsiteX1" fmla="*/ 298782 w 570245"/>
                <a:gd name="connsiteY1" fmla="*/ 576262 h 579666"/>
                <a:gd name="connsiteX2" fmla="*/ 570245 w 570245"/>
                <a:gd name="connsiteY2" fmla="*/ 319087 h 579666"/>
                <a:gd name="connsiteX3" fmla="*/ 274970 w 570245"/>
                <a:gd name="connsiteY3" fmla="*/ 0 h 579666"/>
                <a:gd name="connsiteX4" fmla="*/ 0 w 570245"/>
                <a:gd name="connsiteY4" fmla="*/ 260655 h 579666"/>
                <a:gd name="connsiteX5" fmla="*/ 283698 w 570245"/>
                <a:gd name="connsiteY5" fmla="*/ 579666 h 579666"/>
                <a:gd name="connsiteX0" fmla="*/ 283698 w 570245"/>
                <a:gd name="connsiteY0" fmla="*/ 565924 h 565924"/>
                <a:gd name="connsiteX1" fmla="*/ 298782 w 570245"/>
                <a:gd name="connsiteY1" fmla="*/ 562520 h 565924"/>
                <a:gd name="connsiteX2" fmla="*/ 570245 w 570245"/>
                <a:gd name="connsiteY2" fmla="*/ 305345 h 565924"/>
                <a:gd name="connsiteX3" fmla="*/ 268808 w 570245"/>
                <a:gd name="connsiteY3" fmla="*/ 0 h 565924"/>
                <a:gd name="connsiteX4" fmla="*/ 0 w 570245"/>
                <a:gd name="connsiteY4" fmla="*/ 246913 h 565924"/>
                <a:gd name="connsiteX5" fmla="*/ 283698 w 570245"/>
                <a:gd name="connsiteY5" fmla="*/ 565924 h 565924"/>
                <a:gd name="connsiteX0" fmla="*/ 283698 w 506743"/>
                <a:gd name="connsiteY0" fmla="*/ 565924 h 565924"/>
                <a:gd name="connsiteX1" fmla="*/ 298782 w 506743"/>
                <a:gd name="connsiteY1" fmla="*/ 562520 h 565924"/>
                <a:gd name="connsiteX2" fmla="*/ 506743 w 506743"/>
                <a:gd name="connsiteY2" fmla="*/ 318134 h 565924"/>
                <a:gd name="connsiteX3" fmla="*/ 268808 w 506743"/>
                <a:gd name="connsiteY3" fmla="*/ 0 h 565924"/>
                <a:gd name="connsiteX4" fmla="*/ 0 w 506743"/>
                <a:gd name="connsiteY4" fmla="*/ 246913 h 565924"/>
                <a:gd name="connsiteX5" fmla="*/ 283698 w 506743"/>
                <a:gd name="connsiteY5" fmla="*/ 565924 h 565924"/>
                <a:gd name="connsiteX0" fmla="*/ 244843 w 506743"/>
                <a:gd name="connsiteY0" fmla="*/ 523744 h 562520"/>
                <a:gd name="connsiteX1" fmla="*/ 298782 w 506743"/>
                <a:gd name="connsiteY1" fmla="*/ 562520 h 562520"/>
                <a:gd name="connsiteX2" fmla="*/ 506743 w 506743"/>
                <a:gd name="connsiteY2" fmla="*/ 318134 h 562520"/>
                <a:gd name="connsiteX3" fmla="*/ 268808 w 506743"/>
                <a:gd name="connsiteY3" fmla="*/ 0 h 562520"/>
                <a:gd name="connsiteX4" fmla="*/ 0 w 506743"/>
                <a:gd name="connsiteY4" fmla="*/ 246913 h 562520"/>
                <a:gd name="connsiteX5" fmla="*/ 244843 w 506743"/>
                <a:gd name="connsiteY5" fmla="*/ 523744 h 562520"/>
                <a:gd name="connsiteX0" fmla="*/ 244843 w 506743"/>
                <a:gd name="connsiteY0" fmla="*/ 523744 h 523744"/>
                <a:gd name="connsiteX1" fmla="*/ 370351 w 506743"/>
                <a:gd name="connsiteY1" fmla="*/ 421309 h 523744"/>
                <a:gd name="connsiteX2" fmla="*/ 506743 w 506743"/>
                <a:gd name="connsiteY2" fmla="*/ 318134 h 523744"/>
                <a:gd name="connsiteX3" fmla="*/ 268808 w 506743"/>
                <a:gd name="connsiteY3" fmla="*/ 0 h 523744"/>
                <a:gd name="connsiteX4" fmla="*/ 0 w 506743"/>
                <a:gd name="connsiteY4" fmla="*/ 246913 h 523744"/>
                <a:gd name="connsiteX5" fmla="*/ 244843 w 506743"/>
                <a:gd name="connsiteY5" fmla="*/ 523744 h 523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6743" h="523744">
                  <a:moveTo>
                    <a:pt x="244843" y="523744"/>
                  </a:moveTo>
                  <a:lnTo>
                    <a:pt x="370351" y="421309"/>
                  </a:lnTo>
                  <a:lnTo>
                    <a:pt x="506743" y="318134"/>
                  </a:lnTo>
                  <a:lnTo>
                    <a:pt x="268808" y="0"/>
                  </a:lnTo>
                  <a:lnTo>
                    <a:pt x="0" y="246913"/>
                  </a:lnTo>
                  <a:lnTo>
                    <a:pt x="244843" y="523744"/>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n>
                  <a:solidFill>
                    <a:srgbClr val="0000FF"/>
                  </a:solidFill>
                </a:ln>
                <a:solidFill>
                  <a:srgbClr val="0000FF"/>
                </a:solidFill>
              </a:endParaRPr>
            </a:p>
          </p:txBody>
        </p:sp>
        <p:sp>
          <p:nvSpPr>
            <p:cNvPr id="41" name="CuadroTexto 40">
              <a:extLst>
                <a:ext uri="{FF2B5EF4-FFF2-40B4-BE49-F238E27FC236}">
                  <a16:creationId xmlns:a16="http://schemas.microsoft.com/office/drawing/2014/main" id="{7DDA9C79-00A5-49DE-8119-540FC8C0BC05}"/>
                </a:ext>
              </a:extLst>
            </p:cNvPr>
            <p:cNvSpPr txBox="1"/>
            <p:nvPr/>
          </p:nvSpPr>
          <p:spPr>
            <a:xfrm>
              <a:off x="6046227" y="4891493"/>
              <a:ext cx="1844998" cy="646331"/>
            </a:xfrm>
            <a:prstGeom prst="rect">
              <a:avLst/>
            </a:prstGeom>
            <a:noFill/>
          </p:spPr>
          <p:txBody>
            <a:bodyPr wrap="square" rtlCol="0">
              <a:spAutoFit/>
            </a:bodyPr>
            <a:lstStyle/>
            <a:p>
              <a:pPr algn="ctr"/>
              <a:r>
                <a:rPr lang="es-ES" sz="1200" b="1" u="sng" dirty="0">
                  <a:solidFill>
                    <a:srgbClr val="FFFFFF"/>
                  </a:solidFill>
                </a:rPr>
                <a:t>FASE 4</a:t>
              </a:r>
            </a:p>
            <a:p>
              <a:pPr algn="ctr"/>
              <a:r>
                <a:rPr lang="es-ES" sz="800" dirty="0">
                  <a:solidFill>
                    <a:srgbClr val="FFFFFF"/>
                  </a:solidFill>
                </a:rPr>
                <a:t>CONSTRUCCIÓN ALINEACIONES DEL DIQUE DE DEFENSA EXTERIOR</a:t>
              </a:r>
            </a:p>
          </p:txBody>
        </p:sp>
        <p:sp>
          <p:nvSpPr>
            <p:cNvPr id="44" name="Forma libre 36">
              <a:extLst>
                <a:ext uri="{FF2B5EF4-FFF2-40B4-BE49-F238E27FC236}">
                  <a16:creationId xmlns:a16="http://schemas.microsoft.com/office/drawing/2014/main" id="{1B373B19-E0A6-4DDA-8EBF-D5811AB53EFD}"/>
                </a:ext>
              </a:extLst>
            </p:cNvPr>
            <p:cNvSpPr/>
            <p:nvPr/>
          </p:nvSpPr>
          <p:spPr>
            <a:xfrm rot="21257051">
              <a:off x="9265687" y="6318061"/>
              <a:ext cx="752243" cy="1493130"/>
            </a:xfrm>
            <a:custGeom>
              <a:avLst/>
              <a:gdLst>
                <a:gd name="connsiteX0" fmla="*/ 209550 w 527050"/>
                <a:gd name="connsiteY0" fmla="*/ 0 h 1123950"/>
                <a:gd name="connsiteX1" fmla="*/ 0 w 527050"/>
                <a:gd name="connsiteY1" fmla="*/ 190500 h 1123950"/>
                <a:gd name="connsiteX2" fmla="*/ 241300 w 527050"/>
                <a:gd name="connsiteY2" fmla="*/ 438150 h 1123950"/>
                <a:gd name="connsiteX3" fmla="*/ 171450 w 527050"/>
                <a:gd name="connsiteY3" fmla="*/ 1079500 h 1123950"/>
                <a:gd name="connsiteX4" fmla="*/ 406400 w 527050"/>
                <a:gd name="connsiteY4" fmla="*/ 1123950 h 1123950"/>
                <a:gd name="connsiteX5" fmla="*/ 527050 w 527050"/>
                <a:gd name="connsiteY5" fmla="*/ 393700 h 1123950"/>
                <a:gd name="connsiteX6" fmla="*/ 209550 w 527050"/>
                <a:gd name="connsiteY6" fmla="*/ 0 h 112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050" h="1123950">
                  <a:moveTo>
                    <a:pt x="209550" y="0"/>
                  </a:moveTo>
                  <a:lnTo>
                    <a:pt x="0" y="190500"/>
                  </a:lnTo>
                  <a:lnTo>
                    <a:pt x="241300" y="438150"/>
                  </a:lnTo>
                  <a:lnTo>
                    <a:pt x="171450" y="1079500"/>
                  </a:lnTo>
                  <a:lnTo>
                    <a:pt x="406400" y="1123950"/>
                  </a:lnTo>
                  <a:lnTo>
                    <a:pt x="527050" y="393700"/>
                  </a:lnTo>
                  <a:lnTo>
                    <a:pt x="209550" y="0"/>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n>
                  <a:solidFill>
                    <a:srgbClr val="0000FF"/>
                  </a:solidFill>
                </a:ln>
                <a:solidFill>
                  <a:srgbClr val="0000FF"/>
                </a:solidFill>
              </a:endParaRPr>
            </a:p>
          </p:txBody>
        </p:sp>
        <p:sp>
          <p:nvSpPr>
            <p:cNvPr id="45" name="CuadroTexto 44">
              <a:extLst>
                <a:ext uri="{FF2B5EF4-FFF2-40B4-BE49-F238E27FC236}">
                  <a16:creationId xmlns:a16="http://schemas.microsoft.com/office/drawing/2014/main" id="{441749CF-C055-42DC-93DF-6DB1D134B296}"/>
                </a:ext>
              </a:extLst>
            </p:cNvPr>
            <p:cNvSpPr txBox="1"/>
            <p:nvPr/>
          </p:nvSpPr>
          <p:spPr>
            <a:xfrm>
              <a:off x="7162435" y="7421124"/>
              <a:ext cx="1314033" cy="246221"/>
            </a:xfrm>
            <a:prstGeom prst="rect">
              <a:avLst/>
            </a:prstGeom>
            <a:noFill/>
          </p:spPr>
          <p:txBody>
            <a:bodyPr wrap="square" rtlCol="0">
              <a:spAutoFit/>
            </a:bodyPr>
            <a:lstStyle/>
            <a:p>
              <a:pPr algn="ctr"/>
              <a:r>
                <a:rPr lang="es-ES" sz="1000" b="1" u="sng" dirty="0">
                  <a:solidFill>
                    <a:schemeClr val="tx2"/>
                  </a:solidFill>
                </a:rPr>
                <a:t>FASE 1</a:t>
              </a:r>
            </a:p>
          </p:txBody>
        </p:sp>
        <p:sp>
          <p:nvSpPr>
            <p:cNvPr id="46" name="CuadroTexto 45">
              <a:extLst>
                <a:ext uri="{FF2B5EF4-FFF2-40B4-BE49-F238E27FC236}">
                  <a16:creationId xmlns:a16="http://schemas.microsoft.com/office/drawing/2014/main" id="{BBB762F9-6374-4848-B1AD-9742A5385DBD}"/>
                </a:ext>
              </a:extLst>
            </p:cNvPr>
            <p:cNvSpPr txBox="1"/>
            <p:nvPr/>
          </p:nvSpPr>
          <p:spPr>
            <a:xfrm>
              <a:off x="9220281" y="6631043"/>
              <a:ext cx="1086172" cy="246221"/>
            </a:xfrm>
            <a:prstGeom prst="rect">
              <a:avLst/>
            </a:prstGeom>
            <a:noFill/>
          </p:spPr>
          <p:txBody>
            <a:bodyPr wrap="square" rtlCol="0">
              <a:spAutoFit/>
            </a:bodyPr>
            <a:lstStyle/>
            <a:p>
              <a:pPr algn="ctr"/>
              <a:r>
                <a:rPr lang="es-ES" sz="1000" b="1" u="sng" dirty="0">
                  <a:solidFill>
                    <a:schemeClr val="tx2"/>
                  </a:solidFill>
                </a:rPr>
                <a:t>FASE 1</a:t>
              </a:r>
            </a:p>
          </p:txBody>
        </p:sp>
        <p:sp>
          <p:nvSpPr>
            <p:cNvPr id="47" name="Forma libre 39">
              <a:extLst>
                <a:ext uri="{FF2B5EF4-FFF2-40B4-BE49-F238E27FC236}">
                  <a16:creationId xmlns:a16="http://schemas.microsoft.com/office/drawing/2014/main" id="{3064551A-9856-48E8-955F-BC72C6DF5371}"/>
                </a:ext>
              </a:extLst>
            </p:cNvPr>
            <p:cNvSpPr/>
            <p:nvPr/>
          </p:nvSpPr>
          <p:spPr>
            <a:xfrm rot="21257051">
              <a:off x="8115779" y="5195512"/>
              <a:ext cx="1277907" cy="961677"/>
            </a:xfrm>
            <a:custGeom>
              <a:avLst/>
              <a:gdLst>
                <a:gd name="connsiteX0" fmla="*/ 825500 w 895350"/>
                <a:gd name="connsiteY0" fmla="*/ 0 h 723900"/>
                <a:gd name="connsiteX1" fmla="*/ 635000 w 895350"/>
                <a:gd name="connsiteY1" fmla="*/ 69850 h 723900"/>
                <a:gd name="connsiteX2" fmla="*/ 0 w 895350"/>
                <a:gd name="connsiteY2" fmla="*/ 679450 h 723900"/>
                <a:gd name="connsiteX3" fmla="*/ 171450 w 895350"/>
                <a:gd name="connsiteY3" fmla="*/ 723900 h 723900"/>
                <a:gd name="connsiteX4" fmla="*/ 222250 w 895350"/>
                <a:gd name="connsiteY4" fmla="*/ 514350 h 723900"/>
                <a:gd name="connsiteX5" fmla="*/ 400050 w 895350"/>
                <a:gd name="connsiteY5" fmla="*/ 571500 h 723900"/>
                <a:gd name="connsiteX6" fmla="*/ 596900 w 895350"/>
                <a:gd name="connsiteY6" fmla="*/ 298450 h 723900"/>
                <a:gd name="connsiteX7" fmla="*/ 895350 w 895350"/>
                <a:gd name="connsiteY7" fmla="*/ 139700 h 723900"/>
                <a:gd name="connsiteX8" fmla="*/ 825500 w 895350"/>
                <a:gd name="connsiteY8"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5350" h="723900">
                  <a:moveTo>
                    <a:pt x="825500" y="0"/>
                  </a:moveTo>
                  <a:lnTo>
                    <a:pt x="635000" y="69850"/>
                  </a:lnTo>
                  <a:lnTo>
                    <a:pt x="0" y="679450"/>
                  </a:lnTo>
                  <a:lnTo>
                    <a:pt x="171450" y="723900"/>
                  </a:lnTo>
                  <a:lnTo>
                    <a:pt x="222250" y="514350"/>
                  </a:lnTo>
                  <a:lnTo>
                    <a:pt x="400050" y="571500"/>
                  </a:lnTo>
                  <a:lnTo>
                    <a:pt x="596900" y="298450"/>
                  </a:lnTo>
                  <a:lnTo>
                    <a:pt x="895350" y="139700"/>
                  </a:lnTo>
                  <a:lnTo>
                    <a:pt x="825500" y="0"/>
                  </a:lnTo>
                  <a:close/>
                </a:path>
              </a:pathLst>
            </a:custGeom>
            <a:solidFill>
              <a:schemeClr val="accent1">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CuadroTexto 47">
              <a:extLst>
                <a:ext uri="{FF2B5EF4-FFF2-40B4-BE49-F238E27FC236}">
                  <a16:creationId xmlns:a16="http://schemas.microsoft.com/office/drawing/2014/main" id="{CC9E02FC-FB64-462E-9A98-698F6DBB9079}"/>
                </a:ext>
              </a:extLst>
            </p:cNvPr>
            <p:cNvSpPr txBox="1"/>
            <p:nvPr/>
          </p:nvSpPr>
          <p:spPr>
            <a:xfrm rot="18714480">
              <a:off x="8244853" y="5447822"/>
              <a:ext cx="1135973" cy="369332"/>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
              </a:defPPr>
              <a:lvl1pPr algn="ctr">
                <a:defRPr>
                  <a:ln>
                    <a:solidFill>
                      <a:srgbClr val="0000FF"/>
                    </a:solidFill>
                  </a:ln>
                  <a:solidFill>
                    <a:srgbClr val="0000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1000" dirty="0">
                  <a:ln w="0"/>
                  <a:solidFill>
                    <a:schemeClr val="tx2"/>
                  </a:solidFill>
                  <a:effectLst>
                    <a:outerShdw blurRad="38100" dist="19050" dir="2700000" algn="tl" rotWithShape="0">
                      <a:schemeClr val="dk1">
                        <a:alpha val="40000"/>
                      </a:schemeClr>
                    </a:outerShdw>
                  </a:effectLst>
                </a:rPr>
                <a:t>FASE 2</a:t>
              </a:r>
            </a:p>
          </p:txBody>
        </p:sp>
        <p:sp>
          <p:nvSpPr>
            <p:cNvPr id="49" name="CuadroTexto 48">
              <a:extLst>
                <a:ext uri="{FF2B5EF4-FFF2-40B4-BE49-F238E27FC236}">
                  <a16:creationId xmlns:a16="http://schemas.microsoft.com/office/drawing/2014/main" id="{C5D9090F-3DF6-4787-9FA9-D6655CD7CED9}"/>
                </a:ext>
              </a:extLst>
            </p:cNvPr>
            <p:cNvSpPr txBox="1"/>
            <p:nvPr/>
          </p:nvSpPr>
          <p:spPr>
            <a:xfrm rot="20131542">
              <a:off x="9237823" y="4904236"/>
              <a:ext cx="852125" cy="253916"/>
            </a:xfrm>
            <a:prstGeom prst="rect">
              <a:avLst/>
            </a:prstGeom>
            <a:noFill/>
            <a:ln>
              <a:noFill/>
            </a:ln>
          </p:spPr>
          <p:txBody>
            <a:bodyPr wrap="square" rtlCol="0">
              <a:spAutoFit/>
            </a:bodyPr>
            <a:lstStyle/>
            <a:p>
              <a:pPr algn="ctr"/>
              <a:r>
                <a:rPr lang="es-ES" sz="1000" b="1" u="sng" dirty="0">
                  <a:solidFill>
                    <a:schemeClr val="tx2"/>
                  </a:solidFill>
                </a:rPr>
                <a:t>FASE 3</a:t>
              </a:r>
            </a:p>
          </p:txBody>
        </p:sp>
        <p:sp>
          <p:nvSpPr>
            <p:cNvPr id="50" name="CuadroTexto 49">
              <a:extLst>
                <a:ext uri="{FF2B5EF4-FFF2-40B4-BE49-F238E27FC236}">
                  <a16:creationId xmlns:a16="http://schemas.microsoft.com/office/drawing/2014/main" id="{91CD9B31-1276-42B3-9BFF-358680062276}"/>
                </a:ext>
              </a:extLst>
            </p:cNvPr>
            <p:cNvSpPr txBox="1"/>
            <p:nvPr/>
          </p:nvSpPr>
          <p:spPr>
            <a:xfrm>
              <a:off x="8810983" y="4134921"/>
              <a:ext cx="1259648" cy="400110"/>
            </a:xfrm>
            <a:prstGeom prst="rect">
              <a:avLst/>
            </a:prstGeom>
            <a:solidFill>
              <a:schemeClr val="accent5">
                <a:lumMod val="60000"/>
                <a:lumOff val="40000"/>
                <a:alpha val="61000"/>
              </a:schemeClr>
            </a:solidFill>
            <a:ln>
              <a:noFill/>
            </a:ln>
          </p:spPr>
          <p:txBody>
            <a:bodyPr wrap="square" rtlCol="0" anchor="ctr" anchorCtr="0">
              <a:spAutoFit/>
            </a:bodyPr>
            <a:lstStyle/>
            <a:p>
              <a:pPr algn="ctr"/>
              <a:r>
                <a:rPr lang="es-PE" sz="1000" b="1" dirty="0">
                  <a:solidFill>
                    <a:schemeClr val="tx2"/>
                  </a:solidFill>
                </a:rPr>
                <a:t>Base Naval zona  Sur </a:t>
              </a:r>
            </a:p>
          </p:txBody>
        </p:sp>
        <p:sp>
          <p:nvSpPr>
            <p:cNvPr id="51" name="CuadroTexto 50">
              <a:extLst>
                <a:ext uri="{FF2B5EF4-FFF2-40B4-BE49-F238E27FC236}">
                  <a16:creationId xmlns:a16="http://schemas.microsoft.com/office/drawing/2014/main" id="{4579A6E2-ADB1-42AC-828A-CBDA8CA5E334}"/>
                </a:ext>
              </a:extLst>
            </p:cNvPr>
            <p:cNvSpPr txBox="1"/>
            <p:nvPr/>
          </p:nvSpPr>
          <p:spPr>
            <a:xfrm>
              <a:off x="13117938" y="5365153"/>
              <a:ext cx="1082188" cy="286210"/>
            </a:xfrm>
            <a:prstGeom prst="rect">
              <a:avLst/>
            </a:prstGeom>
            <a:noFill/>
          </p:spPr>
          <p:txBody>
            <a:bodyPr wrap="square" rtlCol="0">
              <a:spAutoFit/>
            </a:bodyPr>
            <a:lstStyle/>
            <a:p>
              <a:r>
                <a:rPr lang="es-PE" sz="800" b="1" dirty="0">
                  <a:solidFill>
                    <a:schemeClr val="bg1"/>
                  </a:solidFill>
                </a:rPr>
                <a:t>VIADUCTO</a:t>
              </a:r>
            </a:p>
          </p:txBody>
        </p:sp>
        <p:cxnSp>
          <p:nvCxnSpPr>
            <p:cNvPr id="52" name="Conector recto de flecha 51">
              <a:extLst>
                <a:ext uri="{FF2B5EF4-FFF2-40B4-BE49-F238E27FC236}">
                  <a16:creationId xmlns:a16="http://schemas.microsoft.com/office/drawing/2014/main" id="{6051341B-5A08-4253-8C37-128E16AD8803}"/>
                </a:ext>
              </a:extLst>
            </p:cNvPr>
            <p:cNvCxnSpPr/>
            <p:nvPr/>
          </p:nvCxnSpPr>
          <p:spPr>
            <a:xfrm rot="21257051" flipH="1" flipV="1">
              <a:off x="13108676" y="4928524"/>
              <a:ext cx="416682" cy="458474"/>
            </a:xfrm>
            <a:prstGeom prst="straightConnector1">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ángulo 52">
              <a:extLst>
                <a:ext uri="{FF2B5EF4-FFF2-40B4-BE49-F238E27FC236}">
                  <a16:creationId xmlns:a16="http://schemas.microsoft.com/office/drawing/2014/main" id="{27C90B31-9FA5-4F5E-B4EB-6358AA943063}"/>
                </a:ext>
              </a:extLst>
            </p:cNvPr>
            <p:cNvSpPr/>
            <p:nvPr/>
          </p:nvSpPr>
          <p:spPr>
            <a:xfrm rot="1016993">
              <a:off x="11158133" y="4115422"/>
              <a:ext cx="65253" cy="189518"/>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Rectángulo 53">
              <a:extLst>
                <a:ext uri="{FF2B5EF4-FFF2-40B4-BE49-F238E27FC236}">
                  <a16:creationId xmlns:a16="http://schemas.microsoft.com/office/drawing/2014/main" id="{BB655518-C0C8-4460-BCC6-772997ED4DCB}"/>
                </a:ext>
              </a:extLst>
            </p:cNvPr>
            <p:cNvSpPr/>
            <p:nvPr/>
          </p:nvSpPr>
          <p:spPr>
            <a:xfrm rot="1016993">
              <a:off x="10105107" y="3835736"/>
              <a:ext cx="65253" cy="189518"/>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5" name="Forma libre 5">
              <a:extLst>
                <a:ext uri="{FF2B5EF4-FFF2-40B4-BE49-F238E27FC236}">
                  <a16:creationId xmlns:a16="http://schemas.microsoft.com/office/drawing/2014/main" id="{2BE123C8-B797-421F-87FC-6E220663BCFB}"/>
                </a:ext>
              </a:extLst>
            </p:cNvPr>
            <p:cNvSpPr/>
            <p:nvPr/>
          </p:nvSpPr>
          <p:spPr>
            <a:xfrm rot="21257051">
              <a:off x="7848323" y="3230153"/>
              <a:ext cx="0" cy="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63" name="CuadroTexto 62">
            <a:extLst>
              <a:ext uri="{FF2B5EF4-FFF2-40B4-BE49-F238E27FC236}">
                <a16:creationId xmlns:a16="http://schemas.microsoft.com/office/drawing/2014/main" id="{62AD7075-278B-0C4E-B088-7CF416CC6815}"/>
              </a:ext>
            </a:extLst>
          </p:cNvPr>
          <p:cNvSpPr txBox="1"/>
          <p:nvPr/>
        </p:nvSpPr>
        <p:spPr>
          <a:xfrm>
            <a:off x="7949720" y="2711925"/>
            <a:ext cx="627095" cy="446276"/>
          </a:xfrm>
          <a:prstGeom prst="rect">
            <a:avLst/>
          </a:prstGeom>
          <a:noFill/>
          <a:ln>
            <a:noFill/>
          </a:ln>
        </p:spPr>
        <p:txBody>
          <a:bodyPr wrap="none" rtlCol="0">
            <a:spAutoFit/>
          </a:bodyPr>
          <a:lstStyle>
            <a:defPPr>
              <a:defRPr lang="es-PE"/>
            </a:defPPr>
            <a:lvl1pPr>
              <a:defRPr sz="2000" b="1">
                <a:solidFill>
                  <a:srgbClr val="FF0000"/>
                </a:solidFill>
              </a:defRPr>
            </a:lvl1pPr>
          </a:lstStyle>
          <a:p>
            <a:r>
              <a:rPr lang="en-US" sz="800" dirty="0">
                <a:solidFill>
                  <a:schemeClr val="tx2"/>
                </a:solidFill>
              </a:rPr>
              <a:t>PUERTO</a:t>
            </a:r>
            <a:br>
              <a:rPr lang="en-US" sz="800" dirty="0">
                <a:solidFill>
                  <a:schemeClr val="tx2"/>
                </a:solidFill>
              </a:rPr>
            </a:br>
            <a:r>
              <a:rPr lang="en-US" sz="800" dirty="0">
                <a:solidFill>
                  <a:schemeClr val="tx2"/>
                </a:solidFill>
              </a:rPr>
              <a:t>ha: 25.00</a:t>
            </a:r>
            <a:br>
              <a:rPr lang="en-US" sz="700" dirty="0">
                <a:solidFill>
                  <a:schemeClr val="bg1"/>
                </a:solidFill>
              </a:rPr>
            </a:br>
            <a:endParaRPr lang="en-US" sz="700" dirty="0">
              <a:solidFill>
                <a:schemeClr val="bg1"/>
              </a:solidFill>
            </a:endParaRPr>
          </a:p>
        </p:txBody>
      </p:sp>
    </p:spTree>
    <p:extLst>
      <p:ext uri="{BB962C8B-B14F-4D97-AF65-F5344CB8AC3E}">
        <p14:creationId xmlns:p14="http://schemas.microsoft.com/office/powerpoint/2010/main" val="365985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7B79A6-17F2-7DEE-1AA3-AE6866063BC9}"/>
              </a:ext>
            </a:extLst>
          </p:cNvPr>
          <p:cNvSpPr>
            <a:spLocks noGrp="1"/>
          </p:cNvSpPr>
          <p:nvPr>
            <p:ph type="title"/>
          </p:nvPr>
        </p:nvSpPr>
        <p:spPr/>
        <p:txBody>
          <a:bodyPr/>
          <a:lstStyle/>
          <a:p>
            <a:r>
              <a:rPr lang="es" dirty="0"/>
              <a:t>Introducción de la MARINA Del Perú</a:t>
            </a:r>
            <a:br>
              <a:rPr lang="es" dirty="0"/>
            </a:br>
            <a:r>
              <a:rPr lang="es-ES" sz="1800" dirty="0"/>
              <a:t>PLAN MAESTRO DE LA BASE NAVAL DEL CALLAO</a:t>
            </a:r>
            <a:endParaRPr lang="es" dirty="0"/>
          </a:p>
        </p:txBody>
      </p:sp>
      <p:pic>
        <p:nvPicPr>
          <p:cNvPr id="5" name="Picture 4">
            <a:extLst>
              <a:ext uri="{FF2B5EF4-FFF2-40B4-BE49-F238E27FC236}">
                <a16:creationId xmlns:a16="http://schemas.microsoft.com/office/drawing/2014/main" id="{D0A86B1A-DD4B-BCB7-3726-6480AF5CE858}"/>
              </a:ext>
            </a:extLst>
          </p:cNvPr>
          <p:cNvPicPr>
            <a:picLocks noChangeAspect="1"/>
          </p:cNvPicPr>
          <p:nvPr/>
        </p:nvPicPr>
        <p:blipFill>
          <a:blip r:embed="rId2"/>
          <a:stretch>
            <a:fillRect/>
          </a:stretch>
        </p:blipFill>
        <p:spPr>
          <a:xfrm>
            <a:off x="558239" y="1126309"/>
            <a:ext cx="10900593" cy="5602710"/>
          </a:xfrm>
          <a:prstGeom prst="rect">
            <a:avLst/>
          </a:prstGeom>
        </p:spPr>
      </p:pic>
    </p:spTree>
    <p:extLst>
      <p:ext uri="{BB962C8B-B14F-4D97-AF65-F5344CB8AC3E}">
        <p14:creationId xmlns:p14="http://schemas.microsoft.com/office/powerpoint/2010/main" val="1938241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33802" y="116066"/>
            <a:ext cx="103505" cy="1930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100" b="0" i="0" u="none" strike="noStrike" kern="0" cap="none" spc="-50" normalizeH="0" baseline="0" noProof="0" dirty="0">
                <a:ln>
                  <a:noFill/>
                </a:ln>
                <a:solidFill>
                  <a:srgbClr val="211F1F"/>
                </a:solidFill>
                <a:effectLst/>
                <a:uLnTx/>
                <a:uFillTx/>
                <a:latin typeface="Arial"/>
                <a:cs typeface="Arial"/>
              </a:rPr>
              <a:t>2</a:t>
            </a:r>
            <a:endParaRPr kumimoji="0" sz="1100" b="0" i="0" u="none" strike="noStrike" kern="0" cap="none" spc="0" normalizeH="0" baseline="0" noProof="0">
              <a:ln>
                <a:noFill/>
              </a:ln>
              <a:solidFill>
                <a:sysClr val="windowText" lastClr="000000"/>
              </a:solidFill>
              <a:effectLst/>
              <a:uLnTx/>
              <a:uFillTx/>
              <a:latin typeface="Arial"/>
              <a:cs typeface="Arial"/>
            </a:endParaRPr>
          </a:p>
        </p:txBody>
      </p:sp>
      <p:sp>
        <p:nvSpPr>
          <p:cNvPr id="5" name="object 5"/>
          <p:cNvSpPr/>
          <p:nvPr/>
        </p:nvSpPr>
        <p:spPr>
          <a:xfrm>
            <a:off x="6172200" y="1514855"/>
            <a:ext cx="5638800" cy="2155190"/>
          </a:xfrm>
          <a:custGeom>
            <a:avLst/>
            <a:gdLst/>
            <a:ahLst/>
            <a:cxnLst/>
            <a:rect l="l" t="t" r="r" b="b"/>
            <a:pathLst>
              <a:path w="5638800" h="2155190">
                <a:moveTo>
                  <a:pt x="2755392" y="123571"/>
                </a:moveTo>
                <a:lnTo>
                  <a:pt x="2745676" y="75476"/>
                </a:lnTo>
                <a:lnTo>
                  <a:pt x="2719197" y="36195"/>
                </a:lnTo>
                <a:lnTo>
                  <a:pt x="2679916" y="9715"/>
                </a:lnTo>
                <a:lnTo>
                  <a:pt x="2631821" y="0"/>
                </a:lnTo>
                <a:lnTo>
                  <a:pt x="123571" y="0"/>
                </a:lnTo>
                <a:lnTo>
                  <a:pt x="75463" y="9715"/>
                </a:lnTo>
                <a:lnTo>
                  <a:pt x="36182" y="36195"/>
                </a:lnTo>
                <a:lnTo>
                  <a:pt x="9702" y="75476"/>
                </a:lnTo>
                <a:lnTo>
                  <a:pt x="0" y="123571"/>
                </a:lnTo>
                <a:lnTo>
                  <a:pt x="0" y="2031377"/>
                </a:lnTo>
                <a:lnTo>
                  <a:pt x="9702" y="2079472"/>
                </a:lnTo>
                <a:lnTo>
                  <a:pt x="36182" y="2118741"/>
                </a:lnTo>
                <a:lnTo>
                  <a:pt x="75463" y="2145220"/>
                </a:lnTo>
                <a:lnTo>
                  <a:pt x="123571" y="2154936"/>
                </a:lnTo>
                <a:lnTo>
                  <a:pt x="2631821" y="2154936"/>
                </a:lnTo>
                <a:lnTo>
                  <a:pt x="2679916" y="2145220"/>
                </a:lnTo>
                <a:lnTo>
                  <a:pt x="2719197" y="2118741"/>
                </a:lnTo>
                <a:lnTo>
                  <a:pt x="2745676" y="2079472"/>
                </a:lnTo>
                <a:lnTo>
                  <a:pt x="2755392" y="2031377"/>
                </a:lnTo>
                <a:lnTo>
                  <a:pt x="2755392" y="123571"/>
                </a:lnTo>
                <a:close/>
              </a:path>
              <a:path w="5638800" h="2155190">
                <a:moveTo>
                  <a:pt x="5638800" y="127177"/>
                </a:moveTo>
                <a:lnTo>
                  <a:pt x="5629160" y="79463"/>
                </a:lnTo>
                <a:lnTo>
                  <a:pt x="5602884" y="40487"/>
                </a:lnTo>
                <a:lnTo>
                  <a:pt x="5563908" y="14211"/>
                </a:lnTo>
                <a:lnTo>
                  <a:pt x="5516194" y="4572"/>
                </a:lnTo>
                <a:lnTo>
                  <a:pt x="3018205" y="4572"/>
                </a:lnTo>
                <a:lnTo>
                  <a:pt x="2970479" y="14211"/>
                </a:lnTo>
                <a:lnTo>
                  <a:pt x="2931503" y="40487"/>
                </a:lnTo>
                <a:lnTo>
                  <a:pt x="2905226" y="79463"/>
                </a:lnTo>
                <a:lnTo>
                  <a:pt x="2895600" y="127177"/>
                </a:lnTo>
                <a:lnTo>
                  <a:pt x="2895600" y="2020138"/>
                </a:lnTo>
                <a:lnTo>
                  <a:pt x="2905226" y="2067864"/>
                </a:lnTo>
                <a:lnTo>
                  <a:pt x="2931503" y="2106841"/>
                </a:lnTo>
                <a:lnTo>
                  <a:pt x="2970479" y="2133117"/>
                </a:lnTo>
                <a:lnTo>
                  <a:pt x="3018205" y="2142744"/>
                </a:lnTo>
                <a:lnTo>
                  <a:pt x="5516194" y="2142744"/>
                </a:lnTo>
                <a:lnTo>
                  <a:pt x="5563908" y="2133117"/>
                </a:lnTo>
                <a:lnTo>
                  <a:pt x="5602884" y="2106841"/>
                </a:lnTo>
                <a:lnTo>
                  <a:pt x="5629160" y="2067864"/>
                </a:lnTo>
                <a:lnTo>
                  <a:pt x="5638800" y="2020138"/>
                </a:lnTo>
                <a:lnTo>
                  <a:pt x="5638800" y="127177"/>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6287242" y="1793099"/>
            <a:ext cx="2432685" cy="1102225"/>
          </a:xfrm>
          <a:prstGeom prst="rect">
            <a:avLst/>
          </a:prstGeom>
        </p:spPr>
        <p:txBody>
          <a:bodyPr vert="horz" wrap="square" lIns="0" tIns="12065" rIns="0" bIns="0" rtlCol="0">
            <a:spAutoFit/>
          </a:bodyPr>
          <a:lstStyle/>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Infraestructura</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critica</a:t>
            </a:r>
            <a:endParaRPr kumimoji="0" lang="en-US" sz="1400" b="0" i="0" u="none" strike="noStrike" kern="0" cap="none" spc="0" normalizeH="0" baseline="0" noProof="0" dirty="0">
              <a:ln>
                <a:noFill/>
              </a:ln>
              <a:solidFill>
                <a:srgbClr val="211F1F"/>
              </a:solidFill>
              <a:effectLst/>
              <a:uLnTx/>
              <a:uFillTx/>
              <a:latin typeface="Arial"/>
              <a:cs typeface="Arial"/>
            </a:endParaRPr>
          </a:p>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lang="en-US" sz="1400" kern="0" dirty="0">
                <a:solidFill>
                  <a:srgbClr val="211F1F"/>
                </a:solidFill>
                <a:latin typeface="Arial"/>
                <a:cs typeface="Arial"/>
              </a:rPr>
              <a:t>Planes </a:t>
            </a:r>
            <a:r>
              <a:rPr kumimoji="0" sz="1400" b="0" i="0" u="none" strike="noStrike" kern="0" cap="none" spc="-10" normalizeH="0" baseline="0" noProof="0" dirty="0">
                <a:ln>
                  <a:noFill/>
                </a:ln>
                <a:solidFill>
                  <a:srgbClr val="211F1F"/>
                </a:solidFill>
                <a:effectLst/>
                <a:uLnTx/>
                <a:uFillTx/>
                <a:latin typeface="Arial"/>
                <a:cs typeface="Arial"/>
              </a:rPr>
              <a:t>Anti-</a:t>
            </a:r>
            <a:r>
              <a:rPr kumimoji="0" sz="1400" b="0" i="0" u="none" strike="noStrike" kern="0" cap="none" spc="0" normalizeH="0" baseline="0" noProof="0" dirty="0" err="1">
                <a:ln>
                  <a:noFill/>
                </a:ln>
                <a:solidFill>
                  <a:srgbClr val="211F1F"/>
                </a:solidFill>
                <a:effectLst/>
                <a:uLnTx/>
                <a:uFillTx/>
                <a:latin typeface="Arial"/>
                <a:cs typeface="Arial"/>
              </a:rPr>
              <a:t>terroris</a:t>
            </a:r>
            <a:r>
              <a:rPr kumimoji="0" lang="en-US" sz="1400" b="0" i="0" u="none" strike="noStrike" kern="0" cap="none" spc="0" normalizeH="0" baseline="0" noProof="0" dirty="0" err="1">
                <a:ln>
                  <a:noFill/>
                </a:ln>
                <a:solidFill>
                  <a:srgbClr val="211F1F"/>
                </a:solidFill>
                <a:effectLst/>
                <a:uLnTx/>
                <a:uFillTx/>
                <a:latin typeface="Arial"/>
                <a:cs typeface="Arial"/>
              </a:rPr>
              <a:t>mo</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10" normalizeH="0" baseline="0" noProof="0" dirty="0" err="1">
                <a:ln>
                  <a:noFill/>
                </a:ln>
                <a:solidFill>
                  <a:srgbClr val="211F1F"/>
                </a:solidFill>
                <a:effectLst/>
                <a:uLnTx/>
                <a:uFillTx/>
                <a:latin typeface="Arial"/>
                <a:cs typeface="Arial"/>
              </a:rPr>
              <a:t>Inteligencia</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5"/>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Seguridad</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en</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instalaciones</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Operaciones</a:t>
            </a:r>
            <a:r>
              <a:rPr kumimoji="0" lang="en-US" sz="1400" b="0" i="0" u="none" strike="noStrike" kern="0" cap="none" spc="0" normalizeH="0" baseline="0" noProof="0" dirty="0">
                <a:ln>
                  <a:noFill/>
                </a:ln>
                <a:solidFill>
                  <a:srgbClr val="211F1F"/>
                </a:solidFill>
                <a:effectLst/>
                <a:uLnTx/>
                <a:uFillTx/>
                <a:latin typeface="Arial"/>
                <a:cs typeface="Arial"/>
              </a:rPr>
              <a:t> de </a:t>
            </a:r>
            <a:r>
              <a:rPr kumimoji="0" lang="en-US" sz="1400" b="0" i="0" u="none" strike="noStrike" kern="0" cap="none" spc="0" normalizeH="0" baseline="0" noProof="0" dirty="0" err="1">
                <a:ln>
                  <a:noFill/>
                </a:ln>
                <a:solidFill>
                  <a:srgbClr val="211F1F"/>
                </a:solidFill>
                <a:effectLst/>
                <a:uLnTx/>
                <a:uFillTx/>
                <a:latin typeface="Arial"/>
                <a:cs typeface="Arial"/>
              </a:rPr>
              <a:t>emergencia</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txBox="1">
            <a:spLocks noGrp="1"/>
          </p:cNvSpPr>
          <p:nvPr>
            <p:ph type="title"/>
          </p:nvPr>
        </p:nvSpPr>
        <p:spPr>
          <a:xfrm>
            <a:off x="876114" y="34393"/>
            <a:ext cx="10310093" cy="737729"/>
          </a:xfrm>
          <a:prstGeom prst="rect">
            <a:avLst/>
          </a:prstGeom>
        </p:spPr>
        <p:txBody>
          <a:bodyPr vert="horz" wrap="square" lIns="0" tIns="303874" rIns="0" bIns="0" rtlCol="0">
            <a:spAutoFit/>
          </a:bodyPr>
          <a:lstStyle/>
          <a:p>
            <a:pPr marL="88900">
              <a:lnSpc>
                <a:spcPct val="100000"/>
              </a:lnSpc>
              <a:spcBef>
                <a:spcPts val="100"/>
              </a:spcBef>
            </a:pPr>
            <a:r>
              <a:rPr lang="en-US" dirty="0"/>
              <a:t>AREAS DE MISION DE USACE</a:t>
            </a:r>
            <a:endParaRPr spc="-10" dirty="0"/>
          </a:p>
        </p:txBody>
      </p:sp>
      <p:grpSp>
        <p:nvGrpSpPr>
          <p:cNvPr id="8" name="object 8"/>
          <p:cNvGrpSpPr/>
          <p:nvPr/>
        </p:nvGrpSpPr>
        <p:grpSpPr>
          <a:xfrm>
            <a:off x="394715" y="1157478"/>
            <a:ext cx="11438890" cy="2726690"/>
            <a:chOff x="394715" y="1157478"/>
            <a:chExt cx="11438890" cy="2726690"/>
          </a:xfrm>
        </p:grpSpPr>
        <p:pic>
          <p:nvPicPr>
            <p:cNvPr id="9" name="object 9"/>
            <p:cNvPicPr/>
            <p:nvPr/>
          </p:nvPicPr>
          <p:blipFill>
            <a:blip r:embed="rId2" cstate="print"/>
            <a:stretch>
              <a:fillRect/>
            </a:stretch>
          </p:blipFill>
          <p:spPr>
            <a:xfrm>
              <a:off x="6160007" y="2939795"/>
              <a:ext cx="2747771" cy="924305"/>
            </a:xfrm>
            <a:prstGeom prst="rect">
              <a:avLst/>
            </a:prstGeom>
          </p:spPr>
        </p:pic>
        <p:pic>
          <p:nvPicPr>
            <p:cNvPr id="10" name="object 10"/>
            <p:cNvPicPr/>
            <p:nvPr/>
          </p:nvPicPr>
          <p:blipFill>
            <a:blip r:embed="rId3" cstate="print"/>
            <a:stretch>
              <a:fillRect/>
            </a:stretch>
          </p:blipFill>
          <p:spPr>
            <a:xfrm>
              <a:off x="9077706" y="2964179"/>
              <a:ext cx="2755391" cy="914400"/>
            </a:xfrm>
            <a:prstGeom prst="rect">
              <a:avLst/>
            </a:prstGeom>
          </p:spPr>
        </p:pic>
        <p:sp>
          <p:nvSpPr>
            <p:cNvPr id="11" name="object 11"/>
            <p:cNvSpPr/>
            <p:nvPr/>
          </p:nvSpPr>
          <p:spPr>
            <a:xfrm>
              <a:off x="397001" y="1519421"/>
              <a:ext cx="2743200" cy="2364740"/>
            </a:xfrm>
            <a:custGeom>
              <a:avLst/>
              <a:gdLst/>
              <a:ahLst/>
              <a:cxnLst/>
              <a:rect l="l" t="t" r="r" b="b"/>
              <a:pathLst>
                <a:path w="2743200" h="2364740">
                  <a:moveTo>
                    <a:pt x="2607614" y="0"/>
                  </a:moveTo>
                  <a:lnTo>
                    <a:pt x="135585" y="0"/>
                  </a:lnTo>
                  <a:lnTo>
                    <a:pt x="92730" y="6912"/>
                  </a:lnTo>
                  <a:lnTo>
                    <a:pt x="55511" y="26160"/>
                  </a:lnTo>
                  <a:lnTo>
                    <a:pt x="26160" y="55511"/>
                  </a:lnTo>
                  <a:lnTo>
                    <a:pt x="6912" y="92730"/>
                  </a:lnTo>
                  <a:lnTo>
                    <a:pt x="0" y="135585"/>
                  </a:lnTo>
                  <a:lnTo>
                    <a:pt x="0" y="2228913"/>
                  </a:lnTo>
                  <a:lnTo>
                    <a:pt x="6912" y="2271767"/>
                  </a:lnTo>
                  <a:lnTo>
                    <a:pt x="26160" y="2308987"/>
                  </a:lnTo>
                  <a:lnTo>
                    <a:pt x="55511" y="2338337"/>
                  </a:lnTo>
                  <a:lnTo>
                    <a:pt x="92730" y="2357586"/>
                  </a:lnTo>
                  <a:lnTo>
                    <a:pt x="135585" y="2364498"/>
                  </a:lnTo>
                  <a:lnTo>
                    <a:pt x="2607614" y="2364498"/>
                  </a:lnTo>
                  <a:lnTo>
                    <a:pt x="2650469" y="2357586"/>
                  </a:lnTo>
                  <a:lnTo>
                    <a:pt x="2687688" y="2338337"/>
                  </a:lnTo>
                  <a:lnTo>
                    <a:pt x="2717039" y="2308987"/>
                  </a:lnTo>
                  <a:lnTo>
                    <a:pt x="2736287" y="2271767"/>
                  </a:lnTo>
                  <a:lnTo>
                    <a:pt x="2743200" y="2228913"/>
                  </a:lnTo>
                  <a:lnTo>
                    <a:pt x="2743200" y="135585"/>
                  </a:lnTo>
                  <a:lnTo>
                    <a:pt x="2736287" y="92730"/>
                  </a:lnTo>
                  <a:lnTo>
                    <a:pt x="2717039" y="55511"/>
                  </a:lnTo>
                  <a:lnTo>
                    <a:pt x="2687688" y="26160"/>
                  </a:lnTo>
                  <a:lnTo>
                    <a:pt x="2650469" y="6912"/>
                  </a:lnTo>
                  <a:lnTo>
                    <a:pt x="2607614"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4" cstate="print"/>
            <a:stretch>
              <a:fillRect/>
            </a:stretch>
          </p:blipFill>
          <p:spPr>
            <a:xfrm>
              <a:off x="394715" y="1157478"/>
              <a:ext cx="2747009" cy="613409"/>
            </a:xfrm>
            <a:prstGeom prst="rect">
              <a:avLst/>
            </a:prstGeom>
          </p:spPr>
        </p:pic>
      </p:grpSp>
      <p:pic>
        <p:nvPicPr>
          <p:cNvPr id="14" name="object 14"/>
          <p:cNvPicPr/>
          <p:nvPr/>
        </p:nvPicPr>
        <p:blipFill>
          <a:blip r:embed="rId5" cstate="print"/>
          <a:stretch>
            <a:fillRect/>
          </a:stretch>
        </p:blipFill>
        <p:spPr>
          <a:xfrm>
            <a:off x="6175247" y="1146047"/>
            <a:ext cx="2747009" cy="613409"/>
          </a:xfrm>
          <a:prstGeom prst="rect">
            <a:avLst/>
          </a:prstGeom>
        </p:spPr>
      </p:pic>
      <p:sp>
        <p:nvSpPr>
          <p:cNvPr id="15" name="object 15"/>
          <p:cNvSpPr txBox="1"/>
          <p:nvPr/>
        </p:nvSpPr>
        <p:spPr>
          <a:xfrm>
            <a:off x="6486885" y="1292682"/>
            <a:ext cx="2230924" cy="289823"/>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1" i="0" u="none" strike="noStrike" kern="0" cap="none" spc="0" normalizeH="0" baseline="0" noProof="0" dirty="0" err="1">
                <a:ln>
                  <a:noFill/>
                </a:ln>
                <a:solidFill>
                  <a:srgbClr val="FFFFFF"/>
                </a:solidFill>
                <a:effectLst/>
                <a:uLnTx/>
                <a:uFillTx/>
                <a:latin typeface="Arial"/>
                <a:cs typeface="Arial"/>
              </a:rPr>
              <a:t>Seguridad</a:t>
            </a:r>
            <a:r>
              <a:rPr kumimoji="0" lang="en-US" sz="1800" b="1" i="0" u="none" strike="noStrike" kern="0" cap="none" spc="0" normalizeH="0" baseline="0" noProof="0" dirty="0">
                <a:ln>
                  <a:noFill/>
                </a:ln>
                <a:solidFill>
                  <a:srgbClr val="FFFFFF"/>
                </a:solidFill>
                <a:effectLst/>
                <a:uLnTx/>
                <a:uFillTx/>
                <a:latin typeface="Arial"/>
                <a:cs typeface="Arial"/>
              </a:rPr>
              <a:t> </a:t>
            </a:r>
            <a:r>
              <a:rPr kumimoji="0" lang="en-US" sz="1800" b="1" i="0" u="none" strike="noStrike" kern="0" cap="none" spc="0" normalizeH="0" baseline="0" noProof="0" dirty="0" err="1">
                <a:ln>
                  <a:noFill/>
                </a:ln>
                <a:solidFill>
                  <a:srgbClr val="FFFFFF"/>
                </a:solidFill>
                <a:effectLst/>
                <a:uLnTx/>
                <a:uFillTx/>
                <a:latin typeface="Arial"/>
                <a:cs typeface="Arial"/>
              </a:rPr>
              <a:t>nacional</a:t>
            </a:r>
            <a:endParaRPr kumimoji="0" sz="1800" b="0" i="0" u="none" strike="noStrike" kern="0" cap="none" spc="0" normalizeH="0" baseline="0" noProof="0" dirty="0">
              <a:ln>
                <a:noFill/>
              </a:ln>
              <a:solidFill>
                <a:sysClr val="windowText" lastClr="000000"/>
              </a:solidFill>
              <a:effectLst/>
              <a:uLnTx/>
              <a:uFillTx/>
              <a:latin typeface="Arial"/>
              <a:cs typeface="Arial"/>
            </a:endParaRPr>
          </a:p>
        </p:txBody>
      </p:sp>
      <p:pic>
        <p:nvPicPr>
          <p:cNvPr id="16" name="object 16"/>
          <p:cNvPicPr/>
          <p:nvPr/>
        </p:nvPicPr>
        <p:blipFill>
          <a:blip r:embed="rId6" cstate="print"/>
          <a:stretch>
            <a:fillRect/>
          </a:stretch>
        </p:blipFill>
        <p:spPr>
          <a:xfrm>
            <a:off x="9066276" y="1146047"/>
            <a:ext cx="2746247" cy="613409"/>
          </a:xfrm>
          <a:prstGeom prst="rect">
            <a:avLst/>
          </a:prstGeom>
        </p:spPr>
      </p:pic>
      <p:sp>
        <p:nvSpPr>
          <p:cNvPr id="17" name="object 17"/>
          <p:cNvSpPr txBox="1"/>
          <p:nvPr/>
        </p:nvSpPr>
        <p:spPr>
          <a:xfrm>
            <a:off x="9182442" y="1206072"/>
            <a:ext cx="2635414" cy="1685077"/>
          </a:xfrm>
          <a:prstGeom prst="rect">
            <a:avLst/>
          </a:prstGeom>
        </p:spPr>
        <p:txBody>
          <a:bodyPr vert="horz" wrap="square" lIns="0" tIns="12700" rIns="0" bIns="0" rtlCol="0">
            <a:spAutoFit/>
          </a:bodyPr>
          <a:lstStyle/>
          <a:p>
            <a:pPr marL="266700" marR="5080" lvl="0" indent="17463" defTabSz="914400" eaLnBrk="1" fontAlgn="auto" latinLnBrk="0" hangingPunct="1">
              <a:lnSpc>
                <a:spcPct val="100000"/>
              </a:lnSpc>
              <a:spcBef>
                <a:spcPts val="100"/>
              </a:spcBef>
              <a:spcAft>
                <a:spcPts val="0"/>
              </a:spcAft>
              <a:buClrTx/>
              <a:buSzTx/>
              <a:buFontTx/>
              <a:buNone/>
              <a:tabLst/>
              <a:defRPr/>
            </a:pPr>
            <a:r>
              <a:rPr kumimoji="0" lang="en-US" sz="1600" b="1" i="0" u="none" strike="noStrike" kern="0" cap="none" spc="0" normalizeH="0" baseline="0" noProof="0" dirty="0" err="1">
                <a:ln>
                  <a:noFill/>
                </a:ln>
                <a:solidFill>
                  <a:srgbClr val="FFFFFF"/>
                </a:solidFill>
                <a:effectLst/>
                <a:uLnTx/>
                <a:uFillTx/>
                <a:latin typeface="Arial"/>
                <a:cs typeface="Arial"/>
              </a:rPr>
              <a:t>Apoyo</a:t>
            </a:r>
            <a:r>
              <a:rPr kumimoji="0" lang="en-US" sz="1600" b="1" i="0" u="none" strike="noStrike" kern="0" cap="none" spc="0" normalizeH="0" baseline="0" noProof="0" dirty="0">
                <a:ln>
                  <a:noFill/>
                </a:ln>
                <a:solidFill>
                  <a:srgbClr val="FFFFFF"/>
                </a:solidFill>
                <a:effectLst/>
                <a:uLnTx/>
                <a:uFillTx/>
                <a:latin typeface="Arial"/>
                <a:cs typeface="Arial"/>
              </a:rPr>
              <a:t> </a:t>
            </a:r>
            <a:r>
              <a:rPr kumimoji="0" lang="en-US" sz="1600" b="1" i="0" u="none" strike="noStrike" kern="0" cap="none" spc="0" normalizeH="0" baseline="0" noProof="0" dirty="0" err="1">
                <a:ln>
                  <a:noFill/>
                </a:ln>
                <a:solidFill>
                  <a:srgbClr val="FFFFFF"/>
                </a:solidFill>
                <a:effectLst/>
                <a:uLnTx/>
                <a:uFillTx/>
                <a:latin typeface="Arial"/>
                <a:cs typeface="Arial"/>
              </a:rPr>
              <a:t>internacional</a:t>
            </a:r>
            <a:r>
              <a:rPr kumimoji="0" lang="en-US" sz="1600" b="1" i="0" u="none" strike="noStrike" kern="0" cap="none" spc="0" normalizeH="0" baseline="0" noProof="0" dirty="0">
                <a:ln>
                  <a:noFill/>
                </a:ln>
                <a:solidFill>
                  <a:srgbClr val="FFFFFF"/>
                </a:solidFill>
                <a:effectLst/>
                <a:uLnTx/>
                <a:uFillTx/>
                <a:latin typeface="Arial"/>
                <a:cs typeface="Arial"/>
              </a:rPr>
              <a:t> &amp; </a:t>
            </a:r>
            <a:r>
              <a:rPr kumimoji="0" lang="en-US" sz="1600" b="1" i="0" u="none" strike="noStrike" kern="0" cap="none" spc="0" normalizeH="0" baseline="0" noProof="0" dirty="0" err="1">
                <a:ln>
                  <a:noFill/>
                </a:ln>
                <a:solidFill>
                  <a:srgbClr val="FFFFFF"/>
                </a:solidFill>
                <a:effectLst/>
                <a:uLnTx/>
                <a:uFillTx/>
                <a:latin typeface="Arial"/>
                <a:cs typeface="Arial"/>
              </a:rPr>
              <a:t>interagencias</a:t>
            </a:r>
            <a:endParaRPr kumimoji="0" sz="16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815"/>
              </a:spcBef>
              <a:spcAft>
                <a:spcPts val="0"/>
              </a:spcAft>
              <a:buClrTx/>
              <a:buSzTx/>
              <a:buFontTx/>
              <a:buChar char="•"/>
              <a:tabLst>
                <a:tab pos="129539" algn="l"/>
              </a:tabLst>
              <a:defRPr/>
            </a:pPr>
            <a:r>
              <a:rPr kumimoji="0" sz="1400" b="0" i="0" u="none" strike="noStrike" kern="0" cap="none" spc="-10" normalizeH="0" baseline="0" noProof="0" dirty="0">
                <a:ln>
                  <a:noFill/>
                </a:ln>
                <a:solidFill>
                  <a:srgbClr val="211F1F"/>
                </a:solidFill>
                <a:effectLst/>
                <a:uLnTx/>
                <a:uFillTx/>
                <a:latin typeface="Arial"/>
                <a:cs typeface="Arial"/>
              </a:rPr>
              <a:t>Federal</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10" normalizeH="0" baseline="0" noProof="0" dirty="0">
                <a:ln>
                  <a:noFill/>
                </a:ln>
                <a:solidFill>
                  <a:srgbClr val="211F1F"/>
                </a:solidFill>
                <a:effectLst/>
                <a:uLnTx/>
                <a:uFillTx/>
                <a:latin typeface="Arial"/>
                <a:cs typeface="Arial"/>
              </a:rPr>
              <a:t>Estado</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sz="1400" b="0" i="0" u="none" strike="noStrike" kern="0" cap="none" spc="-10" normalizeH="0" baseline="0" noProof="0" dirty="0">
                <a:ln>
                  <a:noFill/>
                </a:ln>
                <a:solidFill>
                  <a:srgbClr val="211F1F"/>
                </a:solidFill>
                <a:effectLst/>
                <a:uLnTx/>
                <a:uFillTx/>
                <a:latin typeface="Arial"/>
                <a:cs typeface="Arial"/>
              </a:rPr>
              <a:t>Local</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sz="1400" b="0" i="0" u="none" strike="noStrike" kern="0" cap="none" spc="-10" normalizeH="0" baseline="0" noProof="0" dirty="0">
                <a:ln>
                  <a:noFill/>
                </a:ln>
                <a:solidFill>
                  <a:srgbClr val="211F1F"/>
                </a:solidFill>
                <a:effectLst/>
                <a:uLnTx/>
                <a:uFillTx/>
                <a:latin typeface="Arial"/>
                <a:cs typeface="Arial"/>
              </a:rPr>
              <a:t>Interna</a:t>
            </a:r>
            <a:r>
              <a:rPr kumimoji="0" lang="en-US" sz="1400" b="0" i="0" u="none" strike="noStrike" kern="0" cap="none" spc="-10" normalizeH="0" baseline="0" noProof="0" dirty="0">
                <a:ln>
                  <a:noFill/>
                </a:ln>
                <a:solidFill>
                  <a:srgbClr val="211F1F"/>
                </a:solidFill>
                <a:effectLst/>
                <a:uLnTx/>
                <a:uFillTx/>
                <a:latin typeface="Arial"/>
                <a:cs typeface="Arial"/>
              </a:rPr>
              <a:t>c</a:t>
            </a:r>
            <a:r>
              <a:rPr kumimoji="0" sz="1400" b="0" i="0" u="none" strike="noStrike" kern="0" cap="none" spc="-10" normalizeH="0" baseline="0" noProof="0" dirty="0">
                <a:ln>
                  <a:noFill/>
                </a:ln>
                <a:solidFill>
                  <a:srgbClr val="211F1F"/>
                </a:solidFill>
                <a:effectLst/>
                <a:uLnTx/>
                <a:uFillTx/>
                <a:latin typeface="Arial"/>
                <a:cs typeface="Arial"/>
              </a:rPr>
              <a:t>ional</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0" normalizeH="0" baseline="0" noProof="0" dirty="0">
                <a:ln>
                  <a:noFill/>
                </a:ln>
                <a:solidFill>
                  <a:srgbClr val="211F1F"/>
                </a:solidFill>
                <a:effectLst/>
                <a:uLnTx/>
                <a:uFillTx/>
                <a:latin typeface="Arial"/>
                <a:cs typeface="Arial"/>
              </a:rPr>
              <a:t>Ventas </a:t>
            </a:r>
            <a:r>
              <a:rPr kumimoji="0" lang="en-US" sz="1400" b="0" i="0" u="none" strike="noStrike" kern="0" cap="none" spc="0" normalizeH="0" baseline="0" noProof="0" dirty="0" err="1">
                <a:ln>
                  <a:noFill/>
                </a:ln>
                <a:solidFill>
                  <a:srgbClr val="211F1F"/>
                </a:solidFill>
                <a:effectLst/>
                <a:uLnTx/>
                <a:uFillTx/>
                <a:latin typeface="Arial"/>
                <a:cs typeface="Arial"/>
              </a:rPr>
              <a:t>Militares</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Extranjeras</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grpSp>
        <p:nvGrpSpPr>
          <p:cNvPr id="18" name="object 18"/>
          <p:cNvGrpSpPr/>
          <p:nvPr/>
        </p:nvGrpSpPr>
        <p:grpSpPr>
          <a:xfrm>
            <a:off x="413004" y="1165860"/>
            <a:ext cx="5617845" cy="2733040"/>
            <a:chOff x="413004" y="1165860"/>
            <a:chExt cx="5617845" cy="2733040"/>
          </a:xfrm>
        </p:grpSpPr>
        <p:pic>
          <p:nvPicPr>
            <p:cNvPr id="19" name="object 19"/>
            <p:cNvPicPr/>
            <p:nvPr/>
          </p:nvPicPr>
          <p:blipFill>
            <a:blip r:embed="rId7" cstate="print"/>
            <a:stretch>
              <a:fillRect/>
            </a:stretch>
          </p:blipFill>
          <p:spPr>
            <a:xfrm>
              <a:off x="413004" y="2944367"/>
              <a:ext cx="2727197" cy="954023"/>
            </a:xfrm>
            <a:prstGeom prst="rect">
              <a:avLst/>
            </a:prstGeom>
          </p:spPr>
        </p:pic>
        <p:sp>
          <p:nvSpPr>
            <p:cNvPr id="20" name="object 20"/>
            <p:cNvSpPr/>
            <p:nvPr/>
          </p:nvSpPr>
          <p:spPr>
            <a:xfrm>
              <a:off x="3275076" y="1519426"/>
              <a:ext cx="2755900" cy="2258060"/>
            </a:xfrm>
            <a:custGeom>
              <a:avLst/>
              <a:gdLst/>
              <a:ahLst/>
              <a:cxnLst/>
              <a:rect l="l" t="t" r="r" b="b"/>
              <a:pathLst>
                <a:path w="2755900" h="2258060">
                  <a:moveTo>
                    <a:pt x="2625928" y="0"/>
                  </a:moveTo>
                  <a:lnTo>
                    <a:pt x="129463" y="0"/>
                  </a:lnTo>
                  <a:lnTo>
                    <a:pt x="79070" y="10173"/>
                  </a:lnTo>
                  <a:lnTo>
                    <a:pt x="37919" y="37919"/>
                  </a:lnTo>
                  <a:lnTo>
                    <a:pt x="10173" y="79070"/>
                  </a:lnTo>
                  <a:lnTo>
                    <a:pt x="0" y="129463"/>
                  </a:lnTo>
                  <a:lnTo>
                    <a:pt x="0" y="2128342"/>
                  </a:lnTo>
                  <a:lnTo>
                    <a:pt x="10173" y="2178735"/>
                  </a:lnTo>
                  <a:lnTo>
                    <a:pt x="37919" y="2219886"/>
                  </a:lnTo>
                  <a:lnTo>
                    <a:pt x="79070" y="2247632"/>
                  </a:lnTo>
                  <a:lnTo>
                    <a:pt x="129463" y="2257806"/>
                  </a:lnTo>
                  <a:lnTo>
                    <a:pt x="2625928" y="2257806"/>
                  </a:lnTo>
                  <a:lnTo>
                    <a:pt x="2676321" y="2247632"/>
                  </a:lnTo>
                  <a:lnTo>
                    <a:pt x="2717472" y="2219886"/>
                  </a:lnTo>
                  <a:lnTo>
                    <a:pt x="2745218" y="2178735"/>
                  </a:lnTo>
                  <a:lnTo>
                    <a:pt x="2755392" y="2128342"/>
                  </a:lnTo>
                  <a:lnTo>
                    <a:pt x="2755392" y="129463"/>
                  </a:lnTo>
                  <a:lnTo>
                    <a:pt x="2745218" y="79070"/>
                  </a:lnTo>
                  <a:lnTo>
                    <a:pt x="2717472" y="37919"/>
                  </a:lnTo>
                  <a:lnTo>
                    <a:pt x="2676321" y="10173"/>
                  </a:lnTo>
                  <a:lnTo>
                    <a:pt x="2625928"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1" name="object 21"/>
            <p:cNvPicPr/>
            <p:nvPr/>
          </p:nvPicPr>
          <p:blipFill>
            <a:blip r:embed="rId8" cstate="print"/>
            <a:stretch>
              <a:fillRect/>
            </a:stretch>
          </p:blipFill>
          <p:spPr>
            <a:xfrm>
              <a:off x="3271265" y="2939796"/>
              <a:ext cx="2755341" cy="922019"/>
            </a:xfrm>
            <a:prstGeom prst="rect">
              <a:avLst/>
            </a:prstGeom>
          </p:spPr>
        </p:pic>
        <p:pic>
          <p:nvPicPr>
            <p:cNvPr id="22" name="object 22"/>
            <p:cNvPicPr/>
            <p:nvPr/>
          </p:nvPicPr>
          <p:blipFill>
            <a:blip r:embed="rId9" cstate="print"/>
            <a:stretch>
              <a:fillRect/>
            </a:stretch>
          </p:blipFill>
          <p:spPr>
            <a:xfrm>
              <a:off x="3277361" y="1165860"/>
              <a:ext cx="2747009" cy="613409"/>
            </a:xfrm>
            <a:prstGeom prst="rect">
              <a:avLst/>
            </a:prstGeom>
          </p:spPr>
        </p:pic>
      </p:grpSp>
      <p:sp>
        <p:nvSpPr>
          <p:cNvPr id="23" name="object 23"/>
          <p:cNvSpPr txBox="1"/>
          <p:nvPr/>
        </p:nvSpPr>
        <p:spPr>
          <a:xfrm>
            <a:off x="3259811" y="1332669"/>
            <a:ext cx="2784118" cy="1482457"/>
          </a:xfrm>
          <a:prstGeom prst="rect">
            <a:avLst/>
          </a:prstGeom>
        </p:spPr>
        <p:txBody>
          <a:bodyPr vert="horz" wrap="square" lIns="0" tIns="12700" rIns="0" bIns="0" rtlCol="0">
            <a:spAutoFit/>
          </a:bodyPr>
          <a:lstStyle/>
          <a:p>
            <a:pPr marL="396875">
              <a:spcBef>
                <a:spcPts val="100"/>
              </a:spcBef>
              <a:defRPr/>
            </a:pPr>
            <a:r>
              <a:rPr kumimoji="0" lang="en-US" b="1" i="0" u="none" strike="noStrike" kern="0" cap="none" spc="0" normalizeH="0" baseline="0" noProof="0" dirty="0" err="1">
                <a:ln>
                  <a:noFill/>
                </a:ln>
                <a:solidFill>
                  <a:srgbClr val="FFFFFF"/>
                </a:solidFill>
                <a:effectLst/>
                <a:uLnTx/>
                <a:uFillTx/>
                <a:latin typeface="Arial"/>
                <a:cs typeface="Arial"/>
              </a:rPr>
              <a:t>Trabajos</a:t>
            </a:r>
            <a:r>
              <a:rPr kumimoji="0" lang="en-US" b="1" i="0" u="none" strike="noStrike" kern="0" cap="none" spc="0" normalizeH="0" baseline="0" noProof="0" dirty="0">
                <a:ln>
                  <a:noFill/>
                </a:ln>
                <a:solidFill>
                  <a:srgbClr val="FFFFFF"/>
                </a:solidFill>
                <a:effectLst/>
                <a:uLnTx/>
                <a:uFillTx/>
                <a:latin typeface="Arial"/>
                <a:cs typeface="Arial"/>
              </a:rPr>
              <a:t> </a:t>
            </a:r>
            <a:r>
              <a:rPr kumimoji="0" lang="en-US" b="1" i="0" u="none" strike="noStrike" kern="0" cap="none" spc="0" normalizeH="0" baseline="0" noProof="0" dirty="0" err="1">
                <a:ln>
                  <a:noFill/>
                </a:ln>
                <a:solidFill>
                  <a:srgbClr val="FFFFFF"/>
                </a:solidFill>
                <a:effectLst/>
                <a:uLnTx/>
                <a:uFillTx/>
                <a:latin typeface="Arial"/>
                <a:cs typeface="Arial"/>
              </a:rPr>
              <a:t>civiles</a:t>
            </a:r>
            <a:endParaRPr kumimoji="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1510"/>
              </a:spcBef>
              <a:spcAft>
                <a:spcPts val="0"/>
              </a:spcAft>
              <a:buClrTx/>
              <a:buSzTx/>
              <a:buFontTx/>
              <a:buChar char="•"/>
              <a:tabLst>
                <a:tab pos="129539" algn="l"/>
              </a:tabLst>
              <a:defRPr/>
            </a:pPr>
            <a:r>
              <a:rPr kumimoji="0" lang="en-US" sz="1300" b="0" i="0" u="none" strike="noStrike" kern="0" cap="none" spc="0" normalizeH="0" baseline="0" noProof="0" dirty="0" err="1">
                <a:ln>
                  <a:noFill/>
                </a:ln>
                <a:solidFill>
                  <a:srgbClr val="211F1F"/>
                </a:solidFill>
                <a:effectLst/>
                <a:uLnTx/>
                <a:uFillTx/>
                <a:latin typeface="Arial"/>
                <a:cs typeface="Arial"/>
              </a:rPr>
              <a:t>Navegacion</a:t>
            </a:r>
            <a:r>
              <a:rPr kumimoji="0" sz="1300" b="0" i="0" u="none" strike="noStrike" kern="0" cap="none" spc="0" normalizeH="0" baseline="0" noProof="0" dirty="0">
                <a:ln>
                  <a:noFill/>
                </a:ln>
                <a:solidFill>
                  <a:srgbClr val="211F1F"/>
                </a:solidFill>
                <a:effectLst/>
                <a:uLnTx/>
                <a:uFillTx/>
                <a:latin typeface="Arial"/>
                <a:cs typeface="Arial"/>
              </a:rPr>
              <a:t>,</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0" normalizeH="0" baseline="0" noProof="0" dirty="0" err="1">
                <a:ln>
                  <a:noFill/>
                </a:ln>
                <a:solidFill>
                  <a:srgbClr val="211F1F"/>
                </a:solidFill>
                <a:effectLst/>
                <a:uLnTx/>
                <a:uFillTx/>
                <a:latin typeface="Arial"/>
                <a:cs typeface="Arial"/>
              </a:rPr>
              <a:t>Hidroelectricas</a:t>
            </a:r>
            <a:br>
              <a:rPr kumimoji="0" lang="en-US" sz="1300" b="0" i="0" u="none" strike="noStrike" kern="0" cap="none" spc="0" normalizeH="0" baseline="0" noProof="0" dirty="0">
                <a:ln>
                  <a:noFill/>
                </a:ln>
                <a:solidFill>
                  <a:srgbClr val="211F1F"/>
                </a:solidFill>
                <a:effectLst/>
                <a:uLnTx/>
                <a:uFillTx/>
                <a:latin typeface="Arial"/>
                <a:cs typeface="Arial"/>
              </a:rPr>
            </a:br>
            <a:r>
              <a:rPr lang="en-US" sz="1300" kern="0" dirty="0">
                <a:solidFill>
                  <a:srgbClr val="211F1F"/>
                </a:solidFill>
                <a:latin typeface="Arial"/>
                <a:cs typeface="Arial"/>
              </a:rPr>
              <a:t>Control de </a:t>
            </a:r>
            <a:r>
              <a:rPr lang="en-US" sz="1300" kern="0" dirty="0" err="1">
                <a:solidFill>
                  <a:srgbClr val="211F1F"/>
                </a:solidFill>
                <a:latin typeface="Arial"/>
                <a:cs typeface="Arial"/>
              </a:rPr>
              <a:t>inundaciones</a:t>
            </a:r>
            <a:r>
              <a:rPr kumimoji="0" sz="1300" b="0" i="0" u="none" strike="noStrike" kern="0" cap="none" spc="0" normalizeH="0" baseline="0" noProof="0" dirty="0">
                <a:ln>
                  <a:noFill/>
                </a:ln>
                <a:solidFill>
                  <a:srgbClr val="211F1F"/>
                </a:solidFill>
                <a:effectLst/>
                <a:uLnTx/>
                <a:uFillTx/>
                <a:latin typeface="Arial"/>
                <a:cs typeface="Arial"/>
              </a:rPr>
              <a:t>,</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0" normalizeH="0" baseline="0" noProof="0" dirty="0" err="1">
                <a:ln>
                  <a:noFill/>
                </a:ln>
                <a:solidFill>
                  <a:srgbClr val="211F1F"/>
                </a:solidFill>
                <a:effectLst/>
                <a:uLnTx/>
                <a:uFillTx/>
                <a:latin typeface="Arial"/>
                <a:cs typeface="Arial"/>
              </a:rPr>
              <a:t>Proteccion</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0" normalizeH="0" baseline="0" noProof="0" dirty="0" err="1">
                <a:ln>
                  <a:noFill/>
                </a:ln>
                <a:solidFill>
                  <a:srgbClr val="211F1F"/>
                </a:solidFill>
                <a:effectLst/>
                <a:uLnTx/>
                <a:uFillTx/>
                <a:latin typeface="Arial"/>
                <a:cs typeface="Arial"/>
              </a:rPr>
              <a:t>costera</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0" normalizeH="0" baseline="0" noProof="0" dirty="0" err="1">
                <a:ln>
                  <a:noFill/>
                </a:ln>
                <a:solidFill>
                  <a:srgbClr val="211F1F"/>
                </a:solidFill>
                <a:effectLst/>
                <a:uLnTx/>
                <a:uFillTx/>
                <a:latin typeface="Arial"/>
                <a:cs typeface="Arial"/>
              </a:rPr>
              <a:t>Suministro</a:t>
            </a:r>
            <a:r>
              <a:rPr kumimoji="0" lang="en-US" sz="1300" b="0" i="0" u="none" strike="noStrike" kern="0" cap="none" spc="0" normalizeH="0" baseline="0" noProof="0" dirty="0">
                <a:ln>
                  <a:noFill/>
                </a:ln>
                <a:solidFill>
                  <a:srgbClr val="211F1F"/>
                </a:solidFill>
                <a:effectLst/>
                <a:uLnTx/>
                <a:uFillTx/>
                <a:latin typeface="Arial"/>
                <a:cs typeface="Arial"/>
              </a:rPr>
              <a:t> de </a:t>
            </a:r>
            <a:r>
              <a:rPr kumimoji="0" lang="en-US" sz="1300" b="0" i="0" u="none" strike="noStrike" kern="0" cap="none" spc="0" normalizeH="0" baseline="0" noProof="0" dirty="0" err="1">
                <a:ln>
                  <a:noFill/>
                </a:ln>
                <a:solidFill>
                  <a:srgbClr val="211F1F"/>
                </a:solidFill>
                <a:effectLst/>
                <a:uLnTx/>
                <a:uFillTx/>
                <a:latin typeface="Arial"/>
                <a:cs typeface="Arial"/>
              </a:rPr>
              <a:t>agua</a:t>
            </a:r>
            <a:r>
              <a:rPr lang="en-US" sz="1300" kern="0" dirty="0">
                <a:solidFill>
                  <a:srgbClr val="211F1F"/>
                </a:solidFill>
                <a:latin typeface="Arial"/>
                <a:cs typeface="Arial"/>
              </a:rPr>
              <a:t>. </a:t>
            </a:r>
            <a:r>
              <a:rPr lang="en-US" sz="1300" kern="0" dirty="0" err="1">
                <a:solidFill>
                  <a:srgbClr val="211F1F"/>
                </a:solidFill>
                <a:latin typeface="Arial"/>
                <a:cs typeface="Arial"/>
              </a:rPr>
              <a:t>Recreacion</a:t>
            </a:r>
            <a:r>
              <a:rPr lang="en-US" sz="1300" kern="0" dirty="0">
                <a:solidFill>
                  <a:srgbClr val="211F1F"/>
                </a:solidFill>
                <a:latin typeface="Arial"/>
                <a:cs typeface="Arial"/>
              </a:rPr>
              <a:t>, Respuesta a </a:t>
            </a:r>
            <a:r>
              <a:rPr lang="en-US" sz="1300" kern="0" dirty="0" err="1">
                <a:solidFill>
                  <a:srgbClr val="211F1F"/>
                </a:solidFill>
                <a:latin typeface="Arial"/>
                <a:cs typeface="Arial"/>
              </a:rPr>
              <a:t>Desastres</a:t>
            </a:r>
            <a:r>
              <a:rPr lang="en-US" sz="1300" kern="0" dirty="0">
                <a:solidFill>
                  <a:srgbClr val="211F1F"/>
                </a:solidFill>
                <a:latin typeface="Arial"/>
                <a:cs typeface="Arial"/>
              </a:rPr>
              <a:t>, </a:t>
            </a:r>
            <a:r>
              <a:rPr lang="en-US" sz="1300" kern="0" dirty="0" err="1">
                <a:solidFill>
                  <a:srgbClr val="211F1F"/>
                </a:solidFill>
                <a:latin typeface="Arial"/>
                <a:cs typeface="Arial"/>
              </a:rPr>
              <a:t>Restauracion</a:t>
            </a:r>
            <a:r>
              <a:rPr lang="en-US" sz="1300" kern="0" dirty="0">
                <a:solidFill>
                  <a:srgbClr val="211F1F"/>
                </a:solidFill>
                <a:latin typeface="Arial"/>
                <a:cs typeface="Arial"/>
              </a:rPr>
              <a:t> </a:t>
            </a:r>
            <a:r>
              <a:rPr lang="en-US" sz="1300" kern="0" dirty="0" err="1">
                <a:solidFill>
                  <a:srgbClr val="211F1F"/>
                </a:solidFill>
                <a:latin typeface="Arial"/>
                <a:cs typeface="Arial"/>
              </a:rPr>
              <a:t>ambiental</a:t>
            </a:r>
            <a:endParaRPr kumimoji="0" sz="1300" b="0" i="0" u="none" strike="noStrike" kern="0" cap="none" spc="0" normalizeH="0" baseline="0" noProof="0" dirty="0">
              <a:ln>
                <a:noFill/>
              </a:ln>
              <a:solidFill>
                <a:sysClr val="windowText" lastClr="000000"/>
              </a:solidFill>
              <a:effectLst/>
              <a:uLnTx/>
              <a:uFillTx/>
              <a:latin typeface="Arial"/>
              <a:cs typeface="Arial"/>
            </a:endParaRPr>
          </a:p>
        </p:txBody>
      </p:sp>
      <p:sp>
        <p:nvSpPr>
          <p:cNvPr id="24" name="object 24"/>
          <p:cNvSpPr/>
          <p:nvPr/>
        </p:nvSpPr>
        <p:spPr>
          <a:xfrm>
            <a:off x="9067800" y="4624583"/>
            <a:ext cx="2743200" cy="1926589"/>
          </a:xfrm>
          <a:custGeom>
            <a:avLst/>
            <a:gdLst/>
            <a:ahLst/>
            <a:cxnLst/>
            <a:rect l="l" t="t" r="r" b="b"/>
            <a:pathLst>
              <a:path w="2743200" h="1926590">
                <a:moveTo>
                  <a:pt x="2632748" y="0"/>
                </a:moveTo>
                <a:lnTo>
                  <a:pt x="110451" y="0"/>
                </a:lnTo>
                <a:lnTo>
                  <a:pt x="67460" y="8680"/>
                </a:lnTo>
                <a:lnTo>
                  <a:pt x="32351" y="32351"/>
                </a:lnTo>
                <a:lnTo>
                  <a:pt x="8680" y="67460"/>
                </a:lnTo>
                <a:lnTo>
                  <a:pt x="0" y="110451"/>
                </a:lnTo>
                <a:lnTo>
                  <a:pt x="0" y="1815871"/>
                </a:lnTo>
                <a:lnTo>
                  <a:pt x="8680" y="1858870"/>
                </a:lnTo>
                <a:lnTo>
                  <a:pt x="32351" y="1893982"/>
                </a:lnTo>
                <a:lnTo>
                  <a:pt x="67460" y="1917655"/>
                </a:lnTo>
                <a:lnTo>
                  <a:pt x="110451" y="1926336"/>
                </a:lnTo>
                <a:lnTo>
                  <a:pt x="2632748" y="1926336"/>
                </a:lnTo>
                <a:lnTo>
                  <a:pt x="2675739" y="1917655"/>
                </a:lnTo>
                <a:lnTo>
                  <a:pt x="2710848" y="1893982"/>
                </a:lnTo>
                <a:lnTo>
                  <a:pt x="2734519" y="1858870"/>
                </a:lnTo>
                <a:lnTo>
                  <a:pt x="2743200" y="1815871"/>
                </a:lnTo>
                <a:lnTo>
                  <a:pt x="2743200" y="110451"/>
                </a:lnTo>
                <a:lnTo>
                  <a:pt x="2734519" y="67460"/>
                </a:lnTo>
                <a:lnTo>
                  <a:pt x="2710848" y="32351"/>
                </a:lnTo>
                <a:lnTo>
                  <a:pt x="2675739" y="8680"/>
                </a:lnTo>
                <a:lnTo>
                  <a:pt x="2632748"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5"/>
          <p:cNvSpPr txBox="1"/>
          <p:nvPr/>
        </p:nvSpPr>
        <p:spPr>
          <a:xfrm>
            <a:off x="9178894" y="4898477"/>
            <a:ext cx="2508885" cy="665480"/>
          </a:xfrm>
          <a:prstGeom prst="rect">
            <a:avLst/>
          </a:prstGeom>
        </p:spPr>
        <p:txBody>
          <a:bodyPr vert="horz" wrap="square" lIns="0" tIns="12065" rIns="0" bIns="0" rtlCol="0">
            <a:spAutoFit/>
          </a:bodyPr>
          <a:lstStyle/>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kumimoji="0" lang="en-US" sz="1400" b="0" i="0" u="none" strike="noStrike" kern="0" cap="none" spc="0" normalizeH="0" baseline="0" noProof="0" dirty="0">
                <a:ln>
                  <a:noFill/>
                </a:ln>
                <a:solidFill>
                  <a:srgbClr val="211F1F"/>
                </a:solidFill>
                <a:effectLst/>
                <a:uLnTx/>
                <a:uFillTx/>
                <a:latin typeface="Arial"/>
                <a:cs typeface="Arial"/>
              </a:rPr>
              <a:t>Panorama </a:t>
            </a:r>
            <a:r>
              <a:rPr kumimoji="0" lang="en-US" sz="1400" b="0" i="0" u="none" strike="noStrike" kern="0" cap="none" spc="0" normalizeH="0" baseline="0" noProof="0" dirty="0" err="1">
                <a:ln>
                  <a:noFill/>
                </a:ln>
                <a:solidFill>
                  <a:srgbClr val="211F1F"/>
                </a:solidFill>
                <a:effectLst/>
                <a:uLnTx/>
                <a:uFillTx/>
                <a:latin typeface="Arial"/>
                <a:cs typeface="Arial"/>
              </a:rPr>
              <a:t>operativo</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comun</a:t>
            </a:r>
            <a:endParaRPr kumimoji="0" lang="en-US"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Apoyo</a:t>
            </a:r>
            <a:r>
              <a:rPr kumimoji="0" lang="en-US" sz="1400" b="0" i="0" u="none" strike="noStrike" kern="0" cap="none" spc="0" normalizeH="0" baseline="0" noProof="0" dirty="0">
                <a:ln>
                  <a:noFill/>
                </a:ln>
                <a:solidFill>
                  <a:srgbClr val="211F1F"/>
                </a:solidFill>
                <a:effectLst/>
                <a:uLnTx/>
                <a:uFillTx/>
                <a:latin typeface="Arial"/>
                <a:cs typeface="Arial"/>
              </a:rPr>
              <a:t> a </a:t>
            </a:r>
            <a:r>
              <a:rPr kumimoji="0" lang="en-US" sz="1400" b="0" i="0" u="none" strike="noStrike" kern="0" cap="none" spc="0" normalizeH="0" baseline="0" noProof="0" dirty="0" err="1">
                <a:ln>
                  <a:noFill/>
                </a:ln>
                <a:solidFill>
                  <a:srgbClr val="211F1F"/>
                </a:solidFill>
                <a:effectLst/>
                <a:uLnTx/>
                <a:uFillTx/>
                <a:latin typeface="Arial"/>
                <a:cs typeface="Arial"/>
              </a:rPr>
              <a:t>trabajos</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civiles</a:t>
            </a:r>
            <a:r>
              <a:rPr kumimoji="0" lang="en-US" sz="1400" b="0" i="0" u="none" strike="noStrike" kern="0" cap="none" spc="0" normalizeH="0" baseline="0" noProof="0" dirty="0">
                <a:ln>
                  <a:noFill/>
                </a:ln>
                <a:solidFill>
                  <a:srgbClr val="211F1F"/>
                </a:solidFill>
                <a:effectLst/>
                <a:uLnTx/>
                <a:uFillTx/>
                <a:latin typeface="Arial"/>
                <a:cs typeface="Arial"/>
              </a:rPr>
              <a:t>/mil</a:t>
            </a:r>
            <a:endParaRPr kumimoji="0" lang="en-US"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Apoyo</a:t>
            </a:r>
            <a:r>
              <a:rPr kumimoji="0" lang="en-US" sz="1400" b="0" i="0" u="none" strike="noStrike" kern="0" cap="none" spc="0" normalizeH="0" baseline="0" noProof="0" dirty="0">
                <a:ln>
                  <a:noFill/>
                </a:ln>
                <a:solidFill>
                  <a:srgbClr val="211F1F"/>
                </a:solidFill>
                <a:effectLst/>
                <a:uLnTx/>
                <a:uFillTx/>
                <a:latin typeface="Arial"/>
                <a:cs typeface="Arial"/>
              </a:rPr>
              <a:t> a </a:t>
            </a:r>
            <a:r>
              <a:rPr kumimoji="0" lang="en-US" sz="1400" b="0" i="0" u="none" strike="noStrike" kern="0" cap="none" spc="0" normalizeH="0" baseline="0" noProof="0" dirty="0" err="1">
                <a:ln>
                  <a:noFill/>
                </a:ln>
                <a:solidFill>
                  <a:srgbClr val="211F1F"/>
                </a:solidFill>
                <a:effectLst/>
                <a:uLnTx/>
                <a:uFillTx/>
                <a:latin typeface="Arial"/>
                <a:cs typeface="Arial"/>
              </a:rPr>
              <a:t>Ope</a:t>
            </a:r>
            <a:r>
              <a:rPr kumimoji="0" lang="en-US" sz="1400" b="0" i="0" u="none" strike="noStrike" kern="0" cap="none" spc="0" normalizeH="0" baseline="0" noProof="0" dirty="0">
                <a:ln>
                  <a:noFill/>
                </a:ln>
                <a:solidFill>
                  <a:srgbClr val="211F1F"/>
                </a:solidFill>
                <a:effectLst/>
                <a:uLnTx/>
                <a:uFillTx/>
                <a:latin typeface="Arial"/>
                <a:cs typeface="Arial"/>
              </a:rPr>
              <a:t>. de </a:t>
            </a:r>
            <a:r>
              <a:rPr kumimoji="0" lang="en-US" sz="1400" b="0" i="0" u="none" strike="noStrike" kern="0" cap="none" spc="0" normalizeH="0" baseline="0" noProof="0" dirty="0" err="1">
                <a:ln>
                  <a:noFill/>
                </a:ln>
                <a:solidFill>
                  <a:srgbClr val="211F1F"/>
                </a:solidFill>
                <a:effectLst/>
                <a:uLnTx/>
                <a:uFillTx/>
                <a:latin typeface="Arial"/>
                <a:cs typeface="Arial"/>
              </a:rPr>
              <a:t>emergencia</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pic>
        <p:nvPicPr>
          <p:cNvPr id="26" name="object 26"/>
          <p:cNvPicPr/>
          <p:nvPr/>
        </p:nvPicPr>
        <p:blipFill>
          <a:blip r:embed="rId10" cstate="print"/>
          <a:stretch>
            <a:fillRect/>
          </a:stretch>
        </p:blipFill>
        <p:spPr>
          <a:xfrm>
            <a:off x="9065514" y="4251959"/>
            <a:ext cx="2747009" cy="613409"/>
          </a:xfrm>
          <a:prstGeom prst="rect">
            <a:avLst/>
          </a:prstGeom>
        </p:spPr>
      </p:pic>
      <p:sp>
        <p:nvSpPr>
          <p:cNvPr id="27" name="object 27"/>
          <p:cNvSpPr txBox="1"/>
          <p:nvPr/>
        </p:nvSpPr>
        <p:spPr>
          <a:xfrm>
            <a:off x="9488327" y="4434079"/>
            <a:ext cx="1902460" cy="2590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600" b="1" i="0" u="none" strike="noStrike" kern="0" cap="none" spc="0" normalizeH="0" baseline="0" noProof="0" dirty="0" err="1">
                <a:ln>
                  <a:noFill/>
                </a:ln>
                <a:solidFill>
                  <a:srgbClr val="FFFFFF"/>
                </a:solidFill>
                <a:effectLst/>
                <a:uLnTx/>
                <a:uFillTx/>
                <a:latin typeface="Arial"/>
                <a:cs typeface="Arial"/>
              </a:rPr>
              <a:t>Apoyo</a:t>
            </a:r>
            <a:r>
              <a:rPr kumimoji="0" lang="en-US" sz="1600" b="1" i="0" u="none" strike="noStrike" kern="0" cap="none" spc="0" normalizeH="0" baseline="0" noProof="0" dirty="0">
                <a:ln>
                  <a:noFill/>
                </a:ln>
                <a:solidFill>
                  <a:srgbClr val="FFFFFF"/>
                </a:solidFill>
                <a:effectLst/>
                <a:uLnTx/>
                <a:uFillTx/>
                <a:latin typeface="Arial"/>
                <a:cs typeface="Arial"/>
              </a:rPr>
              <a:t> </a:t>
            </a:r>
            <a:r>
              <a:rPr kumimoji="0" lang="en-US" sz="1600" b="1" i="0" u="none" strike="noStrike" kern="0" cap="none" spc="0" normalizeH="0" baseline="0" noProof="0" dirty="0" err="1">
                <a:ln>
                  <a:noFill/>
                </a:ln>
                <a:solidFill>
                  <a:srgbClr val="FFFFFF"/>
                </a:solidFill>
                <a:effectLst/>
                <a:uLnTx/>
                <a:uFillTx/>
                <a:latin typeface="Arial"/>
                <a:cs typeface="Arial"/>
              </a:rPr>
              <a:t>geoespacial</a:t>
            </a:r>
            <a:endParaRPr kumimoji="0" sz="1600" b="0" i="0" u="none" strike="noStrike" kern="0" cap="none" spc="0" normalizeH="0" baseline="0" noProof="0" dirty="0">
              <a:ln>
                <a:noFill/>
              </a:ln>
              <a:solidFill>
                <a:sysClr val="windowText" lastClr="000000"/>
              </a:solidFill>
              <a:effectLst/>
              <a:uLnTx/>
              <a:uFillTx/>
              <a:latin typeface="Arial"/>
              <a:cs typeface="Arial"/>
            </a:endParaRPr>
          </a:p>
        </p:txBody>
      </p:sp>
      <p:sp>
        <p:nvSpPr>
          <p:cNvPr id="28" name="object 28"/>
          <p:cNvSpPr/>
          <p:nvPr/>
        </p:nvSpPr>
        <p:spPr>
          <a:xfrm>
            <a:off x="3279647" y="4624572"/>
            <a:ext cx="2755900" cy="1923414"/>
          </a:xfrm>
          <a:custGeom>
            <a:avLst/>
            <a:gdLst/>
            <a:ahLst/>
            <a:cxnLst/>
            <a:rect l="l" t="t" r="r" b="b"/>
            <a:pathLst>
              <a:path w="2755900" h="1923415">
                <a:moveTo>
                  <a:pt x="2645105" y="0"/>
                </a:moveTo>
                <a:lnTo>
                  <a:pt x="110286" y="0"/>
                </a:lnTo>
                <a:lnTo>
                  <a:pt x="67358" y="8666"/>
                </a:lnTo>
                <a:lnTo>
                  <a:pt x="32302" y="32302"/>
                </a:lnTo>
                <a:lnTo>
                  <a:pt x="8666" y="67358"/>
                </a:lnTo>
                <a:lnTo>
                  <a:pt x="0" y="110286"/>
                </a:lnTo>
                <a:lnTo>
                  <a:pt x="0" y="1813013"/>
                </a:lnTo>
                <a:lnTo>
                  <a:pt x="8666" y="1855940"/>
                </a:lnTo>
                <a:lnTo>
                  <a:pt x="32302" y="1890991"/>
                </a:lnTo>
                <a:lnTo>
                  <a:pt x="67358" y="1914623"/>
                </a:lnTo>
                <a:lnTo>
                  <a:pt x="110286" y="1923288"/>
                </a:lnTo>
                <a:lnTo>
                  <a:pt x="2645105" y="1923288"/>
                </a:lnTo>
                <a:lnTo>
                  <a:pt x="2688033" y="1914623"/>
                </a:lnTo>
                <a:lnTo>
                  <a:pt x="2723089" y="1890991"/>
                </a:lnTo>
                <a:lnTo>
                  <a:pt x="2746725" y="1855940"/>
                </a:lnTo>
                <a:lnTo>
                  <a:pt x="2755392" y="1813013"/>
                </a:lnTo>
                <a:lnTo>
                  <a:pt x="2755392" y="110286"/>
                </a:lnTo>
                <a:lnTo>
                  <a:pt x="2746725" y="67358"/>
                </a:lnTo>
                <a:lnTo>
                  <a:pt x="2723089" y="32302"/>
                </a:lnTo>
                <a:lnTo>
                  <a:pt x="2688033" y="8666"/>
                </a:lnTo>
                <a:lnTo>
                  <a:pt x="2645105"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txBox="1"/>
          <p:nvPr/>
        </p:nvSpPr>
        <p:spPr>
          <a:xfrm>
            <a:off x="3390403" y="4898426"/>
            <a:ext cx="2519680" cy="625171"/>
          </a:xfrm>
          <a:prstGeom prst="rect">
            <a:avLst/>
          </a:prstGeom>
        </p:spPr>
        <p:txBody>
          <a:bodyPr vert="horz" wrap="square" lIns="0" tIns="12065" rIns="0" bIns="0" rtlCol="0">
            <a:spAutoFit/>
          </a:bodyPr>
          <a:lstStyle/>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kumimoji="0" sz="1300" b="0" i="0" u="none" strike="noStrike" kern="0" cap="none" spc="0" normalizeH="0" baseline="0" noProof="0" dirty="0" err="1">
                <a:ln>
                  <a:noFill/>
                </a:ln>
                <a:solidFill>
                  <a:srgbClr val="211F1F"/>
                </a:solidFill>
                <a:effectLst/>
                <a:uLnTx/>
                <a:uFillTx/>
                <a:latin typeface="Arial"/>
                <a:cs typeface="Arial"/>
              </a:rPr>
              <a:t>A</a:t>
            </a:r>
            <a:r>
              <a:rPr kumimoji="0" lang="en-US" sz="1300" b="0" i="0" u="none" strike="noStrike" kern="0" cap="none" spc="0" normalizeH="0" baseline="0" noProof="0" dirty="0" err="1">
                <a:ln>
                  <a:noFill/>
                </a:ln>
                <a:solidFill>
                  <a:srgbClr val="211F1F"/>
                </a:solidFill>
                <a:effectLst/>
                <a:uLnTx/>
                <a:uFillTx/>
                <a:latin typeface="Arial"/>
                <a:cs typeface="Arial"/>
              </a:rPr>
              <a:t>dquirir</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0" normalizeH="0" baseline="0" noProof="0" dirty="0" err="1">
                <a:ln>
                  <a:noFill/>
                </a:ln>
                <a:solidFill>
                  <a:srgbClr val="211F1F"/>
                </a:solidFill>
                <a:effectLst/>
                <a:uLnTx/>
                <a:uFillTx/>
                <a:latin typeface="Arial"/>
                <a:cs typeface="Arial"/>
              </a:rPr>
              <a:t>Administrar</a:t>
            </a:r>
            <a:r>
              <a:rPr kumimoji="0" lang="en-US" sz="1300" b="0" i="0" u="none" strike="noStrike" kern="0" cap="none" spc="0" normalizeH="0" baseline="0" noProof="0" dirty="0">
                <a:ln>
                  <a:noFill/>
                </a:ln>
                <a:solidFill>
                  <a:srgbClr val="211F1F"/>
                </a:solidFill>
                <a:effectLst/>
                <a:uLnTx/>
                <a:uFillTx/>
                <a:latin typeface="Arial"/>
                <a:cs typeface="Arial"/>
              </a:rPr>
              <a:t> y Disponer</a:t>
            </a:r>
          </a:p>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kumimoji="0" sz="1300" b="0" i="0" u="none" strike="noStrike" kern="0" cap="none" spc="0" normalizeH="0" baseline="0" noProof="0" dirty="0">
                <a:ln>
                  <a:noFill/>
                </a:ln>
                <a:solidFill>
                  <a:srgbClr val="211F1F"/>
                </a:solidFill>
                <a:effectLst/>
                <a:uLnTx/>
                <a:uFillTx/>
                <a:latin typeface="Arial"/>
                <a:cs typeface="Arial"/>
              </a:rPr>
              <a:t>DoD</a:t>
            </a:r>
            <a:r>
              <a:rPr kumimoji="0" lang="en-US" sz="1300" b="0" i="0" u="none" strike="noStrike" kern="0" cap="none" spc="0" normalizeH="0" baseline="0" noProof="0" dirty="0">
                <a:ln>
                  <a:noFill/>
                </a:ln>
                <a:solidFill>
                  <a:srgbClr val="211F1F"/>
                </a:solidFill>
                <a:effectLst/>
                <a:uLnTx/>
                <a:uFillTx/>
                <a:latin typeface="Arial"/>
                <a:cs typeface="Arial"/>
              </a:rPr>
              <a:t> </a:t>
            </a:r>
            <a:r>
              <a:rPr kumimoji="0" lang="en-US" sz="1300" b="0" i="0" u="none" strike="noStrike" kern="0" cap="none" spc="-35" normalizeH="0" baseline="0" noProof="0" dirty="0" err="1">
                <a:ln>
                  <a:noFill/>
                </a:ln>
                <a:solidFill>
                  <a:srgbClr val="211F1F"/>
                </a:solidFill>
                <a:effectLst/>
                <a:uLnTx/>
                <a:uFillTx/>
                <a:latin typeface="Arial"/>
                <a:cs typeface="Arial"/>
              </a:rPr>
              <a:t>Instalacione</a:t>
            </a:r>
            <a:r>
              <a:rPr lang="en-US" sz="1300" kern="0" spc="-35" dirty="0">
                <a:solidFill>
                  <a:srgbClr val="211F1F"/>
                </a:solidFill>
                <a:latin typeface="Arial"/>
                <a:cs typeface="Arial"/>
              </a:rPr>
              <a:t>s de </a:t>
            </a:r>
            <a:r>
              <a:rPr lang="en-US" sz="1300" kern="0" spc="-35" dirty="0" err="1">
                <a:solidFill>
                  <a:srgbClr val="211F1F"/>
                </a:solidFill>
                <a:latin typeface="Arial"/>
                <a:cs typeface="Arial"/>
              </a:rPr>
              <a:t>reclutas</a:t>
            </a:r>
            <a:endParaRPr kumimoji="0" sz="13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300" b="0" i="0" u="none" strike="noStrike" kern="0" cap="none" spc="0" normalizeH="0" baseline="0" noProof="0" dirty="0" err="1">
                <a:ln>
                  <a:noFill/>
                </a:ln>
                <a:solidFill>
                  <a:srgbClr val="211F1F"/>
                </a:solidFill>
                <a:effectLst/>
                <a:uLnTx/>
                <a:uFillTx/>
                <a:latin typeface="Arial"/>
                <a:cs typeface="Arial"/>
              </a:rPr>
              <a:t>Operaciones</a:t>
            </a:r>
            <a:r>
              <a:rPr kumimoji="0" lang="en-US" sz="1300" b="0" i="0" u="none" strike="noStrike" kern="0" cap="none" spc="0" normalizeH="0" baseline="0" noProof="0" dirty="0">
                <a:ln>
                  <a:noFill/>
                </a:ln>
                <a:solidFill>
                  <a:srgbClr val="211F1F"/>
                </a:solidFill>
                <a:effectLst/>
                <a:uLnTx/>
                <a:uFillTx/>
                <a:latin typeface="Arial"/>
                <a:cs typeface="Arial"/>
              </a:rPr>
              <a:t> de </a:t>
            </a:r>
            <a:r>
              <a:rPr kumimoji="0" lang="en-US" sz="1300" b="0" i="0" u="none" strike="noStrike" kern="0" cap="none" spc="0" normalizeH="0" baseline="0" noProof="0" dirty="0" err="1">
                <a:ln>
                  <a:noFill/>
                </a:ln>
                <a:solidFill>
                  <a:srgbClr val="211F1F"/>
                </a:solidFill>
                <a:effectLst/>
                <a:uLnTx/>
                <a:uFillTx/>
                <a:latin typeface="Arial"/>
                <a:cs typeface="Arial"/>
              </a:rPr>
              <a:t>contigencia</a:t>
            </a:r>
            <a:endParaRPr kumimoji="0" sz="1300" b="0" i="0" u="none" strike="noStrike" kern="0" cap="none" spc="0" normalizeH="0" baseline="0" noProof="0" dirty="0">
              <a:ln>
                <a:noFill/>
              </a:ln>
              <a:solidFill>
                <a:sysClr val="windowText" lastClr="000000"/>
              </a:solidFill>
              <a:effectLst/>
              <a:uLnTx/>
              <a:uFillTx/>
              <a:latin typeface="Arial"/>
              <a:cs typeface="Arial"/>
            </a:endParaRPr>
          </a:p>
        </p:txBody>
      </p:sp>
      <p:pic>
        <p:nvPicPr>
          <p:cNvPr id="30" name="object 30"/>
          <p:cNvPicPr/>
          <p:nvPr/>
        </p:nvPicPr>
        <p:blipFill>
          <a:blip r:embed="rId11" cstate="print"/>
          <a:stretch>
            <a:fillRect/>
          </a:stretch>
        </p:blipFill>
        <p:spPr>
          <a:xfrm>
            <a:off x="3282696" y="4255008"/>
            <a:ext cx="2747009" cy="613409"/>
          </a:xfrm>
          <a:prstGeom prst="rect">
            <a:avLst/>
          </a:prstGeom>
        </p:spPr>
      </p:pic>
      <p:sp>
        <p:nvSpPr>
          <p:cNvPr id="31" name="object 31"/>
          <p:cNvSpPr txBox="1"/>
          <p:nvPr/>
        </p:nvSpPr>
        <p:spPr>
          <a:xfrm>
            <a:off x="3792893" y="4421959"/>
            <a:ext cx="1709412" cy="289823"/>
          </a:xfrm>
          <a:prstGeom prst="rect">
            <a:avLst/>
          </a:prstGeom>
        </p:spPr>
        <p:txBody>
          <a:bodyPr vert="horz" wrap="square" lIns="0" tIns="12700" rIns="0" bIns="0" rtlCol="0">
            <a:sp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r>
              <a:rPr kumimoji="0" lang="en-US" sz="1800" b="1" i="0" u="none" strike="noStrike" kern="0" cap="none" spc="0" normalizeH="0" baseline="0" noProof="0" dirty="0" err="1">
                <a:ln>
                  <a:noFill/>
                </a:ln>
                <a:solidFill>
                  <a:srgbClr val="FFFFFF"/>
                </a:solidFill>
                <a:effectLst/>
                <a:uLnTx/>
                <a:uFillTx/>
                <a:latin typeface="Arial"/>
                <a:cs typeface="Arial"/>
              </a:rPr>
              <a:t>Bienes</a:t>
            </a:r>
            <a:r>
              <a:rPr kumimoji="0" lang="en-US" sz="1800" b="1" i="0" u="none" strike="noStrike" kern="0" cap="none" spc="0" normalizeH="0" baseline="0" noProof="0" dirty="0">
                <a:ln>
                  <a:noFill/>
                </a:ln>
                <a:solidFill>
                  <a:srgbClr val="FFFFFF"/>
                </a:solidFill>
                <a:effectLst/>
                <a:uLnTx/>
                <a:uFillTx/>
                <a:latin typeface="Arial"/>
                <a:cs typeface="Arial"/>
              </a:rPr>
              <a:t> Raices</a:t>
            </a:r>
            <a:endParaRPr kumimoji="0" sz="1800" b="0" i="0" u="none" strike="noStrike" kern="0" cap="none" spc="0" normalizeH="0" baseline="0" noProof="0" dirty="0">
              <a:ln>
                <a:noFill/>
              </a:ln>
              <a:solidFill>
                <a:sysClr val="windowText" lastClr="000000"/>
              </a:solidFill>
              <a:effectLst/>
              <a:uLnTx/>
              <a:uFillTx/>
              <a:latin typeface="Arial"/>
              <a:cs typeface="Arial"/>
            </a:endParaRPr>
          </a:p>
        </p:txBody>
      </p:sp>
      <p:grpSp>
        <p:nvGrpSpPr>
          <p:cNvPr id="32" name="object 32"/>
          <p:cNvGrpSpPr/>
          <p:nvPr/>
        </p:nvGrpSpPr>
        <p:grpSpPr>
          <a:xfrm>
            <a:off x="401574" y="4648965"/>
            <a:ext cx="5621655" cy="1921510"/>
            <a:chOff x="401574" y="4648965"/>
            <a:chExt cx="5621655" cy="1921510"/>
          </a:xfrm>
        </p:grpSpPr>
        <p:pic>
          <p:nvPicPr>
            <p:cNvPr id="33" name="object 33"/>
            <p:cNvPicPr/>
            <p:nvPr/>
          </p:nvPicPr>
          <p:blipFill>
            <a:blip r:embed="rId12" cstate="print"/>
            <a:stretch>
              <a:fillRect/>
            </a:stretch>
          </p:blipFill>
          <p:spPr>
            <a:xfrm>
              <a:off x="3279647" y="5647182"/>
              <a:ext cx="2743199" cy="884682"/>
            </a:xfrm>
            <a:prstGeom prst="rect">
              <a:avLst/>
            </a:prstGeom>
          </p:spPr>
        </p:pic>
        <p:sp>
          <p:nvSpPr>
            <p:cNvPr id="34" name="object 34"/>
            <p:cNvSpPr/>
            <p:nvPr/>
          </p:nvSpPr>
          <p:spPr>
            <a:xfrm>
              <a:off x="401574" y="4648965"/>
              <a:ext cx="2743200" cy="1921510"/>
            </a:xfrm>
            <a:custGeom>
              <a:avLst/>
              <a:gdLst/>
              <a:ahLst/>
              <a:cxnLst/>
              <a:rect l="l" t="t" r="r" b="b"/>
              <a:pathLst>
                <a:path w="2743200" h="1921509">
                  <a:moveTo>
                    <a:pt x="2633052" y="0"/>
                  </a:moveTo>
                  <a:lnTo>
                    <a:pt x="110147" y="0"/>
                  </a:lnTo>
                  <a:lnTo>
                    <a:pt x="67272" y="8655"/>
                  </a:lnTo>
                  <a:lnTo>
                    <a:pt x="32261" y="32261"/>
                  </a:lnTo>
                  <a:lnTo>
                    <a:pt x="8655" y="67272"/>
                  </a:lnTo>
                  <a:lnTo>
                    <a:pt x="0" y="110147"/>
                  </a:lnTo>
                  <a:lnTo>
                    <a:pt x="0" y="1810842"/>
                  </a:lnTo>
                  <a:lnTo>
                    <a:pt x="8655" y="1853723"/>
                  </a:lnTo>
                  <a:lnTo>
                    <a:pt x="32261" y="1888739"/>
                  </a:lnTo>
                  <a:lnTo>
                    <a:pt x="67272" y="1912345"/>
                  </a:lnTo>
                  <a:lnTo>
                    <a:pt x="110147" y="1921002"/>
                  </a:lnTo>
                  <a:lnTo>
                    <a:pt x="2633052" y="1921002"/>
                  </a:lnTo>
                  <a:lnTo>
                    <a:pt x="2675927" y="1912345"/>
                  </a:lnTo>
                  <a:lnTo>
                    <a:pt x="2710938" y="1888739"/>
                  </a:lnTo>
                  <a:lnTo>
                    <a:pt x="2734544" y="1853723"/>
                  </a:lnTo>
                  <a:lnTo>
                    <a:pt x="2743200" y="1810842"/>
                  </a:lnTo>
                  <a:lnTo>
                    <a:pt x="2743200" y="110147"/>
                  </a:lnTo>
                  <a:lnTo>
                    <a:pt x="2734544" y="67272"/>
                  </a:lnTo>
                  <a:lnTo>
                    <a:pt x="2710938" y="32261"/>
                  </a:lnTo>
                  <a:lnTo>
                    <a:pt x="2675927" y="8655"/>
                  </a:lnTo>
                  <a:lnTo>
                    <a:pt x="2633052"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5" name="object 35"/>
          <p:cNvSpPr txBox="1"/>
          <p:nvPr/>
        </p:nvSpPr>
        <p:spPr>
          <a:xfrm>
            <a:off x="512828" y="4923195"/>
            <a:ext cx="2602865" cy="612347"/>
          </a:xfrm>
          <a:prstGeom prst="rect">
            <a:avLst/>
          </a:prstGeom>
        </p:spPr>
        <p:txBody>
          <a:bodyPr vert="horz" wrap="square" lIns="0" tIns="12065" rIns="0" bIns="0" rtlCol="0">
            <a:spAutoFit/>
          </a:bodyPr>
          <a:lstStyle/>
          <a:p>
            <a:pPr marL="129539" marR="0" lvl="0" indent="-116839" defTabSz="914400" eaLnBrk="1" fontAlgn="auto" latinLnBrk="0" hangingPunct="1">
              <a:lnSpc>
                <a:spcPct val="100000"/>
              </a:lnSpc>
              <a:spcBef>
                <a:spcPts val="95"/>
              </a:spcBef>
              <a:spcAft>
                <a:spcPts val="0"/>
              </a:spcAft>
              <a:buClrTx/>
              <a:buSzTx/>
              <a:buFontTx/>
              <a:buChar char="•"/>
              <a:tabLst>
                <a:tab pos="129539" algn="l"/>
              </a:tabLst>
              <a:defRPr/>
            </a:pPr>
            <a:r>
              <a:rPr kumimoji="0" sz="1300" b="0" i="0" u="none" strike="noStrike" kern="0" cap="none" spc="-10" normalizeH="0" baseline="0" noProof="0" dirty="0">
                <a:ln>
                  <a:noFill/>
                </a:ln>
                <a:solidFill>
                  <a:srgbClr val="211F1F"/>
                </a:solidFill>
                <a:effectLst/>
                <a:uLnTx/>
                <a:uFillTx/>
                <a:latin typeface="Arial"/>
                <a:cs typeface="Arial"/>
              </a:rPr>
              <a:t>Warfighter</a:t>
            </a:r>
            <a:endParaRPr kumimoji="0" sz="13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sz="1300" b="0" i="0" u="none" strike="noStrike" kern="0" cap="none" spc="0" normalizeH="0" baseline="0" noProof="0" dirty="0" err="1">
                <a:ln>
                  <a:noFill/>
                </a:ln>
                <a:solidFill>
                  <a:srgbClr val="211F1F"/>
                </a:solidFill>
                <a:effectLst/>
                <a:uLnTx/>
                <a:uFillTx/>
                <a:latin typeface="Arial"/>
                <a:cs typeface="Arial"/>
              </a:rPr>
              <a:t>I</a:t>
            </a:r>
            <a:r>
              <a:rPr kumimoji="0" lang="en-US" sz="1300" b="0" i="0" u="none" strike="noStrike" kern="0" cap="none" spc="0" normalizeH="0" baseline="0" noProof="0" dirty="0" err="1">
                <a:ln>
                  <a:noFill/>
                </a:ln>
                <a:solidFill>
                  <a:srgbClr val="211F1F"/>
                </a:solidFill>
                <a:effectLst/>
                <a:uLnTx/>
                <a:uFillTx/>
                <a:latin typeface="Arial"/>
                <a:cs typeface="Arial"/>
              </a:rPr>
              <a:t>nstalaciones</a:t>
            </a:r>
            <a:r>
              <a:rPr kumimoji="0" lang="en-US" sz="1300" b="0" i="0" u="none" strike="noStrike" kern="0" cap="none" spc="0" normalizeH="0" baseline="0" noProof="0" dirty="0">
                <a:ln>
                  <a:noFill/>
                </a:ln>
                <a:solidFill>
                  <a:srgbClr val="211F1F"/>
                </a:solidFill>
                <a:effectLst/>
                <a:uLnTx/>
                <a:uFillTx/>
                <a:latin typeface="Arial"/>
                <a:cs typeface="Arial"/>
              </a:rPr>
              <a:t> &amp; </a:t>
            </a:r>
            <a:r>
              <a:rPr kumimoji="0" lang="en-US" sz="1300" b="0" i="0" u="none" strike="noStrike" kern="0" cap="none" spc="0" normalizeH="0" baseline="0" noProof="0" dirty="0" err="1">
                <a:ln>
                  <a:noFill/>
                </a:ln>
                <a:solidFill>
                  <a:srgbClr val="211F1F"/>
                </a:solidFill>
                <a:effectLst/>
                <a:uLnTx/>
                <a:uFillTx/>
                <a:latin typeface="Arial"/>
                <a:cs typeface="Arial"/>
              </a:rPr>
              <a:t>Energia</a:t>
            </a:r>
            <a:endParaRPr kumimoji="0" sz="13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300" b="0" i="0" u="none" strike="noStrike" kern="0" cap="none" spc="0" normalizeH="0" baseline="0" noProof="0" dirty="0" err="1">
                <a:ln>
                  <a:noFill/>
                </a:ln>
                <a:solidFill>
                  <a:srgbClr val="211F1F"/>
                </a:solidFill>
                <a:effectLst/>
                <a:uLnTx/>
                <a:uFillTx/>
                <a:latin typeface="Arial"/>
                <a:cs typeface="Arial"/>
              </a:rPr>
              <a:t>Medioambiente</a:t>
            </a:r>
            <a:r>
              <a:rPr kumimoji="0" lang="en-US" sz="1300" b="0" i="0" u="none" strike="noStrike" kern="0" cap="none" spc="0" normalizeH="0" baseline="0" noProof="0" dirty="0">
                <a:ln>
                  <a:noFill/>
                </a:ln>
                <a:solidFill>
                  <a:srgbClr val="211F1F"/>
                </a:solidFill>
                <a:effectLst/>
                <a:uLnTx/>
                <a:uFillTx/>
                <a:latin typeface="Arial"/>
                <a:cs typeface="Arial"/>
              </a:rPr>
              <a:t>, Fuentes de </a:t>
            </a:r>
            <a:r>
              <a:rPr kumimoji="0" lang="en-US" sz="1300" b="0" i="0" u="none" strike="noStrike" kern="0" cap="none" spc="0" normalizeH="0" baseline="0" noProof="0" dirty="0" err="1">
                <a:ln>
                  <a:noFill/>
                </a:ln>
                <a:solidFill>
                  <a:srgbClr val="211F1F"/>
                </a:solidFill>
                <a:effectLst/>
                <a:uLnTx/>
                <a:uFillTx/>
                <a:latin typeface="Arial"/>
                <a:cs typeface="Arial"/>
              </a:rPr>
              <a:t>agua</a:t>
            </a:r>
            <a:endParaRPr kumimoji="0" sz="1300" b="0" i="0" u="none" strike="noStrike" kern="0" cap="none" spc="0" normalizeH="0" baseline="0" noProof="0" dirty="0">
              <a:ln>
                <a:noFill/>
              </a:ln>
              <a:solidFill>
                <a:sysClr val="windowText" lastClr="000000"/>
              </a:solidFill>
              <a:effectLst/>
              <a:uLnTx/>
              <a:uFillTx/>
              <a:latin typeface="Arial"/>
              <a:cs typeface="Arial"/>
            </a:endParaRPr>
          </a:p>
        </p:txBody>
      </p:sp>
      <p:pic>
        <p:nvPicPr>
          <p:cNvPr id="36" name="object 36"/>
          <p:cNvPicPr/>
          <p:nvPr/>
        </p:nvPicPr>
        <p:blipFill>
          <a:blip r:embed="rId13" cstate="print"/>
          <a:stretch>
            <a:fillRect/>
          </a:stretch>
        </p:blipFill>
        <p:spPr>
          <a:xfrm>
            <a:off x="400050" y="4275582"/>
            <a:ext cx="2747009" cy="613409"/>
          </a:xfrm>
          <a:prstGeom prst="rect">
            <a:avLst/>
          </a:prstGeom>
        </p:spPr>
      </p:pic>
      <p:sp>
        <p:nvSpPr>
          <p:cNvPr id="37" name="object 37"/>
          <p:cNvSpPr txBox="1"/>
          <p:nvPr/>
        </p:nvSpPr>
        <p:spPr>
          <a:xfrm>
            <a:off x="535811" y="4457332"/>
            <a:ext cx="2474595" cy="228268"/>
          </a:xfrm>
          <a:prstGeom prst="rect">
            <a:avLst/>
          </a:prstGeom>
        </p:spPr>
        <p:txBody>
          <a:bodyPr vert="horz" wrap="square" lIns="0" tIns="12700" rIns="0" bIns="0" rtlCol="0">
            <a:sp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0" normalizeH="0" baseline="0" noProof="0" dirty="0" err="1">
                <a:ln>
                  <a:noFill/>
                </a:ln>
                <a:solidFill>
                  <a:srgbClr val="FFFFFF"/>
                </a:solidFill>
                <a:effectLst/>
                <a:uLnTx/>
                <a:uFillTx/>
                <a:latin typeface="Arial"/>
                <a:cs typeface="Arial"/>
              </a:rPr>
              <a:t>Investigacion</a:t>
            </a:r>
            <a:r>
              <a:rPr kumimoji="0" lang="en-US" sz="1400" b="1" i="0" u="none" strike="noStrike" kern="0" cap="none" spc="0" normalizeH="0" baseline="0" noProof="0" dirty="0">
                <a:ln>
                  <a:noFill/>
                </a:ln>
                <a:solidFill>
                  <a:srgbClr val="FFFFFF"/>
                </a:solidFill>
                <a:effectLst/>
                <a:uLnTx/>
                <a:uFillTx/>
                <a:latin typeface="Arial"/>
                <a:cs typeface="Arial"/>
              </a:rPr>
              <a:t> &amp; </a:t>
            </a:r>
            <a:r>
              <a:rPr kumimoji="0" lang="en-US" sz="1400" b="1" i="0" u="none" strike="noStrike" kern="0" cap="none" spc="0" normalizeH="0" baseline="0" noProof="0" dirty="0" err="1">
                <a:ln>
                  <a:noFill/>
                </a:ln>
                <a:solidFill>
                  <a:srgbClr val="FFFFFF"/>
                </a:solidFill>
                <a:effectLst/>
                <a:uLnTx/>
                <a:uFillTx/>
                <a:latin typeface="Arial"/>
                <a:cs typeface="Arial"/>
              </a:rPr>
              <a:t>desarrollo</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grpSp>
        <p:nvGrpSpPr>
          <p:cNvPr id="38" name="object 38"/>
          <p:cNvGrpSpPr/>
          <p:nvPr/>
        </p:nvGrpSpPr>
        <p:grpSpPr>
          <a:xfrm>
            <a:off x="398526" y="3943544"/>
            <a:ext cx="11424920" cy="2626995"/>
            <a:chOff x="398526" y="3943544"/>
            <a:chExt cx="11424920" cy="2626995"/>
          </a:xfrm>
        </p:grpSpPr>
        <p:pic>
          <p:nvPicPr>
            <p:cNvPr id="39" name="object 39"/>
            <p:cNvPicPr/>
            <p:nvPr/>
          </p:nvPicPr>
          <p:blipFill>
            <a:blip r:embed="rId14" cstate="print"/>
            <a:stretch>
              <a:fillRect/>
            </a:stretch>
          </p:blipFill>
          <p:spPr>
            <a:xfrm>
              <a:off x="398526" y="5660135"/>
              <a:ext cx="2743199" cy="909827"/>
            </a:xfrm>
            <a:prstGeom prst="rect">
              <a:avLst/>
            </a:prstGeom>
          </p:spPr>
        </p:pic>
        <p:sp>
          <p:nvSpPr>
            <p:cNvPr id="40" name="object 40"/>
            <p:cNvSpPr/>
            <p:nvPr/>
          </p:nvSpPr>
          <p:spPr>
            <a:xfrm>
              <a:off x="404240" y="3948306"/>
              <a:ext cx="11414125" cy="266065"/>
            </a:xfrm>
            <a:custGeom>
              <a:avLst/>
              <a:gdLst/>
              <a:ahLst/>
              <a:cxnLst/>
              <a:rect l="l" t="t" r="r" b="b"/>
              <a:pathLst>
                <a:path w="11414125" h="266064">
                  <a:moveTo>
                    <a:pt x="11369675" y="0"/>
                  </a:moveTo>
                  <a:lnTo>
                    <a:pt x="44323" y="0"/>
                  </a:lnTo>
                  <a:lnTo>
                    <a:pt x="27073" y="3482"/>
                  </a:lnTo>
                  <a:lnTo>
                    <a:pt x="12984" y="12979"/>
                  </a:lnTo>
                  <a:lnTo>
                    <a:pt x="3483" y="27067"/>
                  </a:lnTo>
                  <a:lnTo>
                    <a:pt x="0" y="44322"/>
                  </a:lnTo>
                  <a:lnTo>
                    <a:pt x="0" y="221602"/>
                  </a:lnTo>
                  <a:lnTo>
                    <a:pt x="3483" y="238859"/>
                  </a:lnTo>
                  <a:lnTo>
                    <a:pt x="12984" y="252952"/>
                  </a:lnTo>
                  <a:lnTo>
                    <a:pt x="27073" y="262453"/>
                  </a:lnTo>
                  <a:lnTo>
                    <a:pt x="44323" y="265937"/>
                  </a:lnTo>
                  <a:lnTo>
                    <a:pt x="11369675" y="265937"/>
                  </a:lnTo>
                  <a:lnTo>
                    <a:pt x="11386924" y="262453"/>
                  </a:lnTo>
                  <a:lnTo>
                    <a:pt x="11401013" y="252952"/>
                  </a:lnTo>
                  <a:lnTo>
                    <a:pt x="11410514" y="238859"/>
                  </a:lnTo>
                  <a:lnTo>
                    <a:pt x="11413998" y="221602"/>
                  </a:lnTo>
                  <a:lnTo>
                    <a:pt x="11413998" y="44322"/>
                  </a:lnTo>
                  <a:lnTo>
                    <a:pt x="11410514" y="27067"/>
                  </a:lnTo>
                  <a:lnTo>
                    <a:pt x="11401013" y="12979"/>
                  </a:lnTo>
                  <a:lnTo>
                    <a:pt x="11386924" y="3482"/>
                  </a:lnTo>
                  <a:lnTo>
                    <a:pt x="1136967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41"/>
            <p:cNvSpPr/>
            <p:nvPr/>
          </p:nvSpPr>
          <p:spPr>
            <a:xfrm>
              <a:off x="404240" y="3948306"/>
              <a:ext cx="11414125" cy="266065"/>
            </a:xfrm>
            <a:custGeom>
              <a:avLst/>
              <a:gdLst/>
              <a:ahLst/>
              <a:cxnLst/>
              <a:rect l="l" t="t" r="r" b="b"/>
              <a:pathLst>
                <a:path w="11414125" h="266064">
                  <a:moveTo>
                    <a:pt x="0" y="44322"/>
                  </a:moveTo>
                  <a:lnTo>
                    <a:pt x="3483" y="27067"/>
                  </a:lnTo>
                  <a:lnTo>
                    <a:pt x="12984" y="12979"/>
                  </a:lnTo>
                  <a:lnTo>
                    <a:pt x="27073" y="3482"/>
                  </a:lnTo>
                  <a:lnTo>
                    <a:pt x="44323" y="0"/>
                  </a:lnTo>
                  <a:lnTo>
                    <a:pt x="11369675" y="0"/>
                  </a:lnTo>
                  <a:lnTo>
                    <a:pt x="11386924" y="3482"/>
                  </a:lnTo>
                  <a:lnTo>
                    <a:pt x="11401013" y="12979"/>
                  </a:lnTo>
                  <a:lnTo>
                    <a:pt x="11410514" y="27067"/>
                  </a:lnTo>
                  <a:lnTo>
                    <a:pt x="11413998" y="44322"/>
                  </a:lnTo>
                  <a:lnTo>
                    <a:pt x="11413998" y="221602"/>
                  </a:lnTo>
                  <a:lnTo>
                    <a:pt x="11410514" y="238859"/>
                  </a:lnTo>
                  <a:lnTo>
                    <a:pt x="11401013" y="252952"/>
                  </a:lnTo>
                  <a:lnTo>
                    <a:pt x="11386924" y="262453"/>
                  </a:lnTo>
                  <a:lnTo>
                    <a:pt x="11369675" y="265937"/>
                  </a:lnTo>
                  <a:lnTo>
                    <a:pt x="44323" y="265937"/>
                  </a:lnTo>
                  <a:lnTo>
                    <a:pt x="27073" y="262453"/>
                  </a:lnTo>
                  <a:lnTo>
                    <a:pt x="12984" y="252952"/>
                  </a:lnTo>
                  <a:lnTo>
                    <a:pt x="3483" y="238859"/>
                  </a:lnTo>
                  <a:lnTo>
                    <a:pt x="0" y="221602"/>
                  </a:lnTo>
                  <a:lnTo>
                    <a:pt x="0" y="44322"/>
                  </a:lnTo>
                  <a:close/>
                </a:path>
              </a:pathLst>
            </a:custGeom>
            <a:ln w="9524">
              <a:solidFill>
                <a:srgbClr val="211F1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2" name="object 42"/>
          <p:cNvSpPr txBox="1"/>
          <p:nvPr/>
        </p:nvSpPr>
        <p:spPr>
          <a:xfrm>
            <a:off x="410745" y="3939145"/>
            <a:ext cx="11401425" cy="269875"/>
          </a:xfrm>
          <a:prstGeom prst="rect">
            <a:avLst/>
          </a:prstGeom>
        </p:spPr>
        <p:txBody>
          <a:bodyPr vert="horz" wrap="square" lIns="0" tIns="12700" rIns="0" bIns="0" rtlCol="0">
            <a:spAutoFit/>
          </a:bodyPr>
          <a:lstStyle/>
          <a:p>
            <a:pPr marL="368300" marR="0" lvl="0" indent="0" defTabSz="914400" eaLnBrk="1" fontAlgn="auto" latinLnBrk="0" hangingPunct="1">
              <a:lnSpc>
                <a:spcPct val="100000"/>
              </a:lnSpc>
              <a:spcBef>
                <a:spcPts val="100"/>
              </a:spcBef>
              <a:spcAft>
                <a:spcPts val="0"/>
              </a:spcAft>
              <a:buClrTx/>
              <a:buSzTx/>
              <a:buFontTx/>
              <a:buNone/>
              <a:tabLst/>
              <a:defRPr/>
            </a:pPr>
            <a:r>
              <a:rPr kumimoji="0" sz="1600" b="1" i="0" u="none" strike="noStrike" kern="0" cap="none" spc="0" normalizeH="0" baseline="0" noProof="0" dirty="0">
                <a:ln>
                  <a:noFill/>
                </a:ln>
                <a:solidFill>
                  <a:srgbClr val="FFFFFF"/>
                </a:solidFill>
                <a:effectLst/>
                <a:uLnTx/>
                <a:uFillTx/>
                <a:latin typeface="Arial"/>
                <a:cs typeface="Arial"/>
              </a:rPr>
              <a:t>USACE</a:t>
            </a:r>
            <a:r>
              <a:rPr kumimoji="0" sz="1600" b="1" i="0" u="none" strike="noStrike" kern="0" cap="none" spc="-3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Has</a:t>
            </a:r>
            <a:r>
              <a:rPr kumimoji="0" sz="1600" b="1" i="0" u="none" strike="noStrike" kern="0" cap="none" spc="-4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a</a:t>
            </a:r>
            <a:r>
              <a:rPr kumimoji="0" sz="1600" b="1" i="0" u="none" strike="noStrike" kern="0" cap="none" spc="-2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Globally</a:t>
            </a:r>
            <a:r>
              <a:rPr kumimoji="0" sz="1600" b="1" i="0" u="none" strike="noStrike" kern="0" cap="none" spc="-1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Diverse</a:t>
            </a:r>
            <a:r>
              <a:rPr kumimoji="0" sz="1600" b="1" i="0" u="none" strike="noStrike" kern="0" cap="none" spc="-3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Mission</a:t>
            </a:r>
            <a:r>
              <a:rPr kumimoji="0" sz="1600" b="1" i="0" u="none" strike="noStrike" kern="0" cap="none" spc="-1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Set</a:t>
            </a:r>
            <a:r>
              <a:rPr kumimoji="0" sz="1600" b="1" i="0" u="none" strike="noStrike" kern="0" cap="none" spc="-2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Driven</a:t>
            </a:r>
            <a:r>
              <a:rPr kumimoji="0" sz="1600" b="1" i="0" u="none" strike="noStrike" kern="0" cap="none" spc="-3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by</a:t>
            </a:r>
            <a:r>
              <a:rPr kumimoji="0" sz="1600" b="1" i="0" u="none" strike="noStrike" kern="0" cap="none" spc="-3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Diverse</a:t>
            </a:r>
            <a:r>
              <a:rPr kumimoji="0" sz="1600" b="1" i="0" u="none" strike="noStrike" kern="0" cap="none" spc="-2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Customers</a:t>
            </a:r>
            <a:r>
              <a:rPr kumimoji="0" sz="1600" b="1" i="0" u="none" strike="noStrike" kern="0" cap="none" spc="-3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in</a:t>
            </a:r>
            <a:r>
              <a:rPr kumimoji="0" sz="1600" b="1" i="0" u="none" strike="noStrike" kern="0" cap="none" spc="-1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Support</a:t>
            </a:r>
            <a:r>
              <a:rPr kumimoji="0" sz="1600" b="1" i="0" u="none" strike="noStrike" kern="0" cap="none" spc="-3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of</a:t>
            </a:r>
            <a:r>
              <a:rPr kumimoji="0" sz="1600" b="1" i="0" u="none" strike="noStrike" kern="0" cap="none" spc="-2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the</a:t>
            </a:r>
            <a:r>
              <a:rPr kumimoji="0" sz="1600" b="1" i="0" u="none" strike="noStrike" kern="0" cap="none" spc="-25"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DoD</a:t>
            </a:r>
            <a:r>
              <a:rPr kumimoji="0" sz="1600" b="1" i="0" u="none" strike="noStrike" kern="0" cap="none" spc="-4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and</a:t>
            </a:r>
            <a:r>
              <a:rPr kumimoji="0" sz="1600" b="1" i="0" u="none" strike="noStrike" kern="0" cap="none" spc="-30" normalizeH="0" baseline="0" noProof="0" dirty="0">
                <a:ln>
                  <a:noFill/>
                </a:ln>
                <a:solidFill>
                  <a:srgbClr val="FFFFFF"/>
                </a:solidFill>
                <a:effectLst/>
                <a:uLnTx/>
                <a:uFillTx/>
                <a:latin typeface="Arial"/>
                <a:cs typeface="Arial"/>
              </a:rPr>
              <a:t> </a:t>
            </a:r>
            <a:r>
              <a:rPr kumimoji="0" sz="1600" b="1" i="0" u="none" strike="noStrike" kern="0" cap="none" spc="0" normalizeH="0" baseline="0" noProof="0" dirty="0">
                <a:ln>
                  <a:noFill/>
                </a:ln>
                <a:solidFill>
                  <a:srgbClr val="FFFFFF"/>
                </a:solidFill>
                <a:effectLst/>
                <a:uLnTx/>
                <a:uFillTx/>
                <a:latin typeface="Arial"/>
                <a:cs typeface="Arial"/>
              </a:rPr>
              <a:t>the</a:t>
            </a:r>
            <a:r>
              <a:rPr kumimoji="0" sz="1600" b="1" i="0" u="none" strike="noStrike" kern="0" cap="none" spc="-25" normalizeH="0" baseline="0" noProof="0" dirty="0">
                <a:ln>
                  <a:noFill/>
                </a:ln>
                <a:solidFill>
                  <a:srgbClr val="FFFFFF"/>
                </a:solidFill>
                <a:effectLst/>
                <a:uLnTx/>
                <a:uFillTx/>
                <a:latin typeface="Arial"/>
                <a:cs typeface="Arial"/>
              </a:rPr>
              <a:t> </a:t>
            </a:r>
            <a:r>
              <a:rPr kumimoji="0" sz="1600" b="1" i="0" u="none" strike="noStrike" kern="0" cap="none" spc="-10" normalizeH="0" baseline="0" noProof="0" dirty="0">
                <a:ln>
                  <a:noFill/>
                </a:ln>
                <a:solidFill>
                  <a:srgbClr val="FFFFFF"/>
                </a:solidFill>
                <a:effectLst/>
                <a:uLnTx/>
                <a:uFillTx/>
                <a:latin typeface="Arial"/>
                <a:cs typeface="Arial"/>
              </a:rPr>
              <a:t>Nation</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pSp>
        <p:nvGrpSpPr>
          <p:cNvPr id="43" name="object 43"/>
          <p:cNvGrpSpPr/>
          <p:nvPr/>
        </p:nvGrpSpPr>
        <p:grpSpPr>
          <a:xfrm>
            <a:off x="6157721" y="4261865"/>
            <a:ext cx="5660390" cy="2294890"/>
            <a:chOff x="6157721" y="4261865"/>
            <a:chExt cx="5660390" cy="2294890"/>
          </a:xfrm>
        </p:grpSpPr>
        <p:pic>
          <p:nvPicPr>
            <p:cNvPr id="44" name="object 44"/>
            <p:cNvPicPr/>
            <p:nvPr/>
          </p:nvPicPr>
          <p:blipFill>
            <a:blip r:embed="rId15" cstate="print"/>
            <a:stretch>
              <a:fillRect/>
            </a:stretch>
          </p:blipFill>
          <p:spPr>
            <a:xfrm>
              <a:off x="9060941" y="5651753"/>
              <a:ext cx="2756915" cy="904493"/>
            </a:xfrm>
            <a:prstGeom prst="rect">
              <a:avLst/>
            </a:prstGeom>
          </p:spPr>
        </p:pic>
        <p:sp>
          <p:nvSpPr>
            <p:cNvPr id="45" name="object 45"/>
            <p:cNvSpPr/>
            <p:nvPr/>
          </p:nvSpPr>
          <p:spPr>
            <a:xfrm>
              <a:off x="6159245" y="4624581"/>
              <a:ext cx="2755900" cy="1907539"/>
            </a:xfrm>
            <a:custGeom>
              <a:avLst/>
              <a:gdLst/>
              <a:ahLst/>
              <a:cxnLst/>
              <a:rect l="l" t="t" r="r" b="b"/>
              <a:pathLst>
                <a:path w="2755900" h="1907540">
                  <a:moveTo>
                    <a:pt x="2646032" y="0"/>
                  </a:moveTo>
                  <a:lnTo>
                    <a:pt x="109359" y="0"/>
                  </a:lnTo>
                  <a:lnTo>
                    <a:pt x="66790" y="8593"/>
                  </a:lnTo>
                  <a:lnTo>
                    <a:pt x="32029" y="32029"/>
                  </a:lnTo>
                  <a:lnTo>
                    <a:pt x="8593" y="66790"/>
                  </a:lnTo>
                  <a:lnTo>
                    <a:pt x="0" y="109359"/>
                  </a:lnTo>
                  <a:lnTo>
                    <a:pt x="0" y="1797913"/>
                  </a:lnTo>
                  <a:lnTo>
                    <a:pt x="8593" y="1840484"/>
                  </a:lnTo>
                  <a:lnTo>
                    <a:pt x="32029" y="1875250"/>
                  </a:lnTo>
                  <a:lnTo>
                    <a:pt x="66790" y="1898690"/>
                  </a:lnTo>
                  <a:lnTo>
                    <a:pt x="109359" y="1907285"/>
                  </a:lnTo>
                  <a:lnTo>
                    <a:pt x="2646032" y="1907285"/>
                  </a:lnTo>
                  <a:lnTo>
                    <a:pt x="2688601" y="1898690"/>
                  </a:lnTo>
                  <a:lnTo>
                    <a:pt x="2723362" y="1875250"/>
                  </a:lnTo>
                  <a:lnTo>
                    <a:pt x="2746798" y="1840484"/>
                  </a:lnTo>
                  <a:lnTo>
                    <a:pt x="2755392" y="1797913"/>
                  </a:lnTo>
                  <a:lnTo>
                    <a:pt x="2755392" y="109359"/>
                  </a:lnTo>
                  <a:lnTo>
                    <a:pt x="2746798" y="66790"/>
                  </a:lnTo>
                  <a:lnTo>
                    <a:pt x="2723362" y="32029"/>
                  </a:lnTo>
                  <a:lnTo>
                    <a:pt x="2688601" y="8593"/>
                  </a:lnTo>
                  <a:lnTo>
                    <a:pt x="2646032" y="0"/>
                  </a:lnTo>
                  <a:close/>
                </a:path>
              </a:pathLst>
            </a:custGeom>
            <a:solidFill>
              <a:srgbClr val="D7D7D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6" name="object 46"/>
            <p:cNvPicPr/>
            <p:nvPr/>
          </p:nvPicPr>
          <p:blipFill>
            <a:blip r:embed="rId16" cstate="print"/>
            <a:stretch>
              <a:fillRect/>
            </a:stretch>
          </p:blipFill>
          <p:spPr>
            <a:xfrm>
              <a:off x="6157721" y="4261865"/>
              <a:ext cx="2747009" cy="613409"/>
            </a:xfrm>
            <a:prstGeom prst="rect">
              <a:avLst/>
            </a:prstGeom>
          </p:spPr>
        </p:pic>
      </p:grpSp>
      <p:sp>
        <p:nvSpPr>
          <p:cNvPr id="47" name="object 47"/>
          <p:cNvSpPr txBox="1"/>
          <p:nvPr/>
        </p:nvSpPr>
        <p:spPr>
          <a:xfrm>
            <a:off x="6270149" y="4428256"/>
            <a:ext cx="2634581" cy="1128514"/>
          </a:xfrm>
          <a:prstGeom prst="rect">
            <a:avLst/>
          </a:prstGeom>
        </p:spPr>
        <p:txBody>
          <a:bodyPr vert="horz" wrap="square" lIns="0" tIns="12700" rIns="0" bIns="0" rtlCol="0">
            <a:spAutoFit/>
          </a:bodyPr>
          <a:lstStyle/>
          <a:p>
            <a:pPr marL="663575" marR="0" lvl="0" indent="0" defTabSz="914400" eaLnBrk="1" fontAlgn="auto" latinLnBrk="0" hangingPunct="1">
              <a:lnSpc>
                <a:spcPct val="100000"/>
              </a:lnSpc>
              <a:spcBef>
                <a:spcPts val="100"/>
              </a:spcBef>
              <a:spcAft>
                <a:spcPts val="0"/>
              </a:spcAft>
              <a:buClrTx/>
              <a:buSzTx/>
              <a:buFontTx/>
              <a:buNone/>
              <a:tabLst/>
              <a:defRPr/>
            </a:pPr>
            <a:r>
              <a:rPr kumimoji="0" lang="en-US" sz="1800" b="1" i="0" u="none" strike="noStrike" kern="0" cap="none" spc="-10" normalizeH="0" baseline="0" noProof="0" dirty="0" err="1">
                <a:ln>
                  <a:noFill/>
                </a:ln>
                <a:solidFill>
                  <a:srgbClr val="FFFFFF"/>
                </a:solidFill>
                <a:effectLst/>
                <a:uLnTx/>
                <a:uFillTx/>
                <a:latin typeface="Arial"/>
                <a:cs typeface="Arial"/>
              </a:rPr>
              <a:t>Normativa</a:t>
            </a:r>
            <a:endParaRPr kumimoji="0" sz="18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1535"/>
              </a:spcBef>
              <a:spcAft>
                <a:spcPts val="0"/>
              </a:spcAft>
              <a:buClrTx/>
              <a:buSzTx/>
              <a:buFontTx/>
              <a:buChar char="•"/>
              <a:tabLst>
                <a:tab pos="129539" algn="l"/>
              </a:tabLst>
              <a:defRPr/>
            </a:pPr>
            <a:r>
              <a:rPr kumimoji="0" lang="en-US" sz="1400" b="0" i="0" u="none" strike="noStrike" kern="0" cap="none" spc="0" normalizeH="0" baseline="0" noProof="0" dirty="0">
                <a:ln>
                  <a:noFill/>
                </a:ln>
                <a:solidFill>
                  <a:srgbClr val="211F1F"/>
                </a:solidFill>
                <a:effectLst/>
                <a:uLnTx/>
                <a:uFillTx/>
                <a:latin typeface="Arial"/>
                <a:cs typeface="Arial"/>
              </a:rPr>
              <a:t>Regular las </a:t>
            </a:r>
            <a:r>
              <a:rPr kumimoji="0" lang="en-US" sz="1400" b="0" i="0" u="none" strike="noStrike" kern="0" cap="none" spc="0" normalizeH="0" baseline="0" noProof="0" dirty="0" err="1">
                <a:ln>
                  <a:noFill/>
                </a:ln>
                <a:solidFill>
                  <a:srgbClr val="211F1F"/>
                </a:solidFill>
                <a:effectLst/>
                <a:uLnTx/>
                <a:uFillTx/>
                <a:latin typeface="Arial"/>
                <a:cs typeface="Arial"/>
              </a:rPr>
              <a:t>aguas</a:t>
            </a:r>
            <a:r>
              <a:rPr kumimoji="0" lang="en-US" sz="1400" b="0" i="0" u="none" strike="noStrike" kern="0" cap="none" spc="0" normalizeH="0" baseline="0" noProof="0" dirty="0">
                <a:ln>
                  <a:noFill/>
                </a:ln>
                <a:solidFill>
                  <a:srgbClr val="211F1F"/>
                </a:solidFill>
                <a:effectLst/>
                <a:uLnTx/>
                <a:uFillTx/>
                <a:latin typeface="Arial"/>
                <a:cs typeface="Arial"/>
              </a:rPr>
              <a:t> de </a:t>
            </a:r>
            <a:r>
              <a:rPr kumimoji="0" sz="1400" b="0" i="0" u="none" strike="noStrike" kern="0" cap="none" spc="-20" normalizeH="0" baseline="0" noProof="0" dirty="0">
                <a:ln>
                  <a:noFill/>
                </a:ln>
                <a:solidFill>
                  <a:srgbClr val="211F1F"/>
                </a:solidFill>
                <a:effectLst/>
                <a:uLnTx/>
                <a:uFillTx/>
                <a:latin typeface="Arial"/>
                <a:cs typeface="Arial"/>
              </a:rPr>
              <a:t>U.S.</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sz="1400" b="0" i="0" u="none" strike="noStrike" kern="0" cap="none" spc="0" normalizeH="0" baseline="0" noProof="0" dirty="0" err="1">
                <a:ln>
                  <a:noFill/>
                </a:ln>
                <a:solidFill>
                  <a:srgbClr val="211F1F"/>
                </a:solidFill>
                <a:effectLst/>
                <a:uLnTx/>
                <a:uFillTx/>
                <a:latin typeface="Arial"/>
                <a:cs typeface="Arial"/>
              </a:rPr>
              <a:t>Sec</a:t>
            </a:r>
            <a:r>
              <a:rPr kumimoji="0" lang="en-US" sz="1400" b="0" i="0" u="none" strike="noStrike" kern="0" cap="none" spc="0" normalizeH="0" baseline="0" noProof="0" dirty="0" err="1">
                <a:ln>
                  <a:noFill/>
                </a:ln>
                <a:solidFill>
                  <a:srgbClr val="211F1F"/>
                </a:solidFill>
                <a:effectLst/>
                <a:uLnTx/>
                <a:uFillTx/>
                <a:latin typeface="Arial"/>
                <a:cs typeface="Arial"/>
              </a:rPr>
              <a:t>cion</a:t>
            </a:r>
            <a:r>
              <a:rPr kumimoji="0" sz="1400" b="0" i="0" u="none" strike="noStrike" kern="0" cap="none" spc="-20" normalizeH="0" baseline="0" noProof="0" dirty="0">
                <a:ln>
                  <a:noFill/>
                </a:ln>
                <a:solidFill>
                  <a:srgbClr val="211F1F"/>
                </a:solidFill>
                <a:effectLst/>
                <a:uLnTx/>
                <a:uFillTx/>
                <a:latin typeface="Arial"/>
                <a:cs typeface="Arial"/>
              </a:rPr>
              <a:t> </a:t>
            </a:r>
            <a:r>
              <a:rPr kumimoji="0" sz="1400" b="0" i="0" u="none" strike="noStrike" kern="0" cap="none" spc="0" normalizeH="0" baseline="0" noProof="0" dirty="0">
                <a:ln>
                  <a:noFill/>
                </a:ln>
                <a:solidFill>
                  <a:srgbClr val="211F1F"/>
                </a:solidFill>
                <a:effectLst/>
                <a:uLnTx/>
                <a:uFillTx/>
                <a:latin typeface="Arial"/>
                <a:cs typeface="Arial"/>
              </a:rPr>
              <a:t>404</a:t>
            </a:r>
            <a:r>
              <a:rPr kumimoji="0" sz="1400" b="0" i="0" u="none" strike="noStrike" kern="0" cap="none" spc="-20" normalizeH="0" baseline="0" noProof="0" dirty="0">
                <a:ln>
                  <a:noFill/>
                </a:ln>
                <a:solidFill>
                  <a:srgbClr val="211F1F"/>
                </a:solidFill>
                <a:effectLst/>
                <a:uLnTx/>
                <a:uFillTx/>
                <a:latin typeface="Arial"/>
                <a:cs typeface="Arial"/>
              </a:rPr>
              <a:t> </a:t>
            </a:r>
            <a:r>
              <a:rPr kumimoji="0" sz="1400" b="0" i="0" u="none" strike="noStrike" kern="0" cap="none" spc="0" normalizeH="0" baseline="0" noProof="0" dirty="0">
                <a:ln>
                  <a:noFill/>
                </a:ln>
                <a:solidFill>
                  <a:srgbClr val="211F1F"/>
                </a:solidFill>
                <a:effectLst/>
                <a:uLnTx/>
                <a:uFillTx/>
                <a:latin typeface="Arial"/>
                <a:cs typeface="Arial"/>
              </a:rPr>
              <a:t>&amp;</a:t>
            </a:r>
            <a:r>
              <a:rPr kumimoji="0" sz="1400" b="0" i="0" u="none" strike="noStrike" kern="0" cap="none" spc="-10" normalizeH="0" baseline="0" noProof="0" dirty="0">
                <a:ln>
                  <a:noFill/>
                </a:ln>
                <a:solidFill>
                  <a:srgbClr val="211F1F"/>
                </a:solidFill>
                <a:effectLst/>
                <a:uLnTx/>
                <a:uFillTx/>
                <a:latin typeface="Arial"/>
                <a:cs typeface="Arial"/>
              </a:rPr>
              <a:t> </a:t>
            </a:r>
            <a:r>
              <a:rPr kumimoji="0" sz="1400" b="0" i="0" u="none" strike="noStrike" kern="0" cap="none" spc="0" normalizeH="0" baseline="0" noProof="0" dirty="0">
                <a:ln>
                  <a:noFill/>
                </a:ln>
                <a:solidFill>
                  <a:srgbClr val="211F1F"/>
                </a:solidFill>
                <a:effectLst/>
                <a:uLnTx/>
                <a:uFillTx/>
                <a:latin typeface="Arial"/>
                <a:cs typeface="Arial"/>
              </a:rPr>
              <a:t>10</a:t>
            </a:r>
            <a:r>
              <a:rPr kumimoji="0" sz="1400" b="0" i="0" u="none" strike="noStrike" kern="0" cap="none" spc="-15" normalizeH="0" baseline="0" noProof="0" dirty="0">
                <a:ln>
                  <a:noFill/>
                </a:ln>
                <a:solidFill>
                  <a:srgbClr val="211F1F"/>
                </a:solidFill>
                <a:effectLst/>
                <a:uLnTx/>
                <a:uFillTx/>
                <a:latin typeface="Arial"/>
                <a:cs typeface="Arial"/>
              </a:rPr>
              <a:t> </a:t>
            </a:r>
            <a:r>
              <a:rPr kumimoji="0" sz="1400" b="0" i="0" u="none" strike="noStrike" kern="0" cap="none" spc="-10" normalizeH="0" baseline="0" noProof="0" dirty="0" err="1">
                <a:ln>
                  <a:noFill/>
                </a:ln>
                <a:solidFill>
                  <a:srgbClr val="211F1F"/>
                </a:solidFill>
                <a:effectLst/>
                <a:uLnTx/>
                <a:uFillTx/>
                <a:latin typeface="Arial"/>
                <a:cs typeface="Arial"/>
              </a:rPr>
              <a:t>Program</a:t>
            </a:r>
            <a:r>
              <a:rPr kumimoji="0" lang="en-US" sz="1400" b="0" i="0" u="none" strike="noStrike" kern="0" cap="none" spc="-10" normalizeH="0" baseline="0" noProof="0" dirty="0" err="1">
                <a:ln>
                  <a:noFill/>
                </a:ln>
                <a:solidFill>
                  <a:srgbClr val="211F1F"/>
                </a:solidFill>
                <a:effectLst/>
                <a:uLnTx/>
                <a:uFillTx/>
                <a:latin typeface="Arial"/>
                <a:cs typeface="Arial"/>
              </a:rPr>
              <a:t>a</a:t>
            </a:r>
            <a:r>
              <a:rPr kumimoji="0" sz="1400" b="0" i="0" u="none" strike="noStrike" kern="0" cap="none" spc="-10" normalizeH="0" baseline="0" noProof="0" dirty="0" err="1">
                <a:ln>
                  <a:noFill/>
                </a:ln>
                <a:solidFill>
                  <a:srgbClr val="211F1F"/>
                </a:solidFill>
                <a:effectLst/>
                <a:uLnTx/>
                <a:uFillTx/>
                <a:latin typeface="Arial"/>
                <a:cs typeface="Arial"/>
              </a:rPr>
              <a:t>s</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0"/>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Permisos</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nacionales</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pic>
        <p:nvPicPr>
          <p:cNvPr id="48" name="object 48"/>
          <p:cNvPicPr/>
          <p:nvPr/>
        </p:nvPicPr>
        <p:blipFill>
          <a:blip r:embed="rId17" cstate="print"/>
          <a:stretch>
            <a:fillRect/>
          </a:stretch>
        </p:blipFill>
        <p:spPr>
          <a:xfrm>
            <a:off x="6156960" y="5676900"/>
            <a:ext cx="2773679" cy="876299"/>
          </a:xfrm>
          <a:prstGeom prst="rect">
            <a:avLst/>
          </a:prstGeom>
        </p:spPr>
      </p:pic>
      <p:sp>
        <p:nvSpPr>
          <p:cNvPr id="13" name="object 13"/>
          <p:cNvSpPr txBox="1"/>
          <p:nvPr/>
        </p:nvSpPr>
        <p:spPr>
          <a:xfrm>
            <a:off x="515088" y="1323750"/>
            <a:ext cx="2495318" cy="1572225"/>
          </a:xfrm>
          <a:prstGeom prst="rect">
            <a:avLst/>
          </a:prstGeom>
        </p:spPr>
        <p:txBody>
          <a:bodyPr vert="horz" wrap="square" lIns="0" tIns="12700" rIns="0" bIns="0" rtlCol="0">
            <a:spAutoFit/>
          </a:bodyPr>
          <a:lstStyle/>
          <a:p>
            <a:pPr marL="287020" marR="0" lvl="0" indent="0" defTabSz="914400" eaLnBrk="1" fontAlgn="auto" latinLnBrk="0" hangingPunct="1">
              <a:lnSpc>
                <a:spcPct val="100000"/>
              </a:lnSpc>
              <a:spcBef>
                <a:spcPts val="100"/>
              </a:spcBef>
              <a:spcAft>
                <a:spcPts val="0"/>
              </a:spcAft>
              <a:buClrTx/>
              <a:buSzTx/>
              <a:buFontTx/>
              <a:buNone/>
              <a:tabLst/>
              <a:defRPr/>
            </a:pPr>
            <a:r>
              <a:rPr kumimoji="0" lang="en-US" sz="1800" b="1" i="0" u="none" strike="noStrike" kern="0" cap="none" spc="0" normalizeH="0" baseline="0" noProof="0" dirty="0" err="1">
                <a:ln>
                  <a:noFill/>
                </a:ln>
                <a:solidFill>
                  <a:srgbClr val="FFFFFF"/>
                </a:solidFill>
                <a:effectLst/>
                <a:uLnTx/>
                <a:uFillTx/>
                <a:latin typeface="Arial"/>
                <a:cs typeface="Arial"/>
              </a:rPr>
              <a:t>Programa</a:t>
            </a:r>
            <a:r>
              <a:rPr kumimoji="0" lang="en-US" sz="1800" b="1" i="0" u="none" strike="noStrike" kern="0" cap="none" spc="0" normalizeH="0" baseline="0" noProof="0" dirty="0">
                <a:ln>
                  <a:noFill/>
                </a:ln>
                <a:solidFill>
                  <a:srgbClr val="FFFFFF"/>
                </a:solidFill>
                <a:effectLst/>
                <a:uLnTx/>
                <a:uFillTx/>
                <a:latin typeface="Arial"/>
                <a:cs typeface="Arial"/>
              </a:rPr>
              <a:t> </a:t>
            </a:r>
            <a:r>
              <a:rPr kumimoji="0" lang="en-US" sz="1800" b="1" i="0" u="none" strike="noStrike" kern="0" cap="none" spc="0" normalizeH="0" baseline="0" noProof="0" dirty="0" err="1">
                <a:ln>
                  <a:noFill/>
                </a:ln>
                <a:solidFill>
                  <a:srgbClr val="FFFFFF"/>
                </a:solidFill>
                <a:effectLst/>
                <a:uLnTx/>
                <a:uFillTx/>
                <a:latin typeface="Arial"/>
                <a:cs typeface="Arial"/>
              </a:rPr>
              <a:t>militar</a:t>
            </a:r>
            <a:endParaRPr kumimoji="0" sz="1800" b="0" i="0" u="none" strike="noStrike" kern="0" cap="none" spc="0" normalizeH="0" baseline="0" noProof="0" dirty="0">
              <a:ln>
                <a:noFill/>
              </a:ln>
              <a:solidFill>
                <a:sysClr val="windowText" lastClr="000000"/>
              </a:solidFill>
              <a:effectLst/>
              <a:uLnTx/>
              <a:uFillTx/>
              <a:latin typeface="Arial"/>
              <a:cs typeface="Arial"/>
            </a:endParaRPr>
          </a:p>
          <a:p>
            <a:pPr marL="129539" marR="0" lvl="0" indent="-116839" defTabSz="914400" eaLnBrk="1" fontAlgn="auto" latinLnBrk="0" hangingPunct="1">
              <a:lnSpc>
                <a:spcPct val="100000"/>
              </a:lnSpc>
              <a:spcBef>
                <a:spcPts val="1595"/>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Construcción</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militar</a:t>
            </a:r>
            <a:endParaRPr kumimoji="0" lang="en-US" sz="1400" b="0" i="0" u="none" strike="noStrike" kern="0" cap="none" spc="0" normalizeH="0" baseline="0" noProof="0" dirty="0">
              <a:ln>
                <a:noFill/>
              </a:ln>
              <a:solidFill>
                <a:sysClr val="windowText" lastClr="000000"/>
              </a:solidFill>
              <a:effectLst/>
              <a:uLnTx/>
              <a:uFillTx/>
              <a:latin typeface="Arial"/>
              <a:cs typeface="Arial"/>
            </a:endParaRPr>
          </a:p>
          <a:p>
            <a:pPr marL="130175" marR="5080" lvl="0" indent="-117475" defTabSz="914400" eaLnBrk="1" fontAlgn="auto" latinLnBrk="0" hangingPunct="1">
              <a:lnSpc>
                <a:spcPct val="100000"/>
              </a:lnSpc>
              <a:spcBef>
                <a:spcPts val="0"/>
              </a:spcBef>
              <a:spcAft>
                <a:spcPts val="0"/>
              </a:spcAft>
              <a:buClrTx/>
              <a:buSzTx/>
              <a:buFontTx/>
              <a:buChar char="•"/>
              <a:tabLst>
                <a:tab pos="130175"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Apoyo</a:t>
            </a:r>
            <a:r>
              <a:rPr kumimoji="0" lang="en-US" sz="1400" b="0" i="0" u="none" strike="noStrike" kern="0" cap="none" spc="0" normalizeH="0" baseline="0" noProof="0" dirty="0">
                <a:ln>
                  <a:noFill/>
                </a:ln>
                <a:solidFill>
                  <a:srgbClr val="211F1F"/>
                </a:solidFill>
                <a:effectLst/>
                <a:uLnTx/>
                <a:uFillTx/>
                <a:latin typeface="Arial"/>
                <a:cs typeface="Arial"/>
              </a:rPr>
              <a:t> COCOM</a:t>
            </a:r>
            <a:r>
              <a:rPr kumimoji="0" lang="en-US" sz="1400" b="0" i="0" u="none" strike="noStrike" kern="0" cap="none" spc="-10" normalizeH="0" baseline="0" noProof="0" dirty="0">
                <a:ln>
                  <a:noFill/>
                </a:ln>
                <a:solidFill>
                  <a:srgbClr val="211F1F"/>
                </a:solidFill>
                <a:effectLst/>
                <a:uLnTx/>
                <a:uFillTx/>
                <a:latin typeface="Arial"/>
                <a:cs typeface="Arial"/>
              </a:rPr>
              <a:t>, </a:t>
            </a:r>
            <a:r>
              <a:rPr kumimoji="0" lang="en-US" sz="1400" b="0" i="0" u="none" strike="noStrike" kern="0" cap="none" spc="-10" normalizeH="0" baseline="0" noProof="0" dirty="0" err="1">
                <a:ln>
                  <a:noFill/>
                </a:ln>
                <a:solidFill>
                  <a:srgbClr val="211F1F"/>
                </a:solidFill>
                <a:effectLst/>
                <a:uLnTx/>
                <a:uFillTx/>
                <a:latin typeface="Arial"/>
                <a:cs typeface="Arial"/>
              </a:rPr>
              <a:t>Operaciones</a:t>
            </a:r>
            <a:r>
              <a:rPr kumimoji="0" lang="en-US" sz="1400" b="0" i="0" u="none" strike="noStrike" kern="0" cap="none" spc="-10" normalizeH="0" baseline="0" noProof="0" dirty="0">
                <a:ln>
                  <a:noFill/>
                </a:ln>
                <a:solidFill>
                  <a:srgbClr val="211F1F"/>
                </a:solidFill>
                <a:effectLst/>
                <a:uLnTx/>
                <a:uFillTx/>
                <a:latin typeface="Arial"/>
                <a:cs typeface="Arial"/>
              </a:rPr>
              <a:t> de </a:t>
            </a:r>
            <a:r>
              <a:rPr kumimoji="0" lang="en-US" sz="1400" b="0" i="0" u="none" strike="noStrike" kern="0" cap="none" spc="-10" normalizeH="0" baseline="0" noProof="0" dirty="0" err="1">
                <a:ln>
                  <a:noFill/>
                </a:ln>
                <a:solidFill>
                  <a:srgbClr val="211F1F"/>
                </a:solidFill>
                <a:effectLst/>
                <a:uLnTx/>
                <a:uFillTx/>
                <a:latin typeface="Arial"/>
                <a:cs typeface="Arial"/>
              </a:rPr>
              <a:t>contingencia</a:t>
            </a:r>
            <a:r>
              <a:rPr kumimoji="0" lang="en-US" sz="1400" b="0" i="0" u="none" strike="noStrike" kern="0" cap="none" spc="-10" normalizeH="0" baseline="0" noProof="0" dirty="0">
                <a:ln>
                  <a:noFill/>
                </a:ln>
                <a:solidFill>
                  <a:srgbClr val="211F1F"/>
                </a:solidFill>
                <a:effectLst/>
                <a:uLnTx/>
                <a:uFillTx/>
                <a:latin typeface="Arial"/>
                <a:cs typeface="Arial"/>
              </a:rPr>
              <a:t> (OCO)</a:t>
            </a:r>
            <a:endParaRPr kumimoji="0" lang="en-US" sz="1400" b="0" i="0" u="none" strike="noStrike" kern="0" cap="none" spc="0" normalizeH="0" baseline="0" noProof="0" dirty="0">
              <a:ln>
                <a:noFill/>
              </a:ln>
              <a:solidFill>
                <a:sysClr val="windowText" lastClr="000000"/>
              </a:solidFill>
              <a:effectLst/>
              <a:uLnTx/>
              <a:uFillTx/>
              <a:latin typeface="Arial"/>
              <a:cs typeface="Arial"/>
            </a:endParaRPr>
          </a:p>
          <a:p>
            <a:pPr marL="129539" marR="83820" lvl="0" indent="-117475" defTabSz="914400" eaLnBrk="1" fontAlgn="auto" latinLnBrk="0" hangingPunct="1">
              <a:lnSpc>
                <a:spcPct val="100000"/>
              </a:lnSpc>
              <a:spcBef>
                <a:spcPts val="5"/>
              </a:spcBef>
              <a:spcAft>
                <a:spcPts val="0"/>
              </a:spcAft>
              <a:buClrTx/>
              <a:buSzTx/>
              <a:buFontTx/>
              <a:buChar char="•"/>
              <a:tabLst>
                <a:tab pos="129539" algn="l"/>
              </a:tabLst>
              <a:defRPr/>
            </a:pPr>
            <a:r>
              <a:rPr kumimoji="0" lang="en-US" sz="1400" b="0" i="0" u="none" strike="noStrike" kern="0" cap="none" spc="0" normalizeH="0" baseline="0" noProof="0" dirty="0" err="1">
                <a:ln>
                  <a:noFill/>
                </a:ln>
                <a:solidFill>
                  <a:srgbClr val="211F1F"/>
                </a:solidFill>
                <a:effectLst/>
                <a:uLnTx/>
                <a:uFillTx/>
                <a:latin typeface="Arial"/>
                <a:cs typeface="Arial"/>
              </a:rPr>
              <a:t>Instalacion</a:t>
            </a:r>
            <a:r>
              <a:rPr kumimoji="0" lang="en-US" sz="1400" b="0" i="0" u="none" strike="noStrike" kern="0" cap="none" spc="0" normalizeH="0" baseline="0" noProof="0" dirty="0">
                <a:ln>
                  <a:noFill/>
                </a:ln>
                <a:solidFill>
                  <a:srgbClr val="211F1F"/>
                </a:solidFill>
                <a:effectLst/>
                <a:uLnTx/>
                <a:uFillTx/>
                <a:latin typeface="Arial"/>
                <a:cs typeface="Arial"/>
              </a:rPr>
              <a:t>, </a:t>
            </a:r>
            <a:r>
              <a:rPr kumimoji="0" lang="en-US" sz="1400" b="0" i="0" u="none" strike="noStrike" kern="0" cap="none" spc="0" normalizeH="0" baseline="0" noProof="0" dirty="0" err="1">
                <a:ln>
                  <a:noFill/>
                </a:ln>
                <a:solidFill>
                  <a:srgbClr val="211F1F"/>
                </a:solidFill>
                <a:effectLst/>
                <a:uLnTx/>
                <a:uFillTx/>
                <a:latin typeface="Arial"/>
                <a:cs typeface="Arial"/>
              </a:rPr>
              <a:t>Medioambiente</a:t>
            </a:r>
            <a:r>
              <a:rPr lang="en-US" sz="1400" kern="0" spc="-10" dirty="0">
                <a:solidFill>
                  <a:srgbClr val="211F1F"/>
                </a:solidFill>
                <a:latin typeface="Arial"/>
                <a:cs typeface="Arial"/>
              </a:rPr>
              <a:t>, </a:t>
            </a:r>
            <a:r>
              <a:rPr lang="en-US" sz="1400" kern="0" spc="-10" dirty="0" err="1">
                <a:solidFill>
                  <a:srgbClr val="211F1F"/>
                </a:solidFill>
                <a:latin typeface="Arial"/>
                <a:cs typeface="Arial"/>
              </a:rPr>
              <a:t>Energia</a:t>
            </a:r>
            <a:r>
              <a:rPr lang="en-US" sz="1400" kern="0" spc="-10" dirty="0">
                <a:solidFill>
                  <a:srgbClr val="211F1F"/>
                </a:solidFill>
                <a:latin typeface="Arial"/>
                <a:cs typeface="Arial"/>
              </a:rPr>
              <a:t> y </a:t>
            </a:r>
            <a:r>
              <a:rPr lang="en-US" sz="1400" kern="0" spc="-10" dirty="0" err="1">
                <a:solidFill>
                  <a:srgbClr val="211F1F"/>
                </a:solidFill>
                <a:latin typeface="Arial"/>
                <a:cs typeface="Arial"/>
              </a:rPr>
              <a:t>Sostenibilidad</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s" dirty="0"/>
              <a:t>información general</a:t>
            </a:r>
          </a:p>
        </p:txBody>
      </p:sp>
    </p:spTree>
    <p:extLst>
      <p:ext uri="{BB962C8B-B14F-4D97-AF65-F5344CB8AC3E}">
        <p14:creationId xmlns:p14="http://schemas.microsoft.com/office/powerpoint/2010/main" val="290653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Para ver y competir</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314706" cy="5632311"/>
          </a:xfrm>
          <a:prstGeom prst="rect">
            <a:avLst/>
          </a:prstGeom>
          <a:noFill/>
        </p:spPr>
        <p:txBody>
          <a:bodyPr wrap="square" rtlCol="0">
            <a:spAutoFit/>
          </a:bodyPr>
          <a:lstStyle/>
          <a:p>
            <a:pPr marL="285750" indent="-285750">
              <a:buFont typeface="Arial" panose="020B0604020202020204" pitchFamily="34" charset="0"/>
              <a:buChar char="•"/>
            </a:pPr>
            <a:r>
              <a:rPr lang="es-ES" dirty="0"/>
              <a:t>La entidad que planea proponer (que no sea una matriz o subsidiaria) debe estar registrada</a:t>
            </a:r>
            <a:r>
              <a:rPr lang="es" dirty="0"/>
              <a:t>en los siguientes sistemas para poder descargar la convocatoria y enviar una propuesta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solicitudes SÓLO se anunciarán en </a:t>
            </a:r>
            <a:r>
              <a:rPr lang="es" dirty="0">
                <a:hlinkClick r:id="rId2"/>
              </a:rPr>
              <a:t>https://SAM.gov </a:t>
            </a:r>
            <a:r>
              <a:rPr lang="es" dirty="0"/>
              <a:t>y SÓLO se pueden descargar y enviar propuestas a través de </a:t>
            </a:r>
            <a:r>
              <a:rPr lang="es" dirty="0">
                <a:hlinkClick r:id="rId3"/>
              </a:rPr>
              <a:t>https://piee.eb.mil</a:t>
            </a:r>
            <a:r>
              <a:rPr lang="e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Pasos para registrarse: deben realizarse en este orden</a:t>
            </a:r>
          </a:p>
          <a:p>
            <a:pPr marL="800100" lvl="1" indent="-342900">
              <a:buFont typeface="+mj-lt"/>
              <a:buAutoNum type="arabicPeriod"/>
            </a:pPr>
            <a:r>
              <a:rPr lang="es" dirty="0"/>
              <a:t>Obtenga un código NCAGE asignado</a:t>
            </a:r>
          </a:p>
          <a:p>
            <a:pPr lvl="1"/>
            <a:r>
              <a:rPr lang="es" dirty="0"/>
              <a:t> </a:t>
            </a:r>
            <a:r>
              <a:rPr lang="es" dirty="0">
                <a:hlinkClick r:id="rId4"/>
              </a:rPr>
              <a:t>https://eportal.nspa.nato.int/Codification/CageTool/request-new-cage</a:t>
            </a:r>
            <a:endParaRPr lang="en-US" dirty="0"/>
          </a:p>
          <a:p>
            <a:pPr lvl="1"/>
            <a:r>
              <a:rPr lang="es" dirty="0"/>
              <a:t>Se necesitan hasta 14 días calendario para obtener un código NCAGE.</a:t>
            </a:r>
          </a:p>
          <a:p>
            <a:pPr marL="800100" lvl="1" indent="-342900">
              <a:buFont typeface="+mj-lt"/>
              <a:buAutoNum type="arabicPeriod"/>
            </a:pPr>
            <a:endParaRPr lang="en-US" dirty="0"/>
          </a:p>
          <a:p>
            <a:pPr marL="800100" lvl="1" indent="-342900">
              <a:buFont typeface="+mj-lt"/>
              <a:buAutoNum type="arabicPeriod" startAt="2"/>
            </a:pPr>
            <a:r>
              <a:rPr lang="es" dirty="0"/>
              <a:t>Cree una cuenta SAM y obtenga su Número de Identificador Único de Entidad (UEI) (anteriormente conocido como DUNS) en </a:t>
            </a:r>
            <a:r>
              <a:rPr lang="es" dirty="0">
                <a:hlinkClick r:id="rId2"/>
              </a:rPr>
              <a:t>https://SAM.gov </a:t>
            </a:r>
            <a:r>
              <a:rPr lang="es" dirty="0"/>
              <a:t>. Su registro se activará en SAM en hasta 15 días hábiles desde el envío.</a:t>
            </a:r>
          </a:p>
          <a:p>
            <a:pPr marL="800100" lvl="1" indent="-342900">
              <a:buFont typeface="+mj-lt"/>
              <a:buAutoNum type="arabicPeriod" startAt="2"/>
            </a:pPr>
            <a:endParaRPr lang="en-US" dirty="0"/>
          </a:p>
          <a:p>
            <a:pPr lvl="1"/>
            <a:r>
              <a:rPr lang="es" dirty="0"/>
              <a:t>Para los registrantes internacionales, consulte la Guía de inicio rápido en </a:t>
            </a:r>
            <a:r>
              <a:rPr lang="es" dirty="0">
                <a:hlinkClick r:id="rId5"/>
              </a:rPr>
              <a:t>https://www.fsd.gov/sys_attachment.do?sys_id=c3fbd4771be83898d3ab404fe54bcb19</a:t>
            </a:r>
            <a:r>
              <a:rPr lang="es" dirty="0"/>
              <a:t> </a:t>
            </a:r>
          </a:p>
          <a:p>
            <a:pPr marL="800100" lvl="1" indent="-342900">
              <a:buFont typeface="+mj-lt"/>
              <a:buAutoNum type="arabicPeriod"/>
            </a:pPr>
            <a:endParaRPr lang="en-US" dirty="0"/>
          </a:p>
          <a:p>
            <a:pPr marL="800100" lvl="1" indent="-342900">
              <a:buFont typeface="+mj-lt"/>
              <a:buAutoNum type="arabicPeriod" startAt="3"/>
            </a:pPr>
            <a:r>
              <a:rPr lang="es" dirty="0"/>
              <a:t>Obtenga acceso a PIEE: </a:t>
            </a:r>
            <a:r>
              <a:rPr lang="es" dirty="0">
                <a:hlinkClick r:id="rId6"/>
              </a:rPr>
              <a:t>https://piee.eb.mil/xhtml/unauth/help/helpvendors.xhtml</a:t>
            </a:r>
            <a:r>
              <a:rPr lang="es" dirty="0"/>
              <a:t> </a:t>
            </a:r>
          </a:p>
          <a:p>
            <a:pPr marL="800100" lvl="1" indent="-342900">
              <a:buFont typeface="+mj-lt"/>
              <a:buAutoNum type="arabicPeriod" startAt="3"/>
            </a:pPr>
            <a:endParaRPr lang="en-US" dirty="0"/>
          </a:p>
        </p:txBody>
      </p:sp>
    </p:spTree>
    <p:extLst>
      <p:ext uri="{BB962C8B-B14F-4D97-AF65-F5344CB8AC3E}">
        <p14:creationId xmlns:p14="http://schemas.microsoft.com/office/powerpoint/2010/main" val="3126958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Información general</a:t>
            </a:r>
          </a:p>
        </p:txBody>
      </p:sp>
      <p:sp>
        <p:nvSpPr>
          <p:cNvPr id="7" name="TextBox 6">
            <a:extLst>
              <a:ext uri="{FF2B5EF4-FFF2-40B4-BE49-F238E27FC236}">
                <a16:creationId xmlns:a16="http://schemas.microsoft.com/office/drawing/2014/main" id="{0F3381CF-0196-99D4-5826-3D2373CD4D56}"/>
              </a:ext>
            </a:extLst>
          </p:cNvPr>
          <p:cNvSpPr txBox="1"/>
          <p:nvPr/>
        </p:nvSpPr>
        <p:spPr>
          <a:xfrm>
            <a:off x="480846" y="1096708"/>
            <a:ext cx="11497586" cy="5786199"/>
          </a:xfrm>
          <a:prstGeom prst="rect">
            <a:avLst/>
          </a:prstGeom>
          <a:noFill/>
        </p:spPr>
        <p:txBody>
          <a:bodyPr wrap="square" rtlCol="0">
            <a:spAutoFit/>
          </a:bodyPr>
          <a:lstStyle/>
          <a:p>
            <a:pPr marL="285750" indent="-285750">
              <a:buFont typeface="Arial" panose="020B0604020202020204" pitchFamily="34" charset="0"/>
              <a:buChar char="•"/>
            </a:pPr>
            <a:r>
              <a:rPr lang="es" dirty="0"/>
              <a:t>¿Quién puede presentarse? </a:t>
            </a:r>
          </a:p>
          <a:p>
            <a:pPr marL="742950" lvl="1" indent="-285750">
              <a:buFont typeface="Arial" panose="020B0604020202020204" pitchFamily="34" charset="0"/>
              <a:buChar char="•"/>
            </a:pPr>
            <a:r>
              <a:rPr lang="es" sz="1600" dirty="0"/>
              <a:t>Cualquier contratista domiciliado en peru </a:t>
            </a:r>
            <a:r>
              <a:rPr lang="es-PE" sz="1600" dirty="0"/>
              <a:t>de</a:t>
            </a:r>
            <a:r>
              <a:rPr lang="es" sz="1600" dirty="0"/>
              <a:t> construcción, responsable e interesado (</a:t>
            </a:r>
            <a:r>
              <a:rPr lang="es-PE" sz="1600" dirty="0"/>
              <a:t>no la matriz u otra sucursal)</a:t>
            </a:r>
            <a:endParaRPr lang="es" sz="1600" dirty="0"/>
          </a:p>
          <a:p>
            <a:pPr marL="742950" lvl="1" indent="-285750">
              <a:buFont typeface="Arial" panose="020B0604020202020204" pitchFamily="34" charset="0"/>
              <a:buChar char="•"/>
            </a:pPr>
            <a:r>
              <a:rPr lang="es" sz="1600" dirty="0"/>
              <a:t>Las empresas estarán obligadas a tener o establecer presencia comercial en el Perú de acuerdo con la legislación peruana</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¿Quién no es elegible para presentarse?</a:t>
            </a:r>
          </a:p>
          <a:p>
            <a:pPr marL="742950" lvl="1" indent="-285750">
              <a:buFont typeface="Arial" panose="020B0604020202020204" pitchFamily="34" charset="0"/>
              <a:buChar char="•"/>
            </a:pPr>
            <a:r>
              <a:rPr lang="es" sz="1600" dirty="0"/>
              <a:t>Cualquier empresa de diseño que haya participado en la preparación de la convocatoria de cualquier manera.</a:t>
            </a:r>
          </a:p>
          <a:p>
            <a:pPr marL="742950" lvl="1" indent="-285750">
              <a:buFont typeface="Arial" panose="020B0604020202020204" pitchFamily="34" charset="0"/>
              <a:buChar char="•"/>
            </a:pPr>
            <a:r>
              <a:rPr lang="es" sz="1600" dirty="0"/>
              <a:t>Cualquier empresa suspendida o inhabilitada de conformidad con el Reglamento Federal de Adquisiciones de los Estados Unidos (FAR) o la Ley peruana</a:t>
            </a:r>
          </a:p>
          <a:p>
            <a:pPr marL="742950" lvl="1" indent="-285750">
              <a:buFont typeface="Arial" panose="020B0604020202020204" pitchFamily="34" charset="0"/>
              <a:buChar char="•"/>
            </a:pPr>
            <a:r>
              <a:rPr lang="es-419" sz="1800" dirty="0">
                <a:effectLst/>
                <a:latin typeface="Aptos" panose="020B0004020202020204" pitchFamily="34" charset="0"/>
                <a:ea typeface="Aptos" panose="020B0004020202020204" pitchFamily="34" charset="0"/>
                <a:cs typeface="Aptos" panose="020B0004020202020204" pitchFamily="34" charset="0"/>
              </a:rPr>
              <a:t>Se han considerado algunas restricciones de participación y acceso a la información relacionados a la Seguridad y Defensa Nacional</a:t>
            </a:r>
          </a:p>
          <a:p>
            <a:pPr marL="742950" lvl="1" indent="-285750">
              <a:buFont typeface="Arial" panose="020B0604020202020204" pitchFamily="34" charset="0"/>
              <a:buChar char="•"/>
            </a:pPr>
            <a:endParaRPr lang="en-US" dirty="0">
              <a:highlight>
                <a:srgbClr val="FFFF00"/>
              </a:highlight>
            </a:endParaRPr>
          </a:p>
          <a:p>
            <a:pPr marL="285750" indent="-285750">
              <a:buFont typeface="Arial" panose="020B0604020202020204" pitchFamily="34" charset="0"/>
              <a:buChar char="•"/>
            </a:pPr>
            <a:r>
              <a:rPr lang="es" dirty="0"/>
              <a:t>¿Cómo puedo hacer preguntas?</a:t>
            </a:r>
          </a:p>
          <a:p>
            <a:pPr marL="742950" lvl="1" indent="-285750">
              <a:buFont typeface="Arial" panose="020B0604020202020204" pitchFamily="34" charset="0"/>
              <a:buChar char="•"/>
            </a:pPr>
            <a:r>
              <a:rPr lang="es" sz="1600" dirty="0"/>
              <a:t>Una vez publicada la convocatoria, todas las solicitudes de información (RFI) o preguntas y aclaraciones deben enviarse antes de la fecha límite indicada en la convocatoria a través del Portal de consulta de licitantes en ProjNet en:  </a:t>
            </a:r>
            <a:r>
              <a:rPr lang="es" sz="1600" dirty="0">
                <a:hlinkClick r:id="rId2"/>
              </a:rPr>
              <a:t>https://www.ProjNet.org/</a:t>
            </a:r>
            <a:r>
              <a:rPr lang="es" sz="1600" dirty="0"/>
              <a:t> </a:t>
            </a:r>
          </a:p>
          <a:p>
            <a:pPr marL="742950" lvl="1" indent="-285750">
              <a:buFont typeface="Arial" panose="020B0604020202020204" pitchFamily="34" charset="0"/>
              <a:buChar char="•"/>
            </a:pPr>
            <a:r>
              <a:rPr lang="es" sz="1600" dirty="0"/>
              <a:t>La clave de consulta del licitante necesaria para enviar preguntas se proporcionará en la convocatoria.</a:t>
            </a:r>
          </a:p>
          <a:p>
            <a:pPr marL="742950" lvl="1" indent="-285750">
              <a:buFont typeface="Arial" panose="020B0604020202020204" pitchFamily="34" charset="0"/>
              <a:buChar char="•"/>
            </a:pPr>
            <a:r>
              <a:rPr lang="es" sz="1600" dirty="0"/>
              <a:t>La información de RFI se encuentra en la Sección 01 00 01 de la convocatoria.</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¿Cómo se anunciarán los cambios a los requisitos de solicitud?</a:t>
            </a:r>
          </a:p>
          <a:p>
            <a:pPr marL="742950" lvl="1" indent="-285750">
              <a:buFont typeface="Arial" panose="020B0604020202020204" pitchFamily="34" charset="0"/>
              <a:buChar char="•"/>
            </a:pPr>
            <a:r>
              <a:rPr lang="es" sz="1600" dirty="0"/>
              <a:t>Los avisos de enmiendas se publicarán en </a:t>
            </a:r>
            <a:r>
              <a:rPr lang="es" sz="1600" dirty="0">
                <a:hlinkClick r:id="rId3"/>
              </a:rPr>
              <a:t>www.SAM.gov</a:t>
            </a:r>
            <a:endParaRPr lang="en-US" sz="1600" dirty="0"/>
          </a:p>
          <a:p>
            <a:pPr marL="742950" lvl="1" indent="-285750">
              <a:buFont typeface="Arial" panose="020B0604020202020204" pitchFamily="34" charset="0"/>
              <a:buChar char="•"/>
            </a:pPr>
            <a:r>
              <a:rPr lang="es" sz="1600" dirty="0"/>
              <a:t>El aviso dirigirá a los oferentes a </a:t>
            </a:r>
            <a:r>
              <a:rPr lang="es" sz="1600" dirty="0">
                <a:hlinkClick r:id="rId4"/>
              </a:rPr>
              <a:t>https://piee.eb.mil </a:t>
            </a:r>
            <a:r>
              <a:rPr lang="es" sz="1600" dirty="0"/>
              <a:t>donde se publicarán las modificaciones.</a:t>
            </a:r>
          </a:p>
        </p:txBody>
      </p:sp>
    </p:spTree>
    <p:extLst>
      <p:ext uri="{BB962C8B-B14F-4D97-AF65-F5344CB8AC3E}">
        <p14:creationId xmlns:p14="http://schemas.microsoft.com/office/powerpoint/2010/main" val="329934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Requisitos de fianza/seguro</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920143"/>
            <a:ext cx="11497586" cy="6186309"/>
          </a:xfrm>
          <a:prstGeom prst="rect">
            <a:avLst/>
          </a:prstGeom>
          <a:noFill/>
        </p:spPr>
        <p:txBody>
          <a:bodyPr wrap="square" rtlCol="0">
            <a:spAutoFit/>
          </a:bodyPr>
          <a:lstStyle/>
          <a:p>
            <a:r>
              <a:rPr lang="es-ES" b="0" i="0" dirty="0">
                <a:solidFill>
                  <a:srgbClr val="111111"/>
                </a:solidFill>
                <a:effectLst/>
                <a:latin typeface="Roboto" panose="02000000000000000000" pitchFamily="2" charset="0"/>
              </a:rPr>
              <a:t>Todos los requisitos de fianza se describen en el Reglamento Federal de Adquisiciones, disponible en Internet:</a:t>
            </a:r>
            <a:endParaRPr lang="en-US" dirty="0">
              <a:hlinkClick r:id="rId2"/>
            </a:endParaRPr>
          </a:p>
          <a:p>
            <a:r>
              <a:rPr lang="en-US" dirty="0">
                <a:hlinkClick r:id="rId2"/>
              </a:rPr>
              <a:t>https://www.acquisition.gov/far/52.228-15</a:t>
            </a:r>
            <a:endParaRPr lang="es" dirty="0"/>
          </a:p>
          <a:p>
            <a:endParaRPr lang="es" dirty="0"/>
          </a:p>
          <a:p>
            <a:r>
              <a:rPr lang="es-ES" b="0" i="0" dirty="0">
                <a:solidFill>
                  <a:srgbClr val="111111"/>
                </a:solidFill>
                <a:effectLst/>
                <a:latin typeface="Roboto" panose="02000000000000000000" pitchFamily="2" charset="0"/>
              </a:rPr>
              <a:t>Las alternativas de bonos se enumerarán en la sección 01 00 01 de la solicitud</a:t>
            </a:r>
            <a:endParaRPr lang="es" b="0" i="0" dirty="0">
              <a:solidFill>
                <a:srgbClr val="111111"/>
              </a:solidFill>
              <a:effectLst/>
              <a:latin typeface="Roboto" panose="02000000000000000000" pitchFamily="2" charset="0"/>
            </a:endParaRPr>
          </a:p>
          <a:p>
            <a:endParaRPr lang="es" dirty="0"/>
          </a:p>
          <a:p>
            <a:pPr marL="285750" indent="-285750">
              <a:buFont typeface="Arial" panose="020B0604020202020204" pitchFamily="34" charset="0"/>
              <a:buChar char="•"/>
            </a:pPr>
            <a:r>
              <a:rPr lang="es" dirty="0"/>
              <a:t>Garantía de oferta:</a:t>
            </a:r>
          </a:p>
          <a:p>
            <a:pPr marL="742950" lvl="1" indent="-285750">
              <a:buFont typeface="Arial" panose="020B0604020202020204" pitchFamily="34" charset="0"/>
              <a:buChar char="•"/>
            </a:pPr>
            <a:r>
              <a:rPr lang="es" dirty="0"/>
              <a:t>FAR 52.228-1</a:t>
            </a:r>
            <a:endParaRPr lang="es" dirty="0">
              <a:solidFill>
                <a:srgbClr val="FF0000"/>
              </a:solidFill>
              <a:highlight>
                <a:srgbClr val="FFFF00"/>
              </a:highlight>
            </a:endParaRPr>
          </a:p>
          <a:p>
            <a:pPr marL="742950" lvl="1" indent="-285750">
              <a:buFont typeface="Arial" panose="020B0604020202020204" pitchFamily="34" charset="0"/>
              <a:buChar char="•"/>
            </a:pPr>
            <a:r>
              <a:rPr lang="es" dirty="0"/>
              <a:t>Generalmente NO es necesario</a:t>
            </a:r>
            <a:endParaRPr lang="es" dirty="0">
              <a:solidFill>
                <a:srgbClr val="FF0000"/>
              </a:solidFill>
              <a:highlight>
                <a:srgbClr val="FFFF00"/>
              </a:highlight>
            </a:endParaRP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Garantía de cumplimiento:</a:t>
            </a:r>
          </a:p>
          <a:p>
            <a:pPr marL="742950" lvl="1" indent="-285750">
              <a:buFont typeface="Arial" panose="020B0604020202020204" pitchFamily="34" charset="0"/>
              <a:buChar char="•"/>
            </a:pPr>
            <a:r>
              <a:rPr lang="es" dirty="0"/>
              <a:t>FAR 52.228-15</a:t>
            </a:r>
            <a:endParaRPr lang="es" dirty="0">
              <a:highlight>
                <a:srgbClr val="FFFF00"/>
              </a:highlight>
            </a:endParaRPr>
          </a:p>
          <a:p>
            <a:pPr marL="742950" lvl="1" indent="-285750">
              <a:buFont typeface="Arial" panose="020B0604020202020204" pitchFamily="34" charset="0"/>
              <a:buChar char="•"/>
            </a:pPr>
            <a:r>
              <a:rPr lang="es" dirty="0"/>
              <a:t>10% del monto adjudicado o alternativa de bono aprobada</a:t>
            </a:r>
            <a:endParaRPr lang="es" dirty="0">
              <a:solidFill>
                <a:srgbClr val="FF0000"/>
              </a:solidFill>
              <a:highlight>
                <a:srgbClr val="FFFF00"/>
              </a:highlight>
            </a:endParaRP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Garantía de pago:</a:t>
            </a:r>
          </a:p>
          <a:p>
            <a:pPr marL="742950" lvl="1" indent="-285750">
              <a:buFont typeface="Arial" panose="020B0604020202020204" pitchFamily="34" charset="0"/>
              <a:buChar char="•"/>
            </a:pPr>
            <a:r>
              <a:rPr lang="es" dirty="0"/>
              <a:t>FAR 52.228-15</a:t>
            </a:r>
          </a:p>
          <a:p>
            <a:pPr marL="742950" lvl="1" indent="-285750">
              <a:buFont typeface="Arial" panose="020B0604020202020204" pitchFamily="34" charset="0"/>
              <a:buChar char="•"/>
            </a:pPr>
            <a:r>
              <a:rPr lang="es" dirty="0"/>
              <a:t>NO requerido</a:t>
            </a:r>
          </a:p>
          <a:p>
            <a:pPr lvl="1"/>
            <a:endParaRPr lang="en-US" dirty="0"/>
          </a:p>
          <a:p>
            <a:pPr marL="285750" indent="-285750">
              <a:buFont typeface="Arial" panose="020B0604020202020204" pitchFamily="34" charset="0"/>
              <a:buChar char="•"/>
            </a:pPr>
            <a:r>
              <a:rPr lang="es" dirty="0"/>
              <a:t>Seguro de la Ley de Base de Defensa (DBA) - </a:t>
            </a:r>
            <a:r>
              <a:rPr lang="en-US" dirty="0">
                <a:hlinkClick r:id="rId3"/>
              </a:rPr>
              <a:t>https://www.dol.gov/agencies/owcp/dlhwc/lsdba</a:t>
            </a:r>
            <a:r>
              <a:rPr lang="en-US" dirty="0"/>
              <a:t> </a:t>
            </a:r>
            <a:endParaRPr lang="es" dirty="0"/>
          </a:p>
          <a:p>
            <a:pPr marL="742950" lvl="1" indent="-285750">
              <a:buFont typeface="Arial" panose="020B0604020202020204" pitchFamily="34" charset="0"/>
              <a:buChar char="•"/>
            </a:pPr>
            <a:r>
              <a:rPr lang="en-US" dirty="0" err="1"/>
              <a:t>Requerido</a:t>
            </a:r>
            <a:r>
              <a:rPr lang="en-US" dirty="0"/>
              <a:t> para </a:t>
            </a:r>
            <a:r>
              <a:rPr lang="en-US" dirty="0" err="1"/>
              <a:t>esta</a:t>
            </a:r>
            <a:r>
              <a:rPr lang="en-US" dirty="0"/>
              <a:t> </a:t>
            </a:r>
          </a:p>
          <a:p>
            <a:pPr marL="742950" lvl="1" indent="-285750">
              <a:buFont typeface="Arial" panose="020B0604020202020204" pitchFamily="34" charset="0"/>
              <a:buChar char="•"/>
            </a:pPr>
            <a:r>
              <a:rPr lang="es-ES" dirty="0"/>
              <a:t>También se deben cumplir los requisitos peruanos </a:t>
            </a:r>
            <a:r>
              <a:rPr lang="es-PE" dirty="0"/>
              <a:t>-  tienen que cumplir con el SCTR Y personal capacitado de SSOMA</a:t>
            </a:r>
            <a:endParaRPr lang="es" dirty="0"/>
          </a:p>
          <a:p>
            <a:pPr marL="742950" lvl="1" indent="-285750">
              <a:buFont typeface="Arial" panose="020B0604020202020204" pitchFamily="34" charset="0"/>
              <a:buChar char="•"/>
            </a:pPr>
            <a:endParaRPr lang="es" dirty="0"/>
          </a:p>
        </p:txBody>
      </p:sp>
    </p:spTree>
    <p:extLst>
      <p:ext uri="{BB962C8B-B14F-4D97-AF65-F5344CB8AC3E}">
        <p14:creationId xmlns:p14="http://schemas.microsoft.com/office/powerpoint/2010/main" val="1862327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Requisitos varios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3139321"/>
          </a:xfrm>
          <a:prstGeom prst="rect">
            <a:avLst/>
          </a:prstGeom>
          <a:noFill/>
        </p:spPr>
        <p:txBody>
          <a:bodyPr wrap="square" rtlCol="0">
            <a:spAutoFit/>
          </a:bodyPr>
          <a:lstStyle/>
          <a:p>
            <a:pPr marL="285750" indent="-285750">
              <a:buFont typeface="Arial" panose="020B0604020202020204" pitchFamily="34" charset="0"/>
              <a:buChar char="•"/>
            </a:pPr>
            <a:r>
              <a:rPr lang="es-ES" dirty="0"/>
              <a:t>Los requisitos de seguridad y salud deben cumplir con el manual de seguridad de USACE </a:t>
            </a:r>
            <a:r>
              <a:rPr lang="es" dirty="0"/>
              <a:t>- EM 385-1-1:  </a:t>
            </a:r>
            <a:r>
              <a:rPr lang="en-US" dirty="0">
                <a:hlinkClick r:id="rId2"/>
              </a:rPr>
              <a:t>http://www.publications.usace.army.mil/Portals/76/Publications/EngineerManuals/EM_385-1-1.pdf</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propuestas deberán presentarse en inglés y en dólares estadounidenses.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Todos los datos de construcción deben estar en unidades métricas.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Trabajar para cumplir con las leyes y normas aplicables del país anfitrión, lo que incluye el pago o la finalización del proceso de exención o reembolso de los impuestos del país anfitrión.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Consulte todas las enmiendas (SF 30) para ver si hay información nueva y reconozca todas las enmiendas</a:t>
            </a:r>
          </a:p>
        </p:txBody>
      </p:sp>
    </p:spTree>
    <p:extLst>
      <p:ext uri="{BB962C8B-B14F-4D97-AF65-F5344CB8AC3E}">
        <p14:creationId xmlns:p14="http://schemas.microsoft.com/office/powerpoint/2010/main" val="467262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Impuesto sobre determinadas contrataciones extranjeras</a:t>
            </a:r>
          </a:p>
        </p:txBody>
      </p:sp>
      <p:sp>
        <p:nvSpPr>
          <p:cNvPr id="7" name="TextBox 6">
            <a:extLst>
              <a:ext uri="{FF2B5EF4-FFF2-40B4-BE49-F238E27FC236}">
                <a16:creationId xmlns:a16="http://schemas.microsoft.com/office/drawing/2014/main" id="{0F3381CF-0196-99D4-5826-3D2373CD4D56}"/>
              </a:ext>
            </a:extLst>
          </p:cNvPr>
          <p:cNvSpPr txBox="1"/>
          <p:nvPr/>
        </p:nvSpPr>
        <p:spPr>
          <a:xfrm>
            <a:off x="302150" y="1096708"/>
            <a:ext cx="3562183" cy="5078313"/>
          </a:xfrm>
          <a:prstGeom prst="rect">
            <a:avLst/>
          </a:prstGeom>
          <a:noFill/>
        </p:spPr>
        <p:txBody>
          <a:bodyPr wrap="square" rtlCol="0">
            <a:spAutoFit/>
          </a:bodyPr>
          <a:lstStyle/>
          <a:p>
            <a:pPr marL="285750" indent="-285750">
              <a:buFont typeface="Arial" panose="020B0604020202020204" pitchFamily="34" charset="0"/>
              <a:buChar char="•"/>
            </a:pPr>
            <a:r>
              <a:rPr lang="es" dirty="0"/>
              <a:t>Disposición 52.229-11 – Artículo 00 45 00</a:t>
            </a:r>
          </a:p>
          <a:p>
            <a:pPr marL="285750" indent="-285750">
              <a:buFont typeface="Arial" panose="020B0604020202020204" pitchFamily="34" charset="0"/>
              <a:buChar char="•"/>
            </a:pPr>
            <a:r>
              <a:rPr lang="en-US" dirty="0"/>
              <a:t>U</a:t>
            </a:r>
            <a:r>
              <a:rPr lang="es" dirty="0"/>
              <a:t>sted es ciudadano estadounidense?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Cláusula 52.229-12 – Sección 00 70 00 Exenciones: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Parte II – Basado en el Convenio Tributario Internacional (Apéndices A y B)</a:t>
            </a:r>
          </a:p>
          <a:p>
            <a:pPr marL="285750" indent="-285750">
              <a:buFont typeface="Arial" panose="020B0604020202020204" pitchFamily="34" charset="0"/>
              <a:buChar char="•"/>
            </a:pPr>
            <a:r>
              <a:rPr lang="es" dirty="0"/>
              <a:t>Parte III – Basado en el Acuerdo Comercial/Bilateral Internacional</a:t>
            </a:r>
          </a:p>
          <a:p>
            <a:pPr marL="285750" indent="-285750">
              <a:buFont typeface="Arial" panose="020B0604020202020204" pitchFamily="34" charset="0"/>
              <a:buChar char="•"/>
            </a:pPr>
            <a:r>
              <a:rPr lang="es" dirty="0"/>
              <a:t>Parte III – Importaciones procedentes de EE. UU. o países exentos</a:t>
            </a:r>
          </a:p>
        </p:txBody>
      </p:sp>
      <p:pic>
        <p:nvPicPr>
          <p:cNvPr id="2" name="Picture 1">
            <a:extLst>
              <a:ext uri="{FF2B5EF4-FFF2-40B4-BE49-F238E27FC236}">
                <a16:creationId xmlns:a16="http://schemas.microsoft.com/office/drawing/2014/main" id="{084F34D5-F5FF-E8FC-EF57-127DB42A6362}"/>
              </a:ext>
            </a:extLst>
          </p:cNvPr>
          <p:cNvPicPr>
            <a:picLocks noChangeAspect="1"/>
          </p:cNvPicPr>
          <p:nvPr/>
        </p:nvPicPr>
        <p:blipFill>
          <a:blip r:embed="rId2"/>
          <a:stretch>
            <a:fillRect/>
          </a:stretch>
        </p:blipFill>
        <p:spPr>
          <a:xfrm>
            <a:off x="3729166" y="1096708"/>
            <a:ext cx="4381056" cy="5292550"/>
          </a:xfrm>
          <a:prstGeom prst="rect">
            <a:avLst/>
          </a:prstGeom>
        </p:spPr>
      </p:pic>
      <p:pic>
        <p:nvPicPr>
          <p:cNvPr id="3" name="Picture 2">
            <a:extLst>
              <a:ext uri="{FF2B5EF4-FFF2-40B4-BE49-F238E27FC236}">
                <a16:creationId xmlns:a16="http://schemas.microsoft.com/office/drawing/2014/main" id="{D3EE94B6-BB0C-0A8C-5CDE-E5825864CD9E}"/>
              </a:ext>
            </a:extLst>
          </p:cNvPr>
          <p:cNvPicPr>
            <a:picLocks noChangeAspect="1"/>
          </p:cNvPicPr>
          <p:nvPr/>
        </p:nvPicPr>
        <p:blipFill>
          <a:blip r:embed="rId3"/>
          <a:stretch>
            <a:fillRect/>
          </a:stretch>
        </p:blipFill>
        <p:spPr>
          <a:xfrm>
            <a:off x="8026557" y="1096708"/>
            <a:ext cx="4115079" cy="5292550"/>
          </a:xfrm>
          <a:prstGeom prst="rect">
            <a:avLst/>
          </a:prstGeom>
        </p:spPr>
      </p:pic>
    </p:spTree>
    <p:extLst>
      <p:ext uri="{BB962C8B-B14F-4D97-AF65-F5344CB8AC3E}">
        <p14:creationId xmlns:p14="http://schemas.microsoft.com/office/powerpoint/2010/main" val="1474747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s" dirty="0"/>
              <a:t>Requisitos Potencial – Edificios &amp; InfraEstructura</a:t>
            </a:r>
          </a:p>
        </p:txBody>
      </p:sp>
    </p:spTree>
    <p:extLst>
      <p:ext uri="{BB962C8B-B14F-4D97-AF65-F5344CB8AC3E}">
        <p14:creationId xmlns:p14="http://schemas.microsoft.com/office/powerpoint/2010/main" val="3130747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8E68ADB-C18F-4097-818F-48A14CA635DB}"/>
              </a:ext>
            </a:extLst>
          </p:cNvPr>
          <p:cNvPicPr>
            <a:picLocks noChangeAspect="1"/>
          </p:cNvPicPr>
          <p:nvPr/>
        </p:nvPicPr>
        <p:blipFill rotWithShape="1">
          <a:blip r:embed="rId2"/>
          <a:srcRect l="3052" b="4738"/>
          <a:stretch/>
        </p:blipFill>
        <p:spPr>
          <a:xfrm>
            <a:off x="2430161" y="289066"/>
            <a:ext cx="6860605" cy="3751245"/>
          </a:xfrm>
          <a:prstGeom prst="rect">
            <a:avLst/>
          </a:prstGeom>
        </p:spPr>
      </p:pic>
      <p:pic>
        <p:nvPicPr>
          <p:cNvPr id="7" name="Imagen 6">
            <a:extLst>
              <a:ext uri="{FF2B5EF4-FFF2-40B4-BE49-F238E27FC236}">
                <a16:creationId xmlns:a16="http://schemas.microsoft.com/office/drawing/2014/main" id="{46D803C4-2EBA-40CF-ADF4-4DD4A64F84D5}"/>
              </a:ext>
            </a:extLst>
          </p:cNvPr>
          <p:cNvPicPr>
            <a:picLocks noChangeAspect="1"/>
          </p:cNvPicPr>
          <p:nvPr/>
        </p:nvPicPr>
        <p:blipFill>
          <a:blip r:embed="rId3"/>
          <a:stretch>
            <a:fillRect/>
          </a:stretch>
        </p:blipFill>
        <p:spPr>
          <a:xfrm>
            <a:off x="195900" y="3422030"/>
            <a:ext cx="2975667" cy="3315393"/>
          </a:xfrm>
          <a:prstGeom prst="rect">
            <a:avLst/>
          </a:prstGeom>
          <a:ln>
            <a:noFill/>
          </a:ln>
          <a:effectLst>
            <a:outerShdw blurRad="292100" dist="139700" dir="2700000" algn="tl" rotWithShape="0">
              <a:srgbClr val="333333">
                <a:alpha val="65000"/>
              </a:srgbClr>
            </a:outerShdw>
          </a:effectLst>
        </p:spPr>
      </p:pic>
      <p:sp>
        <p:nvSpPr>
          <p:cNvPr id="8" name="Elipse 7">
            <a:extLst>
              <a:ext uri="{FF2B5EF4-FFF2-40B4-BE49-F238E27FC236}">
                <a16:creationId xmlns:a16="http://schemas.microsoft.com/office/drawing/2014/main" id="{DE976C09-E5B6-4D6F-9BF6-32AA3DCCB991}"/>
              </a:ext>
            </a:extLst>
          </p:cNvPr>
          <p:cNvSpPr/>
          <p:nvPr/>
        </p:nvSpPr>
        <p:spPr>
          <a:xfrm>
            <a:off x="5058032" y="2125363"/>
            <a:ext cx="1169773" cy="1145228"/>
          </a:xfrm>
          <a:prstGeom prst="ellipse">
            <a:avLst/>
          </a:prstGeom>
          <a:solidFill>
            <a:srgbClr val="104862">
              <a:alpha val="21961"/>
            </a:srgb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Elipse 8">
            <a:extLst>
              <a:ext uri="{FF2B5EF4-FFF2-40B4-BE49-F238E27FC236}">
                <a16:creationId xmlns:a16="http://schemas.microsoft.com/office/drawing/2014/main" id="{691AE45B-C436-4F0A-85B2-380A02FB00BF}"/>
              </a:ext>
            </a:extLst>
          </p:cNvPr>
          <p:cNvSpPr/>
          <p:nvPr/>
        </p:nvSpPr>
        <p:spPr>
          <a:xfrm>
            <a:off x="8041935" y="2125363"/>
            <a:ext cx="593125" cy="584886"/>
          </a:xfrm>
          <a:prstGeom prst="ellipse">
            <a:avLst/>
          </a:prstGeom>
          <a:solidFill>
            <a:srgbClr val="104862">
              <a:alpha val="18824"/>
            </a:srgb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Elipse 9">
            <a:extLst>
              <a:ext uri="{FF2B5EF4-FFF2-40B4-BE49-F238E27FC236}">
                <a16:creationId xmlns:a16="http://schemas.microsoft.com/office/drawing/2014/main" id="{9A1D539E-8D0B-49B2-8C30-E1E4AADE2604}"/>
              </a:ext>
            </a:extLst>
          </p:cNvPr>
          <p:cNvSpPr/>
          <p:nvPr/>
        </p:nvSpPr>
        <p:spPr>
          <a:xfrm>
            <a:off x="6598508" y="1878227"/>
            <a:ext cx="304800" cy="313038"/>
          </a:xfrm>
          <a:prstGeom prst="ellipse">
            <a:avLst/>
          </a:prstGeom>
          <a:solidFill>
            <a:srgbClr val="104862">
              <a:alpha val="16863"/>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2" name="Conector recto de flecha 11">
            <a:extLst>
              <a:ext uri="{FF2B5EF4-FFF2-40B4-BE49-F238E27FC236}">
                <a16:creationId xmlns:a16="http://schemas.microsoft.com/office/drawing/2014/main" id="{DBEF7D54-2422-4796-937F-E917711F9FC3}"/>
              </a:ext>
            </a:extLst>
          </p:cNvPr>
          <p:cNvCxnSpPr>
            <a:cxnSpLocks/>
          </p:cNvCxnSpPr>
          <p:nvPr/>
        </p:nvCxnSpPr>
        <p:spPr>
          <a:xfrm flipH="1">
            <a:off x="2901234" y="3102876"/>
            <a:ext cx="2345254" cy="1116591"/>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4" name="Imagen 13">
            <a:extLst>
              <a:ext uri="{FF2B5EF4-FFF2-40B4-BE49-F238E27FC236}">
                <a16:creationId xmlns:a16="http://schemas.microsoft.com/office/drawing/2014/main" id="{BC03956B-1BB5-4AE9-93B6-6231C98BB72A}"/>
              </a:ext>
            </a:extLst>
          </p:cNvPr>
          <p:cNvPicPr>
            <a:picLocks noChangeAspect="1"/>
          </p:cNvPicPr>
          <p:nvPr/>
        </p:nvPicPr>
        <p:blipFill>
          <a:blip r:embed="rId4"/>
          <a:stretch>
            <a:fillRect/>
          </a:stretch>
        </p:blipFill>
        <p:spPr>
          <a:xfrm>
            <a:off x="7284308" y="4040311"/>
            <a:ext cx="4587638" cy="2636748"/>
          </a:xfrm>
          <a:prstGeom prst="rect">
            <a:avLst/>
          </a:prstGeom>
          <a:ln>
            <a:noFill/>
          </a:ln>
          <a:effectLst>
            <a:outerShdw blurRad="292100" dist="139700" dir="2700000" algn="tl" rotWithShape="0">
              <a:srgbClr val="333333">
                <a:alpha val="65000"/>
              </a:srgbClr>
            </a:outerShdw>
          </a:effectLst>
        </p:spPr>
      </p:pic>
      <p:cxnSp>
        <p:nvCxnSpPr>
          <p:cNvPr id="17" name="Conector recto de flecha 16">
            <a:extLst>
              <a:ext uri="{FF2B5EF4-FFF2-40B4-BE49-F238E27FC236}">
                <a16:creationId xmlns:a16="http://schemas.microsoft.com/office/drawing/2014/main" id="{38B237A3-834F-4181-9572-E6025B373B53}"/>
              </a:ext>
            </a:extLst>
          </p:cNvPr>
          <p:cNvCxnSpPr>
            <a:cxnSpLocks/>
            <a:stCxn id="9" idx="5"/>
          </p:cNvCxnSpPr>
          <p:nvPr/>
        </p:nvCxnSpPr>
        <p:spPr>
          <a:xfrm>
            <a:off x="8548199" y="2624594"/>
            <a:ext cx="2078104" cy="1594873"/>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8ABF2E56-E2A1-4703-94F9-5BFE927BC361}"/>
              </a:ext>
            </a:extLst>
          </p:cNvPr>
          <p:cNvCxnSpPr>
            <a:cxnSpLocks/>
            <a:stCxn id="10" idx="4"/>
          </p:cNvCxnSpPr>
          <p:nvPr/>
        </p:nvCxnSpPr>
        <p:spPr>
          <a:xfrm>
            <a:off x="6750908" y="2191265"/>
            <a:ext cx="1066800" cy="2636108"/>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CuadroTexto 1">
            <a:extLst>
              <a:ext uri="{FF2B5EF4-FFF2-40B4-BE49-F238E27FC236}">
                <a16:creationId xmlns:a16="http://schemas.microsoft.com/office/drawing/2014/main" id="{AB72EAEC-D543-46E0-BA64-04B071702834}"/>
              </a:ext>
            </a:extLst>
          </p:cNvPr>
          <p:cNvSpPr txBox="1"/>
          <p:nvPr/>
        </p:nvSpPr>
        <p:spPr>
          <a:xfrm>
            <a:off x="3459419" y="102129"/>
            <a:ext cx="5536772" cy="369332"/>
          </a:xfrm>
          <a:prstGeom prst="rect">
            <a:avLst/>
          </a:prstGeom>
          <a:solidFill>
            <a:srgbClr val="FFFFFF"/>
          </a:solidFill>
        </p:spPr>
        <p:txBody>
          <a:bodyPr wrap="none" rtlCol="0">
            <a:spAutoFit/>
          </a:bodyPr>
          <a:lstStyle/>
          <a:p>
            <a:r>
              <a:rPr lang="es-ES" dirty="0"/>
              <a:t>DISEÑO Y CONSTRUCCION DE EDIFICACIONES </a:t>
            </a:r>
            <a:endParaRPr lang="es-PE" dirty="0"/>
          </a:p>
        </p:txBody>
      </p:sp>
    </p:spTree>
    <p:extLst>
      <p:ext uri="{BB962C8B-B14F-4D97-AF65-F5344CB8AC3E}">
        <p14:creationId xmlns:p14="http://schemas.microsoft.com/office/powerpoint/2010/main" val="2271867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a:xfrm>
            <a:off x="948366" y="128981"/>
            <a:ext cx="8906834" cy="832920"/>
          </a:xfrm>
        </p:spPr>
        <p:txBody>
          <a:bodyPr/>
          <a:lstStyle/>
          <a:p>
            <a:r>
              <a:rPr lang="es" dirty="0"/>
              <a:t>Requisitos de </a:t>
            </a:r>
            <a:r>
              <a:rPr lang="en-US" dirty="0" err="1"/>
              <a:t>Planificación</a:t>
            </a:r>
            <a:r>
              <a:rPr lang="en-US" dirty="0"/>
              <a:t> y </a:t>
            </a:r>
            <a:r>
              <a:rPr lang="en-US" dirty="0" err="1"/>
              <a:t>diseño</a:t>
            </a:r>
            <a:r>
              <a:rPr lang="en-US" dirty="0"/>
              <a:t> </a:t>
            </a:r>
            <a:r>
              <a:rPr lang="es" dirty="0"/>
              <a:t>en tierra</a:t>
            </a:r>
            <a:endParaRPr lang="en-US" dirty="0"/>
          </a:p>
        </p:txBody>
      </p:sp>
      <p:sp>
        <p:nvSpPr>
          <p:cNvPr id="7" name="TextBox 6">
            <a:extLst>
              <a:ext uri="{FF2B5EF4-FFF2-40B4-BE49-F238E27FC236}">
                <a16:creationId xmlns:a16="http://schemas.microsoft.com/office/drawing/2014/main" id="{0F3381CF-0196-99D4-5826-3D2373CD4D56}"/>
              </a:ext>
            </a:extLst>
          </p:cNvPr>
          <p:cNvSpPr txBox="1"/>
          <p:nvPr/>
        </p:nvSpPr>
        <p:spPr>
          <a:xfrm>
            <a:off x="-60960" y="1010245"/>
            <a:ext cx="12374880" cy="5786199"/>
          </a:xfrm>
          <a:prstGeom prst="rect">
            <a:avLst/>
          </a:prstGeom>
          <a:noFill/>
        </p:spPr>
        <p:txBody>
          <a:bodyPr wrap="square" rtlCol="0">
            <a:spAutoFit/>
          </a:bodyPr>
          <a:lstStyle/>
          <a:p>
            <a:pPr marL="285750" indent="-285750">
              <a:buFont typeface="Arial" panose="020B0604020202020204" pitchFamily="34" charset="0"/>
              <a:buChar char="•"/>
            </a:pPr>
            <a:r>
              <a:rPr lang="es-ES" dirty="0"/>
              <a:t>Suite de contratos Arquitecto-Ingeniero para estudios y diseño</a:t>
            </a:r>
            <a:endParaRPr lang="es" dirty="0"/>
          </a:p>
          <a:p>
            <a:pPr marL="285750" indent="-285750">
              <a:buFont typeface="Arial" panose="020B0604020202020204" pitchFamily="34" charset="0"/>
              <a:buChar char="•"/>
            </a:pPr>
            <a:endParaRPr lang="es" dirty="0"/>
          </a:p>
          <a:p>
            <a:pPr marL="285750" indent="-285750">
              <a:buFont typeface="Arial" panose="020B0604020202020204" pitchFamily="34" charset="0"/>
              <a:buChar char="•"/>
            </a:pPr>
            <a:r>
              <a:rPr lang="es" dirty="0"/>
              <a:t>Contrato de Orden de Trabajo de Adjudicación Múltiple (MATOC): Entrega indefinida, Cantidad indefinida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Cubre </a:t>
            </a:r>
            <a:r>
              <a:rPr lang="en-US" dirty="0" err="1"/>
              <a:t>evaluación</a:t>
            </a:r>
            <a:r>
              <a:rPr lang="en-US" dirty="0"/>
              <a:t>, </a:t>
            </a:r>
            <a:r>
              <a:rPr lang="en-US" dirty="0" err="1"/>
              <a:t>planificación</a:t>
            </a:r>
            <a:r>
              <a:rPr lang="en-US" dirty="0"/>
              <a:t> y </a:t>
            </a:r>
            <a:r>
              <a:rPr lang="en-US" dirty="0" err="1"/>
              <a:t>diseño</a:t>
            </a:r>
            <a:r>
              <a:rPr lang="en-US" dirty="0"/>
              <a:t> </a:t>
            </a:r>
            <a:r>
              <a:rPr lang="es" dirty="0"/>
              <a:t>de instalaciones (edificios administrativos, cuarteles, comedores), vias, servicios públicos y otra infraestructura en el Puerto del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Capacidad (</a:t>
            </a:r>
            <a:r>
              <a:rPr lang="en-US" dirty="0"/>
              <a:t>Por </a:t>
            </a:r>
            <a:r>
              <a:rPr lang="en-US" dirty="0" err="1"/>
              <a:t>determinar</a:t>
            </a:r>
            <a:r>
              <a:rPr lang="es" dirty="0"/>
              <a:t>) compartida total durante cinco años</a:t>
            </a:r>
          </a:p>
          <a:p>
            <a:endParaRPr lang="en-US" dirty="0"/>
          </a:p>
          <a:p>
            <a:pPr marL="285750" indent="-285750">
              <a:buFont typeface="Arial" panose="020B0604020202020204" pitchFamily="34" charset="0"/>
              <a:buChar char="•"/>
            </a:pPr>
            <a:r>
              <a:rPr lang="es-ES" b="0" i="0" dirty="0">
                <a:solidFill>
                  <a:srgbClr val="111111"/>
                </a:solidFill>
                <a:effectLst/>
                <a:latin typeface="Roboto" panose="02000000000000000000" pitchFamily="2" charset="0"/>
              </a:rPr>
              <a:t>Se anunciará de acuerdo con los requisitos de la Regulación Federal de Adquisiciones de EE. UU. siguiendo el proceso de "Selección de Arquitectos e Ingenieros“ - una conferencia previa a la propuesta se llevará a cabo antes de la emisión de la solicitud para proporcionar detalles adicionales</a:t>
            </a:r>
          </a:p>
          <a:p>
            <a:pPr marL="742950" lvl="1" indent="-285750">
              <a:buFont typeface="Arial" panose="020B0604020202020204" pitchFamily="34" charset="0"/>
              <a:buChar char="•"/>
            </a:pPr>
            <a:r>
              <a:rPr lang="en-US" sz="1400" dirty="0"/>
              <a:t>FAR Part 36.6 - </a:t>
            </a:r>
            <a:r>
              <a:rPr lang="en-US" sz="1400" dirty="0">
                <a:hlinkClick r:id="rId2"/>
              </a:rPr>
              <a:t>https://www.acquisition.gov/far/subpart-36.6</a:t>
            </a:r>
            <a:r>
              <a:rPr lang="en-US" sz="1400" dirty="0"/>
              <a:t> </a:t>
            </a:r>
          </a:p>
          <a:p>
            <a:pPr marL="742950" lvl="1" indent="-285750">
              <a:buFont typeface="Arial" panose="020B0604020202020204" pitchFamily="34" charset="0"/>
              <a:buChar char="•"/>
            </a:pPr>
            <a:r>
              <a:rPr lang="en-US" sz="1400" dirty="0"/>
              <a:t>EP 715-1-7 - </a:t>
            </a:r>
            <a:r>
              <a:rPr lang="en-US" sz="1400" dirty="0">
                <a:hlinkClick r:id="rId3"/>
              </a:rPr>
              <a:t>https://www.publications.usace.army.mil/Portals/76/Publications/EngineerPamphlets/EP_715-1-7.pdf</a:t>
            </a:r>
            <a:r>
              <a:rPr lang="en-US" sz="1400" dirty="0"/>
              <a:t> </a:t>
            </a:r>
            <a:endParaRPr lang="en-US" sz="1600" dirty="0"/>
          </a:p>
          <a:p>
            <a:pPr lvl="1"/>
            <a:endParaRPr lang="en-US" dirty="0"/>
          </a:p>
          <a:p>
            <a:pPr marL="285750" indent="-285750">
              <a:buFont typeface="Arial" panose="020B0604020202020204" pitchFamily="34" charset="0"/>
              <a:buChar char="•"/>
            </a:pPr>
            <a:r>
              <a:rPr lang="es-ES" b="0" i="0" dirty="0">
                <a:solidFill>
                  <a:srgbClr val="111111"/>
                </a:solidFill>
                <a:effectLst/>
                <a:latin typeface="Roboto" panose="02000000000000000000" pitchFamily="2" charset="0"/>
              </a:rPr>
              <a:t>Anticipar que la competencia puede restringirse a las empresas Peruanas</a:t>
            </a:r>
          </a:p>
          <a:p>
            <a:pPr marL="285750" indent="-285750">
              <a:buFont typeface="Arial" panose="020B0604020202020204" pitchFamily="34" charset="0"/>
              <a:buChar char="•"/>
            </a:pPr>
            <a:endParaRPr lang="es-ES" b="0" i="0" dirty="0">
              <a:solidFill>
                <a:srgbClr val="111111"/>
              </a:solidFill>
              <a:effectLst/>
              <a:latin typeface="Roboto" panose="02000000000000000000" pitchFamily="2" charset="0"/>
            </a:endParaRPr>
          </a:p>
          <a:p>
            <a:pPr marL="285750" indent="-285750">
              <a:buFont typeface="Arial" panose="020B0604020202020204" pitchFamily="34" charset="0"/>
              <a:buChar char="•"/>
            </a:pPr>
            <a:r>
              <a:rPr lang="es-ES" b="0" i="0" dirty="0">
                <a:solidFill>
                  <a:srgbClr val="111111"/>
                </a:solidFill>
                <a:effectLst/>
                <a:latin typeface="Roboto" panose="02000000000000000000" pitchFamily="2" charset="0"/>
              </a:rPr>
              <a:t>Las empresas involucradas en el desarrollo de documentos de licitación (como paquetes de Solicitud de Propuestas) no serán elegibles para participar en el concurso para actividades de construcción resultantes de su trabajo</a:t>
            </a:r>
          </a:p>
          <a:p>
            <a:pPr marL="285750" indent="-285750">
              <a:buFont typeface="Arial" panose="020B0604020202020204" pitchFamily="34" charset="0"/>
              <a:buChar char="•"/>
            </a:pPr>
            <a:endParaRPr lang="es" dirty="0"/>
          </a:p>
          <a:p>
            <a:pPr marL="285750" indent="-285750">
              <a:buFont typeface="Arial" panose="020B0604020202020204" pitchFamily="34" charset="0"/>
              <a:buChar char="•"/>
            </a:pPr>
            <a:r>
              <a:rPr lang="es" dirty="0"/>
              <a:t>NAICS 541330 – </a:t>
            </a:r>
            <a:r>
              <a:rPr lang="en-US" dirty="0" err="1"/>
              <a:t>Servicios</a:t>
            </a:r>
            <a:r>
              <a:rPr lang="en-US" dirty="0"/>
              <a:t> de </a:t>
            </a:r>
            <a:r>
              <a:rPr lang="en-US" dirty="0" err="1"/>
              <a:t>Ingeniería</a:t>
            </a:r>
            <a:r>
              <a:rPr lang="es" dirty="0"/>
              <a:t>: </a:t>
            </a:r>
            <a:r>
              <a:rPr lang="en-US" dirty="0">
                <a:hlinkClick r:id="rId4"/>
              </a:rPr>
              <a:t>https://www.naics.com/search/</a:t>
            </a:r>
            <a:r>
              <a:rPr lang="en-US" dirty="0"/>
              <a:t> </a:t>
            </a:r>
            <a:endParaRPr lang="es" dirty="0">
              <a:solidFill>
                <a:srgbClr val="FF0000"/>
              </a:solidFill>
              <a:highlight>
                <a:srgbClr val="FFFF00"/>
              </a:highlight>
            </a:endParaRPr>
          </a:p>
        </p:txBody>
      </p:sp>
    </p:spTree>
    <p:extLst>
      <p:ext uri="{BB962C8B-B14F-4D97-AF65-F5344CB8AC3E}">
        <p14:creationId xmlns:p14="http://schemas.microsoft.com/office/powerpoint/2010/main" val="3839504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Requisitos de construcción en tierra</a:t>
            </a:r>
            <a:endParaRPr lang="en-US" dirty="0"/>
          </a:p>
        </p:txBody>
      </p:sp>
      <p:sp>
        <p:nvSpPr>
          <p:cNvPr id="7" name="TextBox 6">
            <a:extLst>
              <a:ext uri="{FF2B5EF4-FFF2-40B4-BE49-F238E27FC236}">
                <a16:creationId xmlns:a16="http://schemas.microsoft.com/office/drawing/2014/main" id="{0F3381CF-0196-99D4-5826-3D2373CD4D56}"/>
              </a:ext>
            </a:extLst>
          </p:cNvPr>
          <p:cNvSpPr txBox="1"/>
          <p:nvPr/>
        </p:nvSpPr>
        <p:spPr>
          <a:xfrm>
            <a:off x="444663" y="1225689"/>
            <a:ext cx="11394219" cy="4247317"/>
          </a:xfrm>
          <a:prstGeom prst="rect">
            <a:avLst/>
          </a:prstGeom>
          <a:noFill/>
        </p:spPr>
        <p:txBody>
          <a:bodyPr wrap="square" rtlCol="0">
            <a:spAutoFit/>
          </a:bodyPr>
          <a:lstStyle/>
          <a:p>
            <a:pPr marL="285750" indent="-285750">
              <a:buFont typeface="Arial" panose="020B0604020202020204" pitchFamily="34" charset="0"/>
              <a:buChar char="•"/>
            </a:pPr>
            <a:r>
              <a:rPr lang="es" dirty="0"/>
              <a:t>Contrato de Orden de Trabajo de Adjudicación Múltiple (MATOC): Entrega indefinida, Cantidad indefinida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Cubre la construcción de instalaciones (edificios administrativos, cuarteles, comedores), vias, servicios públicos y otra infraestructura en el Puerto del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Capacidad (</a:t>
            </a:r>
            <a:r>
              <a:rPr lang="en-US" dirty="0"/>
              <a:t>Por </a:t>
            </a:r>
            <a:r>
              <a:rPr lang="en-US" dirty="0" err="1"/>
              <a:t>determinar</a:t>
            </a:r>
            <a:r>
              <a:rPr lang="es" dirty="0"/>
              <a:t>) compartida total durante cinco años</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s" dirty="0"/>
              <a:t>Capacidades de diseño y construcción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Adquisiciones sin restricciones de “mejor valor”</a:t>
            </a:r>
          </a:p>
          <a:p>
            <a:pPr marL="742950" lvl="1" indent="-285750">
              <a:buFont typeface="Arial" panose="020B0604020202020204" pitchFamily="34" charset="0"/>
              <a:buChar char="•"/>
            </a:pPr>
            <a:r>
              <a:rPr lang="es" dirty="0"/>
              <a:t>Se considerarán tanto factores de precio como no relacionados al precio.</a:t>
            </a:r>
          </a:p>
          <a:p>
            <a:pPr marL="742950" lvl="1" indent="-285750">
              <a:buFont typeface="Arial" panose="020B0604020202020204" pitchFamily="34" charset="0"/>
              <a:buChar char="•"/>
            </a:pPr>
            <a:r>
              <a:rPr lang="es" dirty="0"/>
              <a:t>Se seleccionará la propuesta que represente el mejor valor general.</a:t>
            </a:r>
          </a:p>
          <a:p>
            <a:pPr marL="742950" lvl="1" indent="-285750">
              <a:buFont typeface="Arial" panose="020B0604020202020204" pitchFamily="34" charset="0"/>
              <a:buChar char="•"/>
            </a:pPr>
            <a:r>
              <a:rPr lang="es" dirty="0"/>
              <a:t>No necesariamente se seleccionará la propuesta con el precio más bajo</a:t>
            </a:r>
          </a:p>
          <a:p>
            <a:endParaRPr lang="en-US" dirty="0"/>
          </a:p>
          <a:p>
            <a:pPr marL="285750" indent="-285750">
              <a:buFont typeface="Arial" panose="020B0604020202020204" pitchFamily="34" charset="0"/>
              <a:buChar char="•"/>
            </a:pPr>
            <a:r>
              <a:rPr lang="es" dirty="0"/>
              <a:t>NAICS 236220 – Construcción de edificios comerciales e institucionales: </a:t>
            </a:r>
            <a:r>
              <a:rPr lang="en-US" dirty="0">
                <a:hlinkClick r:id="rId2"/>
              </a:rPr>
              <a:t>https://www.naics.com/search/</a:t>
            </a:r>
            <a:r>
              <a:rPr lang="en-US" dirty="0"/>
              <a:t> </a:t>
            </a:r>
            <a:endParaRPr lang="es" dirty="0">
              <a:solidFill>
                <a:srgbClr val="FF0000"/>
              </a:solidFill>
              <a:highlight>
                <a:srgbClr val="FFFF00"/>
              </a:highlight>
            </a:endParaRPr>
          </a:p>
        </p:txBody>
      </p:sp>
    </p:spTree>
    <p:extLst>
      <p:ext uri="{BB962C8B-B14F-4D97-AF65-F5344CB8AC3E}">
        <p14:creationId xmlns:p14="http://schemas.microsoft.com/office/powerpoint/2010/main" val="3433994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262979"/>
          </a:xfrm>
          <a:prstGeom prst="rect">
            <a:avLst/>
          </a:prstGeom>
          <a:noFill/>
        </p:spPr>
        <p:txBody>
          <a:bodyPr wrap="square" rtlCol="0">
            <a:spAutoFit/>
          </a:bodyPr>
          <a:lstStyle/>
          <a:p>
            <a:pPr algn="ctr"/>
            <a:r>
              <a:rPr lang="es" sz="6600" dirty="0"/>
              <a:t>¿PREGUNTAS?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s" dirty="0">
                <a:solidFill>
                  <a:srgbClr val="FF0000"/>
                </a:solidFill>
              </a:rPr>
              <a:t>Las respuestas proporcionadas durante el Día de la Industria no son oficiales.</a:t>
            </a:r>
          </a:p>
          <a:p>
            <a:endParaRPr lang="en-US" dirty="0">
              <a:solidFill>
                <a:srgbClr val="FF0000"/>
              </a:solidFill>
            </a:endParaRPr>
          </a:p>
          <a:p>
            <a:r>
              <a:rPr lang="es-ES" dirty="0">
                <a:solidFill>
                  <a:srgbClr val="FF0000"/>
                </a:solidFill>
              </a:rPr>
              <a:t>Una vez que se haya emitido una solicitud, solo se proporcionarán respuestas oficiales a las preguntas enviadas a través del proceso de RFI descrito en la solicitud.  Antes de emitir una solicitud, puede ponerse en contacto con la Oficial de Contratación: </a:t>
            </a:r>
            <a:r>
              <a:rPr lang="es-ES" dirty="0" err="1">
                <a:solidFill>
                  <a:srgbClr val="FF0000"/>
                </a:solidFill>
              </a:rPr>
              <a:t>Jillian</a:t>
            </a:r>
            <a:r>
              <a:rPr lang="es-ES" dirty="0">
                <a:solidFill>
                  <a:srgbClr val="FF0000"/>
                </a:solidFill>
              </a:rPr>
              <a:t> </a:t>
            </a:r>
            <a:r>
              <a:rPr lang="es-ES" dirty="0" err="1">
                <a:solidFill>
                  <a:srgbClr val="FF0000"/>
                </a:solidFill>
              </a:rPr>
              <a:t>Saffle</a:t>
            </a:r>
            <a:r>
              <a:rPr lang="es-ES" dirty="0">
                <a:solidFill>
                  <a:srgbClr val="FF0000"/>
                </a:solidFill>
              </a:rPr>
              <a:t>, jillian.e.saffle@usace.army.mil.</a:t>
            </a:r>
            <a:endParaRPr lang="en-US" dirty="0">
              <a:solidFill>
                <a:srgbClr val="FF0000"/>
              </a:solidFill>
            </a:endParaRPr>
          </a:p>
        </p:txBody>
      </p:sp>
    </p:spTree>
    <p:extLst>
      <p:ext uri="{BB962C8B-B14F-4D97-AF65-F5344CB8AC3E}">
        <p14:creationId xmlns:p14="http://schemas.microsoft.com/office/powerpoint/2010/main" val="475177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s" dirty="0"/>
              <a:t>Requisitos Actuales – </a:t>
            </a:r>
            <a:r>
              <a:rPr lang="es-ES" dirty="0"/>
              <a:t>construcción del puerto</a:t>
            </a:r>
            <a:endParaRPr lang="es" dirty="0"/>
          </a:p>
        </p:txBody>
      </p:sp>
    </p:spTree>
    <p:extLst>
      <p:ext uri="{BB962C8B-B14F-4D97-AF65-F5344CB8AC3E}">
        <p14:creationId xmlns:p14="http://schemas.microsoft.com/office/powerpoint/2010/main" val="361620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59895AB-C8E4-43D0-B7A2-7AFAEC84E978}"/>
              </a:ext>
            </a:extLst>
          </p:cNvPr>
          <p:cNvPicPr>
            <a:picLocks noChangeAspect="1"/>
          </p:cNvPicPr>
          <p:nvPr/>
        </p:nvPicPr>
        <p:blipFill>
          <a:blip r:embed="rId2"/>
          <a:stretch>
            <a:fillRect/>
          </a:stretch>
        </p:blipFill>
        <p:spPr>
          <a:xfrm>
            <a:off x="2008727" y="1393902"/>
            <a:ext cx="8361507" cy="5464098"/>
          </a:xfrm>
          <a:prstGeom prst="rect">
            <a:avLst/>
          </a:prstGeom>
        </p:spPr>
      </p:pic>
      <p:sp>
        <p:nvSpPr>
          <p:cNvPr id="3" name="Title 3">
            <a:extLst>
              <a:ext uri="{FF2B5EF4-FFF2-40B4-BE49-F238E27FC236}">
                <a16:creationId xmlns:a16="http://schemas.microsoft.com/office/drawing/2014/main" id="{D1B6ACC3-751E-4FD8-8CB7-BDE7647C054B}"/>
              </a:ext>
            </a:extLst>
          </p:cNvPr>
          <p:cNvSpPr txBox="1">
            <a:spLocks/>
          </p:cNvSpPr>
          <p:nvPr/>
        </p:nvSpPr>
        <p:spPr>
          <a:xfrm>
            <a:off x="996073" y="179320"/>
            <a:ext cx="10386814"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PRIMERA LICITACION:</a:t>
            </a:r>
            <a:br>
              <a:rPr lang="es-PE" sz="2400" dirty="0"/>
            </a:br>
            <a:r>
              <a:rPr lang="es" sz="2400" dirty="0"/>
              <a:t>Construcción de revestimiento y rampas para embarcaciones</a:t>
            </a:r>
          </a:p>
        </p:txBody>
      </p:sp>
    </p:spTree>
    <p:extLst>
      <p:ext uri="{BB962C8B-B14F-4D97-AF65-F5344CB8AC3E}">
        <p14:creationId xmlns:p14="http://schemas.microsoft.com/office/powerpoint/2010/main" val="1135062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Construcción de revestimiento y rampas para embarcaciones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0939" y="1153823"/>
            <a:ext cx="11410122" cy="5909310"/>
          </a:xfrm>
          <a:prstGeom prst="rect">
            <a:avLst/>
          </a:prstGeom>
          <a:noFill/>
        </p:spPr>
        <p:txBody>
          <a:bodyPr wrap="square" rtlCol="0">
            <a:spAutoFit/>
          </a:bodyPr>
          <a:lstStyle/>
          <a:p>
            <a:pPr marL="285750" indent="-285750">
              <a:buFont typeface="Arial" panose="020B0604020202020204" pitchFamily="34" charset="0"/>
              <a:buChar char="•"/>
            </a:pPr>
            <a:r>
              <a:rPr lang="es" dirty="0"/>
              <a:t>Número de solicitud: W9127825RA023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Construcción de un nuevo revestimiento/estabilización de costa y una rampa para embarcaciones en la ubicación planificada del puerto de la Marina de Guerra del Perú, inmediatamente al norte del puerto comercial y al sur del río Rímac.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Adquisición de diseño-licitación-construcción (diseño completo </a:t>
            </a:r>
            <a:br>
              <a:rPr lang="es" dirty="0"/>
            </a:br>
            <a:r>
              <a:rPr lang="es" dirty="0"/>
              <a:t>proporcionado)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Adquisiciones sin restricciones, independientes y de “mejor valor”</a:t>
            </a:r>
          </a:p>
          <a:p>
            <a:pPr marL="742950" lvl="1" indent="-285750">
              <a:buFont typeface="Arial" panose="020B0604020202020204" pitchFamily="34" charset="0"/>
              <a:buChar char="•"/>
            </a:pPr>
            <a:r>
              <a:rPr lang="es" dirty="0"/>
              <a:t>Se considerarán tanto factores de precio como no relacionados</a:t>
            </a:r>
            <a:br>
              <a:rPr lang="es" dirty="0"/>
            </a:br>
            <a:r>
              <a:rPr lang="es" dirty="0"/>
              <a:t>al precio.</a:t>
            </a:r>
          </a:p>
          <a:p>
            <a:pPr marL="742950" lvl="1" indent="-285750">
              <a:buFont typeface="Arial" panose="020B0604020202020204" pitchFamily="34" charset="0"/>
              <a:buChar char="•"/>
            </a:pPr>
            <a:r>
              <a:rPr lang="es" dirty="0"/>
              <a:t>Se seleccionará la propuesta que represente el mejor valor general.</a:t>
            </a:r>
          </a:p>
          <a:p>
            <a:pPr marL="742950" lvl="1" indent="-285750">
              <a:buFont typeface="Arial" panose="020B0604020202020204" pitchFamily="34" charset="0"/>
              <a:buChar char="•"/>
            </a:pPr>
            <a:r>
              <a:rPr lang="es" dirty="0"/>
              <a:t>No necesariamente se seleccionará la propuesta con el precio más bajo</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Adjudicación de contrato único, firme y a precio fijo</a:t>
            </a:r>
          </a:p>
          <a:p>
            <a:pPr marL="285750" indent="-285750">
              <a:buFont typeface="Arial" panose="020B0604020202020204" pitchFamily="34" charset="0"/>
              <a:buChar char="•"/>
            </a:pPr>
            <a:endParaRPr lang="es" dirty="0"/>
          </a:p>
          <a:p>
            <a:pPr marL="285750" indent="-285750">
              <a:buFont typeface="Arial" panose="020B0604020202020204" pitchFamily="34" charset="0"/>
              <a:buChar char="•"/>
            </a:pPr>
            <a:r>
              <a:rPr lang="es-ES" dirty="0"/>
              <a:t>Anticipar la emisión de la solicitud en septiembre de 2025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NAICS 237990 – Construcción marina: </a:t>
            </a:r>
            <a:r>
              <a:rPr lang="en-US" dirty="0">
                <a:hlinkClick r:id="rId2"/>
              </a:rPr>
              <a:t>https://www.naics.com/search/</a:t>
            </a:r>
            <a:r>
              <a:rPr lang="en-US" dirty="0"/>
              <a:t> </a:t>
            </a:r>
            <a:endParaRPr lang="es" dirty="0"/>
          </a:p>
          <a:p>
            <a:pPr marL="285750" indent="-285750">
              <a:buFont typeface="Arial" panose="020B0604020202020204" pitchFamily="34" charset="0"/>
              <a:buChar char="•"/>
            </a:pPr>
            <a:endParaRPr lang="en-US" dirty="0"/>
          </a:p>
        </p:txBody>
      </p:sp>
      <p:pic>
        <p:nvPicPr>
          <p:cNvPr id="3" name="Picture 2" descr="A picture containing diagram&#10;&#10;AI-generated content may be incorrect.">
            <a:extLst>
              <a:ext uri="{FF2B5EF4-FFF2-40B4-BE49-F238E27FC236}">
                <a16:creationId xmlns:a16="http://schemas.microsoft.com/office/drawing/2014/main" id="{905C8E96-3812-5D46-AE01-9DC7FAC37069}"/>
              </a:ext>
            </a:extLst>
          </p:cNvPr>
          <p:cNvPicPr>
            <a:picLocks noChangeAspect="1"/>
          </p:cNvPicPr>
          <p:nvPr/>
        </p:nvPicPr>
        <p:blipFill>
          <a:blip r:embed="rId3"/>
          <a:srcRect l="6636" t="7849" r="937" b="20665"/>
          <a:stretch/>
        </p:blipFill>
        <p:spPr>
          <a:xfrm>
            <a:off x="7832034" y="2689315"/>
            <a:ext cx="4067904" cy="1787056"/>
          </a:xfrm>
          <a:prstGeom prst="rect">
            <a:avLst/>
          </a:prstGeom>
        </p:spPr>
      </p:pic>
    </p:spTree>
    <p:extLst>
      <p:ext uri="{BB962C8B-B14F-4D97-AF65-F5344CB8AC3E}">
        <p14:creationId xmlns:p14="http://schemas.microsoft.com/office/powerpoint/2010/main" val="869779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Proceso de solicitud independiente de una sola fase (o paso)</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577092"/>
            <a:ext cx="11497586" cy="4247317"/>
          </a:xfrm>
          <a:prstGeom prst="rect">
            <a:avLst/>
          </a:prstGeom>
          <a:noFill/>
        </p:spPr>
        <p:txBody>
          <a:bodyPr wrap="square" rtlCol="0">
            <a:spAutoFit/>
          </a:bodyPr>
          <a:lstStyle/>
          <a:p>
            <a:pPr marL="285750" indent="-285750">
              <a:buFont typeface="Arial" panose="020B0604020202020204" pitchFamily="34" charset="0"/>
              <a:buChar char="•"/>
            </a:pPr>
            <a:r>
              <a:rPr lang="es-ES" dirty="0"/>
              <a:t>Cualquier empresa que cumpla con los requisitos de la solicitud (consulte la diapositiva de información general anterior) es elegible para presentar una propuesta</a:t>
            </a:r>
            <a:endParaRPr lang="e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Una junta técnica evaluará las propuestas “sin precio” y un equipo separado determinará si la propuesta está completa y si el precio propuesto es justo y razonable.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El funcionario seleccionador realizará una evaluación técnica y de precio y seleccionará la empresa que recibirá el contrato para el requisito de construcción específico.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Todas las evaluaciones y decisiones serán revisadas por revisores y/o comités independientes.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USACE tiene la intención de adjudicar sin discusiones, pero puede abrir discusiones con cualquiera o todos los oferentes.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propuestas con una deficiencia no serán consideradas para la adjudicación.</a:t>
            </a:r>
          </a:p>
        </p:txBody>
      </p:sp>
    </p:spTree>
    <p:extLst>
      <p:ext uri="{BB962C8B-B14F-4D97-AF65-F5344CB8AC3E}">
        <p14:creationId xmlns:p14="http://schemas.microsoft.com/office/powerpoint/2010/main" val="2892926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9B1A3C7-9A2C-437D-997A-33E5D1495007}"/>
              </a:ext>
            </a:extLst>
          </p:cNvPr>
          <p:cNvPicPr>
            <a:picLocks noChangeAspect="1"/>
          </p:cNvPicPr>
          <p:nvPr/>
        </p:nvPicPr>
        <p:blipFill>
          <a:blip r:embed="rId2"/>
          <a:stretch>
            <a:fillRect/>
          </a:stretch>
        </p:blipFill>
        <p:spPr>
          <a:xfrm>
            <a:off x="2281033" y="978426"/>
            <a:ext cx="8085521" cy="5700254"/>
          </a:xfrm>
          <a:prstGeom prst="rect">
            <a:avLst/>
          </a:prstGeom>
        </p:spPr>
      </p:pic>
      <p:sp>
        <p:nvSpPr>
          <p:cNvPr id="3" name="Title 3">
            <a:extLst>
              <a:ext uri="{FF2B5EF4-FFF2-40B4-BE49-F238E27FC236}">
                <a16:creationId xmlns:a16="http://schemas.microsoft.com/office/drawing/2014/main" id="{8E4217EB-455F-4754-8A70-95E27E907F6D}"/>
              </a:ext>
            </a:extLst>
          </p:cNvPr>
          <p:cNvSpPr txBox="1">
            <a:spLocks/>
          </p:cNvSpPr>
          <p:nvPr/>
        </p:nvSpPr>
        <p:spPr>
          <a:xfrm>
            <a:off x="996073" y="179320"/>
            <a:ext cx="10386814"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SEGUNDA LICITACION (PROYECTO SEMILLA-MATOC):</a:t>
            </a:r>
            <a:br>
              <a:rPr lang="es-PE" sz="2400" dirty="0"/>
            </a:br>
            <a:r>
              <a:rPr lang="es-PE" sz="2400" dirty="0"/>
              <a:t>DISEÑO Y CONSTRUCCION DE ROMPEOLAS</a:t>
            </a:r>
            <a:endParaRPr lang="es" sz="2400" dirty="0"/>
          </a:p>
        </p:txBody>
      </p:sp>
    </p:spTree>
    <p:extLst>
      <p:ext uri="{BB962C8B-B14F-4D97-AF65-F5344CB8AC3E}">
        <p14:creationId xmlns:p14="http://schemas.microsoft.com/office/powerpoint/2010/main" val="1407586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DDF3D51-A553-4212-B959-F6BEBD52021E}"/>
              </a:ext>
            </a:extLst>
          </p:cNvPr>
          <p:cNvPicPr>
            <a:picLocks noChangeAspect="1"/>
          </p:cNvPicPr>
          <p:nvPr/>
        </p:nvPicPr>
        <p:blipFill rotWithShape="1">
          <a:blip r:embed="rId2"/>
          <a:srcRect b="2100"/>
          <a:stretch/>
        </p:blipFill>
        <p:spPr>
          <a:xfrm>
            <a:off x="1415600" y="541001"/>
            <a:ext cx="9532486" cy="5495391"/>
          </a:xfrm>
          <a:prstGeom prst="rect">
            <a:avLst/>
          </a:prstGeom>
        </p:spPr>
      </p:pic>
      <p:sp>
        <p:nvSpPr>
          <p:cNvPr id="3" name="Title 3">
            <a:extLst>
              <a:ext uri="{FF2B5EF4-FFF2-40B4-BE49-F238E27FC236}">
                <a16:creationId xmlns:a16="http://schemas.microsoft.com/office/drawing/2014/main" id="{74F841C0-76A7-4124-B1E4-37A59DC95791}"/>
              </a:ext>
            </a:extLst>
          </p:cNvPr>
          <p:cNvSpPr txBox="1">
            <a:spLocks/>
          </p:cNvSpPr>
          <p:nvPr/>
        </p:nvSpPr>
        <p:spPr>
          <a:xfrm>
            <a:off x="787179" y="541001"/>
            <a:ext cx="10588071"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TERCERA LICITACION (MATOC):</a:t>
            </a:r>
            <a:br>
              <a:rPr lang="es-PE" sz="2400" dirty="0"/>
            </a:br>
            <a:r>
              <a:rPr lang="es-PE" sz="2400" dirty="0"/>
              <a:t> DRAGADO, DISEÑO Y CONSTRUCCION DE MUELLE SUR Y MUELLE I</a:t>
            </a:r>
            <a:endParaRPr lang="es" sz="2400" dirty="0"/>
          </a:p>
        </p:txBody>
      </p:sp>
    </p:spTree>
    <p:extLst>
      <p:ext uri="{BB962C8B-B14F-4D97-AF65-F5344CB8AC3E}">
        <p14:creationId xmlns:p14="http://schemas.microsoft.com/office/powerpoint/2010/main" val="1686832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8925183-648A-4CA6-B4CE-94D8F2C4E487}"/>
              </a:ext>
            </a:extLst>
          </p:cNvPr>
          <p:cNvPicPr>
            <a:picLocks noChangeAspect="1"/>
          </p:cNvPicPr>
          <p:nvPr/>
        </p:nvPicPr>
        <p:blipFill>
          <a:blip r:embed="rId2"/>
          <a:stretch>
            <a:fillRect/>
          </a:stretch>
        </p:blipFill>
        <p:spPr>
          <a:xfrm>
            <a:off x="1954196" y="701293"/>
            <a:ext cx="7980636" cy="6078598"/>
          </a:xfrm>
          <a:prstGeom prst="rect">
            <a:avLst/>
          </a:prstGeom>
        </p:spPr>
      </p:pic>
      <p:sp>
        <p:nvSpPr>
          <p:cNvPr id="3" name="Title 3">
            <a:extLst>
              <a:ext uri="{FF2B5EF4-FFF2-40B4-BE49-F238E27FC236}">
                <a16:creationId xmlns:a16="http://schemas.microsoft.com/office/drawing/2014/main" id="{EF9CA1F1-6DA0-4088-83E4-F659BB9658F6}"/>
              </a:ext>
            </a:extLst>
          </p:cNvPr>
          <p:cNvSpPr txBox="1">
            <a:spLocks/>
          </p:cNvSpPr>
          <p:nvPr/>
        </p:nvSpPr>
        <p:spPr>
          <a:xfrm>
            <a:off x="787179" y="541001"/>
            <a:ext cx="10588071"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CUARTA LICITACION (MATOC):</a:t>
            </a:r>
            <a:br>
              <a:rPr lang="es-PE" sz="2400" dirty="0"/>
            </a:br>
            <a:r>
              <a:rPr lang="es-PE" sz="2400" dirty="0"/>
              <a:t>DISEÑO Y CONSTRUCCION DE MUELLE NORTE Y MUELLE II</a:t>
            </a:r>
            <a:endParaRPr lang="es" sz="2400" dirty="0"/>
          </a:p>
        </p:txBody>
      </p:sp>
    </p:spTree>
    <p:extLst>
      <p:ext uri="{BB962C8B-B14F-4D97-AF65-F5344CB8AC3E}">
        <p14:creationId xmlns:p14="http://schemas.microsoft.com/office/powerpoint/2010/main" val="3839219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diagram&#10;&#10;AI-generated content may be incorrect.">
            <a:extLst>
              <a:ext uri="{FF2B5EF4-FFF2-40B4-BE49-F238E27FC236}">
                <a16:creationId xmlns:a16="http://schemas.microsoft.com/office/drawing/2014/main" id="{4283F933-24C8-9F15-D3BB-7718A11E63E3}"/>
              </a:ext>
            </a:extLst>
          </p:cNvPr>
          <p:cNvPicPr>
            <a:picLocks noChangeAspect="1"/>
          </p:cNvPicPr>
          <p:nvPr/>
        </p:nvPicPr>
        <p:blipFill>
          <a:blip r:embed="rId2"/>
          <a:srcRect l="33075" t="17947"/>
          <a:stretch/>
        </p:blipFill>
        <p:spPr>
          <a:xfrm>
            <a:off x="8690444" y="1828801"/>
            <a:ext cx="3186277" cy="2313829"/>
          </a:xfrm>
          <a:prstGeom prst="rect">
            <a:avLst/>
          </a:prstGeom>
        </p:spPr>
      </p:pic>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a:xfrm>
            <a:off x="1041672" y="93306"/>
            <a:ext cx="10386814" cy="1202757"/>
          </a:xfrm>
        </p:spPr>
        <p:txBody>
          <a:bodyPr/>
          <a:lstStyle/>
          <a:p>
            <a:r>
              <a:rPr lang="es" dirty="0"/>
              <a:t>Requisitos de construcción del puerto</a:t>
            </a:r>
            <a:endParaRPr lang="en-US" dirty="0"/>
          </a:p>
        </p:txBody>
      </p:sp>
      <p:sp>
        <p:nvSpPr>
          <p:cNvPr id="7" name="TextBox 6">
            <a:extLst>
              <a:ext uri="{FF2B5EF4-FFF2-40B4-BE49-F238E27FC236}">
                <a16:creationId xmlns:a16="http://schemas.microsoft.com/office/drawing/2014/main" id="{0F3381CF-0196-99D4-5826-3D2373CD4D56}"/>
              </a:ext>
            </a:extLst>
          </p:cNvPr>
          <p:cNvSpPr txBox="1"/>
          <p:nvPr/>
        </p:nvSpPr>
        <p:spPr>
          <a:xfrm>
            <a:off x="413468" y="1296062"/>
            <a:ext cx="10129962" cy="4801314"/>
          </a:xfrm>
          <a:prstGeom prst="rect">
            <a:avLst/>
          </a:prstGeom>
          <a:noFill/>
        </p:spPr>
        <p:txBody>
          <a:bodyPr wrap="square" rtlCol="0">
            <a:spAutoFit/>
          </a:bodyPr>
          <a:lstStyle/>
          <a:p>
            <a:pPr marL="285750" indent="-285750">
              <a:buFont typeface="Arial" panose="020B0604020202020204" pitchFamily="34" charset="0"/>
              <a:buChar char="•"/>
            </a:pPr>
            <a:r>
              <a:rPr lang="es" dirty="0"/>
              <a:t>Contrato de Orden de Trabajo de Adjudicación Múltiple (MATOC): Entrega indefinida, Cantidad indefinida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Abarca la construcción de infraestructura portuaria en el Puerto del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$950,000,000 USD en capacidad compartida total durante cinco años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Capacidades de diseño y construcción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Adquisiciones sin restricciones de “mejor valor”</a:t>
            </a:r>
          </a:p>
          <a:p>
            <a:pPr marL="742950" lvl="1" indent="-285750">
              <a:buFont typeface="Arial" panose="020B0604020202020204" pitchFamily="34" charset="0"/>
              <a:buChar char="•"/>
            </a:pPr>
            <a:r>
              <a:rPr lang="es" dirty="0"/>
              <a:t>Se considerarán tanto factores de precio como no relacionados al precio.</a:t>
            </a:r>
          </a:p>
          <a:p>
            <a:pPr marL="742950" lvl="1" indent="-285750">
              <a:buFont typeface="Arial" panose="020B0604020202020204" pitchFamily="34" charset="0"/>
              <a:buChar char="•"/>
            </a:pPr>
            <a:r>
              <a:rPr lang="es" dirty="0"/>
              <a:t>Se seleccionará la propuesta que represente el mejor valor general.</a:t>
            </a:r>
          </a:p>
          <a:p>
            <a:pPr marL="742950" lvl="1" indent="-285750">
              <a:buFont typeface="Arial" panose="020B0604020202020204" pitchFamily="34" charset="0"/>
              <a:buChar char="•"/>
            </a:pPr>
            <a:r>
              <a:rPr lang="es" dirty="0"/>
              <a:t>No necesariamente se seleccionará la propuesta con el precio más bajo.</a:t>
            </a:r>
          </a:p>
          <a:p>
            <a:endParaRPr lang="en-US" dirty="0"/>
          </a:p>
          <a:p>
            <a:pPr marL="285750" indent="-285750">
              <a:buFont typeface="Arial" panose="020B0604020202020204" pitchFamily="34" charset="0"/>
              <a:buChar char="•"/>
            </a:pPr>
            <a:r>
              <a:rPr lang="es-ES" dirty="0"/>
              <a:t>Anticipar la emisión de la solicitud de la Fase 1 en diciembre de 2025</a:t>
            </a:r>
          </a:p>
          <a:p>
            <a:pPr marL="285750" indent="-285750">
              <a:buFont typeface="Arial" panose="020B0604020202020204" pitchFamily="34" charset="0"/>
              <a:buChar char="•"/>
            </a:pPr>
            <a:endParaRPr lang="es" dirty="0"/>
          </a:p>
          <a:p>
            <a:pPr marL="285750" indent="-285750">
              <a:buFont typeface="Arial" panose="020B0604020202020204" pitchFamily="34" charset="0"/>
              <a:buChar char="•"/>
            </a:pPr>
            <a:r>
              <a:rPr lang="es" dirty="0"/>
              <a:t>NAICS 237990 – Construcción marina: </a:t>
            </a:r>
            <a:r>
              <a:rPr lang="en-US" dirty="0">
                <a:hlinkClick r:id="rId3"/>
              </a:rPr>
              <a:t>https://www.naics.com/search/</a:t>
            </a:r>
            <a:r>
              <a:rPr lang="en-US" dirty="0"/>
              <a:t> </a:t>
            </a:r>
            <a:endParaRPr lang="es" dirty="0"/>
          </a:p>
        </p:txBody>
      </p:sp>
    </p:spTree>
    <p:extLst>
      <p:ext uri="{BB962C8B-B14F-4D97-AF65-F5344CB8AC3E}">
        <p14:creationId xmlns:p14="http://schemas.microsoft.com/office/powerpoint/2010/main" val="3599663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a:xfrm>
            <a:off x="266700" y="2286000"/>
            <a:ext cx="11658600" cy="1808921"/>
          </a:xfrm>
        </p:spPr>
        <p:txBody>
          <a:bodyPr/>
          <a:lstStyle/>
          <a:p>
            <a:r>
              <a:rPr lang="es" dirty="0"/>
              <a:t>Requisitos de licitación MATOC para construcción y reparación – MARINA DE GUERRA DEL PERU</a:t>
            </a:r>
            <a:endParaRPr lang="en-US" dirty="0"/>
          </a:p>
        </p:txBody>
      </p:sp>
    </p:spTree>
    <p:extLst>
      <p:ext uri="{BB962C8B-B14F-4D97-AF65-F5344CB8AC3E}">
        <p14:creationId xmlns:p14="http://schemas.microsoft.com/office/powerpoint/2010/main" val="3915343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Proceso MATOC de dos fases (o pasos)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103558"/>
            <a:ext cx="11497586" cy="5632311"/>
          </a:xfrm>
          <a:prstGeom prst="rect">
            <a:avLst/>
          </a:prstGeom>
          <a:noFill/>
        </p:spPr>
        <p:txBody>
          <a:bodyPr wrap="square" rtlCol="0">
            <a:spAutoFit/>
          </a:bodyPr>
          <a:lstStyle/>
          <a:p>
            <a:pPr marL="285750" indent="-285750">
              <a:buFont typeface="Arial" panose="020B0604020202020204" pitchFamily="34" charset="0"/>
              <a:buChar char="•"/>
            </a:pPr>
            <a:r>
              <a:rPr lang="es-ES" dirty="0"/>
              <a:t>Cualquier empresa que cumpla con los requisitos de la solicitud (consulte la diapositiva de información general anterior) es elegible para presentar una propuesta en la Fase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Una junta técnica evaluará las propuestas de la Fase Uno, y el Funcionario Seleccionador determinará qué empresas serán invitadas a participar en la Fase Dos de la competencia </a:t>
            </a:r>
            <a:r>
              <a:rPr lang="en-US" dirty="0"/>
              <a:t>(</a:t>
            </a:r>
            <a:r>
              <a:rPr lang="en-US" dirty="0" err="1"/>
              <a:t>anticipa</a:t>
            </a:r>
            <a:r>
              <a:rPr lang="en-US" dirty="0"/>
              <a:t> que </a:t>
            </a:r>
            <a:r>
              <a:rPr lang="en-US" dirty="0" err="1"/>
              <a:t>el</a:t>
            </a:r>
            <a:r>
              <a:rPr lang="en-US" dirty="0"/>
              <a:t> </a:t>
            </a:r>
            <a:r>
              <a:rPr lang="en-US" dirty="0" err="1"/>
              <a:t>objetivo</a:t>
            </a:r>
            <a:r>
              <a:rPr lang="en-US" dirty="0"/>
              <a:t> </a:t>
            </a:r>
            <a:r>
              <a:rPr lang="en-US" dirty="0" err="1"/>
              <a:t>será</a:t>
            </a:r>
            <a:r>
              <a:rPr lang="en-US" dirty="0"/>
              <a:t> </a:t>
            </a:r>
            <a:r>
              <a:rPr lang="en-US" dirty="0" err="1"/>
              <a:t>invitar</a:t>
            </a:r>
            <a:r>
              <a:rPr lang="en-US" dirty="0"/>
              <a:t> a 5 </a:t>
            </a:r>
            <a:r>
              <a:rPr lang="en-US" dirty="0" err="1"/>
              <a:t>empresas</a:t>
            </a:r>
            <a:r>
              <a:rPr lang="en-US" dirty="0"/>
              <a:t> para la </a:t>
            </a:r>
            <a:r>
              <a:rPr lang="en-US" dirty="0" err="1"/>
              <a:t>Fase</a:t>
            </a:r>
            <a:r>
              <a:rPr lang="en-US" dirty="0"/>
              <a:t> Dos).</a:t>
            </a:r>
            <a:endParaRPr lang="e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Se informará a todas las empresas si fueron seleccionadas o no para la Fase Dos.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Juntas separadas para la parte técnica y de precios evaluarán las propuestas de la Fase Dos, y el Funcionario Seleccionador decidirá las empresas que recibirán los contratos.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Todas las evaluaciones y decisiones serán realizadas por revisores y/o comités independientes.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USACE tiene la intención de adjudicar sin discusiones, pero puede iniciar conversaciones con cualquiera o todos los oferentes durante la Fase Uno y/o la Fase Dos.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propuestas con una deficiencia no serán consideradas para la adjudicación.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 presentación de hoy se basará en un proceso de dos fases.</a:t>
            </a:r>
            <a:endParaRPr lang="es" dirty="0">
              <a:solidFill>
                <a:srgbClr val="FF0000"/>
              </a:solidFill>
              <a:highlight>
                <a:srgbClr val="FFFF00"/>
              </a:highlight>
            </a:endParaRPr>
          </a:p>
        </p:txBody>
      </p:sp>
    </p:spTree>
    <p:extLst>
      <p:ext uri="{BB962C8B-B14F-4D97-AF65-F5344CB8AC3E}">
        <p14:creationId xmlns:p14="http://schemas.microsoft.com/office/powerpoint/2010/main" val="3412852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Procesos MATOC Para requisitos individuales</a:t>
            </a:r>
          </a:p>
        </p:txBody>
      </p:sp>
      <p:sp>
        <p:nvSpPr>
          <p:cNvPr id="3" name="TextBox 2">
            <a:extLst>
              <a:ext uri="{FF2B5EF4-FFF2-40B4-BE49-F238E27FC236}">
                <a16:creationId xmlns:a16="http://schemas.microsoft.com/office/drawing/2014/main" id="{B149E24D-0582-DA92-F39B-94479990B110}"/>
              </a:ext>
            </a:extLst>
          </p:cNvPr>
          <p:cNvSpPr txBox="1"/>
          <p:nvPr/>
        </p:nvSpPr>
        <p:spPr>
          <a:xfrm>
            <a:off x="457200" y="1249680"/>
            <a:ext cx="11104880" cy="5355312"/>
          </a:xfrm>
          <a:prstGeom prst="rect">
            <a:avLst/>
          </a:prstGeom>
          <a:noFill/>
        </p:spPr>
        <p:txBody>
          <a:bodyPr wrap="square">
            <a:spAutoFit/>
          </a:bodyPr>
          <a:lstStyle/>
          <a:p>
            <a:pPr marL="285750" indent="-285750">
              <a:buFont typeface="Arial" panose="020B0604020202020204" pitchFamily="34" charset="0"/>
              <a:buChar char="•"/>
            </a:pPr>
            <a:r>
              <a:rPr lang="es-ES" dirty="0"/>
              <a:t>El proceso de selección para el MATOC dará lugar a la adjudicación de "contratos básicos" a un grupo de contratistas y a la adjudicación del proyecto inicial a un miembro de ese grupo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Los contratistas que reciban la adjudicación de un "contrato básico" serán elegibles para competir contra otros contratistas en el grupo para la adjudicación de proyectos futuros (adjudicados como órdenes de trabajo) bajo los términos del contrato básico firmado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Solo las empresas que tengan un contrato básico podrán competir por estos requisitos futuros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 adjudicación de un contrato básico no garantiza la adjudicación de trabajos futuros, solo permite la participación en el concurso para trabajos futuros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Cada Solicitud de Propuesta de orden de tarea proporcionará instrucciones sobre qué elementos se requieren para la competencia, pero generalmente incluirán el precio y una discusión técnica/de gestión específica para ese proyecto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USACE no paga por adelantado, por lo que el contratista ganador de cada proyecto debe estar preparado para iniciar acciones y movilizarse antes de su primer pago: los pagos solo se realizarán por el trabajo completado y verificado por el Representante del Oficial de Contrataciones de USACE</a:t>
            </a:r>
            <a:endParaRPr lang="en-US" dirty="0"/>
          </a:p>
        </p:txBody>
      </p:sp>
    </p:spTree>
    <p:extLst>
      <p:ext uri="{BB962C8B-B14F-4D97-AF65-F5344CB8AC3E}">
        <p14:creationId xmlns:p14="http://schemas.microsoft.com/office/powerpoint/2010/main" val="46595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Sección 00 11 00: fase (o paso) uno</a:t>
            </a:r>
          </a:p>
        </p:txBody>
      </p:sp>
      <p:sp>
        <p:nvSpPr>
          <p:cNvPr id="7" name="TextBox 6">
            <a:extLst>
              <a:ext uri="{FF2B5EF4-FFF2-40B4-BE49-F238E27FC236}">
                <a16:creationId xmlns:a16="http://schemas.microsoft.com/office/drawing/2014/main" id="{0F3381CF-0196-99D4-5826-3D2373CD4D56}"/>
              </a:ext>
            </a:extLst>
          </p:cNvPr>
          <p:cNvSpPr txBox="1"/>
          <p:nvPr/>
        </p:nvSpPr>
        <p:spPr>
          <a:xfrm>
            <a:off x="111760" y="961901"/>
            <a:ext cx="12080240" cy="5909310"/>
          </a:xfrm>
          <a:prstGeom prst="rect">
            <a:avLst/>
          </a:prstGeom>
          <a:noFill/>
        </p:spPr>
        <p:txBody>
          <a:bodyPr wrap="square" rtlCol="0">
            <a:spAutoFit/>
          </a:bodyPr>
          <a:lstStyle/>
          <a:p>
            <a:pPr marL="285750" indent="-285750">
              <a:buFont typeface="Arial" panose="020B0604020202020204" pitchFamily="34" charset="0"/>
              <a:buChar char="•"/>
            </a:pPr>
            <a:r>
              <a:rPr lang="es" dirty="0">
                <a:solidFill>
                  <a:srgbClr val="FF0000"/>
                </a:solidFill>
              </a:rPr>
              <a:t>Factor 1 – </a:t>
            </a:r>
            <a:r>
              <a:rPr lang="en-US" dirty="0" err="1">
                <a:solidFill>
                  <a:srgbClr val="FF0000"/>
                </a:solidFill>
              </a:rPr>
              <a:t>Experiencia</a:t>
            </a:r>
            <a:r>
              <a:rPr lang="es" dirty="0">
                <a:solidFill>
                  <a:srgbClr val="FF0000"/>
                </a:solidFill>
              </a:rPr>
              <a:t> pasada de Contratista principal </a:t>
            </a:r>
            <a:r>
              <a:rPr lang="en-US" dirty="0" err="1">
                <a:solidFill>
                  <a:srgbClr val="FF0000"/>
                </a:solidFill>
              </a:rPr>
              <a:t>en</a:t>
            </a:r>
            <a:r>
              <a:rPr lang="en-US" dirty="0">
                <a:solidFill>
                  <a:srgbClr val="FF0000"/>
                </a:solidFill>
              </a:rPr>
              <a:t> Perú</a:t>
            </a:r>
            <a:endParaRPr lang="es" dirty="0">
              <a:solidFill>
                <a:srgbClr val="FF0000"/>
              </a:solidFill>
            </a:endParaRPr>
          </a:p>
          <a:p>
            <a:pPr marL="285750" indent="-285750">
              <a:buFont typeface="Arial" panose="020B0604020202020204" pitchFamily="34" charset="0"/>
              <a:buChar char="•"/>
            </a:pPr>
            <a:r>
              <a:rPr lang="es" dirty="0">
                <a:solidFill>
                  <a:srgbClr val="FF0000"/>
                </a:solidFill>
              </a:rPr>
              <a:t>Factor 2 – </a:t>
            </a:r>
            <a:r>
              <a:rPr lang="en-US" dirty="0" err="1">
                <a:solidFill>
                  <a:srgbClr val="FF0000"/>
                </a:solidFill>
              </a:rPr>
              <a:t>Experiencia</a:t>
            </a:r>
            <a:r>
              <a:rPr lang="es" dirty="0">
                <a:solidFill>
                  <a:srgbClr val="FF0000"/>
                </a:solidFill>
              </a:rPr>
              <a:t> pasada de Contratista principal </a:t>
            </a:r>
            <a:r>
              <a:rPr lang="es-ES" dirty="0">
                <a:solidFill>
                  <a:srgbClr val="FF0000"/>
                </a:solidFill>
              </a:rPr>
              <a:t>en la construcción portuaria</a:t>
            </a:r>
            <a:endParaRPr lang="es" dirty="0">
              <a:solidFill>
                <a:srgbClr val="FF0000"/>
              </a:solidFill>
            </a:endParaRPr>
          </a:p>
          <a:p>
            <a:pPr marL="285750" indent="-285750">
              <a:buFont typeface="Arial" panose="020B0604020202020204" pitchFamily="34" charset="0"/>
              <a:buChar char="•"/>
            </a:pPr>
            <a:r>
              <a:rPr lang="es" dirty="0">
                <a:solidFill>
                  <a:srgbClr val="FF0000"/>
                </a:solidFill>
              </a:rPr>
              <a:t>Factor 3 – Experiencia pasada de la empresa líder de diseño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0" i="0" dirty="0">
                <a:solidFill>
                  <a:srgbClr val="111111"/>
                </a:solidFill>
                <a:effectLst/>
                <a:latin typeface="Roboto" panose="02000000000000000000" pitchFamily="2" charset="0"/>
              </a:rPr>
              <a:t>En </a:t>
            </a:r>
            <a:r>
              <a:rPr lang="en-US" b="0" i="0" dirty="0" err="1">
                <a:solidFill>
                  <a:srgbClr val="111111"/>
                </a:solidFill>
                <a:effectLst/>
                <a:latin typeface="Roboto" panose="02000000000000000000" pitchFamily="2" charset="0"/>
              </a:rPr>
              <a:t>orden</a:t>
            </a:r>
            <a:r>
              <a:rPr lang="en-US" b="0" i="0" dirty="0">
                <a:solidFill>
                  <a:srgbClr val="111111"/>
                </a:solidFill>
                <a:effectLst/>
                <a:latin typeface="Roboto" panose="02000000000000000000" pitchFamily="2" charset="0"/>
              </a:rPr>
              <a:t> de </a:t>
            </a:r>
            <a:r>
              <a:rPr lang="en-US" b="0" i="0" dirty="0" err="1">
                <a:solidFill>
                  <a:srgbClr val="111111"/>
                </a:solidFill>
                <a:effectLst/>
                <a:latin typeface="Roboto" panose="02000000000000000000" pitchFamily="2" charset="0"/>
              </a:rPr>
              <a:t>importancia</a:t>
            </a:r>
            <a:endParaRPr lang="en-US" b="0" i="0" dirty="0">
              <a:solidFill>
                <a:srgbClr val="111111"/>
              </a:solidFill>
              <a:effectLst/>
              <a:latin typeface="Roboto" panose="02000000000000000000" pitchFamily="2" charset="0"/>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Se requiere una respuesta separada para cada factor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Dos componentes para cada factor:</a:t>
            </a:r>
          </a:p>
          <a:p>
            <a:pPr marL="742950" lvl="1" indent="-285750">
              <a:buFont typeface="Arial" panose="020B0604020202020204" pitchFamily="34" charset="0"/>
              <a:buChar char="•"/>
            </a:pPr>
            <a:r>
              <a:rPr lang="es" dirty="0"/>
              <a:t>Esfuerzo relevante de la empresa:</a:t>
            </a:r>
          </a:p>
          <a:p>
            <a:pPr marL="1200150" lvl="2" indent="-285750">
              <a:buFont typeface="Arial" panose="020B0604020202020204" pitchFamily="34" charset="0"/>
              <a:buChar char="•"/>
            </a:pPr>
            <a:r>
              <a:rPr lang="es" dirty="0"/>
              <a:t>Reciente (según se define en la solicitud) &amp; Relevante  (según se define en la solicitud)</a:t>
            </a:r>
          </a:p>
          <a:p>
            <a:pPr lvl="2"/>
            <a:endParaRPr lang="en-US" dirty="0"/>
          </a:p>
          <a:p>
            <a:pPr marL="742950" lvl="1" indent="-285750">
              <a:buFont typeface="Arial" panose="020B0604020202020204" pitchFamily="34" charset="0"/>
              <a:buChar char="•"/>
            </a:pPr>
            <a:r>
              <a:rPr lang="es" dirty="0"/>
              <a:t>Calidad del desempeño pasado</a:t>
            </a:r>
          </a:p>
          <a:p>
            <a:pPr marL="1200150" lvl="2" indent="-285750">
              <a:buFont typeface="Arial" panose="020B0604020202020204" pitchFamily="34" charset="0"/>
              <a:buChar char="•"/>
            </a:pPr>
            <a:r>
              <a:rPr lang="es" dirty="0"/>
              <a:t>Proyectos del Gobierno Federal: CPARS (provisional o final) cuando esté disponible; de lo contrario, utilice el formato del Cuestionario de desempeño pasado (PPQ) proporcionado.</a:t>
            </a:r>
          </a:p>
          <a:p>
            <a:pPr marL="1200150" lvl="2" indent="-285750">
              <a:buFont typeface="Arial" panose="020B0604020202020204" pitchFamily="34" charset="0"/>
              <a:buChar char="•"/>
            </a:pPr>
            <a:r>
              <a:rPr lang="es" dirty="0"/>
              <a:t>Otros proyectos: solo PPQ (Adjunto en la sección de solicitud)</a:t>
            </a:r>
          </a:p>
          <a:p>
            <a:pPr marL="285750" indent="-285750">
              <a:buFont typeface="Arial" panose="020B0604020202020204" pitchFamily="34" charset="0"/>
              <a:buChar char="•"/>
            </a:pPr>
            <a:endParaRPr lang="en-US" dirty="0"/>
          </a:p>
          <a:p>
            <a:pPr marL="1200150" lvl="2" indent="-285750">
              <a:buFont typeface="Arial" panose="020B0604020202020204" pitchFamily="34" charset="0"/>
              <a:buChar char="•"/>
            </a:pPr>
            <a:r>
              <a:rPr lang="es" dirty="0"/>
              <a:t>Máximo de 5 ejemplos por factor (Adjunto en la sección de solicitud)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Rendimiento pasado del oferente = Nombre del oferente en SF1442 (</a:t>
            </a:r>
            <a:r>
              <a:rPr lang="en-US" dirty="0" err="1"/>
              <a:t>Formulario</a:t>
            </a:r>
            <a:r>
              <a:rPr lang="en-US" dirty="0"/>
              <a:t> </a:t>
            </a:r>
            <a:r>
              <a:rPr lang="en-US" dirty="0" err="1"/>
              <a:t>en</a:t>
            </a:r>
            <a:r>
              <a:rPr lang="en-US" dirty="0"/>
              <a:t> la </a:t>
            </a:r>
            <a:r>
              <a:rPr lang="en-US" dirty="0" err="1"/>
              <a:t>solicitud</a:t>
            </a:r>
            <a:r>
              <a:rPr lang="es" dirty="0"/>
              <a:t>) excepto como se describe en la solicitud</a:t>
            </a:r>
            <a:endParaRPr lang="es" dirty="0">
              <a:solidFill>
                <a:srgbClr val="FF0000"/>
              </a:solidFill>
              <a:highlight>
                <a:srgbClr val="FFFF00"/>
              </a:highlight>
            </a:endParaRPr>
          </a:p>
        </p:txBody>
      </p:sp>
    </p:spTree>
    <p:extLst>
      <p:ext uri="{BB962C8B-B14F-4D97-AF65-F5344CB8AC3E}">
        <p14:creationId xmlns:p14="http://schemas.microsoft.com/office/powerpoint/2010/main" val="1002938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Sección 00 11 00: fase (o paso) uno</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078313"/>
          </a:xfrm>
          <a:prstGeom prst="rect">
            <a:avLst/>
          </a:prstGeom>
          <a:noFill/>
        </p:spPr>
        <p:txBody>
          <a:bodyPr wrap="square" rtlCol="0">
            <a:spAutoFit/>
          </a:bodyPr>
          <a:lstStyle/>
          <a:p>
            <a:pPr marL="285750" indent="-285750">
              <a:buFont typeface="Arial" panose="020B0604020202020204" pitchFamily="34" charset="0"/>
              <a:buChar char="•"/>
            </a:pPr>
            <a:r>
              <a:rPr lang="es" dirty="0">
                <a:solidFill>
                  <a:srgbClr val="FF0000"/>
                </a:solidFill>
              </a:rPr>
              <a:t>Factor 1 – </a:t>
            </a:r>
            <a:r>
              <a:rPr lang="en-US" dirty="0" err="1">
                <a:solidFill>
                  <a:srgbClr val="FF0000"/>
                </a:solidFill>
              </a:rPr>
              <a:t>Experiencia</a:t>
            </a:r>
            <a:r>
              <a:rPr lang="es" dirty="0">
                <a:solidFill>
                  <a:srgbClr val="FF0000"/>
                </a:solidFill>
              </a:rPr>
              <a:t> pasada de Contratista principal </a:t>
            </a:r>
            <a:r>
              <a:rPr lang="en-US" dirty="0" err="1">
                <a:solidFill>
                  <a:srgbClr val="FF0000"/>
                </a:solidFill>
              </a:rPr>
              <a:t>en</a:t>
            </a:r>
            <a:r>
              <a:rPr lang="en-US" dirty="0">
                <a:solidFill>
                  <a:srgbClr val="FF0000"/>
                </a:solidFill>
              </a:rPr>
              <a:t> Perú</a:t>
            </a:r>
            <a:endParaRPr lang="es" dirty="0">
              <a:solidFill>
                <a:srgbClr val="FF0000"/>
              </a:solidFill>
            </a:endParaRPr>
          </a:p>
          <a:p>
            <a:pPr marL="285750" indent="-285750">
              <a:buFont typeface="Arial" panose="020B0604020202020204" pitchFamily="34" charset="0"/>
              <a:buChar char="•"/>
            </a:pPr>
            <a:r>
              <a:rPr lang="es" dirty="0">
                <a:solidFill>
                  <a:srgbClr val="FF0000"/>
                </a:solidFill>
              </a:rPr>
              <a:t>Factor 2 – </a:t>
            </a:r>
            <a:r>
              <a:rPr lang="en-US" dirty="0" err="1">
                <a:solidFill>
                  <a:srgbClr val="FF0000"/>
                </a:solidFill>
              </a:rPr>
              <a:t>Experiencia</a:t>
            </a:r>
            <a:r>
              <a:rPr lang="es" dirty="0">
                <a:solidFill>
                  <a:srgbClr val="FF0000"/>
                </a:solidFill>
              </a:rPr>
              <a:t> pasada de Contratista principal </a:t>
            </a:r>
            <a:r>
              <a:rPr lang="es-ES" dirty="0">
                <a:solidFill>
                  <a:srgbClr val="FF0000"/>
                </a:solidFill>
              </a:rPr>
              <a:t>en la construcción portuaria</a:t>
            </a:r>
            <a:endParaRPr lang="es" dirty="0">
              <a:solidFill>
                <a:srgbClr val="FF0000"/>
              </a:solidFill>
            </a:endParaRPr>
          </a:p>
          <a:p>
            <a:pPr marL="285750" indent="-285750">
              <a:buFont typeface="Arial" panose="020B0604020202020204" pitchFamily="34" charset="0"/>
              <a:buChar char="•"/>
            </a:pPr>
            <a:r>
              <a:rPr lang="es" dirty="0">
                <a:solidFill>
                  <a:srgbClr val="FF0000"/>
                </a:solidFill>
              </a:rPr>
              <a:t>Factor 3 – Experiencia pasada de la empresa líder de diseño</a:t>
            </a:r>
          </a:p>
          <a:p>
            <a:pPr marL="285750" indent="-285750">
              <a:buFont typeface="Arial" panose="020B0604020202020204" pitchFamily="34" charset="0"/>
              <a:buChar char="•"/>
            </a:pPr>
            <a:endParaRPr lang="es" dirty="0">
              <a:solidFill>
                <a:srgbClr val="FF0000"/>
              </a:solidFill>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Evaluación de cada factor:</a:t>
            </a:r>
          </a:p>
          <a:p>
            <a:pPr marL="742950" lvl="1" indent="-285750">
              <a:buFont typeface="Arial" panose="020B0604020202020204" pitchFamily="34" charset="0"/>
              <a:buChar char="•"/>
            </a:pPr>
            <a:r>
              <a:rPr lang="es" dirty="0"/>
              <a:t>Paso 1: Determinar si los proyectos presentados son recientes y relevantes</a:t>
            </a:r>
          </a:p>
          <a:p>
            <a:pPr marL="742950" lvl="1" indent="-285750">
              <a:buFont typeface="Arial" panose="020B0604020202020204" pitchFamily="34" charset="0"/>
              <a:buChar char="•"/>
            </a:pPr>
            <a:r>
              <a:rPr lang="es" dirty="0"/>
              <a:t>Paso 2: Asignar calificaciones a cada proyecto según el nivel de relevancia</a:t>
            </a:r>
          </a:p>
          <a:p>
            <a:pPr marL="742950" lvl="1" indent="-285750">
              <a:buFont typeface="Arial" panose="020B0604020202020204" pitchFamily="34" charset="0"/>
              <a:buChar char="•"/>
            </a:pPr>
            <a:r>
              <a:rPr lang="es" dirty="0"/>
              <a:t>Paso 3: Evaluar el desempeño del Contratista o de la empresa de diseño principal en estos proyectos</a:t>
            </a:r>
          </a:p>
          <a:p>
            <a:pPr marL="742950" lvl="1" indent="-285750">
              <a:buFont typeface="Arial" panose="020B0604020202020204" pitchFamily="34" charset="0"/>
              <a:buChar char="•"/>
            </a:pPr>
            <a:r>
              <a:rPr lang="es" dirty="0"/>
              <a:t>Paso 4: </a:t>
            </a:r>
            <a:r>
              <a:rPr lang="es-ES" dirty="0"/>
              <a:t>Determinar la calificación general de evaluación de confianza en el rendimiento.</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 calificación de </a:t>
            </a:r>
            <a:r>
              <a:rPr lang="es-ES" dirty="0"/>
              <a:t>evaluación de confianza en el rendimiento </a:t>
            </a:r>
            <a:r>
              <a:rPr lang="es" dirty="0"/>
              <a:t>refleja el grado de probabilidad de que el oferente o la empresa de diseño principal puedan cumplir con los requisitos de la solicitud.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propuestas de los oferentes con poco o ningún desempeño pasado relevante serán calificadas como de confianza neutral.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59414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Sección 00 11 00: fase (o paso) uno</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4801314"/>
          </a:xfrm>
          <a:prstGeom prst="rect">
            <a:avLst/>
          </a:prstGeom>
          <a:noFill/>
        </p:spPr>
        <p:txBody>
          <a:bodyPr wrap="square" rtlCol="0">
            <a:spAutoFit/>
          </a:bodyPr>
          <a:lstStyle/>
          <a:p>
            <a:pPr marL="285750" indent="-285750">
              <a:buFont typeface="Arial" panose="020B0604020202020204" pitchFamily="34" charset="0"/>
              <a:buChar char="•"/>
            </a:pPr>
            <a:r>
              <a:rPr lang="es" dirty="0">
                <a:solidFill>
                  <a:srgbClr val="FF0000"/>
                </a:solidFill>
              </a:rPr>
              <a:t>Factor 4 – Enfoque general de Gestión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4º en importancia relativa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Narrativa para incluir información sobre:</a:t>
            </a:r>
          </a:p>
          <a:p>
            <a:pPr marL="742950" lvl="1" indent="-285750">
              <a:buFont typeface="Arial" panose="020B0604020202020204" pitchFamily="34" charset="0"/>
              <a:buChar char="•"/>
            </a:pPr>
            <a:r>
              <a:rPr lang="es-ES" dirty="0"/>
              <a:t>Estructura organizacional de la oficina central</a:t>
            </a:r>
          </a:p>
          <a:p>
            <a:pPr marL="742950" lvl="1" indent="-285750">
              <a:buFont typeface="Arial" panose="020B0604020202020204" pitchFamily="34" charset="0"/>
              <a:buChar char="•"/>
            </a:pPr>
            <a:r>
              <a:rPr lang="es-ES" dirty="0"/>
              <a:t>Tipo de trabajo que el oferente tiene la intención de realizar por sí mismo</a:t>
            </a:r>
          </a:p>
          <a:p>
            <a:pPr marL="742950" lvl="1" indent="-285750">
              <a:buFont typeface="Arial" panose="020B0604020202020204" pitchFamily="34" charset="0"/>
              <a:buChar char="•"/>
            </a:pPr>
            <a:r>
              <a:rPr lang="es-ES" dirty="0"/>
              <a:t>Método de negocio del oferente para seleccionar y gestionar subcontratistas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Evaluación:</a:t>
            </a:r>
          </a:p>
          <a:p>
            <a:pPr marL="742950" lvl="1" indent="-285750">
              <a:buFont typeface="Arial" panose="020B0604020202020204" pitchFamily="34" charset="0"/>
              <a:buChar char="•"/>
            </a:pPr>
            <a:r>
              <a:rPr lang="es" dirty="0"/>
              <a:t>Paso 1: Evaluar cada aspecto de la narrativa para evaluar la comprensión del oferente de los requisitos.</a:t>
            </a:r>
          </a:p>
          <a:p>
            <a:pPr marL="742950" lvl="1" indent="-285750">
              <a:buFont typeface="Arial" panose="020B0604020202020204" pitchFamily="34" charset="0"/>
              <a:buChar char="•"/>
            </a:pPr>
            <a:r>
              <a:rPr lang="es" dirty="0"/>
              <a:t>Paso 2: Determinar fortalezas, debilidades y deficiencias</a:t>
            </a:r>
          </a:p>
          <a:p>
            <a:pPr marL="742950" lvl="1" indent="-285750">
              <a:buFont typeface="Arial" panose="020B0604020202020204" pitchFamily="34" charset="0"/>
              <a:buChar char="•"/>
            </a:pPr>
            <a:r>
              <a:rPr lang="es" dirty="0"/>
              <a:t>Paso 3: Asignar una calificación técnica/de riesgo combinada general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 calificación técnica/de riesgo refleja el grado en que el enfoque propuesto cumple o no con los requisitos técnicos mínimos.</a:t>
            </a:r>
          </a:p>
          <a:p>
            <a:endParaRPr lang="en-US" dirty="0">
              <a:solidFill>
                <a:srgbClr val="FF0000"/>
              </a:solidFill>
            </a:endParaRPr>
          </a:p>
        </p:txBody>
      </p:sp>
    </p:spTree>
    <p:extLst>
      <p:ext uri="{BB962C8B-B14F-4D97-AF65-F5344CB8AC3E}">
        <p14:creationId xmlns:p14="http://schemas.microsoft.com/office/powerpoint/2010/main" val="408042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Sección 00 12 00: fase (o paso) DOS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081459"/>
            <a:ext cx="11497586" cy="6186309"/>
          </a:xfrm>
          <a:prstGeom prst="rect">
            <a:avLst/>
          </a:prstGeom>
          <a:noFill/>
        </p:spPr>
        <p:txBody>
          <a:bodyPr wrap="square" rtlCol="0">
            <a:spAutoFit/>
          </a:bodyPr>
          <a:lstStyle/>
          <a:p>
            <a:pPr marL="285750" indent="-285750">
              <a:buFont typeface="Arial" panose="020B0604020202020204" pitchFamily="34" charset="0"/>
              <a:buChar char="•"/>
            </a:pPr>
            <a:r>
              <a:rPr lang="es" dirty="0"/>
              <a:t>Proceso de evaluación</a:t>
            </a:r>
          </a:p>
          <a:p>
            <a:pPr marL="742950" lvl="1" indent="-285750">
              <a:buFont typeface="Arial" panose="020B0604020202020204" pitchFamily="34" charset="0"/>
              <a:buChar char="•"/>
            </a:pPr>
            <a:r>
              <a:rPr lang="es" dirty="0"/>
              <a:t>Componentes:</a:t>
            </a:r>
          </a:p>
          <a:p>
            <a:pPr marL="1200150" lvl="2" indent="-285750">
              <a:buFont typeface="Arial" panose="020B0604020202020204" pitchFamily="34" charset="0"/>
              <a:buChar char="•"/>
            </a:pPr>
            <a:r>
              <a:rPr lang="es" dirty="0"/>
              <a:t>Revisión del cumplimiento de la propuesta</a:t>
            </a:r>
          </a:p>
          <a:p>
            <a:pPr marL="1200150" lvl="2" indent="-285750">
              <a:buFont typeface="Arial" panose="020B0604020202020204" pitchFamily="34" charset="0"/>
              <a:buChar char="•"/>
            </a:pPr>
            <a:r>
              <a:rPr lang="es" dirty="0"/>
              <a:t>Evaluación de factores no relacionados con el precio de la segunda fase</a:t>
            </a:r>
          </a:p>
          <a:p>
            <a:pPr marL="1200150" lvl="2" indent="-285750">
              <a:buFont typeface="Arial" panose="020B0604020202020204" pitchFamily="34" charset="0"/>
              <a:buChar char="•"/>
            </a:pPr>
            <a:r>
              <a:rPr lang="es" dirty="0"/>
              <a:t>Análisis de precios</a:t>
            </a:r>
          </a:p>
          <a:p>
            <a:pPr marL="1657350" lvl="3" indent="-285750">
              <a:buFont typeface="Arial" panose="020B0604020202020204" pitchFamily="34" charset="0"/>
              <a:buChar char="•"/>
            </a:pPr>
            <a:r>
              <a:rPr lang="es" dirty="0"/>
              <a:t>justo, razonable, desequilibrio de ofertas</a:t>
            </a:r>
          </a:p>
          <a:p>
            <a:pPr marL="1200150" lvl="2" indent="-285750">
              <a:buFont typeface="Arial" panose="020B0604020202020204" pitchFamily="34" charset="0"/>
              <a:buChar char="•"/>
            </a:pPr>
            <a:r>
              <a:rPr lang="es" dirty="0"/>
              <a:t>Análisis de compensación precio/no precio</a:t>
            </a:r>
          </a:p>
          <a:p>
            <a:pPr marL="1657350" lvl="3" indent="-285750">
              <a:buFont typeface="Arial" panose="020B0604020202020204" pitchFamily="34" charset="0"/>
              <a:buChar char="•"/>
            </a:pPr>
            <a:r>
              <a:rPr lang="es" dirty="0"/>
              <a:t>basado en ventajas y desventajas relativas de propuestas y precios</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s" dirty="0"/>
              <a:t>Los factores no relacionados con el precio son evaluados independientemente del precio por un equipo técnico.</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s" dirty="0"/>
              <a:t>El precio no se califica, pero un equipo independiente lo analizará para comprobar su imparcialidad y razonabilidad, y para detectar la apariencia de precios desequilibrados.</a:t>
            </a:r>
          </a:p>
          <a:p>
            <a:pPr marL="1200150" lvl="2" indent="-285750">
              <a:buFont typeface="Arial" panose="020B0604020202020204" pitchFamily="34" charset="0"/>
              <a:buChar char="•"/>
            </a:pPr>
            <a:r>
              <a:rPr lang="es" dirty="0"/>
              <a:t>Se requerirán 2 secciones separadas</a:t>
            </a:r>
          </a:p>
          <a:p>
            <a:pPr marL="1657350" lvl="3" indent="-285750">
              <a:buFont typeface="Arial" panose="020B0604020202020204" pitchFamily="34" charset="0"/>
              <a:buChar char="•"/>
            </a:pPr>
            <a:r>
              <a:rPr lang="es" dirty="0"/>
              <a:t>Tarifas contractuales (tarifas laborales, márgenes de ganancia)</a:t>
            </a:r>
          </a:p>
          <a:p>
            <a:pPr marL="1657350" lvl="3" indent="-285750">
              <a:buFont typeface="Arial" panose="020B0604020202020204" pitchFamily="34" charset="0"/>
              <a:buChar char="•"/>
            </a:pPr>
            <a:r>
              <a:rPr lang="es" dirty="0"/>
              <a:t>Precios propuestos para el Proyecto Semilla</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s" dirty="0"/>
              <a:t>Se otorgará la adjudicación a la propuesta que ofrezca el mejor valor al Gobierno (valoración de factores combinada y precio)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83422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Sección 00 12 00: fase (o paso) DOS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897353"/>
            <a:ext cx="11497586" cy="6093976"/>
          </a:xfrm>
          <a:prstGeom prst="rect">
            <a:avLst/>
          </a:prstGeom>
          <a:noFill/>
        </p:spPr>
        <p:txBody>
          <a:bodyPr wrap="square" rtlCol="0">
            <a:spAutoFit/>
          </a:bodyPr>
          <a:lstStyle/>
          <a:p>
            <a:pPr marL="285750" indent="-285750">
              <a:buFont typeface="Arial" panose="020B0604020202020204" pitchFamily="34" charset="0"/>
              <a:buChar char="•"/>
            </a:pPr>
            <a:r>
              <a:rPr lang="es" dirty="0">
                <a:solidFill>
                  <a:srgbClr val="FF0000"/>
                </a:solidFill>
              </a:rPr>
              <a:t>Factor 5 – Enfoque técnico general</a:t>
            </a:r>
          </a:p>
          <a:p>
            <a:pPr marL="742950" lvl="1" indent="-285750">
              <a:buFont typeface="Arial" panose="020B0604020202020204" pitchFamily="34" charset="0"/>
              <a:buChar char="•"/>
            </a:pPr>
            <a:r>
              <a:rPr lang="es" dirty="0"/>
              <a:t>1º en importancia relativa</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s" dirty="0"/>
              <a:t>Narrativa para explicar las capacidades del Oferente para ejecutar el proyecto</a:t>
            </a:r>
          </a:p>
          <a:p>
            <a:pPr marL="1200150" lvl="2" indent="-285750">
              <a:buFont typeface="Arial" panose="020B0604020202020204" pitchFamily="34" charset="0"/>
              <a:buChar char="•"/>
            </a:pPr>
            <a:r>
              <a:rPr lang="es" sz="1600" dirty="0"/>
              <a:t>Enfoque del proyecto</a:t>
            </a:r>
          </a:p>
          <a:p>
            <a:pPr marL="1200150" lvl="2" indent="-285750">
              <a:buFont typeface="Arial" panose="020B0604020202020204" pitchFamily="34" charset="0"/>
              <a:buChar char="•"/>
            </a:pPr>
            <a:r>
              <a:rPr lang="es" sz="1600" dirty="0"/>
              <a:t>Cronograma preliminar</a:t>
            </a:r>
          </a:p>
          <a:p>
            <a:pPr marL="1200150" lvl="2" indent="-285750">
              <a:buFont typeface="Arial" panose="020B0604020202020204" pitchFamily="34" charset="0"/>
              <a:buChar char="•"/>
            </a:pPr>
            <a:r>
              <a:rPr lang="es" sz="1600" dirty="0"/>
              <a:t>Autogestión del proyecto</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s" dirty="0">
                <a:solidFill>
                  <a:srgbClr val="FF0000"/>
                </a:solidFill>
              </a:rPr>
              <a:t>Factor 6 – Experiencia y cualificaciones del personal directivo clave</a:t>
            </a:r>
          </a:p>
          <a:p>
            <a:pPr marL="742950" lvl="1" indent="-285750">
              <a:buFont typeface="Arial" panose="020B0604020202020204" pitchFamily="34" charset="0"/>
              <a:buChar char="•"/>
            </a:pPr>
            <a:r>
              <a:rPr lang="es" dirty="0"/>
              <a:t>2º en importancia relativa</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s" dirty="0"/>
              <a:t>Proporcionar currículums del personal clave de construcción y diseño con énfasis en los proyectos en los que el personal ha desempeñado funciones para su función asignada en este contrato.</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Evaluación por factor:</a:t>
            </a:r>
          </a:p>
          <a:p>
            <a:pPr marL="742950" lvl="1" indent="-285750">
              <a:buFont typeface="Arial" panose="020B0604020202020204" pitchFamily="34" charset="0"/>
              <a:buChar char="•"/>
            </a:pPr>
            <a:r>
              <a:rPr lang="es" dirty="0"/>
              <a:t>Paso 1: Determinar si la propuesta cumple con los requisitos de la convocatoria</a:t>
            </a:r>
          </a:p>
          <a:p>
            <a:pPr marL="742950" lvl="1" indent="-285750">
              <a:buFont typeface="Arial" panose="020B0604020202020204" pitchFamily="34" charset="0"/>
              <a:buChar char="•"/>
            </a:pPr>
            <a:r>
              <a:rPr lang="es" dirty="0"/>
              <a:t>Paso 2: Determinar fortalezas, debilidades y deficiencias</a:t>
            </a:r>
          </a:p>
          <a:p>
            <a:pPr marL="742950" lvl="1" indent="-285750">
              <a:buFont typeface="Arial" panose="020B0604020202020204" pitchFamily="34" charset="0"/>
              <a:buChar char="•"/>
            </a:pPr>
            <a:r>
              <a:rPr lang="es" dirty="0"/>
              <a:t>Paso 3: Asignar una calificación técnica/de riesgo combinada general para cada factor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calificaciones técnicas/de riesgo reflejan el grado en que el oferente demuestra las capacidades y el enfoque necesarios para ejecutar el proyecto eficazmente.</a:t>
            </a:r>
          </a:p>
          <a:p>
            <a:pPr lvl="1"/>
            <a:endParaRPr lang="en-US" dirty="0"/>
          </a:p>
        </p:txBody>
      </p:sp>
    </p:spTree>
    <p:extLst>
      <p:ext uri="{BB962C8B-B14F-4D97-AF65-F5344CB8AC3E}">
        <p14:creationId xmlns:p14="http://schemas.microsoft.com/office/powerpoint/2010/main" val="1925958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s" dirty="0"/>
              <a:t>Discusión y retroalimentación de la industria</a:t>
            </a:r>
          </a:p>
        </p:txBody>
      </p:sp>
    </p:spTree>
    <p:extLst>
      <p:ext uri="{BB962C8B-B14F-4D97-AF65-F5344CB8AC3E}">
        <p14:creationId xmlns:p14="http://schemas.microsoft.com/office/powerpoint/2010/main" val="1044540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Temas de discusión</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2585323"/>
          </a:xfrm>
          <a:prstGeom prst="rect">
            <a:avLst/>
          </a:prstGeom>
          <a:noFill/>
        </p:spPr>
        <p:txBody>
          <a:bodyPr wrap="square" rtlCol="0">
            <a:spAutoFit/>
          </a:bodyPr>
          <a:lstStyle/>
          <a:p>
            <a:pPr marL="285750" indent="-285750">
              <a:buFont typeface="Arial" panose="020B0604020202020204" pitchFamily="34" charset="0"/>
              <a:buChar char="•"/>
            </a:pPr>
            <a:r>
              <a:rPr lang="es-ES" b="0" i="0" dirty="0">
                <a:solidFill>
                  <a:srgbClr val="111111"/>
                </a:solidFill>
                <a:effectLst/>
                <a:latin typeface="Roboto" panose="02000000000000000000" pitchFamily="2" charset="0"/>
              </a:rPr>
              <a:t>Cualquier preocupación potencial con la inclusión de múltiples tipos de proyectos bajo un solo contrato de "orden de trabajo" (dragado, rompeolas, muelles, etc.)</a:t>
            </a:r>
          </a:p>
          <a:p>
            <a:pPr marL="742950" lvl="1" indent="-285750">
              <a:buFont typeface="Arial" panose="020B0604020202020204" pitchFamily="34" charset="0"/>
              <a:buChar char="•"/>
            </a:pPr>
            <a:r>
              <a:rPr lang="es-ES" b="0" i="0" dirty="0">
                <a:solidFill>
                  <a:srgbClr val="111111"/>
                </a:solidFill>
                <a:effectLst/>
                <a:latin typeface="Roboto" panose="02000000000000000000" pitchFamily="2" charset="0"/>
              </a:rPr>
              <a:t>Capacidades</a:t>
            </a:r>
          </a:p>
          <a:p>
            <a:pPr marL="742950" lvl="1" indent="-285750">
              <a:buFont typeface="Arial" panose="020B0604020202020204" pitchFamily="34" charset="0"/>
              <a:buChar char="•"/>
            </a:pPr>
            <a:r>
              <a:rPr lang="es-ES" b="0" i="0" dirty="0">
                <a:solidFill>
                  <a:srgbClr val="111111"/>
                </a:solidFill>
                <a:effectLst/>
                <a:latin typeface="Roboto" panose="02000000000000000000" pitchFamily="2" charset="0"/>
              </a:rPr>
              <a:t>Necesidad de trabajar en equipo con otros contratistas</a:t>
            </a:r>
          </a:p>
          <a:p>
            <a:pPr marL="285750" indent="-285750">
              <a:buFont typeface="Arial" panose="020B0604020202020204" pitchFamily="34" charset="0"/>
              <a:buChar char="•"/>
            </a:pPr>
            <a:endParaRPr lang="es-ES" b="0" i="0" dirty="0">
              <a:solidFill>
                <a:srgbClr val="111111"/>
              </a:solidFill>
              <a:effectLst/>
              <a:latin typeface="Roboto" panose="02000000000000000000" pitchFamily="2" charset="0"/>
            </a:endParaRPr>
          </a:p>
          <a:p>
            <a:pPr marL="285750" indent="-285750">
              <a:buFont typeface="Arial" panose="020B0604020202020204" pitchFamily="34" charset="0"/>
              <a:buChar char="•"/>
            </a:pPr>
            <a:r>
              <a:rPr lang="es-ES" b="0" i="0" dirty="0">
                <a:effectLst/>
                <a:latin typeface="Roboto" panose="02000000000000000000" pitchFamily="2" charset="0"/>
              </a:rPr>
              <a:t>Experiencia o inquietudes con la instalación de drenajes de mecha y geotextiles si se van a utilizar en un proyecto</a:t>
            </a:r>
          </a:p>
          <a:p>
            <a:pPr marL="285750" indent="-285750">
              <a:buFont typeface="Arial" panose="020B0604020202020204" pitchFamily="34" charset="0"/>
              <a:buChar char="•"/>
            </a:pPr>
            <a:endParaRPr lang="es-ES" b="0" i="0" dirty="0">
              <a:solidFill>
                <a:srgbClr val="111111"/>
              </a:solidFill>
              <a:effectLst/>
              <a:latin typeface="Roboto" panose="02000000000000000000" pitchFamily="2" charset="0"/>
            </a:endParaRPr>
          </a:p>
          <a:p>
            <a:pPr marL="285750" indent="-285750">
              <a:buFont typeface="Arial" panose="020B0604020202020204" pitchFamily="34" charset="0"/>
              <a:buChar char="•"/>
            </a:pPr>
            <a:r>
              <a:rPr lang="es-ES" b="0" i="0" dirty="0">
                <a:solidFill>
                  <a:srgbClr val="111111"/>
                </a:solidFill>
                <a:effectLst/>
                <a:latin typeface="Roboto" panose="02000000000000000000" pitchFamily="2" charset="0"/>
              </a:rPr>
              <a:t>Elementos de riesgo críticos para el desempeño de la construcción portuaria</a:t>
            </a:r>
            <a:endParaRPr lang="en-US" dirty="0"/>
          </a:p>
        </p:txBody>
      </p:sp>
    </p:spTree>
    <p:extLst>
      <p:ext uri="{BB962C8B-B14F-4D97-AF65-F5344CB8AC3E}">
        <p14:creationId xmlns:p14="http://schemas.microsoft.com/office/powerpoint/2010/main" val="2636087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s" dirty="0"/>
              <a:t>Recordatorios finales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3323987"/>
          </a:xfrm>
          <a:prstGeom prst="rect">
            <a:avLst/>
          </a:prstGeom>
          <a:noFill/>
        </p:spPr>
        <p:txBody>
          <a:bodyPr wrap="square" rtlCol="0">
            <a:spAutoFit/>
          </a:bodyPr>
          <a:lstStyle/>
          <a:p>
            <a:pPr algn="ctr"/>
            <a:r>
              <a:rPr lang="es" sz="2400" dirty="0">
                <a:solidFill>
                  <a:srgbClr val="FF0000"/>
                </a:solidFill>
              </a:rPr>
              <a:t>Cada convocatoria que se discute hoy se publicará individualmente. Asegúrese de que su empresa esté registrada en todos los sistemas requeridos lo antes posible.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solicitudes se publicarán a través del sitio web del Entorno Empresarial Integrado de Adquisiciones (PIEE).</a:t>
            </a:r>
          </a:p>
          <a:p>
            <a:pPr marL="742950" lvl="1" indent="-285750">
              <a:buFont typeface="Arial" panose="020B0604020202020204" pitchFamily="34" charset="0"/>
              <a:buChar char="•"/>
            </a:pPr>
            <a:r>
              <a:rPr lang="es" dirty="0"/>
              <a:t>( </a:t>
            </a:r>
            <a:r>
              <a:rPr lang="es" dirty="0">
                <a:hlinkClick r:id="rId2"/>
              </a:rPr>
              <a:t>https://piee.eb.mil/xhtml/unauth/home/login.xhtml </a:t>
            </a:r>
            <a:r>
              <a:rPr lang="es" dirty="0"/>
              <a:t>-O- </a:t>
            </a:r>
            <a:r>
              <a:rPr lang="es" dirty="0">
                <a:hlinkClick r:id="rId3"/>
              </a:rPr>
              <a:t>https://piee.eb.mil </a:t>
            </a:r>
            <a:r>
              <a:rPr lang="e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 dirty="0"/>
              <a:t>Las instrucciones para los oferentes se pueden encontrar en la Sección 00 11 00.</a:t>
            </a:r>
          </a:p>
          <a:p>
            <a:endParaRPr lang="en-US" dirty="0"/>
          </a:p>
          <a:p>
            <a:pPr marL="285750" indent="-285750">
              <a:buFont typeface="Arial" panose="020B0604020202020204" pitchFamily="34" charset="0"/>
              <a:buChar char="•"/>
            </a:pPr>
            <a:r>
              <a:rPr lang="es" dirty="0"/>
              <a:t>Envíe sus preguntas a través del Portal de Consultas de Licitantes de </a:t>
            </a:r>
            <a:r>
              <a:rPr lang="es" dirty="0" err="1"/>
              <a:t>ProjNet </a:t>
            </a:r>
            <a:r>
              <a:rPr lang="es" dirty="0">
                <a:hlinkClick r:id="rId4"/>
              </a:rPr>
              <a:t>(https://www.ProjNet.org/ </a:t>
            </a:r>
            <a:r>
              <a:rPr lang="es" dirty="0"/>
              <a:t>) . La clave de licitante necesaria para enviar preguntas se proporcionará en la información de publicación de la convocatoria.</a:t>
            </a:r>
          </a:p>
        </p:txBody>
      </p:sp>
    </p:spTree>
    <p:extLst>
      <p:ext uri="{BB962C8B-B14F-4D97-AF65-F5344CB8AC3E}">
        <p14:creationId xmlns:p14="http://schemas.microsoft.com/office/powerpoint/2010/main" val="964489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262979"/>
          </a:xfrm>
          <a:prstGeom prst="rect">
            <a:avLst/>
          </a:prstGeom>
          <a:noFill/>
        </p:spPr>
        <p:txBody>
          <a:bodyPr wrap="square" rtlCol="0">
            <a:spAutoFit/>
          </a:bodyPr>
          <a:lstStyle/>
          <a:p>
            <a:pPr algn="ctr"/>
            <a:r>
              <a:rPr lang="es" sz="6600" dirty="0"/>
              <a:t>¿PREGUNTAS?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s" dirty="0">
                <a:solidFill>
                  <a:srgbClr val="FF0000"/>
                </a:solidFill>
              </a:rPr>
              <a:t>Las respuestas proporcionadas durante el Día de la Industria no son oficiales.</a:t>
            </a:r>
          </a:p>
          <a:p>
            <a:endParaRPr lang="en-US" dirty="0">
              <a:solidFill>
                <a:srgbClr val="FF0000"/>
              </a:solidFill>
            </a:endParaRPr>
          </a:p>
          <a:p>
            <a:r>
              <a:rPr lang="es-ES" dirty="0">
                <a:solidFill>
                  <a:srgbClr val="FF0000"/>
                </a:solidFill>
              </a:rPr>
              <a:t>Una vez que se haya emitido una solicitud, solo se proporcionarán respuestas oficiales a las preguntas enviadas a través del proceso de RFI descrito en la solicitud.  Antes de emitir una solicitud, puede ponerse en contacto con la Oficial de Contratación: </a:t>
            </a:r>
            <a:r>
              <a:rPr lang="es-ES" dirty="0" err="1">
                <a:solidFill>
                  <a:srgbClr val="FF0000"/>
                </a:solidFill>
              </a:rPr>
              <a:t>Jillian</a:t>
            </a:r>
            <a:r>
              <a:rPr lang="es-ES" dirty="0">
                <a:solidFill>
                  <a:srgbClr val="FF0000"/>
                </a:solidFill>
              </a:rPr>
              <a:t> </a:t>
            </a:r>
            <a:r>
              <a:rPr lang="es-ES" dirty="0" err="1">
                <a:solidFill>
                  <a:srgbClr val="FF0000"/>
                </a:solidFill>
              </a:rPr>
              <a:t>Saffle</a:t>
            </a:r>
            <a:r>
              <a:rPr lang="es-ES" dirty="0">
                <a:solidFill>
                  <a:srgbClr val="FF0000"/>
                </a:solidFill>
              </a:rPr>
              <a:t>, jillian.e.saffle@usace.army.mil.</a:t>
            </a:r>
            <a:endParaRPr lang="en-US" dirty="0">
              <a:solidFill>
                <a:srgbClr val="FF0000"/>
              </a:solidFill>
            </a:endParaRPr>
          </a:p>
        </p:txBody>
      </p:sp>
    </p:spTree>
    <p:extLst>
      <p:ext uri="{BB962C8B-B14F-4D97-AF65-F5344CB8AC3E}">
        <p14:creationId xmlns:p14="http://schemas.microsoft.com/office/powerpoint/2010/main" val="1517373902"/>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3950328151094CA33F706D9AF20350" ma:contentTypeVersion="10" ma:contentTypeDescription="Create a new document." ma:contentTypeScope="" ma:versionID="34e41766aa5bf44cd419c2019a3acc0e">
  <xsd:schema xmlns:xsd="http://www.w3.org/2001/XMLSchema" xmlns:xs="http://www.w3.org/2001/XMLSchema" xmlns:p="http://schemas.microsoft.com/office/2006/metadata/properties" xmlns:ns1="http://schemas.microsoft.com/sharepoint/v3" xmlns:ns2="400d35d6-e1e4-4654-bdec-e4eff2b41bb7" xmlns:ns3="5b0e1fef-badf-40a7-8a01-28683385f1f2" targetNamespace="http://schemas.microsoft.com/office/2006/metadata/properties" ma:root="true" ma:fieldsID="0d7be03084341d07d137195da0e77767" ns1:_="" ns2:_="" ns3:_="">
    <xsd:import namespace="http://schemas.microsoft.com/sharepoint/v3"/>
    <xsd:import namespace="400d35d6-e1e4-4654-bdec-e4eff2b41bb7"/>
    <xsd:import namespace="5b0e1fef-badf-40a7-8a01-28683385f1f2"/>
    <xsd:element name="properties">
      <xsd:complexType>
        <xsd:sequence>
          <xsd:element name="documentManagement">
            <xsd:complexType>
              <xsd:all>
                <xsd:element ref="ns1:PublishingStartDate" minOccurs="0"/>
                <xsd:element ref="ns1:PublishingExpirationDate" minOccurs="0"/>
                <xsd:element ref="ns2:SharedWithUsers"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00d35d6-e1e4-4654-bdec-e4eff2b41bb7"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b0e1fef-badf-40a7-8a01-28683385f1f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90E533-F279-482B-B1DE-D3A9C667D1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00d35d6-e1e4-4654-bdec-e4eff2b41bb7"/>
    <ds:schemaRef ds:uri="5b0e1fef-badf-40a7-8a01-28683385f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8C2CD5-50C2-4A7C-996A-3D6312B83669}">
  <ds:schemaRefs>
    <ds:schemaRef ds:uri="400d35d6-e1e4-4654-bdec-e4eff2b41bb7"/>
    <ds:schemaRef ds:uri="http://purl.org/dc/elements/1.1/"/>
    <ds:schemaRef ds:uri="http://purl.org/dc/term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schemas.microsoft.com/office/infopath/2007/PartnerControls"/>
    <ds:schemaRef ds:uri="5b0e1fef-badf-40a7-8a01-28683385f1f2"/>
    <ds:schemaRef ds:uri="http://schemas.microsoft.com/sharepoint/v3"/>
    <ds:schemaRef ds:uri="http://www.w3.org/XML/1998/namespace"/>
  </ds:schemaRefs>
</ds:datastoreItem>
</file>

<file path=customXml/itemProps3.xml><?xml version="1.0" encoding="utf-8"?>
<ds:datastoreItem xmlns:ds="http://schemas.openxmlformats.org/officeDocument/2006/customXml" ds:itemID="{57CAE72E-856B-4DF4-A9F6-93C41667E9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24036</TotalTime>
  <Words>3666</Words>
  <Application>Microsoft Office PowerPoint</Application>
  <PresentationFormat>Widescreen</PresentationFormat>
  <Paragraphs>409</Paragraphs>
  <Slides>37</Slides>
  <Notes>0</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37</vt:i4>
      </vt:variant>
    </vt:vector>
  </HeadingPairs>
  <TitlesOfParts>
    <vt:vector size="50" baseType="lpstr">
      <vt:lpstr>Aptos</vt:lpstr>
      <vt:lpstr>Arial</vt:lpstr>
      <vt:lpstr>Calibri</vt:lpstr>
      <vt:lpstr>Helvetica</vt:lpstr>
      <vt:lpstr>Roboto</vt:lpstr>
      <vt:lpstr>Thaoma</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Oportunidades de construcción del Cuerpo de Ingenieros del Ejército de EE. UU. en apoyo a la Marina de Guerra del Perú en el Puerto del Callao</vt:lpstr>
      <vt:lpstr>Propósito de LA presentación</vt:lpstr>
      <vt:lpstr>PLAN MAESTRO DEL TERMINAL PORTUARIO DEL CALLAO</vt:lpstr>
      <vt:lpstr>PowerPoint Presentation</vt:lpstr>
      <vt:lpstr>Introducción de la MARINA Del Perú PLAN MAESTRO DE LA BASE NAVAL DEL CALLAO</vt:lpstr>
      <vt:lpstr>AREAS DE MISION DE USACE</vt:lpstr>
      <vt:lpstr>información general</vt:lpstr>
      <vt:lpstr>Para ver y competir</vt:lpstr>
      <vt:lpstr>Información general</vt:lpstr>
      <vt:lpstr>Requisitos de fianza/seguro</vt:lpstr>
      <vt:lpstr>Requisitos varios</vt:lpstr>
      <vt:lpstr>Impuesto sobre determinadas contrataciones extranjeras</vt:lpstr>
      <vt:lpstr>Requisitos Potencial – Edificios &amp; InfraEstructura</vt:lpstr>
      <vt:lpstr>PowerPoint Presentation</vt:lpstr>
      <vt:lpstr>Requisitos de Planificación y diseño en tierra</vt:lpstr>
      <vt:lpstr>Requisitos de construcción en tierra</vt:lpstr>
      <vt:lpstr>PowerPoint Presentation</vt:lpstr>
      <vt:lpstr>Requisitos Actuales – construcción del puerto</vt:lpstr>
      <vt:lpstr>PowerPoint Presentation</vt:lpstr>
      <vt:lpstr>Construcción de revestimiento y rampas para embarcaciones</vt:lpstr>
      <vt:lpstr>Proceso de solicitud independiente de una sola fase (o paso)</vt:lpstr>
      <vt:lpstr>PowerPoint Presentation</vt:lpstr>
      <vt:lpstr>PowerPoint Presentation</vt:lpstr>
      <vt:lpstr>PowerPoint Presentation</vt:lpstr>
      <vt:lpstr>Requisitos de construcción del puerto</vt:lpstr>
      <vt:lpstr>Requisitos de licitación MATOC para construcción y reparación – MARINA DE GUERRA DEL PERU</vt:lpstr>
      <vt:lpstr>Proceso MATOC de dos fases (o pasos)</vt:lpstr>
      <vt:lpstr>Procesos MATOC Para requisitos individuales</vt:lpstr>
      <vt:lpstr>Sección 00 11 00: fase (o paso) uno</vt:lpstr>
      <vt:lpstr>Sección 00 11 00: fase (o paso) uno</vt:lpstr>
      <vt:lpstr>Sección 00 11 00: fase (o paso) uno</vt:lpstr>
      <vt:lpstr>Sección 00 12 00: fase (o paso) DOS</vt:lpstr>
      <vt:lpstr>Sección 00 12 00: fase (o paso) DOS</vt:lpstr>
      <vt:lpstr>Discusión y retroalimentación de la industria</vt:lpstr>
      <vt:lpstr>Temas de discusión</vt:lpstr>
      <vt:lpstr>Recordatorios finales</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Julie Walton</cp:lastModifiedBy>
  <cp:revision>440</cp:revision>
  <dcterms:created xsi:type="dcterms:W3CDTF">2017-02-20T05:10:01Z</dcterms:created>
  <dcterms:modified xsi:type="dcterms:W3CDTF">2025-05-07T20:47:26Z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0x010100083950328151094CA33F706D9AF20350</vt:lpwstr>
  </property>
</Properties>
</file>